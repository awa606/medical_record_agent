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cd7bd40dee45aa" /><Relationship Type="http://schemas.openxmlformats.org/officeDocument/2006/relationships/extended-properties" Target="/docProps/app.xml" Id="R7e10548eb18b44dd" /><Relationship Type="http://schemas.openxmlformats.org/officeDocument/2006/relationships/officeDocument" Target="/ppt/presentation.xml" Id="Rdbe7f4cfb399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89d5945dba4f65"/>
  </p:sldMasterIdLst>
  <p:notesMasterIdLst>
    <p:notesMasterId xmlns:r="http://schemas.openxmlformats.org/officeDocument/2006/relationships" r:id="R747659899bbf44ab"/>
  </p:notesMasterIdLst>
  <p:sldIdLst>
    <p:sldId xmlns:r="http://schemas.openxmlformats.org/officeDocument/2006/relationships" id="256" r:id="Ra6279dc819044510"/>
    <p:sldId xmlns:r="http://schemas.openxmlformats.org/officeDocument/2006/relationships" id="257" r:id="Raee50dc99c4d4bed"/>
    <p:sldId xmlns:r="http://schemas.openxmlformats.org/officeDocument/2006/relationships" id="258" r:id="R84c74cfdc3074338"/>
    <p:sldId xmlns:r="http://schemas.openxmlformats.org/officeDocument/2006/relationships" id="259" r:id="Rb9776d09ced345cd"/>
    <p:sldId xmlns:r="http://schemas.openxmlformats.org/officeDocument/2006/relationships" id="260" r:id="Re4b014e984114c11"/>
    <p:sldId xmlns:r="http://schemas.openxmlformats.org/officeDocument/2006/relationships" id="261" r:id="R24c1093bac814050"/>
    <p:sldId xmlns:r="http://schemas.openxmlformats.org/officeDocument/2006/relationships" id="262" r:id="Ra634c36483794000"/>
    <p:sldId xmlns:r="http://schemas.openxmlformats.org/officeDocument/2006/relationships" id="263" r:id="Rdc19a131fc5f472d"/>
    <p:sldId xmlns:r="http://schemas.openxmlformats.org/officeDocument/2006/relationships" id="264" r:id="Rb05b3777d58b4589"/>
    <p:sldId xmlns:r="http://schemas.openxmlformats.org/officeDocument/2006/relationships" id="265" r:id="Rf96957ee15d241cd"/>
    <p:sldId xmlns:r="http://schemas.openxmlformats.org/officeDocument/2006/relationships" id="266" r:id="Rf4ca3fac5c4f4c4e"/>
    <p:sldId xmlns:r="http://schemas.openxmlformats.org/officeDocument/2006/relationships" id="267" r:id="R440e84e7035d45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177f27df1485a" /><Relationship Type="http://schemas.openxmlformats.org/officeDocument/2006/relationships/slideMaster" Target="/ppt/slideMasters/slideMaster1.xml" Id="R1e89d5945dba4f65" /><Relationship Type="http://schemas.openxmlformats.org/officeDocument/2006/relationships/notesMaster" Target="/ppt/notesMasters/notesMaster1.xml" Id="R747659899bbf44ab" /><Relationship Type="http://schemas.openxmlformats.org/officeDocument/2006/relationships/presProps" Target="/ppt/presProps.xml" Id="R15bf9134d02d4b05" /><Relationship Type="http://schemas.openxmlformats.org/officeDocument/2006/relationships/tableStyles" Target="/ppt/tableStyles.xml" Id="R426cd635e5ef42f8" /><Relationship Type="http://schemas.openxmlformats.org/officeDocument/2006/relationships/slide" Target="/ppt/slides/slide1.xml" Id="Ra6279dc819044510" /><Relationship Type="http://schemas.openxmlformats.org/officeDocument/2006/relationships/slide" Target="/ppt/slides/slide2.xml" Id="Raee50dc99c4d4bed" /><Relationship Type="http://schemas.openxmlformats.org/officeDocument/2006/relationships/slide" Target="/ppt/slides/slide3.xml" Id="R84c74cfdc3074338" /><Relationship Type="http://schemas.openxmlformats.org/officeDocument/2006/relationships/slide" Target="/ppt/slides/slide4.xml" Id="Rb9776d09ced345cd" /><Relationship Type="http://schemas.openxmlformats.org/officeDocument/2006/relationships/slide" Target="/ppt/slides/slide5.xml" Id="Re4b014e984114c11" /><Relationship Type="http://schemas.openxmlformats.org/officeDocument/2006/relationships/slide" Target="/ppt/slides/slide6.xml" Id="R24c1093bac814050" /><Relationship Type="http://schemas.openxmlformats.org/officeDocument/2006/relationships/slide" Target="/ppt/slides/slide7.xml" Id="Ra634c36483794000" /><Relationship Type="http://schemas.openxmlformats.org/officeDocument/2006/relationships/slide" Target="/ppt/slides/slide8.xml" Id="Rdc19a131fc5f472d" /><Relationship Type="http://schemas.openxmlformats.org/officeDocument/2006/relationships/slide" Target="/ppt/slides/slide9.xml" Id="Rb05b3777d58b4589" /><Relationship Type="http://schemas.openxmlformats.org/officeDocument/2006/relationships/slide" Target="/ppt/slides/slide10.xml" Id="Rf96957ee15d241cd" /><Relationship Type="http://schemas.openxmlformats.org/officeDocument/2006/relationships/slide" Target="/ppt/slides/slide11.xml" Id="Rf4ca3fac5c4f4c4e" /><Relationship Type="http://schemas.openxmlformats.org/officeDocument/2006/relationships/slide" Target="/ppt/slides/slide12.xml" Id="R440e84e7035d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6cc50dd58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9e61857f90482b" /><Relationship Type="http://schemas.openxmlformats.org/officeDocument/2006/relationships/notesMaster" Target="/ppt/notesMasters/notesMaster1.xml" Id="Rbaebfb1b474e42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bf11e0e584a5b" /><Relationship Type="http://schemas.openxmlformats.org/officeDocument/2006/relationships/notesMaster" Target="/ppt/notesMasters/notesMaster1.xml" Id="R977826c2c303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33bb0e6b7c4147" /><Relationship Type="http://schemas.openxmlformats.org/officeDocument/2006/relationships/notesMaster" Target="/ppt/notesMasters/notesMaster1.xml" Id="R9ab64cc6cc88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1c4902cd564b7d" /><Relationship Type="http://schemas.openxmlformats.org/officeDocument/2006/relationships/notesMaster" Target="/ppt/notesMasters/notesMaster1.xml" Id="R8f33e26da1ec4b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29452a62114705" /><Relationship Type="http://schemas.openxmlformats.org/officeDocument/2006/relationships/notesMaster" Target="/ppt/notesMasters/notesMaster1.xml" Id="Rc140c0b3f1904f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71a05994b04a4d" /><Relationship Type="http://schemas.openxmlformats.org/officeDocument/2006/relationships/notesMaster" Target="/ppt/notesMasters/notesMaster1.xml" Id="Rcdd70c7403e844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ed276abb8445b4" /><Relationship Type="http://schemas.openxmlformats.org/officeDocument/2006/relationships/notesMaster" Target="/ppt/notesMasters/notesMaster1.xml" Id="R6ac9e60d340e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cceb7e17c4570" /><Relationship Type="http://schemas.openxmlformats.org/officeDocument/2006/relationships/notesMaster" Target="/ppt/notesMasters/notesMaster1.xml" Id="Re64711353c96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bf8f3c04c14a30" /><Relationship Type="http://schemas.openxmlformats.org/officeDocument/2006/relationships/notesMaster" Target="/ppt/notesMasters/notesMaster1.xml" Id="R50061cb9f4034e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228549a9514f9a" /><Relationship Type="http://schemas.openxmlformats.org/officeDocument/2006/relationships/notesMaster" Target="/ppt/notesMasters/notesMaster1.xml" Id="R2a91ac7258a94a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43949258194056" /><Relationship Type="http://schemas.openxmlformats.org/officeDocument/2006/relationships/notesMaster" Target="/ppt/notesMasters/notesMaster1.xml" Id="R8cf23c31c41145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296f5181e54f12" /><Relationship Type="http://schemas.openxmlformats.org/officeDocument/2006/relationships/notesMaster" Target="/ppt/notesMasters/notesMaster1.xml" Id="R19712005d0d2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b36e1060740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1893ec54f14ec8" /><Relationship Type="http://schemas.openxmlformats.org/officeDocument/2006/relationships/slideLayout" Target="/ppt/slideLayouts/slideLayout1.xml" Id="Rf6bab2d15a1344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bab2d15a1344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01dae68f84dbb" /><Relationship Type="http://schemas.openxmlformats.org/officeDocument/2006/relationships/notesSlide" Target="/ppt/notesSlides/notesSlide1.xml" Id="Rb7bf9b037d8546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3566e6f04288" /><Relationship Type="http://schemas.openxmlformats.org/officeDocument/2006/relationships/notesSlide" Target="/ppt/notesSlides/notesSlide2.xml" Id="R7b5ef5de3703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a679033a649c2" /><Relationship Type="http://schemas.openxmlformats.org/officeDocument/2006/relationships/notesSlide" Target="/ppt/notesSlides/notesSlide3.xml" Id="R78b2e0fb984e43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2179421604bf1" /><Relationship Type="http://schemas.openxmlformats.org/officeDocument/2006/relationships/notesSlide" Target="/ppt/notesSlides/notesSlide4.xml" Id="R507d03abb9ee41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1966a7165490f" /><Relationship Type="http://schemas.openxmlformats.org/officeDocument/2006/relationships/notesSlide" Target="/ppt/notesSlides/notesSlide5.xml" Id="R6668523487b04f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40cb1c0bf443e" /><Relationship Type="http://schemas.openxmlformats.org/officeDocument/2006/relationships/chart" Target="/ppt/slides/charts/chart1.xml" Id="Rd539f52039f1491d" /><Relationship Type="http://schemas.openxmlformats.org/officeDocument/2006/relationships/notesSlide" Target="/ppt/notesSlides/notesSlide6.xml" Id="R79f723dc14864c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bc3f6f1a4af0" /><Relationship Type="http://schemas.openxmlformats.org/officeDocument/2006/relationships/image" Target="/ppt/media/image.png" Id="Ra9b7bb68c2b74e03" /><Relationship Type="http://schemas.openxmlformats.org/officeDocument/2006/relationships/image" Target="/ppt/media/image2.png" Id="Rf9b37666b3784c56" /><Relationship Type="http://schemas.openxmlformats.org/officeDocument/2006/relationships/notesSlide" Target="/ppt/notesSlides/notesSlide7.xml" Id="Re972b5f0033c48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a38960ba34117" /><Relationship Type="http://schemas.openxmlformats.org/officeDocument/2006/relationships/notesSlide" Target="/ppt/notesSlides/notesSlide8.xml" Id="R27643e4b7f61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62a2f4b654819" /><Relationship Type="http://schemas.openxmlformats.org/officeDocument/2006/relationships/notesSlide" Target="/ppt/notesSlides/notesSlide9.xml" Id="R510999652f0343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acf2a26ca47bd" /><Relationship Type="http://schemas.openxmlformats.org/officeDocument/2006/relationships/notesSlide" Target="/ppt/notesSlides/notesSlide10.xml" Id="R567ab6056c5f40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dd23e2feb4e5c" /><Relationship Type="http://schemas.openxmlformats.org/officeDocument/2006/relationships/notesSlide" Target="/ppt/notesSlides/notesSlide11.xml" Id="R4130dc659c4549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c58d2cd6f4769" /><Relationship Type="http://schemas.openxmlformats.org/officeDocument/2006/relationships/notesSlide" Target="/ppt/notesSlides/notesSlide12.xml" Id="R58e2109135174b1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自动通过覆盖率</c:v>
          </c:tx>
          <c:spPr>
            <a:solidFill xmlns:a="http://schemas.openxmlformats.org/drawingml/2006/main">
              <a:srgbClr val="2E6EBD"/>
            </a:solidFill>
          </c:spPr>
          <c:cat>
            <c:strLit>
              <c:ptCount val="3"/>
              <c:pt idx="0">
                <c:v>规则基线</c:v>
              </c:pt>
              <c:pt idx="1">
                <c:v>Calibration 候选</c:v>
              </c:pt>
              <c:pt idx="2">
                <c:v>Test 候选</c:v>
              </c:pt>
            </c:strLit>
          </c:cat>
          <c:val>
            <c:numLit>
              <c:formatCode>General</c:formatCode>
              <c:ptCount val="3"/>
              <c:pt idx="0">
                <c:v>52.08</c:v>
              </c:pt>
              <c:pt idx="1">
                <c:v>96.15</c:v>
              </c:pt>
              <c:pt idx="2">
                <c:v>86.36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1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7FAF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7FAFD"/>
          </a:solidFill>
          <a:prstDash val="solid"/>
        </a:ln>
      </c:spPr>
    </c:plotArea>
    <c:plotVisOnly val="1"/>
  </c:chart>
  <c:spPr>
    <a:solidFill xmlns:a="http://schemas.openxmlformats.org/drawingml/2006/main">
      <a:srgbClr val="F7FAFD"/>
    </a:solidFill>
    <a:ln xmlns:a="http://schemas.openxmlformats.org/drawingml/2006/main" w="0">
      <a:solidFill>
        <a:srgbClr val="F7FAFD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BA45B-877A-43EF-8380-E798DC7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2B5DB-2F05-49A7-9081-AB11903A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WEEKLY REVIEW · 2026.07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F8F10-5A36-47A5-9BDA-6FD8D1A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676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42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AI生成式电子病历</a:t>
            </a:r>
          </a:p>
          <a:p xmlns:a="http://schemas.openxmlformats.org/drawingml/2006/main">
            <a:pPr algn="l">
              <a:defRPr sz="42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42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辅助系统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8A0C9-FED7-4BB7-A739-74E8560A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从可运行原型，到可录音、可拦截、可评测的医生辅助流程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DDAE-AC92-4AA1-AB54-82E75D1D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36131-212B-447B-B22E-627BED25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本周评审汇报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E1819-1AD4-4DA8-924F-E697F7B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李国毅 · 方子涵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A331A-933B-45C3-83C0-BC963364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28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核心链路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5A353-E251-4025-B3B6-4E8A072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71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D2F83-B2E9-41FC-B61C-A3D1F49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811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995FE-4078-4279-BABA-5150C66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002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问诊音频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DDD56-8929-44DC-815A-7490FECF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0977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1D4A6-7D5F-47FC-B91C-CA8BC12B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066E1-59AA-4B8D-B833-BDC2BA6E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622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609C9-3414-4DBA-B37B-2406130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812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9C26C-E9AD-4167-87B6-9D0E402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B9A02-7024-43D4-8C1E-EACBC56A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16C8B-3CAA-417E-A3F6-3A562DAC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433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AEA9F1-F975-485D-95F6-29FE8F7B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结构化病历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7273E-2FB1-4C6C-94BE-F2D6204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7192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C0EFE-6085-446C-B4C0-4AA1FCF0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A5"/>
          </a:solidFill>
          <a:ln xmlns:a="http://schemas.openxmlformats.org/drawingml/2006/main" w="0">
            <a:solidFill>
              <a:srgbClr val="159A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391B17-0FB3-40FF-9AAC-7F46F75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24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3100F-13E7-4D0C-9B3C-4E60F05C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434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医生审核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81C4D-B7F7-47DE-8554-F103625F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657850"/>
            <a:ext cx="1200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BF48D-E91A-4833-98DD-DFEA8186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054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安全门禁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9FDBC-0ACB-48EA-A73E-70CEA53A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657850"/>
            <a:ext cx="12001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EAF7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62ED0-7C98-4E67-B6F3-F8D9B775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7054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评测闭环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F1543-C8DA-4A07-996E-95D2C6A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awa606/medical_record_agent · 2026.07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85A84-F160-4439-9512-884444F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547610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FDF7C-72DF-4951-8734-83EFB9F4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评审结论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C88ED-BCB7-4216-85FF-EFC57CF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本周把系统从“可运行”推进到“可安全操作”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BCFDF-DF79-4951-BD83-F93E181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CC2FA-299C-4772-9B05-429EF302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18D1C-1B41-4BE7-806C-EBBA5021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663E3-49B6-4C55-A35E-6E26B1E3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7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角色质量门禁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0D71E-0FC8-4640-964B-F4D09902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90675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错误角色不再进入病历生成；低质量结果由服务端统一返回 409。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FA37D-4DBA-445F-9F04-8AA85431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145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FDE17-38A8-454F-9BFD-3159043C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2F595-3146-40E2-9416-1BE81468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574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可执行评测集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85E1C-4DB6-4B6F-94A6-E872E0E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76525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23 条 synthetic WAV，覆盖双人、三人、单人反例、噪声、打断与重叠。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3C395-FED1-4E32-B05A-B959E205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0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E7C3-0A87-407F-B69E-BBBA9C3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11B6A-918B-4B50-B19A-186C8ADE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浏览器录音闭环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8607-C824-49BF-8807-E92BEF6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麦克风录音、试听、WAV 编码、上传、SSE 转写与病历生成已合并。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C5114-5266-43AC-86CE-E0ED002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862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0A6A5-4C28-43EC-8C11-AF52655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90EB2-5E2A-4A7A-A4B9-DC37D8A2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291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自动角色策略候选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2647C-BDB9-4D1A-9567-69D398C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48225"/>
            <a:ext cx="6429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PR #52 已完成 calibration/test 隔离；结果仍在评审，尚未作为 main 正式能力。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84E1D-A9E2-460A-9725-0B95E524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620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A57C8-A834-4A93-8A8B-2175C1F8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本周最重要的变化：系统开始具备“主动拒绝不安全生成”的能力，而不只是生成结果。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1BB52-7499-4D4E-9FE9-CF292E87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证据：PR #47、#51、#53 已合并；PR #52 评审中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679F8-181C-4F6D-9AA3-F9ACB305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158955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1A3BF-5773-4EA1-BF88-7AA3E60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安全闭环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C0BDA-8291-4874-B3E7-82E03BD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把“角色错配”从隐性风险，变成可观测、可阻断的状态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531C0-1DCD-4CFA-AE53-B020F9AA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46481-B5B9-455C-97CE-2CA4A4CA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9A411-1D58-4691-940F-6B66F418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风险链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A8135-2D7E-4452-A106-00E00002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54A8D-1FF8-4A92-A795-A9E666C0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说话人角色错误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E314A-BAB6-4A4B-88B6-8997140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2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338DE-55BA-4769-A17B-41FFAD6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57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33537-0739-44A6-A17E-3C0DFCD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主诉/现病史归属错误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64855-3D8F-492E-880B-681BECF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764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2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FD37C-351B-4878-9D9F-BE39402E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2857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B5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E991B-E58A-4D9F-AB47-C1E95831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错误病历草稿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B8859-747B-454B-B2A8-B2AFA9D8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8B6D5-8BCA-4364-B74E-47078227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现有防线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12AFC-3B87-4F86-8278-B6C04945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BEBC8-5B2C-4AA9-8D8F-2AD4B589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1B038-88C1-4795-9F51-831D064F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统一判定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B4B13-9FC8-4E09-BD00-DF38052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SpeakerRoleQualityPolicy</a:t>
            </a:r>
          </a:p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生成与字段抽取共用同一门禁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093F39-47FC-4E59-8BE0-2D2A71EE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B84F3B-AE00-4FF5-9562-1ADC74E8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624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AD266-FF01-4021-A37B-F54034A1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服务端阻断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B0660-2A5B-472B-B810-9EDB4CC1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339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低置信 / 未映射 / 混合语句</a:t>
            </a:r>
          </a:p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直接返回 409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C79D22-D6CB-4F66-9EFE-5093903C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B24B4-D5E4-4750-BF56-20DF80F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624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40142-6EAD-42DF-BDC2-C4CEC316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人工纠正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FFAA5-D252-48F7-9629-47CACA7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保存修正后重新计算质量</a:t>
            </a:r>
          </a:p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再继续生成病历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D76F00-23EB-4245-9F1C-1CA274CF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门禁保留在服务端：前端可以变得更自动，但不能通过隐藏提示绕过安全约束。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AFE52-B521-4AB3-88CF-14B39DDE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证据：PR #47 · v1.4.0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93BD6-4371-442C-A8C5-5BF81CEC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1010278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D6C49A-4287-40BD-BC45-BA30E7DA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录音 MVP · 已合并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F9742-EFB2-4704-B4A8-E6DEF940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医生端已具备“打开麦克风就能生成病历”的演示闭环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02BBF-E136-48F0-BA1C-5E4E74D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CCA7D-45FB-42B4-AD28-853738D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1F76-6BC3-456F-93A9-81EB2BFD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ECAEB-2C44-4AB2-8FB6-201C8A4D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1391C-EE72-4C99-B03E-2273D5C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开始录音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2FEB6-1021-4475-A59C-36B61F96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478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C7EE2-2BC2-4849-B76F-2A9D4EC7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AA906-62AF-439E-9795-4575716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9684F-D4E0-416D-842E-9089192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浏览器编码 WAV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D9048-532B-434E-A3FF-584D6ED6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478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5C155-BAFD-46E0-A7D1-34C961F6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9FD0E-CE9F-4CE5-8B2E-CC3D1D3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4EFB1-39A7-456D-9092-5B6D7260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上传 ASR 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2F66B-DCF2-4F1C-9C7E-E5604441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25297-34CA-49F9-85D5-5DEB38F3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7713C-5E9D-45B5-88CA-28B1FE4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0FFDC-B236-409E-8EC1-1F850EFB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SSE 返回转写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9500C-1E43-40A8-8AD9-665FC23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478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8D77E-C375-4006-81D0-9D77962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170FF-021F-4136-825F-6B994594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29DB4-474F-44BB-AF9E-24A11B22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角色门禁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A60F1-BE81-4E62-935F-E421FD12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478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E034A-6C45-4077-B5E2-B18CC3C3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790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A5"/>
          </a:solidFill>
          <a:ln xmlns:a="http://schemas.openxmlformats.org/drawingml/2006/main" w="0">
            <a:solidFill>
              <a:srgbClr val="159A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4BB73-A475-464B-BCFD-02211C2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80022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3D471-5234-4C00-A49E-DA90A232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717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生成病历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3A61EA-3B46-4C5B-9F22-D8F7B398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362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11227-7D30-446C-A03D-836D2234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60 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C43B07-9D82-49A5-A89B-2A82F5AA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课程演示最长录音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F60DD1-0A25-488E-B74D-7C5430B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2362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E62DB3-E9AF-4FE1-8191-586559EB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195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0 后端转码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953C2-CA75-4518-916E-B772D5C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浏览器端 PCM 16-bit WAV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E7FEF8-20F7-4F94-80EF-D62C59A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2362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51F90B-E219-473E-AE02-E82AA616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1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可试听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3B6F2-6ED9-45F3-91D4-B69B43E2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停止后预览再上传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5AC88B-FA37-492E-9FAA-64D4705F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2362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B8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64B10E-4708-4241-AE36-5A05315A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10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复用链路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D2336B-0A7E-4AD3-A855-F5ABB8F0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ASR / SSE / 角色校正 / 生成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18A0CB-70AE-4764-885D-B05245D4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553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F2606E-82E8-4E8E-A13C-D69F4D0B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本次有意不做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738598-DB71-4D06-9E14-B6565CC9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暂停 · 分块实时上传 · 断线恢复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C2B420-A692-47F5-B79D-4606756C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原因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AC084C-0F01-474D-AC3E-D98816BF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19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先保证明天能稳定演示完整业务闭环，再进入完整 #42。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161E9F-2D27-4070-8B5B-8F0B866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证据：PR #53 已合并 · main CI 成功 · 204 tests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3D3AA0-4963-43AF-9A36-6D4559FD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287415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421D7-ADB5-4C07-8F9C-71FEF798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体验与安全的平衡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2314F-9CF2-49B5-B91C-FB5D5C8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角色确认应从“必经步骤”变成“仅在异常时出现”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11C59-21B0-4B39-B7FB-3CD0BC36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0EEFE-ADEE-4381-B9AA-A8E7D00D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C0F45-C440-48F1-BBBE-41350AB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7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当前体验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1057F-73D9-4B5F-853F-FEE49F7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7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目标体验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2D1A-870A-463E-BD03-BD4C459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DFD2-4D04-420A-BE23-89ED2C8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每次都要求医生完成全局角色映射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1B501-4A2B-436B-A0E2-C24E4EAB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D58"/>
          </a:solidFill>
          <a:ln xmlns:a="http://schemas.openxmlformats.org/drawingml/2006/main" w="0">
            <a:solidFill>
              <a:srgbClr val="C94D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0D910-97A3-4E06-9272-9A2847C9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AD93A-8FA9-4B57-9B86-13B74AFF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99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所有说话人逐个选择角色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75F1C9-C2BB-4847-B489-3C85C477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D58"/>
          </a:solidFill>
          <a:ln xmlns:a="http://schemas.openxmlformats.org/drawingml/2006/main" w="0">
            <a:solidFill>
              <a:srgbClr val="C94D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52C9B-92B7-453E-B238-973769F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33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!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E8DE4-85E3-453A-A719-5641808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医生承担系统识别成本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C7377-54AD-49A1-8217-B4227FB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57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D58"/>
          </a:solidFill>
          <a:ln xmlns:a="http://schemas.openxmlformats.org/drawingml/2006/main" w="0">
            <a:solidFill>
              <a:srgbClr val="C94D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AAC44-25B4-4904-AAA0-6249FB82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!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B3A2F-7DA8-4AC1-9244-2B5101E7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57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录音越长，确认负担越大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B8C2E-49FA-4E51-8FE7-0CF6CB7F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00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878BC-DAF6-4741-82F6-EB0581CF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C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14ECA-9F8C-469B-B16C-51F976B3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自动通过高质量结果，仅弹出一次异常确认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E6D13-0295-4A12-8AC9-CB72F31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9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05899-D91B-48FE-A1B5-9300C0E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837AC-3051-400C-B098-03296A89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99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正常路径：安静通过并直接生成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10252-DF78-473A-BEA6-5DA3A48D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ECDBB-E744-454B-A7C8-3FBC918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433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C34CF-CD8A-4268-83F9-22F0CEC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异常路径：集中确认不确定说话人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6807E-3E7B-4B77-99E8-B1EE6B4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57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32803-7949-4358-A9FD-0A2A4E8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1FE506-0C36-4B8C-8234-702405EC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服务端 409 门禁仍然保留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85D93-4BD7-4724-8922-4B64942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0668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1D6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923C86-3CFE-492E-ACC5-45B9770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PR #52 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CD58A1-268C-4A95-9DA0-E9369F0D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策略与 calibration/test 结果已完成，但仍在评审；不能把候选阈值描述为 main 已上线。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77977-DD01-44E5-B05D-2D1FC920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证据：PR #52（OPEN）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2A0ED7-4705-45FE-B90E-BDEB6B47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690049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AD014-39F0-44AD-8D1E-6B14831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评测证据 · PR #52 候选结果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88B6-AAEB-4B7E-8AEC-D4DE277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候选策略把自动覆盖率提升到 86%–96%，且未出现高置信错误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7A817-400E-4402-A063-CFA37941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16E08-556D-421E-9C68-BC3BDD5A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16731-8DF0-4F22-BFA6-1CA2E54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153D6-F085-40B6-B8A2-17B1B77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自动通过覆盖率（%）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7250" y="217170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39f52039f1491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A031E-798A-407B-BF7A-69FC9DCB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52600"/>
            <a:ext cx="128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1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95E54-11CD-4948-A7D3-EE464F5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128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synthetic WAV</a:t>
            </a:r>
          </a:p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可执行样本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94E77-DDBD-475E-82D6-2242395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1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5837F-B8B6-424E-A61D-524AC1F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高置信错误</a:t>
            </a:r>
          </a:p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（当前数据）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D3C0D-44D2-4529-8C2E-1C9B7D27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813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9DDCD-2A8A-456C-BA4C-AE7C712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覆盖场景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3A7E2-EA0C-495A-B953-0ED098F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81400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双人 · 三人 · 单人朗读反例</a:t>
            </a:r>
          </a:p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噪声 · 打断 · 重叠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F54C9-EB1D-4E64-9A86-12D39D6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38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数据隔离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A0791-E593-48C5-8E32-A3BB1C50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2809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Calibration 12</a:t>
            </a:r>
          </a:p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Test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3AE1C4-0707-41F6-AEEA-CD313DFB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6870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F7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D0694-348C-4CC6-87BE-EA34066E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边界：当前是 synthetic / oracle transcript 的角色决策评测，不等于真实临床端到端 ASR 准确率。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62B0A-48D6-4127-ABCE-A0ED8E9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数据来源：PR #51 基线报告、PR #52 候选报告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E06EE-7E3D-4F2F-AA7D-3AFCF17B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1144753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037BD-1373-4A88-B0D2-8896449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界面证据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94E4F-BE7D-4D83-9209-0B7741C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当前工作台暴露出三个影响医生效率的产品问题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B6B4-4100-46B2-A8E8-6D1400C0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8C5B3-9CE8-4692-A175-9790CA28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61410-94AA-4A03-8E85-19AE55F3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7bb68c2b74e03"/>
          <a:stretch xmlns:a="http://schemas.openxmlformats.org/drawingml/2006/main"/>
        </p:blipFill>
        <p:spPr>
          <a:xfrm xmlns:a="http://schemas.openxmlformats.org/drawingml/2006/main">
            <a:off x="800100" y="2227434"/>
            <a:ext cx="4572000" cy="9267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05ECA-22C7-43BB-8555-3DEE094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问题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08EDA-2FC1-479B-B83F-7ED475D5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摘要只展示第一个候选；第二个病症需要点击“详情”才能发现。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836BB-ABE3-40A2-AF9B-BA125AD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7785F-5ED6-4363-9FA0-8F5C53B9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问题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A32C0-DD65-48A9-87FF-6E2AB3F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“规则置信度”容易被理解为疾病概率，而实际只是规则匹配结果。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9730D-5F7F-4F94-8F74-E4F4C90D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62100"/>
            <a:ext cx="5429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37666b3784c56"/>
          <a:srcRect xmlns:a="http://schemas.openxmlformats.org/drawingml/2006/main" l="0" t="10587" r="0" b="10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790700"/>
            <a:ext cx="2333625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D06A5-2551-45FE-A2C6-FC4DB40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问题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2F707-FB07-4B90-86EA-C4F5B5EF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3362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完整信息存在，</a:t>
            </a:r>
          </a:p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但被放在深层详情页。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B8DA1-F94E-4FA8-AC60-53BCFE9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24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医生首先需要的是：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C76CF-7410-45DF-842B-662F867E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2190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• 两个候选同时可见</a:t>
            </a:r>
          </a:p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• 关键依据与风险可扫读</a:t>
            </a:r>
          </a:p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• 明确的下一步审核动作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76B9B-EAA1-4671-BADF-4832700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C94D58"/>
                </a:solidFill>
                <a:latin typeface="Noto Sans SC Thin"/>
                <a:ea typeface="Noto Sans SC Thin"/>
                <a:cs typeface="Noto Sans SC Thin"/>
              </a:rPr>
              <a:t>此外：当前“确认字段”与强制全局角色映射仍偏工程表达，不符合问诊工作语言。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025BF-AEC2-4145-887B-33DDACF9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截图：当前医生端候选诊断摘要与详情页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46A41-B5FC-4429-B456-670FD943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867673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7B171-EC74-489D-8C8D-5EE95548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建议改版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6D131-783F-4214-BBA9-108D37F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不减少安全检查，但把医生操作压缩为一次明确的审核动作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1E48F-F68B-4E44-994F-76460A66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082AB-6DDB-4B4A-A2BE-EB1D737A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D364-3E7B-4767-BE70-46BE12D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46A27-D68C-41B0-BB7A-81BF7B00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当前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25374-96AF-499B-ADDD-E5FECDD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57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0B789-D3B6-4B2D-92CB-D2EC0E51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DCFDF-8714-497B-9D75-321CC851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说话人角色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79FCF-B8A6-4751-B0DF-051D05B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每次全局映射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49CBF-70DE-4A16-BD37-A761411D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高质量自动通过；异常时集中确认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638A7-4869-435B-9C54-772A8F4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24EF6-7070-4B54-AC58-177C3E77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候选诊断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2056A-A667-4EA8-9925-BBB1AB7A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52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只展示 1 个，更多在详情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B2521-E318-43B9-826A-E0C6EA6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527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首屏展示 2 个候选与关键依据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5A4EE-C439-4CD6-AC59-1E5129DA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EEAF3-7DD5-4DE0-88AE-BA9B2CD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置信度文案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6CE08-8395-4547-B0CD-F26B7B83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规则置信度 72%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F3C46-0FD1-459A-83F1-A9F7A0E8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规则匹配度 72%（非疾病概率）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7730A-91A8-49AF-B810-C91E7C1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718B7-1FF6-4FB9-86F9-7BA1646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审核动作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C8BB4-21D8-4CCE-8F18-82306B3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909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确认字段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936EC-9377-464A-8898-F66AB16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完成病历审核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FFB4E-B623-4A3C-918D-D7EE8F5E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E3353-C4F3-4181-B8D1-4540F15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保存动作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AD471-3C05-45AB-8503-B648B896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01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保存草稿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86F897-96E5-4174-A4E9-887701D8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保存修改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E0404-50F3-4C00-9724-75E8FA8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8F862-01DA-4E91-82CE-40C1DE0D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内部信息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ED1E7F-51D9-4B1C-BA9E-75B48426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292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直接展示规则 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7C19B-A3B1-4F34-A298-E5003AD2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292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仅调试模式展示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C119F4-479D-47E0-A515-CA1ED743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EAF7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B6BFB2-1A44-4104-BB12-8402492C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198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目标：默认流程“录音 → 自动生成 → 一次审核”，只有异常才插入角色确认。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42CF50-667B-4BE8-9AF6-9C450BB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awa606/medical_record_agent · 2026.07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E5D8AF-F615-4254-9339-59CE0B8D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326318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1C11F-EAAF-496F-AE20-C5C2BBB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产品化方向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67BAF-D009-467E-A359-2FCB5EFF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下一阶段不只是“转写”，而是可配置的专病问诊与病历质控助手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37CEA-3AC9-4654-A8AA-AE0DD0AE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C91FC-5DF6-431E-9D43-1134E267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D6FAC-F49C-4C09-A320-42DEE2B0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C0B80-CC44-42A7-944F-7DBF28B9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751AC-A9FB-4E36-801B-9AE9088B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5BB30-D7AF-478C-9591-31819027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问诊内容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00C38-16BB-4202-B66A-474F386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67050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音频 / 文本 / 既往资料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6C82A-079C-4887-BACB-B4E9098B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33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FEB0B-2E83-4505-86E0-9BE8E3FE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05000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289CB-A00C-4213-AA29-B04E95D6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890DC-F630-4E59-AD40-2EF9336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DB5B7-3E79-4071-907D-126A907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38425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专病路径路由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60F5B-7408-47D5-A051-8E8E5F3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识别最相关的疾病包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79084-7932-463F-B88C-71E4356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33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6E0A9-CCBE-45DA-982C-DCA49BE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05000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C6A33-4BD9-494E-B1A7-5966C5B6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E54F8D-50A0-4C6C-968F-205CF603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72776-FC0C-447C-B14D-C6269674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38425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结构化疾病包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1008D-0747-4760-8709-250784E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67050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必问项 · 红旗征象 · 缺失项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9B5E8-DF5F-407F-AAA2-FE9F335A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6AEE2-ABB0-4751-8207-7490C4DA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518548-2ED4-4E41-9A70-47524D4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78CA1-A77B-455A-9082-55180B00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7E9FC-94DD-43D4-849C-38D1E85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38425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证据引用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D7238E-E3BD-47FD-94C3-D6FB3BC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67050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指南来源与版本可追溯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D9497-2DEC-4BF4-8F87-F0E6B227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3365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00" b="1">
                <a:solidFill>
                  <a:srgbClr val="D7E1EC"/>
                </a:solidFill>
                <a:latin typeface="Noto Sans SC Thin"/>
                <a:ea typeface="Noto Sans SC Thin"/>
                <a:cs typeface="Noto Sans SC Thin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212B6E-1384-46A8-B99C-8605851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05000"/>
            <a:ext cx="19526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A7D7D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62BAA-36A0-4B9D-BAB5-F30DEDB3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A5"/>
          </a:solidFill>
          <a:ln xmlns:a="http://schemas.openxmlformats.org/drawingml/2006/main" w="0">
            <a:solidFill>
              <a:srgbClr val="159A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F15BDB-AFF6-44F3-A742-4299B39E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1050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3B6C5-3D9F-4244-8E78-D41599A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38425"/>
            <a:ext cx="1609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医生审核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6732FC-D393-4833-B293-A46BFEB8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67050"/>
            <a:ext cx="1647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补问、修改、确认病历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91ACE9-8609-4C63-B97F-287F8E0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首个可交付疾病包：发热 / 呼吸道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F6C6F4-DFD8-4F6C-A3AA-293BC94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6088AB-9F78-4613-A44E-0E88BC92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必问症状与病程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F48AAA-FC32-4063-BDF5-13A21A2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A8C631-84B8-4140-9FCA-5A4F147E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缺失信息提醒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155E2-59EC-4CEE-8A05-FFBF9B88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9525">
            <a:solidFill>
              <a:srgbClr val="EDF4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FF2647-F21C-4402-AFE6-8A2D140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红旗征象提示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389B88-3C33-4156-8E31-CE25FD9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EAF7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FE695-6AD3-4E0C-9404-401493A7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鉴别诊断参考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0B0362-4A9C-468A-9705-03E9845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76850"/>
            <a:ext cx="1866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9525">
            <a:solidFill>
              <a:srgbClr val="EAF7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D6CC4E-629E-4B99-8E67-8BAC8A3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244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指南来源与版本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B5A47B-4BB4-4898-BBF8-7FBD5E69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1005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6A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B91F0B-87A1-4541-8FBE-D32613C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边界声明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36FF6A-4151-4D5A-9F16-39B2EF17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29175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知识库用于补问、质控与证据引用；</a:t>
            </a:r>
          </a:p>
          <a:p xmlns:a="http://schemas.openxmlformats.org/drawingml/2006/main">
            <a:pPr algn="l">
              <a:def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42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不替代医生诊断，不直接生成处方。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BB875C-6B34-476D-B958-991327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awa606/medical_record_agent · 2026.07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A8EF0B-6C57-4720-A450-4BEE3F5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1506945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EF69F-8D38-47AD-B634-0CBE9F0B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工程交付证据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C4384-8D87-436C-A822-D02F0EE6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本周交付同时建立了可复现、可审计的工程基础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0BD1-AFDF-4E1F-B89B-994F725C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89BBE-58BE-49FA-88A6-598960DA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6822F-C1DE-407B-96B6-CBE6B46D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#47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0FF0E-5837-47E4-B163-95FE6F9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573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角色质量门禁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03C8A-040E-4B63-A5A9-3077ACF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47825"/>
            <a:ext cx="1381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92965-16A3-4391-9D3C-24566B93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MERGED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2570F-EE6C-45B1-BD85-0D4F9C1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D5014-7B24-494B-A1D3-18266771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#51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F0573-942A-48EE-8563-23E04EAC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146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可执行临床评测集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830F2-3A43-49ED-977B-C2710F4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05075"/>
            <a:ext cx="1381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81114-5264-4D3C-8322-485E975B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527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MERGED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51117-AD61-4F8B-A4A1-A188938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715A3-3DFB-47E2-B49D-D45FB5F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#53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A20A2-BA4B-4C33-B21F-5764A081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18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浏览器录音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1486A-679D-4126-ACBF-BCCD5030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62325"/>
            <a:ext cx="1381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EAF7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00C72-3D40-4BA8-A06D-16BB7230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099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2F8A66"/>
                </a:solidFill>
                <a:latin typeface="Noto Sans SC Thin"/>
                <a:ea typeface="Noto Sans SC Thin"/>
                <a:cs typeface="Noto Sans SC Thin"/>
              </a:rPr>
              <a:t>MERGED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7F111-170E-4C90-A620-FA35E6B6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2ADD0-3DB8-4160-949A-F998FD5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9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#52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233EF-A38C-4A87-B8D4-C8637FE7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29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角色决策阈值校准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6FE89-4F5C-42F4-9878-BD2AE51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19575"/>
            <a:ext cx="138112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FF7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B9EEE-28D2-4558-B4BE-981C3B4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5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IN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78FBF-F4FE-4D0E-A6CD-076BDD0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238500" cy="33337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D08651-ED5F-4A28-984F-9A4C7CBC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150" b="1">
                <a:solidFill>
                  <a:srgbClr val="2E6EBD"/>
                </a:solidFill>
                <a:latin typeface="Noto Sans SC Thin"/>
                <a:ea typeface="Noto Sans SC Thin"/>
                <a:cs typeface="Noto Sans SC Thin"/>
              </a:rPr>
              <a:t>204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1C5B4-8613-44D7-9F08-DBCEA38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main 自动化测试通过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68B13-FAE7-497B-8E8F-C8E59EFB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64CC85-9A8F-4696-BA78-653F1EA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1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214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50F64-C137-41EF-8C80-682E4034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PR #52 分支测试通过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1A4C8-689C-48C0-9132-B6F399CD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CI 检查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44F84-07E7-4FA6-BAAB-24775FE2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71975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88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pytest · node --check</a:t>
            </a:r>
          </a:p>
          <a:p xmlns:a="http://schemas.openxmlformats.org/drawingml/2006/main">
            <a:pPr algn="l">
              <a:defRPr sz="1088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088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git diff --check · /health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81443E-8EAE-4D32-A56E-4D4E8AD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工程治理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3B0C13-AB9D-4A70-9F01-B30A439A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0C5A95-EAEB-4E8B-BDB3-7CFC0E1C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23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5299FE-D9D0-4E22-A32A-403EEFE4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05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main 规则集与禁止 force push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11731F-8960-4D39-AC5C-FB866210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150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73BD5-9B43-4FCB-A481-BA2D57B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24525"/>
            <a:ext cx="23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62B6A-7FB2-4F10-BFFB-98BBCF4F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05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Git LFS 管理 23 个 WAV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C744A1-6BC3-4661-BB63-03F082A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150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D3FCFA-3700-4B93-8726-9AA46756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724525"/>
            <a:ext cx="23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EDE2DB-D753-4E3E-8B45-87652A44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05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仅 synthetic fixture，无真实患者隐私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960235-879C-4FE0-A779-3E906E1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150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2467D-3EB0-444E-A075-0ABBA3E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724525"/>
            <a:ext cx="238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792C93-A388-4546-A9A4-7D90FD0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054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v1.4.0 Release 可追溯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429A6A-D7ED-4B5E-82EE-76528B69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GitHub Actions / Rulesets / Git LFS / Release 证据链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9D0E48-DC51-4C3B-A9EC-734EB5B9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524980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AF798-141A-4502-8909-764B2F9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现场演示顺序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EC797-306A-41A0-B71D-623EFDC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285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明天用一条完整问诊链路证明“可用、可拦、可改、可交付”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31B83-AD31-4CDD-9134-9939D728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A38BA-74AC-48DD-A1FC-AFD43FA4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1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6E812-973C-404A-86E4-ABE4C22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2E851-68A8-4BDD-B8DB-41249C5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3352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E54A-3F2E-4338-B522-FC9EA8AE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71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打开麦克风，完成 20–30 秒发热/咳嗽问诊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77EA5-1B8A-4CB5-B8B3-342B8E4B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906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5856F-3FFD-46C1-A9A9-B21FFAD5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7167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16103-38B2-4160-90D8-CBBE4BC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F84C6-AB20-4C96-B9DA-F0FCF60D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25E02-5970-4C1F-9186-2C7AE878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764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停止并试听；上传后展示 SSE 转写结果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77264-F5C7-49AA-8743-36D6494C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955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E430E-58F6-4072-B710-2CFDDE1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7652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26270-3737-4555-8E6C-58A4986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4EE78-D5D1-4C96-9D3D-8E1CF287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AAF46-55E9-41D7-A906-9692366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813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展示自动角色判定；准备一个低质量样例触发 409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7A6A6-5A91-4DFA-BE5B-C8330C7C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03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AE1D2-A6D9-47C8-9223-8174913F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B72D8-DEE5-4252-BB06-76D6DB5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BD"/>
          </a:solidFill>
          <a:ln xmlns:a="http://schemas.openxmlformats.org/drawingml/2006/main" w="0">
            <a:solidFill>
              <a:srgbClr val="2E6E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5838D-8D6C-41C2-B8B0-52568A8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080D0-C7E6-4F0E-A26B-7C9DC790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861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一次确认异常角色后继续生成病历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D08EA-A137-47EE-B215-D1C97B88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1052C-2AA4-4307-A4B6-896D251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EE0C2-5979-49EA-B040-5AA97F09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A5"/>
          </a:solidFill>
          <a:ln xmlns:a="http://schemas.openxmlformats.org/drawingml/2006/main" w="0">
            <a:solidFill>
              <a:srgbClr val="159A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63E78-BB37-497E-8AE8-EB401AB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87DEA2-E44D-4DC0-AED6-B3192824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910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首屏查看两个鉴别诊断参考，完成病历审核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67051-2E5C-4017-BFE1-3A4A7A9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2CF3DC-330A-44D1-96A0-56AB5D1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6AD137-705F-4C8D-9054-A647B5C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A5"/>
          </a:solidFill>
          <a:ln xmlns:a="http://schemas.openxmlformats.org/drawingml/2006/main" w="0">
            <a:solidFill>
              <a:srgbClr val="159A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A92A8-A0F1-41DC-B6E5-F9E4FE1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35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4B49A-F82E-40C6-9236-3311FD3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0">
                <a:solidFill>
                  <a:srgbClr val="0F2742"/>
                </a:solidFill>
                <a:latin typeface="Noto Sans SC Thin"/>
                <a:ea typeface="Noto Sans SC Thin"/>
                <a:cs typeface="Noto Sans SC Thin"/>
              </a:rPr>
              <a:t>展示可导出的结构化病历草稿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EF31F7-3998-4155-B169-431D00F1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149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125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F4670C-15E1-4970-9F94-DFBDABB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00200"/>
            <a:ext cx="3095625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A6220-9BC3-448B-9DAA-C97DB42C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28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650" b="1">
                <a:solidFill>
                  <a:srgbClr val="159AA5"/>
                </a:solidFill>
                <a:latin typeface="Noto Sans SC Thin"/>
                <a:ea typeface="Noto Sans SC Thin"/>
                <a:cs typeface="Noto Sans SC Thin"/>
              </a:rPr>
              <a:t>演示成功标准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17368-F192-457D-91A4-8EE5A4EB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146016-2649-4BE7-89DD-6DF3372E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5C848F-309D-40A0-B82E-080B6C0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24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录音上传成功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4C38F-B074-41D0-A11A-6821EF9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995DD-7032-454E-A35B-BCAAB89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955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8D06F-2192-4F20-A5FF-457BC123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76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转写可见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BD6003-6AEE-4AF4-B9FC-7A92961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1F8FE1-62F5-43E7-AEB1-4EA8AE50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7F349-165E-461C-9BA7-76842CB4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门禁可触发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1A8AF0-0808-4EDD-92EC-E5AAF15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90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AEF4F0-2E70-49C9-B321-AD9AB0BF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042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73F947-99FD-414A-97B5-C52F480C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修正后可继续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63F266-8ADB-424B-B173-B2483771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43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A66"/>
          </a:solidFill>
          <a:ln xmlns:a="http://schemas.openxmlformats.org/drawingml/2006/main" w="0">
            <a:solidFill>
              <a:srgbClr val="2F8A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9F0E51-DD2F-4EC4-8425-44264AC5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9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10610F-317F-4CB7-892E-B9AB884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33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病历可审核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D76BD0-F45D-4EDF-88B7-158D3CAA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3095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6A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308446-F8F4-41E7-9A60-C0869749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C8872E"/>
                </a:solidFill>
                <a:latin typeface="Noto Sans SC Thin"/>
                <a:ea typeface="Noto Sans SC Thin"/>
                <a:cs typeface="Noto Sans SC Thin"/>
              </a:rPr>
              <a:t>备用方案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F1F897-8245-4CAF-9449-F912437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96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04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38" b="0">
                <a:solidFill>
                  <a:srgbClr val="182234"/>
                </a:solidFill>
                <a:latin typeface="Noto Sans SC Thin"/>
                <a:ea typeface="Noto Sans SC Thin"/>
                <a:cs typeface="Noto Sans SC Thin"/>
              </a:rPr>
              <a:t>准备一段本地 WAV、两张界面截图、一次录屏。麦克风或网络异常时立即切换。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E2F637-AA6F-4A43-AE7D-5010F86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awa606/medical_record_agent · 2026.07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ABEA36-9090-4457-B3E0-989D287D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553200"/>
            <a:ext cx="3057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863" b="0">
                <a:solidFill>
                  <a:srgbClr val="617085"/>
                </a:solidFill>
                <a:latin typeface="Noto Sans SC Thin"/>
                <a:ea typeface="Noto Sans SC Thin"/>
                <a:cs typeface="Noto Sans SC Thin"/>
              </a:rPr>
              <a:t>AI 仅提供辅助，最终病历由医生审核确认</a:t>
            </a:r>
          </a:p>
        </p:txBody>
      </p:sp>
    </p:spTree>
    <p:extLst>
      <p:ext uri="{BB962C8B-B14F-4D97-AF65-F5344CB8AC3E}">
        <p14:creationId xmlns:p14="http://schemas.microsoft.com/office/powerpoint/2010/main" val="1664019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24B0CE-08D0-4BB7-BD02-0FFB561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00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rPr>
              <a:t>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3DA56-6467-42F3-89CA-45EC7C82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885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下一周的重点，是把安全能力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3300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转化为医生可感知的效率提升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F1859-5904-4FD1-B544-0BD88CD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16F"/>
          </a:solidFill>
          <a:ln xmlns:a="http://schemas.openxmlformats.org/drawingml/2006/main" w="0">
            <a:solidFill>
              <a:srgbClr val="32516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E7944-B4EF-4E16-9E77-DEF9CDFC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rPr>
              <a:t>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6143-DBA5-4E43-8953-E90BB85D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是否确认以“专病问诊 + 病历质控”作为产品主线？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A7290-C674-4984-ABA1-822E031B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rPr>
              <a:t>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493C9-993E-47DE-8100-B47826E4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是否优先落地“发热 / 呼吸道”首个疾病包？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39BCC-7A80-4D56-B92C-B198311B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rPr>
              <a:t>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0E8C4-D6CE-49F4-AA10-9F9385F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875" b="1">
                <a:solidFill>
                  <a:srgbClr val="FFFFFF"/>
                </a:solidFill>
                <a:latin typeface="Noto Sans SC Thin"/>
                <a:ea typeface="Noto Sans SC Thin"/>
                <a:cs typeface="Noto Sans SC Thin"/>
              </a:rPr>
              <a:t>是否认可先用合成 / 模拟问诊验证，再逐步引入合规数据？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845FC-77AC-45EC-8086-03827D50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83857"/>
          </a:solidFill>
          <a:ln xmlns:a="http://schemas.openxmlformats.org/drawingml/2006/main" w="9525">
            <a:solidFill>
              <a:srgbClr val="183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F8F11-43FA-4C54-8722-211479CB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1043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FD6EC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500" b="1">
                <a:solidFill>
                  <a:srgbClr val="BFD6EC"/>
                </a:solidFill>
                <a:latin typeface="Noto Sans SC Thin"/>
                <a:ea typeface="Noto Sans SC Thin"/>
                <a:cs typeface="Noto Sans SC Thin"/>
              </a:rPr>
              <a:t>评审期待：明确产品主线、首个疾病包范围与下周优先级。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BEAB2-D39B-4009-BD16-FFCC9BE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340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defRPr>
            </a:pPr>
            <a:r>
              <a:rPr sz="1275" b="1">
                <a:solidFill>
                  <a:srgbClr val="8DB6E6"/>
                </a:solidFill>
                <a:latin typeface="Noto Sans SC Thin"/>
                <a:ea typeface="Noto Sans SC Thin"/>
                <a:cs typeface="Noto Sans SC Thin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372884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2026-07-16T17:01:35.9190000Z</dcterms:created>
  <dcterms:modified xsi:type="dcterms:W3CDTF">2026-07-16T17:01:35.9190000Z</dcterms:modified>
</coreProperties>
</file>