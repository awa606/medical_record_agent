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57" r:id="rId4"/>
    <p:sldId id="258" r:id="rId5"/>
    <p:sldId id="271" r:id="rId6"/>
    <p:sldId id="272" r:id="rId7"/>
    <p:sldId id="261" r:id="rId8"/>
    <p:sldId id="264" r:id="rId9"/>
    <p:sldId id="277" r:id="rId10"/>
    <p:sldId id="276" r:id="rId11"/>
    <p:sldId id="269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111" autoAdjust="0"/>
  </p:normalViewPr>
  <p:slideViewPr>
    <p:cSldViewPr snapToGrid="0">
      <p:cViewPr varScale="1">
        <p:scale>
          <a:sx n="101" d="100"/>
          <a:sy n="101" d="100"/>
        </p:scale>
        <p:origin x="2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添加指导老师</a:t>
            </a:r>
            <a:br>
              <a:rPr lang="en-US" altLang="zh-CN" dirty="0"/>
            </a:br>
            <a:r>
              <a:rPr lang="zh-CN" altLang="en-US" dirty="0"/>
              <a:t>添加学院</a:t>
            </a:r>
            <a:r>
              <a:rPr lang="en-US" altLang="zh-CN" dirty="0"/>
              <a:t>logo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71852-4296-3C5E-775C-5E4F1B3B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9EF15-8CEF-CE5A-788A-FE59530A5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D6E35-A1B7-061D-110A-E78AF355C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116E6-157A-C705-B250-727AFCB3FD3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5646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本页说明为什么不能只展示ASR或大模型。项目同时解决记录负担、证据追溯和审核安全三个问题，后面的架构与测试都围绕这三点展开。</a:t>
            </a:r>
          </a:p>
          <a:p>
            <a:endParaRPr/>
          </a:p>
          <a:p>
            <a:r>
              <a:t>[Sources]</a:t>
            </a:r>
          </a:p>
          <a:p>
            <a:r>
              <a:t>- 项目需求与POC报告模板</a:t>
            </a:r>
          </a:p>
          <a:p>
            <a:r>
              <a:t>- GitHub README：Medical Record Agent项目概览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用这一页划定评分和口径。P0不是功能越多越好，而是唯一闭环能否一次完成，并且审核边界明确。课程POC不宣称临床部署。</a:t>
            </a:r>
          </a:p>
          <a:p>
            <a:endParaRPr/>
          </a:p>
          <a:p>
            <a:r>
              <a:t>[Sources]</a:t>
            </a:r>
          </a:p>
          <a:p>
            <a:r>
              <a:t>- 《综合设计3》结题汇报评分表</a:t>
            </a:r>
          </a:p>
          <a:p>
            <a:r>
              <a:t>- 项目POC报告：MVP定义与开发边界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系统总体架构分四层。输入层：USB 麦克风为主，预录音频和文本输入作为备份路径；AI 处理层：ASR 转写、角色区分、医学字段抽取、LLM 病历生成、安全校验；应用层：医生 Web 工作台，做审核和导出；输出层：Word、Markdown、JSON 三种格式加审计日志。架构图右侧标注了『边缘端本地化』是可选进阶方向，POC 阶段不依赖它，不会因为它做不出来导致主线失败。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只讲产品闭环。医生可以从实时录音、音频文件或文本输入开始，但三种方式都会绑定同一患者和同一就诊，并进入同一套转写、病历生成和医生审核流程。入口可以不同，正式病历的交付标准始终一致：AI 只生成草稿，医生修改并审核后才能导出。</a:t>
            </a:r>
          </a:p>
          <a:p>
            <a:endParaRPr/>
          </a:p>
          <a:p>
            <a:r>
              <a:t>[Sources]</a:t>
            </a:r>
          </a:p>
          <a:p>
            <a:r>
              <a:t>- 用户提供：image(46).png（原页主题、内容与页码）</a:t>
            </a:r>
          </a:p>
          <a:p>
            <a:r>
              <a:t>- 项目资产：MediListen 图标、深圳职业技术大学未来技术学院组合标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框图解释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这一页按“测试发现—本轮修改—复测变化”说明测试如何推动产品迭代。</a:t>
            </a:r>
          </a:p>
          <a:p>
            <a:r>
              <a:t>顶部数据不再展示健康接口，而是保留四项与产品稳定性直接相关的证据：回归用例由382扩展到429，固定音频连续三轮均为104/104分块，浏览器完整闭环3/3，以及审核与版本门禁37/37。</a:t>
            </a:r>
          </a:p>
          <a:p>
            <a:r>
              <a:t>第一条布局问题已完成代码修改，但最新冻结基线仍待截图复测，因此没有写成已通过。</a:t>
            </a:r>
          </a:p>
          <a:p>
            <a:r>
              <a:t>第二条通过分块编号、Last-Event-ID与接收端去重，解决重连后的重复事件与状态倒退。</a:t>
            </a:r>
          </a:p>
          <a:p>
            <a:r>
              <a:t>第三条通过版本哈希与CAS门禁，让病历修改后旧审核立即失效，并阻断未审核导出和重复结束。</a:t>
            </a:r>
          </a:p>
          <a:p>
            <a:r>
              <a:t>下一轮聚焦真人麦克风与噪声、语义角色判断、知识库管理和多病种实测。</a:t>
            </a:r>
          </a:p>
          <a:p>
            <a:r>
              <a:t>[Sources]</a:t>
            </a:r>
          </a:p>
          <a:p>
            <a:r>
              <a:t>- Project QA checkpoints and iteration evidence supplied in the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本轮完成三种输入进入同一套医生审核与受控导出流程。医生保留最终确认权；修改后旧审核失效，只有当前有效版本允许导出。</a:t>
            </a:r>
          </a:p>
          <a:p>
            <a:r>
              <a:t>下一阶段按风险顺序推进：先验证真实问诊、噪声、长音频和未见样本；再接通知识库解析检索、语义判角色和多病种知识包；最后验证边缘部署、HIS/EMR接口、权限与审计。</a:t>
            </a:r>
          </a:p>
          <a:p>
            <a:r>
              <a:t>当前定位是可评估原型，下一里程碑是完成真实环境QA与未见样本评测，形成临床试点候选版本。</a:t>
            </a:r>
          </a:p>
          <a:p>
            <a:r>
              <a:t>[Sources]</a:t>
            </a:r>
          </a:p>
          <a:p>
            <a:r>
              <a:t>- 用户提供的 MediListen 答辩PPT、项目已实现能力与明确待验证边界。</a:t>
            </a:r>
          </a:p>
          <a:p>
            <a:r>
              <a:t>- 用户提供的 MediListen 海报，仅用于视觉主题参考。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收尾回到开场：MediListen 的价值不是替代医生，而是让医生把注意力还给患者。当前 POC 已经完成实时辅助、证据核对、医生审核和文档交付的闭环；下一步会完成真人麦克风 QA、更多脱敏病例评测和真实系统接口验证。然后邀请评委提问。</a:t>
            </a:r>
          </a:p>
          <a:p>
            <a:endParaRPr/>
          </a:p>
          <a:p>
            <a:r>
              <a:t>[Sources]</a:t>
            </a:r>
          </a:p>
          <a:p>
            <a:r>
              <a:t>- 本次答辩产品故事与验收结果汇总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1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eft">
            <a:extLst>
              <a:ext uri="{FF2B5EF4-FFF2-40B4-BE49-F238E27FC236}">
                <a16:creationId xmlns:a16="http://schemas.microsoft.com/office/drawing/2014/main" id="{E839323F-DA9D-423E-B1A1-3987539C5F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rgbClr val="020F2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over-kicker">
            <a:extLst>
              <a:ext uri="{FF2B5EF4-FFF2-40B4-BE49-F238E27FC236}">
                <a16:creationId xmlns:a16="http://schemas.microsoft.com/office/drawing/2014/main" id="{F78D25B4-2D31-460A-9906-9BFCFA8B1659}"/>
              </a:ext>
            </a:extLst>
          </p:cNvPr>
          <p:cNvSpPr>
            <a:spLocks noGrp="1"/>
          </p:cNvSpPr>
          <p:nvPr/>
        </p:nvSpPr>
        <p:spPr>
          <a:xfrm>
            <a:off x="308891" y="1586012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dirty="0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rPr>
              <a:t>《</a:t>
            </a:r>
            <a:r>
              <a:rPr sz="2400" b="1" dirty="0" err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rPr>
              <a:t>综合设计</a:t>
            </a:r>
            <a:r>
              <a:rPr sz="2400" b="1" dirty="0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rPr>
              <a:t> 3》结题答辩</a:t>
            </a:r>
          </a:p>
        </p:txBody>
      </p:sp>
      <p:sp>
        <p:nvSpPr>
          <p:cNvPr id="5" name="cover-name">
            <a:extLst>
              <a:ext uri="{FF2B5EF4-FFF2-40B4-BE49-F238E27FC236}">
                <a16:creationId xmlns:a16="http://schemas.microsoft.com/office/drawing/2014/main" id="{D0A3BED3-34A2-4496-8625-F06734089FEC}"/>
              </a:ext>
            </a:extLst>
          </p:cNvPr>
          <p:cNvSpPr>
            <a:spLocks noGrp="1"/>
          </p:cNvSpPr>
          <p:nvPr/>
        </p:nvSpPr>
        <p:spPr>
          <a:xfrm>
            <a:off x="450038" y="2078881"/>
            <a:ext cx="628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dirty="0" err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MediListen</a:t>
            </a:r>
            <a:endParaRPr sz="4350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cover-title">
            <a:extLst>
              <a:ext uri="{FF2B5EF4-FFF2-40B4-BE49-F238E27FC236}">
                <a16:creationId xmlns:a16="http://schemas.microsoft.com/office/drawing/2014/main" id="{6BFE64EB-9FA9-4EC3-BA2D-FCB77A149F46}"/>
              </a:ext>
            </a:extLst>
          </p:cNvPr>
          <p:cNvSpPr>
            <a:spLocks noGrp="1"/>
          </p:cNvSpPr>
          <p:nvPr/>
        </p:nvSpPr>
        <p:spPr>
          <a:xfrm>
            <a:off x="450038" y="2936131"/>
            <a:ext cx="628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 dirty="0" err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AI生成式电子病历辅助系统</a:t>
            </a:r>
            <a:endParaRPr sz="2775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cover-tagline">
            <a:extLst>
              <a:ext uri="{FF2B5EF4-FFF2-40B4-BE49-F238E27FC236}">
                <a16:creationId xmlns:a16="http://schemas.microsoft.com/office/drawing/2014/main" id="{13F28C5A-1938-46D9-9FEC-0B095A9EBCA7}"/>
              </a:ext>
            </a:extLst>
          </p:cNvPr>
          <p:cNvSpPr>
            <a:spLocks noGrp="1"/>
          </p:cNvSpPr>
          <p:nvPr/>
        </p:nvSpPr>
        <p:spPr>
          <a:xfrm>
            <a:off x="450038" y="3945781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BFF9F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BFF9FD"/>
                </a:solidFill>
                <a:latin typeface="Noto Sans CJK SC"/>
                <a:ea typeface="Noto Sans CJK SC"/>
                <a:cs typeface="Noto Sans CJK SC"/>
              </a:rPr>
              <a:t>对话感知  ·  实时转写  ·  病历生成  ·  医生审核</a:t>
            </a:r>
          </a:p>
        </p:txBody>
      </p:sp>
      <p:sp>
        <p:nvSpPr>
          <p:cNvPr id="9" name="cover-team">
            <a:extLst>
              <a:ext uri="{FF2B5EF4-FFF2-40B4-BE49-F238E27FC236}">
                <a16:creationId xmlns:a16="http://schemas.microsoft.com/office/drawing/2014/main" id="{047A88A7-2B4D-4551-8FE1-62CF97436C1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dirty="0" err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项目成员：李国毅</a:t>
            </a:r>
            <a:r>
              <a:rPr sz="135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 </a:t>
            </a:r>
          </a:p>
        </p:txBody>
      </p:sp>
      <p:sp>
        <p:nvSpPr>
          <p:cNvPr id="10" name="cover-date">
            <a:extLst>
              <a:ext uri="{FF2B5EF4-FFF2-40B4-BE49-F238E27FC236}">
                <a16:creationId xmlns:a16="http://schemas.microsoft.com/office/drawing/2014/main" id="{6779529E-54FC-4D7B-AC15-F76817952DF8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9FC1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dirty="0">
                <a:solidFill>
                  <a:srgbClr val="9FC1DC"/>
                </a:solidFill>
                <a:latin typeface="Noto Sans CJK SC"/>
                <a:ea typeface="Noto Sans CJK SC"/>
                <a:cs typeface="Noto Sans CJK SC"/>
              </a:rPr>
              <a:t>2026.07.</a:t>
            </a:r>
            <a:r>
              <a:rPr lang="en-US" sz="1050" b="0" dirty="0">
                <a:solidFill>
                  <a:srgbClr val="9FC1DC"/>
                </a:solidFill>
                <a:latin typeface="Noto Sans CJK SC"/>
                <a:ea typeface="Noto Sans CJK SC"/>
                <a:cs typeface="Noto Sans CJK SC"/>
              </a:rPr>
              <a:t>31</a:t>
            </a:r>
            <a:endParaRPr sz="1050" b="0" dirty="0">
              <a:solidFill>
                <a:srgbClr val="9FC1D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cover-team">
            <a:extLst>
              <a:ext uri="{FF2B5EF4-FFF2-40B4-BE49-F238E27FC236}">
                <a16:creationId xmlns:a16="http://schemas.microsoft.com/office/drawing/2014/main" id="{7E8B429B-559C-0186-694C-18F39E0E6A04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3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35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指导老师</a:t>
            </a:r>
            <a:r>
              <a:rPr sz="135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：</a:t>
            </a:r>
            <a:r>
              <a:rPr lang="zh-CN" altLang="en-US" sz="135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王慧元、高建琦、赵伦</a:t>
            </a:r>
            <a:endParaRPr sz="1350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DFE5A67-377A-4857-5928-7D8F509F9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14879" cy="79746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F9DA57D-7658-B1E5-EFD1-B06E5EBC19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" r="37"/>
          <a:stretch>
            <a:fillRect/>
          </a:stretch>
        </p:blipFill>
        <p:spPr>
          <a:xfrm>
            <a:off x="6168111" y="-885"/>
            <a:ext cx="6023889" cy="685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7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F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A8DEE-F7D8-4D86-40A1-BD3CBA99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-2">
            <a:extLst>
              <a:ext uri="{FF2B5EF4-FFF2-40B4-BE49-F238E27FC236}">
                <a16:creationId xmlns:a16="http://schemas.microsoft.com/office/drawing/2014/main" id="{F37B74B8-C5C5-77B9-C9E3-A17AEE0F5022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0D9E8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C13ACB0-F3DF-C501-03F1-B84C16BA87C8}"/>
              </a:ext>
            </a:extLst>
          </p:cNvPr>
          <p:cNvSpPr/>
          <p:nvPr/>
        </p:nvSpPr>
        <p:spPr>
          <a:xfrm>
            <a:off x="609600" y="1237191"/>
            <a:ext cx="1003961" cy="1735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950" kern="0" spc="171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为什么要做</a:t>
            </a:r>
            <a:endParaRPr lang="en-US" sz="95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C19E979-CA22-E02B-B0CC-BB712E74BF56}"/>
              </a:ext>
            </a:extLst>
          </p:cNvPr>
          <p:cNvSpPr/>
          <p:nvPr/>
        </p:nvSpPr>
        <p:spPr>
          <a:xfrm>
            <a:off x="609600" y="1445219"/>
            <a:ext cx="11301984" cy="10444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8000"/>
              </a:lnSpc>
            </a:pPr>
            <a:r>
              <a:rPr lang="en-US" sz="3400" b="1" kern="0" spc="-34" dirty="0">
                <a:solidFill>
                  <a:schemeClr val="tx2">
                    <a:lumMod val="25000"/>
                    <a:lumOff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门诊病历书写是一项 </a:t>
            </a:r>
            <a:r>
              <a:rPr lang="en-US" sz="3400" b="1" kern="0" spc="-34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高频、刚性、重复</a:t>
            </a:r>
            <a:r>
              <a:rPr lang="en-US" sz="3400" b="1" kern="0" spc="-34" dirty="0">
                <a:solidFill>
                  <a:schemeClr val="tx2">
                    <a:lumMod val="25000"/>
                    <a:lumOff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的临床任务。</a:t>
            </a:r>
            <a:endParaRPr lang="en-US" sz="34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A02EDA7-D6DC-1792-8079-AB3FFC96C756}"/>
              </a:ext>
            </a:extLst>
          </p:cNvPr>
          <p:cNvSpPr/>
          <p:nvPr/>
        </p:nvSpPr>
        <p:spPr>
          <a:xfrm>
            <a:off x="609600" y="2785400"/>
            <a:ext cx="2732635" cy="1608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850" kern="0" spc="119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 · NHC 公报</a:t>
            </a:r>
            <a:endParaRPr lang="en-US" sz="8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218B3E2D-435C-E0C4-3B68-3A27218FB624}"/>
              </a:ext>
            </a:extLst>
          </p:cNvPr>
          <p:cNvSpPr/>
          <p:nvPr/>
        </p:nvSpPr>
        <p:spPr>
          <a:xfrm>
            <a:off x="609600" y="2997067"/>
            <a:ext cx="2732635" cy="660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5000" kern="0" spc="-15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101.5 </a:t>
            </a:r>
            <a:r>
              <a:rPr lang="en-US" sz="2100" kern="0" spc="-15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亿</a:t>
            </a:r>
            <a:endParaRPr lang="en-US" sz="50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C8D1DD8C-16A7-168B-2658-6891D47250B4}"/>
              </a:ext>
            </a:extLst>
          </p:cNvPr>
          <p:cNvSpPr/>
          <p:nvPr/>
        </p:nvSpPr>
        <p:spPr>
          <a:xfrm>
            <a:off x="609601" y="3746367"/>
            <a:ext cx="2653043" cy="6350"/>
          </a:xfrm>
          <a:prstGeom prst="rect">
            <a:avLst/>
          </a:prstGeom>
          <a:solidFill>
            <a:srgbClr val="D9E1EC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717A1741-742F-D165-012E-461A27A849D5}"/>
              </a:ext>
            </a:extLst>
          </p:cNvPr>
          <p:cNvSpPr/>
          <p:nvPr/>
        </p:nvSpPr>
        <p:spPr>
          <a:xfrm>
            <a:off x="609600" y="3841617"/>
            <a:ext cx="2732635" cy="47810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5000"/>
              </a:lnSpc>
            </a:pPr>
            <a:r>
              <a:rPr lang="zh-CN" altLang="en-US" sz="1150" dirty="0">
                <a:solidFill>
                  <a:schemeClr val="tx2">
                    <a:lumMod val="25000"/>
                    <a:lumOff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执业（助理）医师 </a:t>
            </a:r>
            <a:r>
              <a:rPr lang="en-US" altLang="zh-CN" sz="1150" dirty="0">
                <a:solidFill>
                  <a:schemeClr val="tx2">
                    <a:lumMod val="25000"/>
                    <a:lumOff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508.2 </a:t>
            </a:r>
            <a:r>
              <a:rPr lang="zh-CN" altLang="en-US" sz="1150" dirty="0">
                <a:solidFill>
                  <a:schemeClr val="tx2">
                    <a:lumMod val="25000"/>
                    <a:lumOff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万人</a:t>
            </a:r>
            <a:endParaRPr lang="en-US" sz="115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C466D15-7747-1B49-2ECA-53DD180116E1}"/>
              </a:ext>
            </a:extLst>
          </p:cNvPr>
          <p:cNvSpPr/>
          <p:nvPr/>
        </p:nvSpPr>
        <p:spPr>
          <a:xfrm>
            <a:off x="3491243" y="2785400"/>
            <a:ext cx="2732703" cy="1481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r>
              <a:rPr lang="en-US" sz="850" kern="0" spc="119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Ann. Intern. Med. 2020</a:t>
            </a:r>
            <a:endParaRPr lang="en-US" sz="85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F6993312-C36B-18C2-C725-A4020839EF33}"/>
              </a:ext>
            </a:extLst>
          </p:cNvPr>
          <p:cNvSpPr/>
          <p:nvPr/>
        </p:nvSpPr>
        <p:spPr>
          <a:xfrm>
            <a:off x="3491243" y="2984367"/>
            <a:ext cx="2732703" cy="660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5000" kern="0" spc="-15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r>
              <a:rPr lang="en-US" sz="2100" kern="0" spc="-15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分钟</a:t>
            </a:r>
            <a:endParaRPr lang="en-US" sz="50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B18345CD-3414-DAC3-F0A5-502D051833D1}"/>
              </a:ext>
            </a:extLst>
          </p:cNvPr>
          <p:cNvSpPr/>
          <p:nvPr/>
        </p:nvSpPr>
        <p:spPr>
          <a:xfrm>
            <a:off x="3491244" y="3733667"/>
            <a:ext cx="2653109" cy="6350"/>
          </a:xfrm>
          <a:prstGeom prst="rect">
            <a:avLst/>
          </a:prstGeom>
          <a:solidFill>
            <a:srgbClr val="D9E1EC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B0E5D282-504B-6DEB-16C8-F507071353BE}"/>
              </a:ext>
            </a:extLst>
          </p:cNvPr>
          <p:cNvSpPr/>
          <p:nvPr/>
        </p:nvSpPr>
        <p:spPr>
          <a:xfrm>
            <a:off x="3491243" y="3828917"/>
            <a:ext cx="2732703" cy="47810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55000"/>
              </a:lnSpc>
            </a:pPr>
            <a:r>
              <a:rPr lang="en-US" sz="1150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门诊医生平均每次接诊</a:t>
            </a:r>
            <a:r>
              <a:rPr lang="en-US" sz="1150" dirty="0">
                <a:solidFill>
                  <a:schemeClr val="tx2">
                    <a:lumMod val="25000"/>
                    <a:lumOff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用于电子病历操作的时间</a:t>
            </a:r>
            <a:endParaRPr lang="en-US" sz="115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07CDFCDA-2E48-38E3-D5D9-FF0F06A258AE}"/>
              </a:ext>
            </a:extLst>
          </p:cNvPr>
          <p:cNvSpPr/>
          <p:nvPr/>
        </p:nvSpPr>
        <p:spPr>
          <a:xfrm>
            <a:off x="609600" y="4522919"/>
            <a:ext cx="5534753" cy="49106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AC962FFE-5BEE-3C9B-4805-EE733A9C5267}"/>
              </a:ext>
            </a:extLst>
          </p:cNvPr>
          <p:cNvSpPr/>
          <p:nvPr/>
        </p:nvSpPr>
        <p:spPr>
          <a:xfrm>
            <a:off x="609600" y="4522919"/>
            <a:ext cx="16933" cy="491067"/>
          </a:xfrm>
          <a:prstGeom prst="rect">
            <a:avLst/>
          </a:prstGeom>
          <a:solidFill>
            <a:srgbClr val="1E57C4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283C7272-E0E3-16CC-AFD6-5DF48F61CD1B}"/>
              </a:ext>
            </a:extLst>
          </p:cNvPr>
          <p:cNvSpPr/>
          <p:nvPr/>
        </p:nvSpPr>
        <p:spPr>
          <a:xfrm>
            <a:off x="778934" y="4662619"/>
            <a:ext cx="5379062" cy="2370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2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诊疗量 × 文书时间 → 录入负担与信息遗漏风险同步上升。</a:t>
            </a:r>
            <a:endParaRPr lang="en-US" sz="11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4FEAE8A5-8EE0-AD65-4262-00E74042DD67}"/>
              </a:ext>
            </a:extLst>
          </p:cNvPr>
          <p:cNvSpPr/>
          <p:nvPr/>
        </p:nvSpPr>
        <p:spPr>
          <a:xfrm>
            <a:off x="6550753" y="2785400"/>
            <a:ext cx="5182597" cy="1608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850" kern="0" spc="119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三类核心痛点</a:t>
            </a:r>
            <a:endParaRPr lang="en-US" sz="850" dirty="0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06F1BC74-4658-8076-8E2C-839930EAE01C}"/>
              </a:ext>
            </a:extLst>
          </p:cNvPr>
          <p:cNvSpPr/>
          <p:nvPr/>
        </p:nvSpPr>
        <p:spPr>
          <a:xfrm>
            <a:off x="6550753" y="3035167"/>
            <a:ext cx="5031647" cy="70379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5963652A-9090-D480-9E72-CB39EA445D79}"/>
              </a:ext>
            </a:extLst>
          </p:cNvPr>
          <p:cNvSpPr/>
          <p:nvPr/>
        </p:nvSpPr>
        <p:spPr>
          <a:xfrm>
            <a:off x="6550753" y="3035167"/>
            <a:ext cx="16933" cy="703792"/>
          </a:xfrm>
          <a:prstGeom prst="rect">
            <a:avLst/>
          </a:prstGeom>
          <a:solidFill>
            <a:srgbClr val="1E57C4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A58FA2DA-9B10-787C-B0D1-2F2811E0CB80}"/>
              </a:ext>
            </a:extLst>
          </p:cNvPr>
          <p:cNvSpPr/>
          <p:nvPr/>
        </p:nvSpPr>
        <p:spPr>
          <a:xfrm>
            <a:off x="6707386" y="3149467"/>
            <a:ext cx="355600" cy="50059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350" dirty="0">
                <a:solidFill>
                  <a:srgbClr val="1E5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CF20681A-8E9D-C7A8-9953-1949C4D4A6EA}"/>
              </a:ext>
            </a:extLst>
          </p:cNvPr>
          <p:cNvSpPr/>
          <p:nvPr/>
        </p:nvSpPr>
        <p:spPr>
          <a:xfrm>
            <a:off x="7126486" y="3149467"/>
            <a:ext cx="4445701" cy="2751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医生病历录入负担重</a:t>
            </a:r>
            <a:endParaRPr lang="en-US" sz="1350" dirty="0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D5D5B0D4-1A2A-53C2-7F20-A4B7D3CDD806}"/>
              </a:ext>
            </a:extLst>
          </p:cNvPr>
          <p:cNvSpPr/>
          <p:nvPr/>
        </p:nvSpPr>
        <p:spPr>
          <a:xfrm>
            <a:off x="7126486" y="3424634"/>
            <a:ext cx="4445701" cy="225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问诊已结束，医生仍需重复整理文本，机械录入占用临床时间。</a:t>
            </a:r>
            <a:endParaRPr lang="en-US" sz="105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5C16A3D4-C1EC-E498-3C57-B809CBBBCC2D}"/>
              </a:ext>
            </a:extLst>
          </p:cNvPr>
          <p:cNvSpPr/>
          <p:nvPr/>
        </p:nvSpPr>
        <p:spPr>
          <a:xfrm>
            <a:off x="6550753" y="3840558"/>
            <a:ext cx="5031647" cy="70379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EFBEAAA5-3F7D-2DAB-2DA7-2EE3F0E5F53D}"/>
              </a:ext>
            </a:extLst>
          </p:cNvPr>
          <p:cNvSpPr/>
          <p:nvPr/>
        </p:nvSpPr>
        <p:spPr>
          <a:xfrm>
            <a:off x="6550753" y="3840558"/>
            <a:ext cx="16933" cy="703792"/>
          </a:xfrm>
          <a:prstGeom prst="rect">
            <a:avLst/>
          </a:prstGeom>
          <a:solidFill>
            <a:srgbClr val="1E57C4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76E3341A-8345-3342-63CB-13C57BFCE4A6}"/>
              </a:ext>
            </a:extLst>
          </p:cNvPr>
          <p:cNvSpPr/>
          <p:nvPr/>
        </p:nvSpPr>
        <p:spPr>
          <a:xfrm>
            <a:off x="6707386" y="3954858"/>
            <a:ext cx="355600" cy="50059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350" dirty="0">
                <a:solidFill>
                  <a:srgbClr val="1E5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1E0753B4-FFB8-588B-D2B4-B1FCAC09B800}"/>
              </a:ext>
            </a:extLst>
          </p:cNvPr>
          <p:cNvSpPr/>
          <p:nvPr/>
        </p:nvSpPr>
        <p:spPr>
          <a:xfrm>
            <a:off x="7126486" y="3954858"/>
            <a:ext cx="4445701" cy="2751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患者表达口语化、碎片化</a:t>
            </a:r>
            <a:endParaRPr lang="en-US" sz="1350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52CCB0C6-C0C6-9864-FA20-C1B2863D8F6C}"/>
              </a:ext>
            </a:extLst>
          </p:cNvPr>
          <p:cNvSpPr/>
          <p:nvPr/>
        </p:nvSpPr>
        <p:spPr>
          <a:xfrm>
            <a:off x="7126486" y="4230025"/>
            <a:ext cx="4445701" cy="225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难以即时归入主诉 / 现病史 / 既往史等规范字段。</a:t>
            </a:r>
            <a:endParaRPr lang="en-US" sz="1050" dirty="0"/>
          </a:p>
        </p:txBody>
      </p:sp>
      <p:sp>
        <p:nvSpPr>
          <p:cNvPr id="44" name="Shape 27">
            <a:extLst>
              <a:ext uri="{FF2B5EF4-FFF2-40B4-BE49-F238E27FC236}">
                <a16:creationId xmlns:a16="http://schemas.microsoft.com/office/drawing/2014/main" id="{E9663595-A685-EA81-8F31-6E303C2F0FC7}"/>
              </a:ext>
            </a:extLst>
          </p:cNvPr>
          <p:cNvSpPr/>
          <p:nvPr/>
        </p:nvSpPr>
        <p:spPr>
          <a:xfrm>
            <a:off x="6550753" y="4645950"/>
            <a:ext cx="5031647" cy="70379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45" name="Shape 28">
            <a:extLst>
              <a:ext uri="{FF2B5EF4-FFF2-40B4-BE49-F238E27FC236}">
                <a16:creationId xmlns:a16="http://schemas.microsoft.com/office/drawing/2014/main" id="{2ED83D61-CCBB-EF3A-E8E8-2A2BBE0BB5E5}"/>
              </a:ext>
            </a:extLst>
          </p:cNvPr>
          <p:cNvSpPr/>
          <p:nvPr/>
        </p:nvSpPr>
        <p:spPr>
          <a:xfrm>
            <a:off x="6550753" y="4645950"/>
            <a:ext cx="16933" cy="703792"/>
          </a:xfrm>
          <a:prstGeom prst="rect">
            <a:avLst/>
          </a:prstGeom>
          <a:solidFill>
            <a:srgbClr val="C1281E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F11D5EA1-B6FA-DCD0-8656-516D6F36840B}"/>
              </a:ext>
            </a:extLst>
          </p:cNvPr>
          <p:cNvSpPr/>
          <p:nvPr/>
        </p:nvSpPr>
        <p:spPr>
          <a:xfrm>
            <a:off x="6707386" y="4760250"/>
            <a:ext cx="355600" cy="50059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350" dirty="0">
                <a:solidFill>
                  <a:srgbClr val="C12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64D38CA6-C117-FB97-3A3C-6BBD825331B3}"/>
              </a:ext>
            </a:extLst>
          </p:cNvPr>
          <p:cNvSpPr/>
          <p:nvPr/>
        </p:nvSpPr>
        <p:spPr>
          <a:xfrm>
            <a:off x="7126486" y="4760250"/>
            <a:ext cx="4445701" cy="2751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关键信息易遗漏</a:t>
            </a:r>
            <a:endParaRPr lang="en-US" sz="1350" dirty="0"/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78C6A256-AE93-4273-02F2-63DAE1D3F38B}"/>
              </a:ext>
            </a:extLst>
          </p:cNvPr>
          <p:cNvSpPr/>
          <p:nvPr/>
        </p:nvSpPr>
        <p:spPr>
          <a:xfrm>
            <a:off x="7126486" y="5035417"/>
            <a:ext cx="4445701" cy="225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过敏史、既往史、必要阴性症状等可能未问、未记或归类错误。</a:t>
            </a:r>
            <a:endParaRPr lang="en-US" sz="1050" dirty="0"/>
          </a:p>
        </p:txBody>
      </p:sp>
      <p:sp>
        <p:nvSpPr>
          <p:cNvPr id="49" name="title-2">
            <a:extLst>
              <a:ext uri="{FF2B5EF4-FFF2-40B4-BE49-F238E27FC236}">
                <a16:creationId xmlns:a16="http://schemas.microsoft.com/office/drawing/2014/main" id="{16178EBE-8565-4CBB-970A-88EB4828356F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85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项目背景</a:t>
            </a:r>
            <a:endParaRPr sz="2850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72AF96B8-BC65-C683-458E-5220F25E84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21" y="0"/>
            <a:ext cx="3114879" cy="797469"/>
          </a:xfrm>
          <a:prstGeom prst="rect">
            <a:avLst/>
          </a:prstGeom>
        </p:spPr>
      </p:pic>
      <p:sp>
        <p:nvSpPr>
          <p:cNvPr id="51" name="Text 34">
            <a:extLst>
              <a:ext uri="{FF2B5EF4-FFF2-40B4-BE49-F238E27FC236}">
                <a16:creationId xmlns:a16="http://schemas.microsoft.com/office/drawing/2014/main" id="{82F1D690-40CA-FCC3-2A1C-A6747F7EEEE9}"/>
              </a:ext>
            </a:extLst>
          </p:cNvPr>
          <p:cNvSpPr/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348802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-2">
            <a:extLst>
              <a:ext uri="{FF2B5EF4-FFF2-40B4-BE49-F238E27FC236}">
                <a16:creationId xmlns:a16="http://schemas.microsoft.com/office/drawing/2014/main" id="{FE662341-1DA1-449D-A8AD-ED99D864D809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A8CBED9F-6777-4E7E-B6DB-618A3F0BD73E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85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需求与问题</a:t>
            </a:r>
            <a:endParaRPr sz="2850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22" name="header-line-2"/>
          <p:cNvCxnSpPr/>
          <p:nvPr/>
        </p:nvCxnSpPr>
        <p:spPr>
          <a:xfrm>
            <a:off x="609600" y="1143000"/>
            <a:ext cx="10972800" cy="0"/>
          </a:xfrm>
          <a:prstGeom prst="straightConnector1">
            <a:avLst/>
          </a:prstGeom>
          <a:ln w="9525">
            <a:solidFill>
              <a:srgbClr val="0C3566"/>
            </a:solidFill>
            <a:prstDash val="solid"/>
          </a:ln>
        </p:spPr>
      </p:cxnSp>
      <p:sp>
        <p:nvSpPr>
          <p:cNvPr id="11" name="Text 34">
            <a:extLst>
              <a:ext uri="{FF2B5EF4-FFF2-40B4-BE49-F238E27FC236}">
                <a16:creationId xmlns:a16="http://schemas.microsoft.com/office/drawing/2014/main" id="{668887F6-5BB3-61A5-A0A9-C4164E1AA207}"/>
              </a:ext>
            </a:extLst>
          </p:cNvPr>
          <p:cNvSpPr/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35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4F0964D-3CEF-864A-5B80-A2B5767584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21" y="0"/>
            <a:ext cx="3114879" cy="797469"/>
          </a:xfrm>
          <a:prstGeom prst="rect">
            <a:avLst/>
          </a:prstGeom>
        </p:spPr>
      </p:pic>
      <p:sp>
        <p:nvSpPr>
          <p:cNvPr id="19" name="pain-quote">
            <a:extLst>
              <a:ext uri="{FF2B5EF4-FFF2-40B4-BE49-F238E27FC236}">
                <a16:creationId xmlns:a16="http://schemas.microsoft.com/office/drawing/2014/main" id="{223CCD4B-F215-EDAE-A05C-C668CE341C2D}"/>
              </a:ext>
            </a:extLst>
          </p:cNvPr>
          <p:cNvSpPr>
            <a:spLocks noGrp="1"/>
          </p:cNvSpPr>
          <p:nvPr/>
        </p:nvSpPr>
        <p:spPr>
          <a:xfrm>
            <a:off x="482602" y="2317750"/>
            <a:ext cx="5257798" cy="303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200000"/>
              </a:lnSpc>
              <a:defRPr sz="28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40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门诊信息实时产生</a:t>
            </a:r>
          </a:p>
          <a:p>
            <a:pPr algn="ctr">
              <a:lnSpc>
                <a:spcPct val="200000"/>
              </a:lnSpc>
              <a:defRPr sz="28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40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病历却常在问诊结束后补录</a:t>
            </a:r>
            <a:endParaRPr lang="en-US" altLang="zh-CN" sz="2400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lnSpc>
                <a:spcPct val="210000"/>
              </a:lnSpc>
              <a:defRPr sz="2700" b="1">
                <a:solidFill>
                  <a:srgbClr val="0B1F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40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真正的难题不是“把声音变成文字”</a:t>
            </a:r>
            <a:endParaRPr sz="2400" b="1" dirty="0">
              <a:solidFill>
                <a:srgbClr val="0B1F3A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lnSpc>
                <a:spcPct val="210000"/>
              </a:lnSpc>
              <a:defRPr sz="2700" b="1">
                <a:solidFill>
                  <a:srgbClr val="0B1F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400" b="1" dirty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而是让信息能够进入一条可信病历闭环</a:t>
            </a:r>
            <a:endParaRPr lang="en-US" altLang="zh-CN" sz="2400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21" name="pain-track">
            <a:extLst>
              <a:ext uri="{FF2B5EF4-FFF2-40B4-BE49-F238E27FC236}">
                <a16:creationId xmlns:a16="http://schemas.microsoft.com/office/drawing/2014/main" id="{791B379A-5206-DA7F-0F01-0BA3D880DDFF}"/>
              </a:ext>
            </a:extLst>
          </p:cNvPr>
          <p:cNvCxnSpPr/>
          <p:nvPr/>
        </p:nvCxnSpPr>
        <p:spPr>
          <a:xfrm>
            <a:off x="6686550" y="2457450"/>
            <a:ext cx="0" cy="3143250"/>
          </a:xfrm>
          <a:prstGeom prst="straightConnector1">
            <a:avLst/>
          </a:prstGeom>
          <a:ln w="28575">
            <a:solidFill>
              <a:srgbClr val="CAD8E5"/>
            </a:solidFill>
            <a:prstDash val="solid"/>
          </a:ln>
        </p:spPr>
      </p:cxnSp>
      <p:sp>
        <p:nvSpPr>
          <p:cNvPr id="23" name="pain-dot-0">
            <a:extLst>
              <a:ext uri="{FF2B5EF4-FFF2-40B4-BE49-F238E27FC236}">
                <a16:creationId xmlns:a16="http://schemas.microsoft.com/office/drawing/2014/main" id="{F6751D58-3BFB-45CD-446B-35474EAF34CE}"/>
              </a:ext>
            </a:extLst>
          </p:cNvPr>
          <p:cNvSpPr>
            <a:spLocks noGrp="1"/>
          </p:cNvSpPr>
          <p:nvPr/>
        </p:nvSpPr>
        <p:spPr>
          <a:xfrm>
            <a:off x="6591300" y="22098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0D3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pain-stage-0">
            <a:extLst>
              <a:ext uri="{FF2B5EF4-FFF2-40B4-BE49-F238E27FC236}">
                <a16:creationId xmlns:a16="http://schemas.microsoft.com/office/drawing/2014/main" id="{F0581AF3-3D85-E712-1196-DA325325C2E9}"/>
              </a:ext>
            </a:extLst>
          </p:cNvPr>
          <p:cNvSpPr>
            <a:spLocks noGrp="1"/>
          </p:cNvSpPr>
          <p:nvPr/>
        </p:nvSpPr>
        <p:spPr>
          <a:xfrm>
            <a:off x="7105650" y="22225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2F7EF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问诊中</a:t>
            </a:r>
            <a:endParaRPr sz="2000" b="1" dirty="0">
              <a:solidFill>
                <a:schemeClr val="tx2">
                  <a:lumMod val="50000"/>
                  <a:lumOff val="50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pain-title-0">
            <a:extLst>
              <a:ext uri="{FF2B5EF4-FFF2-40B4-BE49-F238E27FC236}">
                <a16:creationId xmlns:a16="http://schemas.microsoft.com/office/drawing/2014/main" id="{F0BCA8C8-D018-A2DD-9F8D-73BA6719420D}"/>
              </a:ext>
            </a:extLst>
          </p:cNvPr>
          <p:cNvSpPr>
            <a:spLocks noGrp="1"/>
          </p:cNvSpPr>
          <p:nvPr/>
        </p:nvSpPr>
        <p:spPr>
          <a:xfrm>
            <a:off x="8166100" y="20478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1F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输入动作打断交流</a:t>
            </a:r>
            <a:endParaRPr sz="1800" b="1" dirty="0">
              <a:solidFill>
                <a:schemeClr val="tx2">
                  <a:lumMod val="50000"/>
                  <a:lumOff val="50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pain-detail-0">
            <a:extLst>
              <a:ext uri="{FF2B5EF4-FFF2-40B4-BE49-F238E27FC236}">
                <a16:creationId xmlns:a16="http://schemas.microsoft.com/office/drawing/2014/main" id="{0AAF4B6C-E2B3-C744-DAE4-60D267307287}"/>
              </a:ext>
            </a:extLst>
          </p:cNvPr>
          <p:cNvSpPr>
            <a:spLocks noGrp="1"/>
          </p:cNvSpPr>
          <p:nvPr/>
        </p:nvSpPr>
        <p:spPr>
          <a:xfrm>
            <a:off x="8166100" y="24574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70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医生频繁在患者与屏幕间切换</a:t>
            </a:r>
            <a:endParaRPr sz="1200" b="0" dirty="0">
              <a:solidFill>
                <a:schemeClr val="tx2">
                  <a:lumMod val="50000"/>
                  <a:lumOff val="50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pain-dot-1">
            <a:extLst>
              <a:ext uri="{FF2B5EF4-FFF2-40B4-BE49-F238E27FC236}">
                <a16:creationId xmlns:a16="http://schemas.microsoft.com/office/drawing/2014/main" id="{7DEB7A60-6672-3BC1-B4C8-78C19FB8DB31}"/>
              </a:ext>
            </a:extLst>
          </p:cNvPr>
          <p:cNvSpPr>
            <a:spLocks noGrp="1"/>
          </p:cNvSpPr>
          <p:nvPr/>
        </p:nvSpPr>
        <p:spPr>
          <a:xfrm>
            <a:off x="6591300" y="3276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0D3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pain-stage-1">
            <a:extLst>
              <a:ext uri="{FF2B5EF4-FFF2-40B4-BE49-F238E27FC236}">
                <a16:creationId xmlns:a16="http://schemas.microsoft.com/office/drawing/2014/main" id="{4C3E3186-AE2B-24FE-82E1-B0DC90921A8E}"/>
              </a:ext>
            </a:extLst>
          </p:cNvPr>
          <p:cNvSpPr>
            <a:spLocks noGrp="1"/>
          </p:cNvSpPr>
          <p:nvPr/>
        </p:nvSpPr>
        <p:spPr>
          <a:xfrm>
            <a:off x="7105650" y="32893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2F7EF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整理时</a:t>
            </a:r>
            <a:endParaRPr sz="2000" b="1" dirty="0">
              <a:solidFill>
                <a:schemeClr val="tx2">
                  <a:lumMod val="50000"/>
                  <a:lumOff val="50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pain-title-1">
            <a:extLst>
              <a:ext uri="{FF2B5EF4-FFF2-40B4-BE49-F238E27FC236}">
                <a16:creationId xmlns:a16="http://schemas.microsoft.com/office/drawing/2014/main" id="{B8D6CA73-20A4-7EAF-3B07-1993DBFC60CE}"/>
              </a:ext>
            </a:extLst>
          </p:cNvPr>
          <p:cNvSpPr>
            <a:spLocks noGrp="1"/>
          </p:cNvSpPr>
          <p:nvPr/>
        </p:nvSpPr>
        <p:spPr>
          <a:xfrm>
            <a:off x="8166100" y="31146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1F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关键信息散落在长对话中</a:t>
            </a:r>
            <a:endParaRPr sz="1800" b="1" dirty="0">
              <a:solidFill>
                <a:schemeClr val="tx2">
                  <a:lumMod val="50000"/>
                  <a:lumOff val="50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pain-detail-1">
            <a:extLst>
              <a:ext uri="{FF2B5EF4-FFF2-40B4-BE49-F238E27FC236}">
                <a16:creationId xmlns:a16="http://schemas.microsoft.com/office/drawing/2014/main" id="{A965783C-CE9C-1E45-05B0-7FFCCD9F93EB}"/>
              </a:ext>
            </a:extLst>
          </p:cNvPr>
          <p:cNvSpPr>
            <a:spLocks noGrp="1"/>
          </p:cNvSpPr>
          <p:nvPr/>
        </p:nvSpPr>
        <p:spPr>
          <a:xfrm>
            <a:off x="8166100" y="35242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70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时间线、否定词和既往史容易遗漏</a:t>
            </a:r>
            <a:endParaRPr sz="1200" b="0" dirty="0">
              <a:solidFill>
                <a:schemeClr val="tx2">
                  <a:lumMod val="50000"/>
                  <a:lumOff val="50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pain-dot-2">
            <a:extLst>
              <a:ext uri="{FF2B5EF4-FFF2-40B4-BE49-F238E27FC236}">
                <a16:creationId xmlns:a16="http://schemas.microsoft.com/office/drawing/2014/main" id="{5781BED9-14ED-CCC9-19F3-609177FE7FB6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0D3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pain-stage-2">
            <a:extLst>
              <a:ext uri="{FF2B5EF4-FFF2-40B4-BE49-F238E27FC236}">
                <a16:creationId xmlns:a16="http://schemas.microsoft.com/office/drawing/2014/main" id="{5371A33E-F7C8-823B-4E8D-1F9CF0001697}"/>
              </a:ext>
            </a:extLst>
          </p:cNvPr>
          <p:cNvSpPr>
            <a:spLocks noGrp="1"/>
          </p:cNvSpPr>
          <p:nvPr/>
        </p:nvSpPr>
        <p:spPr>
          <a:xfrm>
            <a:off x="7105650" y="43561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2F7EF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核对时</a:t>
            </a:r>
          </a:p>
        </p:txBody>
      </p:sp>
      <p:sp>
        <p:nvSpPr>
          <p:cNvPr id="36" name="pain-title-2">
            <a:extLst>
              <a:ext uri="{FF2B5EF4-FFF2-40B4-BE49-F238E27FC236}">
                <a16:creationId xmlns:a16="http://schemas.microsoft.com/office/drawing/2014/main" id="{F2C3B6BE-7184-B631-1147-3AF2B6DB3AB7}"/>
              </a:ext>
            </a:extLst>
          </p:cNvPr>
          <p:cNvSpPr>
            <a:spLocks noGrp="1"/>
          </p:cNvSpPr>
          <p:nvPr/>
        </p:nvSpPr>
        <p:spPr>
          <a:xfrm>
            <a:off x="8166100" y="41814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1F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生成内容缺少原始证据</a:t>
            </a:r>
          </a:p>
        </p:txBody>
      </p:sp>
      <p:sp>
        <p:nvSpPr>
          <p:cNvPr id="37" name="pain-detail-2">
            <a:extLst>
              <a:ext uri="{FF2B5EF4-FFF2-40B4-BE49-F238E27FC236}">
                <a16:creationId xmlns:a16="http://schemas.microsoft.com/office/drawing/2014/main" id="{9A438260-6303-F62A-A58A-207C2A9EC823}"/>
              </a:ext>
            </a:extLst>
          </p:cNvPr>
          <p:cNvSpPr>
            <a:spLocks noGrp="1"/>
          </p:cNvSpPr>
          <p:nvPr/>
        </p:nvSpPr>
        <p:spPr>
          <a:xfrm>
            <a:off x="8166100" y="45910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70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医生仍需</a:t>
            </a:r>
            <a:r>
              <a:rPr lang="zh-CN" altLang="en-US" sz="1200" b="0" dirty="0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与患者</a:t>
            </a:r>
            <a:r>
              <a:rPr sz="1200" b="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反复</a:t>
            </a:r>
            <a:r>
              <a:rPr lang="zh-CN" altLang="en-US" sz="1200" b="0" dirty="0">
                <a:solidFill>
                  <a:schemeClr val="tx2">
                    <a:lumMod val="50000"/>
                    <a:lumOff val="50000"/>
                  </a:schemeClr>
                </a:solidFill>
                <a:latin typeface="Noto Sans CJK SC"/>
                <a:ea typeface="Noto Sans CJK SC"/>
                <a:cs typeface="Noto Sans CJK SC"/>
              </a:rPr>
              <a:t>确认信息</a:t>
            </a:r>
            <a:endParaRPr sz="1200" b="0" dirty="0">
              <a:solidFill>
                <a:schemeClr val="tx2">
                  <a:lumMod val="50000"/>
                  <a:lumOff val="50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pain-dot-3">
            <a:extLst>
              <a:ext uri="{FF2B5EF4-FFF2-40B4-BE49-F238E27FC236}">
                <a16:creationId xmlns:a16="http://schemas.microsoft.com/office/drawing/2014/main" id="{0D211291-E387-57F7-6895-6DD3570CE552}"/>
              </a:ext>
            </a:extLst>
          </p:cNvPr>
          <p:cNvSpPr>
            <a:spLocks noGrp="1"/>
          </p:cNvSpPr>
          <p:nvPr/>
        </p:nvSpPr>
        <p:spPr>
          <a:xfrm>
            <a:off x="6591300" y="54102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05D6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pain-stage-3">
            <a:extLst>
              <a:ext uri="{FF2B5EF4-FFF2-40B4-BE49-F238E27FC236}">
                <a16:creationId xmlns:a16="http://schemas.microsoft.com/office/drawing/2014/main" id="{0114AFB7-D5F9-9BD9-6FA4-1FE78B1B6985}"/>
              </a:ext>
            </a:extLst>
          </p:cNvPr>
          <p:cNvSpPr>
            <a:spLocks noGrp="1"/>
          </p:cNvSpPr>
          <p:nvPr/>
        </p:nvSpPr>
        <p:spPr>
          <a:xfrm>
            <a:off x="7105650" y="54229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E05D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 err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交付前</a:t>
            </a:r>
            <a:endParaRPr sz="2000" b="1" dirty="0">
              <a:solidFill>
                <a:srgbClr val="FF000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pain-title-3">
            <a:extLst>
              <a:ext uri="{FF2B5EF4-FFF2-40B4-BE49-F238E27FC236}">
                <a16:creationId xmlns:a16="http://schemas.microsoft.com/office/drawing/2014/main" id="{7272241E-3338-DC9C-6774-BE88BE5253EF}"/>
              </a:ext>
            </a:extLst>
          </p:cNvPr>
          <p:cNvSpPr>
            <a:spLocks noGrp="1"/>
          </p:cNvSpPr>
          <p:nvPr/>
        </p:nvSpPr>
        <p:spPr>
          <a:xfrm>
            <a:off x="8166100" y="5248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1F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AI </a:t>
            </a:r>
            <a:r>
              <a:rPr sz="1800" b="1" dirty="0" err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与医生责任边界不清</a:t>
            </a:r>
            <a:endParaRPr sz="1800" b="1" dirty="0">
              <a:solidFill>
                <a:srgbClr val="FF000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pain-detail-3">
            <a:extLst>
              <a:ext uri="{FF2B5EF4-FFF2-40B4-BE49-F238E27FC236}">
                <a16:creationId xmlns:a16="http://schemas.microsoft.com/office/drawing/2014/main" id="{F34F1AE2-534A-E6B3-54E7-45664290509A}"/>
              </a:ext>
            </a:extLst>
          </p:cNvPr>
          <p:cNvSpPr>
            <a:spLocks noGrp="1"/>
          </p:cNvSpPr>
          <p:nvPr/>
        </p:nvSpPr>
        <p:spPr>
          <a:xfrm>
            <a:off x="8166100" y="56578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70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草稿若可直接导出，会放大安全风险</a:t>
            </a:r>
          </a:p>
        </p:txBody>
      </p:sp>
    </p:spTree>
    <p:extLst>
      <p:ext uri="{BB962C8B-B14F-4D97-AF65-F5344CB8AC3E}">
        <p14:creationId xmlns:p14="http://schemas.microsoft.com/office/powerpoint/2010/main" val="1533860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-3">
            <a:extLst>
              <a:ext uri="{FF2B5EF4-FFF2-40B4-BE49-F238E27FC236}">
                <a16:creationId xmlns:a16="http://schemas.microsoft.com/office/drawing/2014/main" id="{155909F9-FD49-4FC5-ADAC-B319155A68DB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C7D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C7DF0"/>
                </a:solidFill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E0A0D8EC-6BD8-4882-9E3A-754D20E125DC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 dirty="0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POC</a:t>
            </a:r>
            <a:r>
              <a:rPr lang="zh-CN" altLang="en-US" sz="2850" b="1" dirty="0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项目边界</a:t>
            </a:r>
            <a:endParaRPr sz="2850" b="1" dirty="0">
              <a:solidFill>
                <a:srgbClr val="071A33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24" name="header-line-3"/>
          <p:cNvCxnSpPr/>
          <p:nvPr/>
        </p:nvCxnSpPr>
        <p:spPr>
          <a:xfrm>
            <a:off x="609600" y="1200150"/>
            <a:ext cx="10972800" cy="0"/>
          </a:xfrm>
          <a:prstGeom prst="straightConnector1">
            <a:avLst/>
          </a:prstGeom>
          <a:ln w="9525">
            <a:solidFill>
              <a:srgbClr val="C8D7E7"/>
            </a:solidFill>
            <a:prstDash val="solid"/>
          </a:ln>
        </p:spPr>
      </p:cxnSp>
      <p:sp>
        <p:nvSpPr>
          <p:cNvPr id="5" name="scope-big">
            <a:extLst>
              <a:ext uri="{FF2B5EF4-FFF2-40B4-BE49-F238E27FC236}">
                <a16:creationId xmlns:a16="http://schemas.microsoft.com/office/drawing/2014/main" id="{09CE8735-5FA1-43AB-9285-F92C55C8F642}"/>
              </a:ext>
            </a:extLst>
          </p:cNvPr>
          <p:cNvSpPr>
            <a:spLocks noGrp="1"/>
          </p:cNvSpPr>
          <p:nvPr/>
        </p:nvSpPr>
        <p:spPr>
          <a:xfrm>
            <a:off x="664705" y="51720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C7D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dirty="0" err="1">
                <a:solidFill>
                  <a:srgbClr val="2C7DF0"/>
                </a:solidFill>
                <a:latin typeface="Noto Sans CJK SC"/>
                <a:ea typeface="Noto Sans CJK SC"/>
                <a:cs typeface="Noto Sans CJK SC"/>
              </a:rPr>
              <a:t>最小可验证结果</a:t>
            </a:r>
            <a:endParaRPr sz="1875" b="1" dirty="0">
              <a:solidFill>
                <a:srgbClr val="2C7D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scope-line">
            <a:extLst>
              <a:ext uri="{FF2B5EF4-FFF2-40B4-BE49-F238E27FC236}">
                <a16:creationId xmlns:a16="http://schemas.microsoft.com/office/drawing/2014/main" id="{F7EB525C-4F43-4E27-8594-99DF4965DF9E}"/>
              </a:ext>
            </a:extLst>
          </p:cNvPr>
          <p:cNvSpPr>
            <a:spLocks noGrp="1"/>
          </p:cNvSpPr>
          <p:nvPr/>
        </p:nvSpPr>
        <p:spPr>
          <a:xfrm>
            <a:off x="664705" y="5429250"/>
            <a:ext cx="1067004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982"/>
          </a:bodyPr>
          <a:lstStyle/>
          <a:p>
            <a:pPr algn="l">
              <a:lnSpc>
                <a:spcPct val="200000"/>
              </a:lnSpc>
              <a:defRPr sz="2325" b="1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 dirty="0" err="1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一次完整问诊能够从输入走到审核后</a:t>
            </a:r>
            <a:r>
              <a:rPr lang="zh-CN" altLang="en-US" sz="2325" b="1" dirty="0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导出病历</a:t>
            </a:r>
            <a:r>
              <a:rPr sz="2325" b="1" dirty="0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，</a:t>
            </a:r>
            <a:r>
              <a:rPr sz="2325" b="1" dirty="0" err="1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且任何草稿都不能绕过医生审核</a:t>
            </a:r>
            <a:r>
              <a:rPr sz="2325" b="1" dirty="0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20" name="footer-课程POC边界：证明技术">
            <a:extLst>
              <a:ext uri="{FF2B5EF4-FFF2-40B4-BE49-F238E27FC236}">
                <a16:creationId xmlns:a16="http://schemas.microsoft.com/office/drawing/2014/main" id="{DA16FA78-B853-423F-A601-E46C6F56DA3D}"/>
              </a:ext>
            </a:extLst>
          </p:cNvPr>
          <p:cNvSpPr>
            <a:spLocks noGrp="1"/>
          </p:cNvSpPr>
          <p:nvPr/>
        </p:nvSpPr>
        <p:spPr>
          <a:xfrm>
            <a:off x="1565680" y="1476378"/>
            <a:ext cx="8603440" cy="3238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6F82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证明技术路线与工程闭环可行，不等同临床产品或医疗器械验证</a:t>
            </a:r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38" name="demo-line">
            <a:extLst>
              <a:ext uri="{FF2B5EF4-FFF2-40B4-BE49-F238E27FC236}">
                <a16:creationId xmlns:a16="http://schemas.microsoft.com/office/drawing/2014/main" id="{42657576-3DC4-E48C-32E1-366D1469B419}"/>
              </a:ext>
            </a:extLst>
          </p:cNvPr>
          <p:cNvCxnSpPr/>
          <p:nvPr/>
        </p:nvCxnSpPr>
        <p:spPr>
          <a:xfrm>
            <a:off x="933450" y="3568700"/>
            <a:ext cx="9906000" cy="0"/>
          </a:xfrm>
          <a:prstGeom prst="straightConnector1">
            <a:avLst/>
          </a:prstGeom>
          <a:ln w="38100">
            <a:solidFill>
              <a:srgbClr val="2D5C80"/>
            </a:solidFill>
            <a:prstDash val="solid"/>
          </a:ln>
        </p:spPr>
      </p:cxnSp>
      <p:sp>
        <p:nvSpPr>
          <p:cNvPr id="39" name="demo-dot-0">
            <a:extLst>
              <a:ext uri="{FF2B5EF4-FFF2-40B4-BE49-F238E27FC236}">
                <a16:creationId xmlns:a16="http://schemas.microsoft.com/office/drawing/2014/main" id="{FF95A597-56CC-A827-66A2-C1ACD22272A7}"/>
              </a:ext>
            </a:extLst>
          </p:cNvPr>
          <p:cNvSpPr>
            <a:spLocks noGrp="1"/>
          </p:cNvSpPr>
          <p:nvPr/>
        </p:nvSpPr>
        <p:spPr>
          <a:xfrm>
            <a:off x="1333500" y="34067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0D3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demo-title-0">
            <a:extLst>
              <a:ext uri="{FF2B5EF4-FFF2-40B4-BE49-F238E27FC236}">
                <a16:creationId xmlns:a16="http://schemas.microsoft.com/office/drawing/2014/main" id="{C5EC6078-94A6-527D-CA96-249E5BA7C121}"/>
              </a:ext>
            </a:extLst>
          </p:cNvPr>
          <p:cNvSpPr>
            <a:spLocks noGrp="1"/>
          </p:cNvSpPr>
          <p:nvPr/>
        </p:nvSpPr>
        <p:spPr>
          <a:xfrm>
            <a:off x="609600" y="3930650"/>
            <a:ext cx="1752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选择患者与就诊</a:t>
            </a:r>
          </a:p>
        </p:txBody>
      </p:sp>
      <p:sp>
        <p:nvSpPr>
          <p:cNvPr id="42" name="demo-dot-1">
            <a:extLst>
              <a:ext uri="{FF2B5EF4-FFF2-40B4-BE49-F238E27FC236}">
                <a16:creationId xmlns:a16="http://schemas.microsoft.com/office/drawing/2014/main" id="{2CB128D5-28E8-8DD0-8511-6F6F195D7BA7}"/>
              </a:ext>
            </a:extLst>
          </p:cNvPr>
          <p:cNvSpPr>
            <a:spLocks noGrp="1"/>
          </p:cNvSpPr>
          <p:nvPr/>
        </p:nvSpPr>
        <p:spPr>
          <a:xfrm>
            <a:off x="3524250" y="34067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0D3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demo-title-1">
            <a:extLst>
              <a:ext uri="{FF2B5EF4-FFF2-40B4-BE49-F238E27FC236}">
                <a16:creationId xmlns:a16="http://schemas.microsoft.com/office/drawing/2014/main" id="{218ED957-625F-BDBF-3A9E-51CAABD4C9BC}"/>
              </a:ext>
            </a:extLst>
          </p:cNvPr>
          <p:cNvSpPr>
            <a:spLocks noGrp="1"/>
          </p:cNvSpPr>
          <p:nvPr/>
        </p:nvSpPr>
        <p:spPr>
          <a:xfrm>
            <a:off x="2800350" y="3930650"/>
            <a:ext cx="1752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录音记录与转写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demo-dot-2">
            <a:extLst>
              <a:ext uri="{FF2B5EF4-FFF2-40B4-BE49-F238E27FC236}">
                <a16:creationId xmlns:a16="http://schemas.microsoft.com/office/drawing/2014/main" id="{B3B886F7-1434-5427-06D2-B34082DA8D32}"/>
              </a:ext>
            </a:extLst>
          </p:cNvPr>
          <p:cNvSpPr>
            <a:spLocks noGrp="1"/>
          </p:cNvSpPr>
          <p:nvPr/>
        </p:nvSpPr>
        <p:spPr>
          <a:xfrm>
            <a:off x="5715000" y="34067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0D3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7" name="demo-title-2">
            <a:extLst>
              <a:ext uri="{FF2B5EF4-FFF2-40B4-BE49-F238E27FC236}">
                <a16:creationId xmlns:a16="http://schemas.microsoft.com/office/drawing/2014/main" id="{65EC977D-4561-2946-BC96-6A1D37A18E7D}"/>
              </a:ext>
            </a:extLst>
          </p:cNvPr>
          <p:cNvSpPr>
            <a:spLocks noGrp="1"/>
          </p:cNvSpPr>
          <p:nvPr/>
        </p:nvSpPr>
        <p:spPr>
          <a:xfrm>
            <a:off x="4991100" y="3930650"/>
            <a:ext cx="1752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查看证据与提示</a:t>
            </a:r>
          </a:p>
        </p:txBody>
      </p:sp>
      <p:sp>
        <p:nvSpPr>
          <p:cNvPr id="48" name="demo-dot-3">
            <a:extLst>
              <a:ext uri="{FF2B5EF4-FFF2-40B4-BE49-F238E27FC236}">
                <a16:creationId xmlns:a16="http://schemas.microsoft.com/office/drawing/2014/main" id="{19BE80C6-5BA4-B802-32EF-811ACC8938FA}"/>
              </a:ext>
            </a:extLst>
          </p:cNvPr>
          <p:cNvSpPr>
            <a:spLocks noGrp="1"/>
          </p:cNvSpPr>
          <p:nvPr/>
        </p:nvSpPr>
        <p:spPr>
          <a:xfrm>
            <a:off x="7905750" y="34067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0D3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0" name="demo-title-3">
            <a:extLst>
              <a:ext uri="{FF2B5EF4-FFF2-40B4-BE49-F238E27FC236}">
                <a16:creationId xmlns:a16="http://schemas.microsoft.com/office/drawing/2014/main" id="{6D595870-5F77-F329-87C4-A2ECE455BA31}"/>
              </a:ext>
            </a:extLst>
          </p:cNvPr>
          <p:cNvSpPr>
            <a:spLocks noGrp="1"/>
          </p:cNvSpPr>
          <p:nvPr/>
        </p:nvSpPr>
        <p:spPr>
          <a:xfrm>
            <a:off x="7181850" y="3930650"/>
            <a:ext cx="1752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修改</a:t>
            </a:r>
            <a:r>
              <a:rPr lang="zh-CN" altLang="en-US"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并结束问诊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demo-dot-4">
            <a:extLst>
              <a:ext uri="{FF2B5EF4-FFF2-40B4-BE49-F238E27FC236}">
                <a16:creationId xmlns:a16="http://schemas.microsoft.com/office/drawing/2014/main" id="{1AA62BEC-FC34-268F-ED25-E5BD522FB0E8}"/>
              </a:ext>
            </a:extLst>
          </p:cNvPr>
          <p:cNvSpPr>
            <a:spLocks noGrp="1"/>
          </p:cNvSpPr>
          <p:nvPr/>
        </p:nvSpPr>
        <p:spPr>
          <a:xfrm>
            <a:off x="10096500" y="34067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6B9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3" name="demo-title-4">
            <a:extLst>
              <a:ext uri="{FF2B5EF4-FFF2-40B4-BE49-F238E27FC236}">
                <a16:creationId xmlns:a16="http://schemas.microsoft.com/office/drawing/2014/main" id="{3C2D359C-2B72-7128-A14A-698AA7EBBCE3}"/>
              </a:ext>
            </a:extLst>
          </p:cNvPr>
          <p:cNvSpPr>
            <a:spLocks noGrp="1"/>
          </p:cNvSpPr>
          <p:nvPr/>
        </p:nvSpPr>
        <p:spPr>
          <a:xfrm>
            <a:off x="9372600" y="3930650"/>
            <a:ext cx="1752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审核并导出</a:t>
            </a:r>
            <a:r>
              <a:rPr lang="zh-CN" altLang="en-US"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病历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title-3">
            <a:extLst>
              <a:ext uri="{FF2B5EF4-FFF2-40B4-BE49-F238E27FC236}">
                <a16:creationId xmlns:a16="http://schemas.microsoft.com/office/drawing/2014/main" id="{126FAAA4-74F4-94AE-8D8B-FB990BB71EC4}"/>
              </a:ext>
            </a:extLst>
          </p:cNvPr>
          <p:cNvSpPr>
            <a:spLocks noGrp="1"/>
          </p:cNvSpPr>
          <p:nvPr/>
        </p:nvSpPr>
        <p:spPr>
          <a:xfrm>
            <a:off x="2078112" y="2038350"/>
            <a:ext cx="7578576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dirty="0" err="1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POC只回答一个问题：能否稳定形成医生可控的病历闭环</a:t>
            </a:r>
            <a:endParaRPr sz="2400" b="1" dirty="0">
              <a:solidFill>
                <a:srgbClr val="071A3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demo-no-0">
            <a:extLst>
              <a:ext uri="{FF2B5EF4-FFF2-40B4-BE49-F238E27FC236}">
                <a16:creationId xmlns:a16="http://schemas.microsoft.com/office/drawing/2014/main" id="{B161266D-EFA5-E68F-C7CA-BE2BC4DA100B}"/>
              </a:ext>
            </a:extLst>
          </p:cNvPr>
          <p:cNvSpPr>
            <a:spLocks noGrp="1"/>
          </p:cNvSpPr>
          <p:nvPr/>
        </p:nvSpPr>
        <p:spPr>
          <a:xfrm>
            <a:off x="613905" y="3001962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6" name="demo-no-1">
            <a:extLst>
              <a:ext uri="{FF2B5EF4-FFF2-40B4-BE49-F238E27FC236}">
                <a16:creationId xmlns:a16="http://schemas.microsoft.com/office/drawing/2014/main" id="{82D811C1-900A-1EB6-F362-8D2354BB839B}"/>
              </a:ext>
            </a:extLst>
          </p:cNvPr>
          <p:cNvSpPr>
            <a:spLocks noGrp="1"/>
          </p:cNvSpPr>
          <p:nvPr/>
        </p:nvSpPr>
        <p:spPr>
          <a:xfrm>
            <a:off x="2804655" y="3001962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57" name="demo-no-2">
            <a:extLst>
              <a:ext uri="{FF2B5EF4-FFF2-40B4-BE49-F238E27FC236}">
                <a16:creationId xmlns:a16="http://schemas.microsoft.com/office/drawing/2014/main" id="{E8A966EC-8FDC-3869-F962-C1F176F36CB3}"/>
              </a:ext>
            </a:extLst>
          </p:cNvPr>
          <p:cNvSpPr>
            <a:spLocks noGrp="1"/>
          </p:cNvSpPr>
          <p:nvPr/>
        </p:nvSpPr>
        <p:spPr>
          <a:xfrm>
            <a:off x="4995405" y="3001962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8" name="demo-no-3">
            <a:extLst>
              <a:ext uri="{FF2B5EF4-FFF2-40B4-BE49-F238E27FC236}">
                <a16:creationId xmlns:a16="http://schemas.microsoft.com/office/drawing/2014/main" id="{09457E3C-99DD-67BD-43E3-B0CB14966C78}"/>
              </a:ext>
            </a:extLst>
          </p:cNvPr>
          <p:cNvSpPr>
            <a:spLocks noGrp="1"/>
          </p:cNvSpPr>
          <p:nvPr/>
        </p:nvSpPr>
        <p:spPr>
          <a:xfrm>
            <a:off x="7186155" y="3001962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59" name="demo-no-4">
            <a:extLst>
              <a:ext uri="{FF2B5EF4-FFF2-40B4-BE49-F238E27FC236}">
                <a16:creationId xmlns:a16="http://schemas.microsoft.com/office/drawing/2014/main" id="{19675039-C311-A207-1C38-8CBABD41E5B3}"/>
              </a:ext>
            </a:extLst>
          </p:cNvPr>
          <p:cNvSpPr>
            <a:spLocks noGrp="1"/>
          </p:cNvSpPr>
          <p:nvPr/>
        </p:nvSpPr>
        <p:spPr>
          <a:xfrm>
            <a:off x="9376905" y="3001962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16B9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6B98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5C7A43F8-D283-5ECA-9ACC-3C0371C9ADFF}"/>
              </a:ext>
            </a:extLst>
          </p:cNvPr>
          <p:cNvSpPr/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350" dirty="0"/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7125BE4C-3C32-2C7E-BB99-E06D3D83FC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21" y="0"/>
            <a:ext cx="3114879" cy="7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609600" y="1786663"/>
            <a:ext cx="7276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kern="0" spc="126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1926363"/>
            <a:ext cx="4417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kern="0" spc="126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输入层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5600" y="1477630"/>
            <a:ext cx="8432800" cy="88476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10" name="Shape 8"/>
          <p:cNvSpPr/>
          <p:nvPr/>
        </p:nvSpPr>
        <p:spPr>
          <a:xfrm>
            <a:off x="1803400" y="1617330"/>
            <a:ext cx="2633133" cy="6053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" name="Text 9"/>
          <p:cNvSpPr/>
          <p:nvPr/>
        </p:nvSpPr>
        <p:spPr>
          <a:xfrm>
            <a:off x="1921934" y="1723163"/>
            <a:ext cx="2467949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麦克风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1934" y="1951763"/>
            <a:ext cx="2467949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主要采音 · 实时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5434" y="1617330"/>
            <a:ext cx="2633133" cy="6053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4" name="Text 12"/>
          <p:cNvSpPr/>
          <p:nvPr/>
        </p:nvSpPr>
        <p:spPr>
          <a:xfrm>
            <a:off x="4643967" y="1723163"/>
            <a:ext cx="2467949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预录音频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3967" y="1951763"/>
            <a:ext cx="2467949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演示备份路径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47467" y="1617330"/>
            <a:ext cx="2633133" cy="6053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7" name="Text 15"/>
          <p:cNvSpPr/>
          <p:nvPr/>
        </p:nvSpPr>
        <p:spPr>
          <a:xfrm>
            <a:off x="7366000" y="1723163"/>
            <a:ext cx="2467949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文本输入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6000" y="1951763"/>
            <a:ext cx="2467949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兜底备份路径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60000" y="1784546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外接硬件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60000" y="1949646"/>
            <a:ext cx="377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兜底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99108" y="2387797"/>
            <a:ext cx="8685784" cy="1820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algn="ctr"/>
            <a:r>
              <a:rPr lang="en-US" sz="1100" dirty="0">
                <a:solidFill>
                  <a:srgbClr val="1E5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2866163"/>
            <a:ext cx="7276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kern="0" spc="126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9601" y="3005863"/>
            <a:ext cx="6955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kern="0" spc="126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处理层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25600" y="2569830"/>
            <a:ext cx="8432800" cy="859367"/>
          </a:xfrm>
          <a:prstGeom prst="rect">
            <a:avLst/>
          </a:prstGeom>
          <a:solidFill>
            <a:srgbClr val="1E57C4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25" name="Shape 23"/>
          <p:cNvSpPr/>
          <p:nvPr/>
        </p:nvSpPr>
        <p:spPr>
          <a:xfrm>
            <a:off x="1803401" y="2709530"/>
            <a:ext cx="1554427" cy="57996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26" name="Text 24"/>
          <p:cNvSpPr/>
          <p:nvPr/>
        </p:nvSpPr>
        <p:spPr>
          <a:xfrm>
            <a:off x="1892301" y="2811130"/>
            <a:ext cx="1427427" cy="2201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转写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92301" y="3031263"/>
            <a:ext cx="1427427" cy="1820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 → 文本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34028" y="2709530"/>
            <a:ext cx="1554493" cy="57996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29" name="Text 27"/>
          <p:cNvSpPr/>
          <p:nvPr/>
        </p:nvSpPr>
        <p:spPr>
          <a:xfrm>
            <a:off x="3522928" y="2811130"/>
            <a:ext cx="1427493" cy="2201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角色区分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22928" y="3031263"/>
            <a:ext cx="1427493" cy="1820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 / 患者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64720" y="2709530"/>
            <a:ext cx="1554493" cy="57996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32" name="Text 30"/>
          <p:cNvSpPr/>
          <p:nvPr/>
        </p:nvSpPr>
        <p:spPr>
          <a:xfrm>
            <a:off x="5153620" y="2811130"/>
            <a:ext cx="1427493" cy="2201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字段抽取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53620" y="3031263"/>
            <a:ext cx="1427493" cy="1820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医学结构化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95414" y="2709530"/>
            <a:ext cx="1554493" cy="57996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35" name="Text 33"/>
          <p:cNvSpPr/>
          <p:nvPr/>
        </p:nvSpPr>
        <p:spPr>
          <a:xfrm>
            <a:off x="6784314" y="2811130"/>
            <a:ext cx="1427493" cy="2201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草稿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84314" y="3031263"/>
            <a:ext cx="1427493" cy="1820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模板化生成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326108" y="2709530"/>
            <a:ext cx="1554493" cy="57996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38" name="Text 36"/>
          <p:cNvSpPr/>
          <p:nvPr/>
        </p:nvSpPr>
        <p:spPr>
          <a:xfrm>
            <a:off x="8415008" y="2811130"/>
            <a:ext cx="1427493" cy="2201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安全校验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15008" y="3031263"/>
            <a:ext cx="1427493" cy="1820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幻觉拦截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160000" y="2864046"/>
            <a:ext cx="393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本项目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60000" y="3029146"/>
            <a:ext cx="279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499108" y="3454597"/>
            <a:ext cx="8685784" cy="1820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algn="ctr"/>
            <a:r>
              <a:rPr lang="en-US" sz="1100" dirty="0">
                <a:solidFill>
                  <a:srgbClr val="1E5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9600" y="3945663"/>
            <a:ext cx="7276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kern="0" spc="126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9600" y="4085363"/>
            <a:ext cx="4417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kern="0" spc="126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应用层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25600" y="3636630"/>
            <a:ext cx="8432800" cy="88476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46" name="Shape 44"/>
          <p:cNvSpPr/>
          <p:nvPr/>
        </p:nvSpPr>
        <p:spPr>
          <a:xfrm>
            <a:off x="1803400" y="3776330"/>
            <a:ext cx="2633133" cy="6053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47" name="Text 45"/>
          <p:cNvSpPr/>
          <p:nvPr/>
        </p:nvSpPr>
        <p:spPr>
          <a:xfrm>
            <a:off x="1921934" y="3882163"/>
            <a:ext cx="2467949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病历草稿编辑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921934" y="4110763"/>
            <a:ext cx="2467949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字段化展示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25434" y="3776330"/>
            <a:ext cx="2633133" cy="6053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50" name="Text 48"/>
          <p:cNvSpPr/>
          <p:nvPr/>
        </p:nvSpPr>
        <p:spPr>
          <a:xfrm>
            <a:off x="4643967" y="3882163"/>
            <a:ext cx="2467949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对话证据回查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43967" y="4110763"/>
            <a:ext cx="2467949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字段↔片段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47467" y="3776330"/>
            <a:ext cx="2633133" cy="6053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53" name="Text 51"/>
          <p:cNvSpPr/>
          <p:nvPr/>
        </p:nvSpPr>
        <p:spPr>
          <a:xfrm>
            <a:off x="7366000" y="3882163"/>
            <a:ext cx="2467949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缺失 / 安全提醒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66000" y="4110763"/>
            <a:ext cx="2467949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辅助校验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160001" y="3943546"/>
            <a:ext cx="5441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 Web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160000" y="4108646"/>
            <a:ext cx="393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工作台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499108" y="4546797"/>
            <a:ext cx="8685784" cy="1820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algn="ctr"/>
            <a:r>
              <a:rPr lang="en-US" sz="1100" dirty="0">
                <a:solidFill>
                  <a:srgbClr val="1E5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09600" y="4942613"/>
            <a:ext cx="7276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kern="0" spc="126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9600" y="5082313"/>
            <a:ext cx="4417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kern="0" spc="126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输出层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25600" y="4728830"/>
            <a:ext cx="8432800" cy="69426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61" name="Shape 59"/>
          <p:cNvSpPr/>
          <p:nvPr/>
        </p:nvSpPr>
        <p:spPr>
          <a:xfrm>
            <a:off x="1803400" y="4868530"/>
            <a:ext cx="1952625" cy="4148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62" name="Text 60"/>
          <p:cNvSpPr/>
          <p:nvPr/>
        </p:nvSpPr>
        <p:spPr>
          <a:xfrm>
            <a:off x="1921934" y="4974363"/>
            <a:ext cx="1767025" cy="186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844926" y="4868530"/>
            <a:ext cx="1952625" cy="4148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64" name="Text 62"/>
          <p:cNvSpPr/>
          <p:nvPr/>
        </p:nvSpPr>
        <p:spPr>
          <a:xfrm>
            <a:off x="3963459" y="4974363"/>
            <a:ext cx="1767025" cy="186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886450" y="4868530"/>
            <a:ext cx="1952625" cy="4148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66" name="Text 64"/>
          <p:cNvSpPr/>
          <p:nvPr/>
        </p:nvSpPr>
        <p:spPr>
          <a:xfrm>
            <a:off x="6004984" y="4974363"/>
            <a:ext cx="1767025" cy="186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927976" y="4868530"/>
            <a:ext cx="1952625" cy="414867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68" name="Text 66"/>
          <p:cNvSpPr/>
          <p:nvPr/>
        </p:nvSpPr>
        <p:spPr>
          <a:xfrm>
            <a:off x="8046509" y="4974363"/>
            <a:ext cx="1767025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160000" y="4868530"/>
            <a:ext cx="1473200" cy="440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9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 EMR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921934" y="5846425"/>
            <a:ext cx="16933" cy="6591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 sz="1200"/>
          </a:p>
        </p:txBody>
      </p:sp>
      <p:sp>
        <p:nvSpPr>
          <p:cNvPr id="77" name="eyebrow-5">
            <a:extLst>
              <a:ext uri="{FF2B5EF4-FFF2-40B4-BE49-F238E27FC236}">
                <a16:creationId xmlns:a16="http://schemas.microsoft.com/office/drawing/2014/main" id="{AB0A79CC-DABA-C488-5894-C667E29DD035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C7D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C7DF0"/>
                </a:solidFill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sp>
        <p:nvSpPr>
          <p:cNvPr id="78" name="title-5">
            <a:extLst>
              <a:ext uri="{FF2B5EF4-FFF2-40B4-BE49-F238E27FC236}">
                <a16:creationId xmlns:a16="http://schemas.microsoft.com/office/drawing/2014/main" id="{55B6C86F-B633-3F3D-58B2-44E945B3261B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 dirty="0" err="1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系统</a:t>
            </a:r>
            <a:r>
              <a:rPr lang="zh-CN" altLang="en-US" sz="2850" b="1" dirty="0">
                <a:solidFill>
                  <a:srgbClr val="071A33"/>
                </a:solidFill>
                <a:latin typeface="Noto Sans CJK SC"/>
                <a:ea typeface="Noto Sans CJK SC"/>
                <a:cs typeface="Noto Sans CJK SC"/>
              </a:rPr>
              <a:t>架构层</a:t>
            </a:r>
            <a:endParaRPr sz="2850" b="1" dirty="0">
              <a:solidFill>
                <a:srgbClr val="071A33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80" name="header-line-5">
            <a:extLst>
              <a:ext uri="{FF2B5EF4-FFF2-40B4-BE49-F238E27FC236}">
                <a16:creationId xmlns:a16="http://schemas.microsoft.com/office/drawing/2014/main" id="{3D6E9D30-53CD-032F-E4FE-8DFC7CA90454}"/>
              </a:ext>
            </a:extLst>
          </p:cNvPr>
          <p:cNvCxnSpPr/>
          <p:nvPr/>
        </p:nvCxnSpPr>
        <p:spPr>
          <a:xfrm>
            <a:off x="609600" y="1200150"/>
            <a:ext cx="10972800" cy="0"/>
          </a:xfrm>
          <a:prstGeom prst="straightConnector1">
            <a:avLst/>
          </a:prstGeom>
          <a:ln w="9525">
            <a:solidFill>
              <a:srgbClr val="C8D7E7"/>
            </a:solidFill>
            <a:prstDash val="solid"/>
          </a:ln>
        </p:spPr>
      </p:cxnSp>
      <p:sp>
        <p:nvSpPr>
          <p:cNvPr id="81" name="arch-bottom-text">
            <a:extLst>
              <a:ext uri="{FF2B5EF4-FFF2-40B4-BE49-F238E27FC236}">
                <a16:creationId xmlns:a16="http://schemas.microsoft.com/office/drawing/2014/main" id="{CC71F1DC-7E36-841E-080D-E0A9FF21C383}"/>
              </a:ext>
            </a:extLst>
          </p:cNvPr>
          <p:cNvSpPr>
            <a:spLocks noGrp="1"/>
          </p:cNvSpPr>
          <p:nvPr/>
        </p:nvSpPr>
        <p:spPr>
          <a:xfrm>
            <a:off x="847725" y="6030581"/>
            <a:ext cx="10077450" cy="482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状态可恢复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 ·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版本不倒退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 ·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重复请求不重复创建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 ·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医生与就诊数据隔离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6B4569CD-11ED-4BEB-8AC4-3F4E406A9F70}"/>
              </a:ext>
            </a:extLst>
          </p:cNvPr>
          <p:cNvSpPr/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350" dirty="0"/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57F90B12-E4A5-9C26-D08A-96EEB4EB5A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21" y="0"/>
            <a:ext cx="3114879" cy="797469"/>
          </a:xfrm>
          <a:prstGeom prst="rect">
            <a:avLst/>
          </a:prstGeom>
        </p:spPr>
      </p:pic>
      <p:sp>
        <p:nvSpPr>
          <p:cNvPr id="85" name="Text 24">
            <a:extLst>
              <a:ext uri="{FF2B5EF4-FFF2-40B4-BE49-F238E27FC236}">
                <a16:creationId xmlns:a16="http://schemas.microsoft.com/office/drawing/2014/main" id="{0F90523C-E072-81DB-17AE-C92A295AC94A}"/>
              </a:ext>
            </a:extLst>
          </p:cNvPr>
          <p:cNvSpPr/>
          <p:nvPr/>
        </p:nvSpPr>
        <p:spPr>
          <a:xfrm>
            <a:off x="8697777" y="6631366"/>
            <a:ext cx="4397645" cy="1968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ASR(</a:t>
            </a:r>
            <a:r>
              <a:rPr lang="en-US" altLang="zh-CN" sz="1200" dirty="0"/>
              <a:t>Automatic Speech Recognition)</a:t>
            </a:r>
            <a:r>
              <a:rPr lang="zh-CN" altLang="en-US" sz="1200" dirty="0"/>
              <a:t>也称语音转文本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or-ring-outer">
            <a:extLst>
              <a:ext uri="{FF2B5EF4-FFF2-40B4-BE49-F238E27FC236}">
                <a16:creationId xmlns:a16="http://schemas.microsoft.com/office/drawing/2014/main" id="{C94E0633-AFE4-44A9-A729-8C48F10E0F08}"/>
              </a:ext>
            </a:extLst>
          </p:cNvPr>
          <p:cNvSpPr>
            <a:spLocks noGrp="1"/>
          </p:cNvSpPr>
          <p:nvPr/>
        </p:nvSpPr>
        <p:spPr>
          <a:xfrm>
            <a:off x="3185160" y="2346960"/>
            <a:ext cx="2194560" cy="2194560"/>
          </a:xfrm>
          <a:prstGeom prst="ellipse">
            <a:avLst/>
          </a:prstGeom>
          <a:noFill/>
          <a:ln w="19050"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decor-ring-inner">
            <a:extLst>
              <a:ext uri="{FF2B5EF4-FFF2-40B4-BE49-F238E27FC236}">
                <a16:creationId xmlns:a16="http://schemas.microsoft.com/office/drawing/2014/main" id="{87AAFF57-29BC-4648-881E-21A020958ADB}"/>
              </a:ext>
            </a:extLst>
          </p:cNvPr>
          <p:cNvSpPr>
            <a:spLocks noGrp="1"/>
          </p:cNvSpPr>
          <p:nvPr/>
        </p:nvSpPr>
        <p:spPr>
          <a:xfrm>
            <a:off x="3474720" y="2636520"/>
            <a:ext cx="1615440" cy="1615440"/>
          </a:xfrm>
          <a:prstGeom prst="ellipse">
            <a:avLst/>
          </a:prstGeom>
          <a:noFill/>
          <a:ln w="9525"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bottom-glow">
            <a:extLst>
              <a:ext uri="{FF2B5EF4-FFF2-40B4-BE49-F238E27FC236}">
                <a16:creationId xmlns:a16="http://schemas.microsoft.com/office/drawing/2014/main" id="{B7B44655-2E8F-4C09-97F9-43334CA8AA78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13335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75" name="input-link-1"/>
          <p:cNvCxnSpPr/>
          <p:nvPr/>
        </p:nvCxnSpPr>
        <p:spPr>
          <a:xfrm>
            <a:off x="3048000" y="2324100"/>
            <a:ext cx="655320" cy="1013460"/>
          </a:xfrm>
          <a:prstGeom prst="straightConnector1">
            <a:avLst/>
          </a:prstGeom>
          <a:ln w="28575">
            <a:solidFill>
              <a:srgbClr val="1E4A6D"/>
            </a:solidFill>
            <a:prstDash val="solid"/>
          </a:ln>
        </p:spPr>
      </p:cxnSp>
      <p:cxnSp>
        <p:nvCxnSpPr>
          <p:cNvPr id="76" name="input-link-2"/>
          <p:cNvCxnSpPr/>
          <p:nvPr/>
        </p:nvCxnSpPr>
        <p:spPr>
          <a:xfrm>
            <a:off x="3048000" y="3276600"/>
            <a:ext cx="655320" cy="60960"/>
          </a:xfrm>
          <a:prstGeom prst="straightConnector1">
            <a:avLst/>
          </a:prstGeom>
          <a:ln w="28575">
            <a:solidFill>
              <a:srgbClr val="25D5E5"/>
            </a:solidFill>
            <a:prstDash val="solid"/>
          </a:ln>
        </p:spPr>
      </p:cxnSp>
      <p:cxnSp>
        <p:nvCxnSpPr>
          <p:cNvPr id="77" name="input-link-3"/>
          <p:cNvCxnSpPr/>
          <p:nvPr/>
        </p:nvCxnSpPr>
        <p:spPr>
          <a:xfrm flipV="1">
            <a:off x="3048000" y="3337560"/>
            <a:ext cx="655320" cy="891540"/>
          </a:xfrm>
          <a:prstGeom prst="straightConnector1">
            <a:avLst/>
          </a:prstGeom>
          <a:ln w="28575">
            <a:solidFill>
              <a:srgbClr val="1E4A6D"/>
            </a:solidFill>
            <a:prstDash val="solid"/>
          </a:ln>
        </p:spPr>
      </p:cxnSp>
      <p:cxnSp>
        <p:nvCxnSpPr>
          <p:cNvPr id="78" name="hub-link"/>
          <p:cNvCxnSpPr/>
          <p:nvPr/>
        </p:nvCxnSpPr>
        <p:spPr>
          <a:xfrm>
            <a:off x="4922520" y="3337560"/>
            <a:ext cx="441960" cy="7620"/>
          </a:xfrm>
          <a:prstGeom prst="straightConnector1">
            <a:avLst/>
          </a:prstGeom>
          <a:ln w="38100">
            <a:solidFill>
              <a:srgbClr val="25D5E5"/>
            </a:solidFill>
            <a:prstDash val="solid"/>
          </a:ln>
        </p:spPr>
      </p:cxnSp>
      <p:cxnSp>
        <p:nvCxnSpPr>
          <p:cNvPr id="79" name="stage-link-1"/>
          <p:cNvCxnSpPr/>
          <p:nvPr/>
        </p:nvCxnSpPr>
        <p:spPr>
          <a:xfrm>
            <a:off x="7132320" y="3337560"/>
            <a:ext cx="274320" cy="7620"/>
          </a:xfrm>
          <a:prstGeom prst="straightConnector1">
            <a:avLst/>
          </a:prstGeom>
          <a:ln w="28575">
            <a:solidFill>
              <a:srgbClr val="1E4A6D"/>
            </a:solidFill>
            <a:prstDash val="solid"/>
          </a:ln>
        </p:spPr>
      </p:cxnSp>
      <p:cxnSp>
        <p:nvCxnSpPr>
          <p:cNvPr id="80" name="stage-link-2"/>
          <p:cNvCxnSpPr/>
          <p:nvPr/>
        </p:nvCxnSpPr>
        <p:spPr>
          <a:xfrm>
            <a:off x="9174480" y="3337560"/>
            <a:ext cx="274320" cy="7620"/>
          </a:xfrm>
          <a:prstGeom prst="straightConnector1">
            <a:avLst/>
          </a:prstGeom>
          <a:ln w="28575">
            <a:solidFill>
              <a:srgbClr val="1E4A6D"/>
            </a:solidFill>
            <a:prstDash val="solid"/>
          </a:ln>
        </p:spPr>
      </p:cxnSp>
      <p:sp>
        <p:nvSpPr>
          <p:cNvPr id="10" name="direction-chevron-1">
            <a:extLst>
              <a:ext uri="{FF2B5EF4-FFF2-40B4-BE49-F238E27FC236}">
                <a16:creationId xmlns:a16="http://schemas.microsoft.com/office/drawing/2014/main" id="{E9E6BF31-E6E3-4853-874E-BEA58738B622}"/>
              </a:ext>
            </a:extLst>
          </p:cNvPr>
          <p:cNvSpPr>
            <a:spLocks noGrp="1"/>
          </p:cNvSpPr>
          <p:nvPr/>
        </p:nvSpPr>
        <p:spPr>
          <a:xfrm>
            <a:off x="5128260" y="3215640"/>
            <a:ext cx="152400" cy="243840"/>
          </a:xfrm>
          <a:prstGeom prst="chevron">
            <a:avLst/>
          </a:prstGeom>
          <a:solidFill>
            <a:srgbClr val="25D5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direction-chevron-2">
            <a:extLst>
              <a:ext uri="{FF2B5EF4-FFF2-40B4-BE49-F238E27FC236}">
                <a16:creationId xmlns:a16="http://schemas.microsoft.com/office/drawing/2014/main" id="{70ED4310-580D-4B8F-8422-69ACF014661D}"/>
              </a:ext>
            </a:extLst>
          </p:cNvPr>
          <p:cNvSpPr>
            <a:spLocks noGrp="1"/>
          </p:cNvSpPr>
          <p:nvPr/>
        </p:nvSpPr>
        <p:spPr>
          <a:xfrm>
            <a:off x="7239000" y="3215640"/>
            <a:ext cx="152400" cy="243840"/>
          </a:xfrm>
          <a:prstGeom prst="chevron">
            <a:avLst/>
          </a:prstGeom>
          <a:solidFill>
            <a:srgbClr val="25D5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irection-chevron-3">
            <a:extLst>
              <a:ext uri="{FF2B5EF4-FFF2-40B4-BE49-F238E27FC236}">
                <a16:creationId xmlns:a16="http://schemas.microsoft.com/office/drawing/2014/main" id="{CFC12719-4EDE-4205-A22B-0C30CADCDC79}"/>
              </a:ext>
            </a:extLst>
          </p:cNvPr>
          <p:cNvSpPr>
            <a:spLocks noGrp="1"/>
          </p:cNvSpPr>
          <p:nvPr/>
        </p:nvSpPr>
        <p:spPr>
          <a:xfrm>
            <a:off x="9281160" y="3215640"/>
            <a:ext cx="152400" cy="243840"/>
          </a:xfrm>
          <a:prstGeom prst="chevron">
            <a:avLst/>
          </a:prstGeom>
          <a:solidFill>
            <a:srgbClr val="28C79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ection-label">
            <a:extLst>
              <a:ext uri="{FF2B5EF4-FFF2-40B4-BE49-F238E27FC236}">
                <a16:creationId xmlns:a16="http://schemas.microsoft.com/office/drawing/2014/main" id="{B0CEF811-05AA-4DDD-BE37-B0A5646B4DA1}"/>
              </a:ext>
            </a:extLst>
          </p:cNvPr>
          <p:cNvSpPr>
            <a:spLocks noGrp="1"/>
          </p:cNvSpPr>
          <p:nvPr/>
        </p:nvSpPr>
        <p:spPr>
          <a:xfrm>
            <a:off x="609600" y="259080"/>
            <a:ext cx="49530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75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2076AE61-671D-4F6B-A808-0356F8852D8B}"/>
              </a:ext>
            </a:extLst>
          </p:cNvPr>
          <p:cNvSpPr>
            <a:spLocks noGrp="1"/>
          </p:cNvSpPr>
          <p:nvPr/>
        </p:nvSpPr>
        <p:spPr>
          <a:xfrm>
            <a:off x="609600" y="640080"/>
            <a:ext cx="7772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37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三种输入，汇入同一条病历交付闭环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2798E609-8B4C-4175-988C-A56C052E2DA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73914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650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实时录音、音频文件与文本输入，共用同一套生成、审核与导出流程</a:t>
            </a:r>
          </a:p>
        </p:txBody>
      </p:sp>
      <p:cxnSp>
        <p:nvCxnSpPr>
          <p:cNvPr id="89" name="header-divider"/>
          <p:cNvCxnSpPr/>
          <p:nvPr/>
        </p:nvCxnSpPr>
        <p:spPr>
          <a:xfrm>
            <a:off x="609600" y="1645920"/>
            <a:ext cx="10972800" cy="7620"/>
          </a:xfrm>
          <a:prstGeom prst="straightConnector1">
            <a:avLst/>
          </a:prstGeom>
          <a:ln w="9525">
            <a:solidFill>
              <a:srgbClr val="153654"/>
            </a:solidFill>
            <a:prstDash val="solid"/>
          </a:ln>
        </p:spPr>
      </p:cxnSp>
      <p:sp>
        <p:nvSpPr>
          <p:cNvPr id="19" name="input-section-no">
            <a:extLst>
              <a:ext uri="{FF2B5EF4-FFF2-40B4-BE49-F238E27FC236}">
                <a16:creationId xmlns:a16="http://schemas.microsoft.com/office/drawing/2014/main" id="{B02F11C7-9B6E-4416-9DE0-29D213A7B6C3}"/>
              </a:ext>
            </a:extLst>
          </p:cNvPr>
          <p:cNvSpPr>
            <a:spLocks noGrp="1"/>
          </p:cNvSpPr>
          <p:nvPr/>
        </p:nvSpPr>
        <p:spPr>
          <a:xfrm>
            <a:off x="1158240" y="4865370"/>
            <a:ext cx="2895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defTabSz="731520">
              <a:defRPr sz="1200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0" name="input-section-label">
            <a:extLst>
              <a:ext uri="{FF2B5EF4-FFF2-40B4-BE49-F238E27FC236}">
                <a16:creationId xmlns:a16="http://schemas.microsoft.com/office/drawing/2014/main" id="{25190C86-B221-4FF7-AD65-48C790839571}"/>
              </a:ext>
            </a:extLst>
          </p:cNvPr>
          <p:cNvSpPr>
            <a:spLocks noGrp="1"/>
          </p:cNvSpPr>
          <p:nvPr/>
        </p:nvSpPr>
        <p:spPr>
          <a:xfrm>
            <a:off x="1508760" y="4850130"/>
            <a:ext cx="13716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defTabSz="731520">
              <a:defRPr sz="13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 err="1">
                <a:latin typeface="Noto Sans CJK SC"/>
                <a:ea typeface="Noto Sans CJK SC"/>
                <a:cs typeface="Noto Sans CJK SC"/>
              </a:rPr>
              <a:t>选择输入</a:t>
            </a:r>
            <a:endParaRPr sz="2000" b="1" dirty="0"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process-section-no">
            <a:extLst>
              <a:ext uri="{FF2B5EF4-FFF2-40B4-BE49-F238E27FC236}">
                <a16:creationId xmlns:a16="http://schemas.microsoft.com/office/drawing/2014/main" id="{B79D43EB-BD6C-4524-811E-1B849E15400D}"/>
              </a:ext>
            </a:extLst>
          </p:cNvPr>
          <p:cNvSpPr>
            <a:spLocks noGrp="1"/>
          </p:cNvSpPr>
          <p:nvPr/>
        </p:nvSpPr>
        <p:spPr>
          <a:xfrm>
            <a:off x="6717031" y="4852851"/>
            <a:ext cx="350762" cy="2612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defTabSz="731520">
              <a:defRPr sz="1200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2" name="process-section-label">
            <a:extLst>
              <a:ext uri="{FF2B5EF4-FFF2-40B4-BE49-F238E27FC236}">
                <a16:creationId xmlns:a16="http://schemas.microsoft.com/office/drawing/2014/main" id="{425A4306-137E-40FF-9E7D-4197DFA390A2}"/>
              </a:ext>
            </a:extLst>
          </p:cNvPr>
          <p:cNvSpPr>
            <a:spLocks noGrp="1"/>
          </p:cNvSpPr>
          <p:nvPr/>
        </p:nvSpPr>
        <p:spPr>
          <a:xfrm>
            <a:off x="7113270" y="4831080"/>
            <a:ext cx="203073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defTabSz="731520">
              <a:defRPr sz="13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 err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统一处理与交付</a:t>
            </a:r>
            <a:endParaRPr sz="2000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input-card-1">
            <a:extLst>
              <a:ext uri="{FF2B5EF4-FFF2-40B4-BE49-F238E27FC236}">
                <a16:creationId xmlns:a16="http://schemas.microsoft.com/office/drawing/2014/main" id="{9B9E854D-2CDB-4927-9D98-99633AE87583}"/>
              </a:ext>
            </a:extLst>
          </p:cNvPr>
          <p:cNvSpPr>
            <a:spLocks noGrp="1"/>
          </p:cNvSpPr>
          <p:nvPr/>
        </p:nvSpPr>
        <p:spPr>
          <a:xfrm>
            <a:off x="609600" y="1965960"/>
            <a:ext cx="2438400" cy="716280"/>
          </a:xfrm>
          <a:prstGeom prst="roundRect">
            <a:avLst>
              <a:gd name="adj" fmla="val 19149"/>
            </a:avLst>
          </a:prstGeom>
          <a:solidFill>
            <a:srgbClr val="0B2B4B"/>
          </a:solidFill>
          <a:ln w="9525">
            <a:solidFill>
              <a:srgbClr val="1E4A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4" name="input-accent-1">
            <a:extLst>
              <a:ext uri="{FF2B5EF4-FFF2-40B4-BE49-F238E27FC236}">
                <a16:creationId xmlns:a16="http://schemas.microsoft.com/office/drawing/2014/main" id="{20B32E73-06AE-4B7C-96F3-F6FD32F37DDF}"/>
              </a:ext>
            </a:extLst>
          </p:cNvPr>
          <p:cNvSpPr>
            <a:spLocks noGrp="1"/>
          </p:cNvSpPr>
          <p:nvPr/>
        </p:nvSpPr>
        <p:spPr>
          <a:xfrm>
            <a:off x="609600" y="2072640"/>
            <a:ext cx="45720" cy="502920"/>
          </a:xfrm>
          <a:prstGeom prst="roundRect">
            <a:avLst>
              <a:gd name="adj" fmla="val 50000"/>
            </a:avLst>
          </a:prstGeom>
          <a:solidFill>
            <a:srgbClr val="25D5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input-index-circle-1">
            <a:extLst>
              <a:ext uri="{FF2B5EF4-FFF2-40B4-BE49-F238E27FC236}">
                <a16:creationId xmlns:a16="http://schemas.microsoft.com/office/drawing/2014/main" id="{707DA10A-5F0A-428A-BF3A-26BF2FD3DE81}"/>
              </a:ext>
            </a:extLst>
          </p:cNvPr>
          <p:cNvSpPr>
            <a:spLocks noGrp="1"/>
          </p:cNvSpPr>
          <p:nvPr/>
        </p:nvSpPr>
        <p:spPr>
          <a:xfrm>
            <a:off x="792480" y="2171700"/>
            <a:ext cx="304800" cy="304800"/>
          </a:xfrm>
          <a:prstGeom prst="ellipse">
            <a:avLst/>
          </a:prstGeom>
          <a:solidFill>
            <a:srgbClr val="10395E"/>
          </a:solidFill>
          <a:ln w="14288">
            <a:solidFill>
              <a:srgbClr val="25D5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input-index-1">
            <a:extLst>
              <a:ext uri="{FF2B5EF4-FFF2-40B4-BE49-F238E27FC236}">
                <a16:creationId xmlns:a16="http://schemas.microsoft.com/office/drawing/2014/main" id="{754A490E-0162-4992-A17B-D7008DD7F65C}"/>
              </a:ext>
            </a:extLst>
          </p:cNvPr>
          <p:cNvSpPr>
            <a:spLocks noGrp="1"/>
          </p:cNvSpPr>
          <p:nvPr/>
        </p:nvSpPr>
        <p:spPr>
          <a:xfrm>
            <a:off x="792480" y="21717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 defTabSz="731520">
              <a:defRPr sz="1125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7" name="input-title-1">
            <a:extLst>
              <a:ext uri="{FF2B5EF4-FFF2-40B4-BE49-F238E27FC236}">
                <a16:creationId xmlns:a16="http://schemas.microsoft.com/office/drawing/2014/main" id="{EE9A505C-ECF9-482F-898B-2D1B7DD41330}"/>
              </a:ext>
            </a:extLst>
          </p:cNvPr>
          <p:cNvSpPr>
            <a:spLocks noGrp="1"/>
          </p:cNvSpPr>
          <p:nvPr/>
        </p:nvSpPr>
        <p:spPr>
          <a:xfrm>
            <a:off x="1234440" y="2103120"/>
            <a:ext cx="16002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实时录音</a:t>
            </a:r>
          </a:p>
        </p:txBody>
      </p:sp>
      <p:sp>
        <p:nvSpPr>
          <p:cNvPr id="28" name="input-sub-1">
            <a:extLst>
              <a:ext uri="{FF2B5EF4-FFF2-40B4-BE49-F238E27FC236}">
                <a16:creationId xmlns:a16="http://schemas.microsoft.com/office/drawing/2014/main" id="{ABBF6D3E-7B37-4BC2-909F-1F092F6A5E4C}"/>
              </a:ext>
            </a:extLst>
          </p:cNvPr>
          <p:cNvSpPr>
            <a:spLocks noGrp="1"/>
          </p:cNvSpPr>
          <p:nvPr/>
        </p:nvSpPr>
        <p:spPr>
          <a:xfrm>
            <a:off x="1234440" y="2392680"/>
            <a:ext cx="16459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真人麦克风 · 边说边转写</a:t>
            </a:r>
          </a:p>
        </p:txBody>
      </p:sp>
      <p:sp>
        <p:nvSpPr>
          <p:cNvPr id="29" name="input-card-2">
            <a:extLst>
              <a:ext uri="{FF2B5EF4-FFF2-40B4-BE49-F238E27FC236}">
                <a16:creationId xmlns:a16="http://schemas.microsoft.com/office/drawing/2014/main" id="{BBF54CD7-4467-4583-9D3D-87962F86D857}"/>
              </a:ext>
            </a:extLst>
          </p:cNvPr>
          <p:cNvSpPr>
            <a:spLocks noGrp="1"/>
          </p:cNvSpPr>
          <p:nvPr/>
        </p:nvSpPr>
        <p:spPr>
          <a:xfrm>
            <a:off x="609600" y="2918460"/>
            <a:ext cx="2438400" cy="716280"/>
          </a:xfrm>
          <a:prstGeom prst="roundRect">
            <a:avLst>
              <a:gd name="adj" fmla="val 19149"/>
            </a:avLst>
          </a:prstGeom>
          <a:solidFill>
            <a:srgbClr val="0B2B4B"/>
          </a:solidFill>
          <a:ln w="9525">
            <a:solidFill>
              <a:srgbClr val="1E4A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0" name="input-accent-2">
            <a:extLst>
              <a:ext uri="{FF2B5EF4-FFF2-40B4-BE49-F238E27FC236}">
                <a16:creationId xmlns:a16="http://schemas.microsoft.com/office/drawing/2014/main" id="{E509EE37-15C1-477A-BA57-156021017CA3}"/>
              </a:ext>
            </a:extLst>
          </p:cNvPr>
          <p:cNvSpPr>
            <a:spLocks noGrp="1"/>
          </p:cNvSpPr>
          <p:nvPr/>
        </p:nvSpPr>
        <p:spPr>
          <a:xfrm>
            <a:off x="609600" y="3025140"/>
            <a:ext cx="45720" cy="502920"/>
          </a:xfrm>
          <a:prstGeom prst="roundRect">
            <a:avLst>
              <a:gd name="adj" fmla="val 50000"/>
            </a:avLst>
          </a:prstGeom>
          <a:solidFill>
            <a:srgbClr val="25D5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input-index-circle-2">
            <a:extLst>
              <a:ext uri="{FF2B5EF4-FFF2-40B4-BE49-F238E27FC236}">
                <a16:creationId xmlns:a16="http://schemas.microsoft.com/office/drawing/2014/main" id="{3B45FCFC-0FBF-4606-8417-07CBA3F23D16}"/>
              </a:ext>
            </a:extLst>
          </p:cNvPr>
          <p:cNvSpPr>
            <a:spLocks noGrp="1"/>
          </p:cNvSpPr>
          <p:nvPr/>
        </p:nvSpPr>
        <p:spPr>
          <a:xfrm>
            <a:off x="792480" y="3124200"/>
            <a:ext cx="304800" cy="304800"/>
          </a:xfrm>
          <a:prstGeom prst="ellipse">
            <a:avLst/>
          </a:prstGeom>
          <a:solidFill>
            <a:srgbClr val="10395E"/>
          </a:solidFill>
          <a:ln w="14288">
            <a:solidFill>
              <a:srgbClr val="25D5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input-index-2">
            <a:extLst>
              <a:ext uri="{FF2B5EF4-FFF2-40B4-BE49-F238E27FC236}">
                <a16:creationId xmlns:a16="http://schemas.microsoft.com/office/drawing/2014/main" id="{4A1EDBA4-090A-4EE9-8EBE-A72EB57D7005}"/>
              </a:ext>
            </a:extLst>
          </p:cNvPr>
          <p:cNvSpPr>
            <a:spLocks noGrp="1"/>
          </p:cNvSpPr>
          <p:nvPr/>
        </p:nvSpPr>
        <p:spPr>
          <a:xfrm>
            <a:off x="792480" y="3124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 defTabSz="731520">
              <a:defRPr sz="1125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3" name="input-title-2">
            <a:extLst>
              <a:ext uri="{FF2B5EF4-FFF2-40B4-BE49-F238E27FC236}">
                <a16:creationId xmlns:a16="http://schemas.microsoft.com/office/drawing/2014/main" id="{D5D650E9-025D-437C-9126-7FCC0DAA63A1}"/>
              </a:ext>
            </a:extLst>
          </p:cNvPr>
          <p:cNvSpPr>
            <a:spLocks noGrp="1"/>
          </p:cNvSpPr>
          <p:nvPr/>
        </p:nvSpPr>
        <p:spPr>
          <a:xfrm>
            <a:off x="1234440" y="3055620"/>
            <a:ext cx="16002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音频文件</a:t>
            </a:r>
          </a:p>
        </p:txBody>
      </p:sp>
      <p:sp>
        <p:nvSpPr>
          <p:cNvPr id="34" name="input-sub-2">
            <a:extLst>
              <a:ext uri="{FF2B5EF4-FFF2-40B4-BE49-F238E27FC236}">
                <a16:creationId xmlns:a16="http://schemas.microsoft.com/office/drawing/2014/main" id="{FEA6B5AA-E2D7-4F21-A029-C4FFAA91BAFE}"/>
              </a:ext>
            </a:extLst>
          </p:cNvPr>
          <p:cNvSpPr>
            <a:spLocks noGrp="1"/>
          </p:cNvSpPr>
          <p:nvPr/>
        </p:nvSpPr>
        <p:spPr>
          <a:xfrm>
            <a:off x="1234440" y="3345180"/>
            <a:ext cx="16459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上传 WAV / MP3 · 自动识别</a:t>
            </a:r>
          </a:p>
        </p:txBody>
      </p:sp>
      <p:sp>
        <p:nvSpPr>
          <p:cNvPr id="35" name="input-card-3">
            <a:extLst>
              <a:ext uri="{FF2B5EF4-FFF2-40B4-BE49-F238E27FC236}">
                <a16:creationId xmlns:a16="http://schemas.microsoft.com/office/drawing/2014/main" id="{C13236BE-F464-477C-A51E-C39FCA1A147E}"/>
              </a:ext>
            </a:extLst>
          </p:cNvPr>
          <p:cNvSpPr>
            <a:spLocks noGrp="1"/>
          </p:cNvSpPr>
          <p:nvPr/>
        </p:nvSpPr>
        <p:spPr>
          <a:xfrm>
            <a:off x="609600" y="3870960"/>
            <a:ext cx="2438400" cy="716280"/>
          </a:xfrm>
          <a:prstGeom prst="roundRect">
            <a:avLst>
              <a:gd name="adj" fmla="val 19149"/>
            </a:avLst>
          </a:prstGeom>
          <a:solidFill>
            <a:srgbClr val="0B2B4B"/>
          </a:solidFill>
          <a:ln w="9525">
            <a:solidFill>
              <a:srgbClr val="1E4A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6" name="input-accent-3">
            <a:extLst>
              <a:ext uri="{FF2B5EF4-FFF2-40B4-BE49-F238E27FC236}">
                <a16:creationId xmlns:a16="http://schemas.microsoft.com/office/drawing/2014/main" id="{8E5B975A-E3E8-4F03-83FD-6CB8E49467DC}"/>
              </a:ext>
            </a:extLst>
          </p:cNvPr>
          <p:cNvSpPr>
            <a:spLocks noGrp="1"/>
          </p:cNvSpPr>
          <p:nvPr/>
        </p:nvSpPr>
        <p:spPr>
          <a:xfrm>
            <a:off x="609600" y="3977640"/>
            <a:ext cx="45720" cy="502920"/>
          </a:xfrm>
          <a:prstGeom prst="roundRect">
            <a:avLst>
              <a:gd name="adj" fmla="val 50000"/>
            </a:avLst>
          </a:prstGeom>
          <a:solidFill>
            <a:srgbClr val="25D5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input-index-circle-3">
            <a:extLst>
              <a:ext uri="{FF2B5EF4-FFF2-40B4-BE49-F238E27FC236}">
                <a16:creationId xmlns:a16="http://schemas.microsoft.com/office/drawing/2014/main" id="{8524AC15-E0AE-4088-A766-84C1956E91E4}"/>
              </a:ext>
            </a:extLst>
          </p:cNvPr>
          <p:cNvSpPr>
            <a:spLocks noGrp="1"/>
          </p:cNvSpPr>
          <p:nvPr/>
        </p:nvSpPr>
        <p:spPr>
          <a:xfrm>
            <a:off x="792480" y="4076700"/>
            <a:ext cx="304800" cy="304800"/>
          </a:xfrm>
          <a:prstGeom prst="ellipse">
            <a:avLst/>
          </a:prstGeom>
          <a:solidFill>
            <a:srgbClr val="10395E"/>
          </a:solidFill>
          <a:ln w="14288">
            <a:solidFill>
              <a:srgbClr val="25D5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input-index-3">
            <a:extLst>
              <a:ext uri="{FF2B5EF4-FFF2-40B4-BE49-F238E27FC236}">
                <a16:creationId xmlns:a16="http://schemas.microsoft.com/office/drawing/2014/main" id="{A464715C-9F43-41F5-95E2-3FEAA4EAFB83}"/>
              </a:ext>
            </a:extLst>
          </p:cNvPr>
          <p:cNvSpPr>
            <a:spLocks noGrp="1"/>
          </p:cNvSpPr>
          <p:nvPr/>
        </p:nvSpPr>
        <p:spPr>
          <a:xfrm>
            <a:off x="792480" y="40767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 defTabSz="731520">
              <a:defRPr sz="1125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9" name="input-title-3">
            <a:extLst>
              <a:ext uri="{FF2B5EF4-FFF2-40B4-BE49-F238E27FC236}">
                <a16:creationId xmlns:a16="http://schemas.microsoft.com/office/drawing/2014/main" id="{5593804D-2BC9-484D-B518-DCC50F706349}"/>
              </a:ext>
            </a:extLst>
          </p:cNvPr>
          <p:cNvSpPr>
            <a:spLocks noGrp="1"/>
          </p:cNvSpPr>
          <p:nvPr/>
        </p:nvSpPr>
        <p:spPr>
          <a:xfrm>
            <a:off x="1234440" y="4008120"/>
            <a:ext cx="16002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文本输入</a:t>
            </a:r>
          </a:p>
        </p:txBody>
      </p:sp>
      <p:sp>
        <p:nvSpPr>
          <p:cNvPr id="40" name="input-sub-3">
            <a:extLst>
              <a:ext uri="{FF2B5EF4-FFF2-40B4-BE49-F238E27FC236}">
                <a16:creationId xmlns:a16="http://schemas.microsoft.com/office/drawing/2014/main" id="{6430E609-91EE-481B-BBEF-ECF82710D7B3}"/>
              </a:ext>
            </a:extLst>
          </p:cNvPr>
          <p:cNvSpPr>
            <a:spLocks noGrp="1"/>
          </p:cNvSpPr>
          <p:nvPr/>
        </p:nvSpPr>
        <p:spPr>
          <a:xfrm>
            <a:off x="1234440" y="4297680"/>
            <a:ext cx="16459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粘贴问诊内容 · 快速生成</a:t>
            </a:r>
          </a:p>
        </p:txBody>
      </p:sp>
      <p:sp>
        <p:nvSpPr>
          <p:cNvPr id="41" name="hub-outer">
            <a:extLst>
              <a:ext uri="{FF2B5EF4-FFF2-40B4-BE49-F238E27FC236}">
                <a16:creationId xmlns:a16="http://schemas.microsoft.com/office/drawing/2014/main" id="{A9203B90-D696-4D60-AE83-72C112952065}"/>
              </a:ext>
            </a:extLst>
          </p:cNvPr>
          <p:cNvSpPr>
            <a:spLocks noGrp="1"/>
          </p:cNvSpPr>
          <p:nvPr/>
        </p:nvSpPr>
        <p:spPr>
          <a:xfrm>
            <a:off x="3703320" y="2743200"/>
            <a:ext cx="1219200" cy="1219200"/>
          </a:xfrm>
          <a:prstGeom prst="ellipse">
            <a:avLst/>
          </a:prstGeom>
          <a:solidFill>
            <a:srgbClr val="08233E"/>
          </a:solidFill>
          <a:ln w="19050">
            <a:solidFill>
              <a:srgbClr val="25D5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hub-inner">
            <a:extLst>
              <a:ext uri="{FF2B5EF4-FFF2-40B4-BE49-F238E27FC236}">
                <a16:creationId xmlns:a16="http://schemas.microsoft.com/office/drawing/2014/main" id="{1859179C-4460-4CE9-B8BF-0EFE2007E8E8}"/>
              </a:ext>
            </a:extLst>
          </p:cNvPr>
          <p:cNvSpPr>
            <a:spLocks noGrp="1"/>
          </p:cNvSpPr>
          <p:nvPr/>
        </p:nvSpPr>
        <p:spPr>
          <a:xfrm>
            <a:off x="3863340" y="2903220"/>
            <a:ext cx="899160" cy="899160"/>
          </a:xfrm>
          <a:prstGeom prst="ellipse">
            <a:avLst/>
          </a:prstGeom>
          <a:solidFill>
            <a:srgbClr val="0B2B4B"/>
          </a:solidFill>
          <a:ln w="9525">
            <a:solidFill>
              <a:srgbClr val="1E4A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4" name="图片 1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85260" y="2978640"/>
            <a:ext cx="655320" cy="641640"/>
          </a:xfrm>
          <a:prstGeom prst="roundRect">
            <a:avLst>
              <a:gd name="adj" fmla="val 20930"/>
            </a:avLst>
          </a:prstGeom>
        </p:spPr>
      </p:pic>
      <p:sp>
        <p:nvSpPr>
          <p:cNvPr id="44" name="hub-label">
            <a:extLst>
              <a:ext uri="{FF2B5EF4-FFF2-40B4-BE49-F238E27FC236}">
                <a16:creationId xmlns:a16="http://schemas.microsoft.com/office/drawing/2014/main" id="{C6368FE8-088B-4077-929F-0950DB440E65}"/>
              </a:ext>
            </a:extLst>
          </p:cNvPr>
          <p:cNvSpPr>
            <a:spLocks noGrp="1"/>
          </p:cNvSpPr>
          <p:nvPr/>
        </p:nvSpPr>
        <p:spPr>
          <a:xfrm>
            <a:off x="3855720" y="3657600"/>
            <a:ext cx="91440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 defTabSz="731520">
              <a:defRPr sz="13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统一入口</a:t>
            </a:r>
          </a:p>
        </p:txBody>
      </p:sp>
      <p:sp>
        <p:nvSpPr>
          <p:cNvPr id="45" name="hub-caption">
            <a:extLst>
              <a:ext uri="{FF2B5EF4-FFF2-40B4-BE49-F238E27FC236}">
                <a16:creationId xmlns:a16="http://schemas.microsoft.com/office/drawing/2014/main" id="{B2EC7328-E8E6-4F6C-98DC-39D34B00D987}"/>
              </a:ext>
            </a:extLst>
          </p:cNvPr>
          <p:cNvSpPr>
            <a:spLocks noGrp="1"/>
          </p:cNvSpPr>
          <p:nvPr/>
        </p:nvSpPr>
        <p:spPr>
          <a:xfrm>
            <a:off x="3535680" y="4114800"/>
            <a:ext cx="15621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 defTabSz="731520">
              <a:defRPr sz="1125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同一患者 · 同一就诊</a:t>
            </a:r>
          </a:p>
        </p:txBody>
      </p:sp>
      <p:sp>
        <p:nvSpPr>
          <p:cNvPr id="46" name="stage-card-1">
            <a:extLst>
              <a:ext uri="{FF2B5EF4-FFF2-40B4-BE49-F238E27FC236}">
                <a16:creationId xmlns:a16="http://schemas.microsoft.com/office/drawing/2014/main" id="{3136F3C2-7D5B-48F4-8628-7F222D40977E}"/>
              </a:ext>
            </a:extLst>
          </p:cNvPr>
          <p:cNvSpPr>
            <a:spLocks noGrp="1"/>
          </p:cNvSpPr>
          <p:nvPr/>
        </p:nvSpPr>
        <p:spPr>
          <a:xfrm>
            <a:off x="5364480" y="2621280"/>
            <a:ext cx="1767840" cy="1356360"/>
          </a:xfrm>
          <a:prstGeom prst="roundRect">
            <a:avLst>
              <a:gd name="adj" fmla="val 11236"/>
            </a:avLst>
          </a:prstGeom>
          <a:solidFill>
            <a:srgbClr val="08233E"/>
          </a:solidFill>
          <a:ln w="9525">
            <a:solidFill>
              <a:srgbClr val="1E4A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7" name="stage-number-1">
            <a:extLst>
              <a:ext uri="{FF2B5EF4-FFF2-40B4-BE49-F238E27FC236}">
                <a16:creationId xmlns:a16="http://schemas.microsoft.com/office/drawing/2014/main" id="{169441BC-6C94-4E9C-A782-BF28A1CED727}"/>
              </a:ext>
            </a:extLst>
          </p:cNvPr>
          <p:cNvSpPr>
            <a:spLocks noGrp="1"/>
          </p:cNvSpPr>
          <p:nvPr/>
        </p:nvSpPr>
        <p:spPr>
          <a:xfrm>
            <a:off x="5532120" y="2773680"/>
            <a:ext cx="3810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1">
                <a:solidFill>
                  <a:srgbClr val="25D5E5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8" name="stage-topline-1">
            <a:extLst>
              <a:ext uri="{FF2B5EF4-FFF2-40B4-BE49-F238E27FC236}">
                <a16:creationId xmlns:a16="http://schemas.microsoft.com/office/drawing/2014/main" id="{CDFAC6C7-49BB-4EFD-8482-D9CCCEC97167}"/>
              </a:ext>
            </a:extLst>
          </p:cNvPr>
          <p:cNvSpPr>
            <a:spLocks noGrp="1"/>
          </p:cNvSpPr>
          <p:nvPr/>
        </p:nvSpPr>
        <p:spPr>
          <a:xfrm>
            <a:off x="5532120" y="3040380"/>
            <a:ext cx="320040" cy="30480"/>
          </a:xfrm>
          <a:prstGeom prst="roundRect">
            <a:avLst>
              <a:gd name="adj" fmla="val 50000"/>
            </a:avLst>
          </a:prstGeom>
          <a:solidFill>
            <a:srgbClr val="25D5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tage-title-1">
            <a:extLst>
              <a:ext uri="{FF2B5EF4-FFF2-40B4-BE49-F238E27FC236}">
                <a16:creationId xmlns:a16="http://schemas.microsoft.com/office/drawing/2014/main" id="{EA5989AD-2C0C-4EBC-9F76-5DF8714CD5AE}"/>
              </a:ext>
            </a:extLst>
          </p:cNvPr>
          <p:cNvSpPr>
            <a:spLocks noGrp="1"/>
          </p:cNvSpPr>
          <p:nvPr/>
        </p:nvSpPr>
        <p:spPr>
          <a:xfrm>
            <a:off x="5532120" y="3208020"/>
            <a:ext cx="143256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转写与</a:t>
            </a:r>
          </a:p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角色识别</a:t>
            </a:r>
          </a:p>
        </p:txBody>
      </p:sp>
      <p:sp>
        <p:nvSpPr>
          <p:cNvPr id="50" name="stage-sub-1">
            <a:extLst>
              <a:ext uri="{FF2B5EF4-FFF2-40B4-BE49-F238E27FC236}">
                <a16:creationId xmlns:a16="http://schemas.microsoft.com/office/drawing/2014/main" id="{26866FB4-9397-4FEA-B514-4EABBF25AC22}"/>
              </a:ext>
            </a:extLst>
          </p:cNvPr>
          <p:cNvSpPr>
            <a:spLocks noGrp="1"/>
          </p:cNvSpPr>
          <p:nvPr/>
        </p:nvSpPr>
        <p:spPr>
          <a:xfrm>
            <a:off x="5532120" y="3703320"/>
            <a:ext cx="143256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分块转写 · 医患区分</a:t>
            </a:r>
          </a:p>
        </p:txBody>
      </p:sp>
      <p:sp>
        <p:nvSpPr>
          <p:cNvPr id="51" name="stage-card-2">
            <a:extLst>
              <a:ext uri="{FF2B5EF4-FFF2-40B4-BE49-F238E27FC236}">
                <a16:creationId xmlns:a16="http://schemas.microsoft.com/office/drawing/2014/main" id="{B2742706-DB3A-4343-9584-7D4D6D590446}"/>
              </a:ext>
            </a:extLst>
          </p:cNvPr>
          <p:cNvSpPr>
            <a:spLocks noGrp="1"/>
          </p:cNvSpPr>
          <p:nvPr/>
        </p:nvSpPr>
        <p:spPr>
          <a:xfrm>
            <a:off x="7406640" y="2621280"/>
            <a:ext cx="1767840" cy="1356360"/>
          </a:xfrm>
          <a:prstGeom prst="roundRect">
            <a:avLst>
              <a:gd name="adj" fmla="val 11236"/>
            </a:avLst>
          </a:prstGeom>
          <a:solidFill>
            <a:srgbClr val="08233E"/>
          </a:solidFill>
          <a:ln w="9525">
            <a:solidFill>
              <a:srgbClr val="1E4A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2" name="stage-number-2">
            <a:extLst>
              <a:ext uri="{FF2B5EF4-FFF2-40B4-BE49-F238E27FC236}">
                <a16:creationId xmlns:a16="http://schemas.microsoft.com/office/drawing/2014/main" id="{633B130E-5A05-40F6-AF99-D6CD6E5CB482}"/>
              </a:ext>
            </a:extLst>
          </p:cNvPr>
          <p:cNvSpPr>
            <a:spLocks noGrp="1"/>
          </p:cNvSpPr>
          <p:nvPr/>
        </p:nvSpPr>
        <p:spPr>
          <a:xfrm>
            <a:off x="7574280" y="2773680"/>
            <a:ext cx="3810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1">
                <a:solidFill>
                  <a:srgbClr val="4D9CF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1">
                <a:solidFill>
                  <a:srgbClr val="4D9CF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53" name="stage-topline-2">
            <a:extLst>
              <a:ext uri="{FF2B5EF4-FFF2-40B4-BE49-F238E27FC236}">
                <a16:creationId xmlns:a16="http://schemas.microsoft.com/office/drawing/2014/main" id="{7F843842-D414-4456-930B-9E51D30C2711}"/>
              </a:ext>
            </a:extLst>
          </p:cNvPr>
          <p:cNvSpPr>
            <a:spLocks noGrp="1"/>
          </p:cNvSpPr>
          <p:nvPr/>
        </p:nvSpPr>
        <p:spPr>
          <a:xfrm>
            <a:off x="7574280" y="3040380"/>
            <a:ext cx="320040" cy="30480"/>
          </a:xfrm>
          <a:prstGeom prst="roundRect">
            <a:avLst>
              <a:gd name="adj" fmla="val 50000"/>
            </a:avLst>
          </a:prstGeom>
          <a:solidFill>
            <a:srgbClr val="4D9C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tage-title-2">
            <a:extLst>
              <a:ext uri="{FF2B5EF4-FFF2-40B4-BE49-F238E27FC236}">
                <a16:creationId xmlns:a16="http://schemas.microsoft.com/office/drawing/2014/main" id="{2028C56C-05A6-4815-BA7B-9896F048905A}"/>
              </a:ext>
            </a:extLst>
          </p:cNvPr>
          <p:cNvSpPr>
            <a:spLocks noGrp="1"/>
          </p:cNvSpPr>
          <p:nvPr/>
        </p:nvSpPr>
        <p:spPr>
          <a:xfrm>
            <a:off x="7574280" y="3208020"/>
            <a:ext cx="143256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病历生成与</a:t>
            </a:r>
          </a:p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临床参考</a:t>
            </a:r>
          </a:p>
        </p:txBody>
      </p:sp>
      <p:sp>
        <p:nvSpPr>
          <p:cNvPr id="55" name="stage-sub-2">
            <a:extLst>
              <a:ext uri="{FF2B5EF4-FFF2-40B4-BE49-F238E27FC236}">
                <a16:creationId xmlns:a16="http://schemas.microsoft.com/office/drawing/2014/main" id="{166670AC-27A8-40BC-A155-5FD3CF1EF4C3}"/>
              </a:ext>
            </a:extLst>
          </p:cNvPr>
          <p:cNvSpPr>
            <a:spLocks noGrp="1"/>
          </p:cNvSpPr>
          <p:nvPr/>
        </p:nvSpPr>
        <p:spPr>
          <a:xfrm>
            <a:off x="7574280" y="3703320"/>
            <a:ext cx="143256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字段整理 · 候选方向</a:t>
            </a:r>
          </a:p>
        </p:txBody>
      </p:sp>
      <p:sp>
        <p:nvSpPr>
          <p:cNvPr id="56" name="stage-card-3">
            <a:extLst>
              <a:ext uri="{FF2B5EF4-FFF2-40B4-BE49-F238E27FC236}">
                <a16:creationId xmlns:a16="http://schemas.microsoft.com/office/drawing/2014/main" id="{047ACB88-2A16-43BC-A4AD-A765EBD27E6C}"/>
              </a:ext>
            </a:extLst>
          </p:cNvPr>
          <p:cNvSpPr>
            <a:spLocks noGrp="1"/>
          </p:cNvSpPr>
          <p:nvPr/>
        </p:nvSpPr>
        <p:spPr>
          <a:xfrm>
            <a:off x="9448800" y="2621280"/>
            <a:ext cx="1767840" cy="1356360"/>
          </a:xfrm>
          <a:prstGeom prst="roundRect">
            <a:avLst>
              <a:gd name="adj" fmla="val 11236"/>
            </a:avLst>
          </a:prstGeom>
          <a:solidFill>
            <a:srgbClr val="0C314B"/>
          </a:solidFill>
          <a:ln w="19050">
            <a:solidFill>
              <a:srgbClr val="28C79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7" name="stage-number-3">
            <a:extLst>
              <a:ext uri="{FF2B5EF4-FFF2-40B4-BE49-F238E27FC236}">
                <a16:creationId xmlns:a16="http://schemas.microsoft.com/office/drawing/2014/main" id="{5C114D78-BC91-45B7-A47C-A8C485F6043C}"/>
              </a:ext>
            </a:extLst>
          </p:cNvPr>
          <p:cNvSpPr>
            <a:spLocks noGrp="1"/>
          </p:cNvSpPr>
          <p:nvPr/>
        </p:nvSpPr>
        <p:spPr>
          <a:xfrm>
            <a:off x="9616440" y="2773680"/>
            <a:ext cx="3810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1">
                <a:solidFill>
                  <a:srgbClr val="28C79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1">
                <a:solidFill>
                  <a:srgbClr val="28C79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8" name="stage-topline-3">
            <a:extLst>
              <a:ext uri="{FF2B5EF4-FFF2-40B4-BE49-F238E27FC236}">
                <a16:creationId xmlns:a16="http://schemas.microsoft.com/office/drawing/2014/main" id="{D1F7C65A-83DB-4243-BE68-F1EFCBAE8643}"/>
              </a:ext>
            </a:extLst>
          </p:cNvPr>
          <p:cNvSpPr>
            <a:spLocks noGrp="1"/>
          </p:cNvSpPr>
          <p:nvPr/>
        </p:nvSpPr>
        <p:spPr>
          <a:xfrm>
            <a:off x="9616440" y="3040380"/>
            <a:ext cx="320040" cy="30480"/>
          </a:xfrm>
          <a:prstGeom prst="roundRect">
            <a:avLst>
              <a:gd name="adj" fmla="val 50000"/>
            </a:avLst>
          </a:prstGeom>
          <a:solidFill>
            <a:srgbClr val="28C79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tage-title-3">
            <a:extLst>
              <a:ext uri="{FF2B5EF4-FFF2-40B4-BE49-F238E27FC236}">
                <a16:creationId xmlns:a16="http://schemas.microsoft.com/office/drawing/2014/main" id="{0DC8F234-7802-4276-B53D-2131C82B219B}"/>
              </a:ext>
            </a:extLst>
          </p:cNvPr>
          <p:cNvSpPr>
            <a:spLocks noGrp="1"/>
          </p:cNvSpPr>
          <p:nvPr/>
        </p:nvSpPr>
        <p:spPr>
          <a:xfrm>
            <a:off x="9616440" y="3208020"/>
            <a:ext cx="143256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医生审核与</a:t>
            </a:r>
          </a:p>
          <a:p>
            <a:pPr defTabSz="731520">
              <a:defRPr sz="18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正式交付</a:t>
            </a:r>
          </a:p>
        </p:txBody>
      </p:sp>
      <p:sp>
        <p:nvSpPr>
          <p:cNvPr id="60" name="stage-sub-3">
            <a:extLst>
              <a:ext uri="{FF2B5EF4-FFF2-40B4-BE49-F238E27FC236}">
                <a16:creationId xmlns:a16="http://schemas.microsoft.com/office/drawing/2014/main" id="{106648F3-3AE9-42B8-8371-12956CD2827A}"/>
              </a:ext>
            </a:extLst>
          </p:cNvPr>
          <p:cNvSpPr>
            <a:spLocks noGrp="1"/>
          </p:cNvSpPr>
          <p:nvPr/>
        </p:nvSpPr>
        <p:spPr>
          <a:xfrm>
            <a:off x="9616440" y="3703320"/>
            <a:ext cx="143256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200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修改确认 · 审核后导出</a:t>
            </a:r>
          </a:p>
        </p:txBody>
      </p:sp>
      <p:sp>
        <p:nvSpPr>
          <p:cNvPr id="61" name="formal-output-pill">
            <a:extLst>
              <a:ext uri="{FF2B5EF4-FFF2-40B4-BE49-F238E27FC236}">
                <a16:creationId xmlns:a16="http://schemas.microsoft.com/office/drawing/2014/main" id="{9376A346-44C0-4748-B3AF-EF180182BEB9}"/>
              </a:ext>
            </a:extLst>
          </p:cNvPr>
          <p:cNvSpPr>
            <a:spLocks noGrp="1"/>
          </p:cNvSpPr>
          <p:nvPr/>
        </p:nvSpPr>
        <p:spPr>
          <a:xfrm>
            <a:off x="9677400" y="4145280"/>
            <a:ext cx="1310640" cy="259080"/>
          </a:xfrm>
          <a:prstGeom prst="roundRect">
            <a:avLst>
              <a:gd name="adj" fmla="val 50000"/>
            </a:avLst>
          </a:prstGeom>
          <a:solidFill>
            <a:srgbClr val="0C3F45"/>
          </a:solidFill>
          <a:ln w="9525">
            <a:solidFill>
              <a:srgbClr val="28C7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formal-output-text">
            <a:extLst>
              <a:ext uri="{FF2B5EF4-FFF2-40B4-BE49-F238E27FC236}">
                <a16:creationId xmlns:a16="http://schemas.microsoft.com/office/drawing/2014/main" id="{6374161A-9846-4AE5-BBE0-CEC0B9AE9E25}"/>
              </a:ext>
            </a:extLst>
          </p:cNvPr>
          <p:cNvSpPr>
            <a:spLocks noGrp="1"/>
          </p:cNvSpPr>
          <p:nvPr/>
        </p:nvSpPr>
        <p:spPr>
          <a:xfrm>
            <a:off x="9677400" y="4183380"/>
            <a:ext cx="131064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 defTabSz="731520">
              <a:defRPr sz="1125" b="1">
                <a:solidFill>
                  <a:srgbClr val="28C79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8C79C"/>
                </a:solidFill>
                <a:latin typeface="Noto Sans CJK SC"/>
                <a:ea typeface="Noto Sans CJK SC"/>
                <a:cs typeface="Noto Sans CJK SC"/>
              </a:rPr>
              <a:t>唯一正式出口</a:t>
            </a:r>
          </a:p>
        </p:txBody>
      </p:sp>
      <p:sp>
        <p:nvSpPr>
          <p:cNvPr id="63" name="safety-band">
            <a:extLst>
              <a:ext uri="{FF2B5EF4-FFF2-40B4-BE49-F238E27FC236}">
                <a16:creationId xmlns:a16="http://schemas.microsoft.com/office/drawing/2014/main" id="{B757C35F-A5CC-46A5-890A-828F1098B57D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762000"/>
          </a:xfrm>
          <a:prstGeom prst="roundRect">
            <a:avLst>
              <a:gd name="adj" fmla="val 20000"/>
            </a:avLst>
          </a:prstGeom>
          <a:solidFill>
            <a:srgbClr val="08233E"/>
          </a:solidFill>
          <a:ln w="9525">
            <a:solidFill>
              <a:srgbClr val="1E4A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afety-check-circle">
            <a:extLst>
              <a:ext uri="{FF2B5EF4-FFF2-40B4-BE49-F238E27FC236}">
                <a16:creationId xmlns:a16="http://schemas.microsoft.com/office/drawing/2014/main" id="{54131D7E-1108-46CA-B28F-67A23018D735}"/>
              </a:ext>
            </a:extLst>
          </p:cNvPr>
          <p:cNvSpPr>
            <a:spLocks noGrp="1"/>
          </p:cNvSpPr>
          <p:nvPr/>
        </p:nvSpPr>
        <p:spPr>
          <a:xfrm>
            <a:off x="853440" y="5455920"/>
            <a:ext cx="365760" cy="365760"/>
          </a:xfrm>
          <a:prstGeom prst="ellipse">
            <a:avLst/>
          </a:prstGeom>
          <a:solidFill>
            <a:srgbClr val="28C79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afety-check">
            <a:extLst>
              <a:ext uri="{FF2B5EF4-FFF2-40B4-BE49-F238E27FC236}">
                <a16:creationId xmlns:a16="http://schemas.microsoft.com/office/drawing/2014/main" id="{63BF3E74-18EE-476F-B89D-90E03213208C}"/>
              </a:ext>
            </a:extLst>
          </p:cNvPr>
          <p:cNvSpPr>
            <a:spLocks noGrp="1"/>
          </p:cNvSpPr>
          <p:nvPr/>
        </p:nvSpPr>
        <p:spPr>
          <a:xfrm>
            <a:off x="853440" y="5425440"/>
            <a:ext cx="365760" cy="396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 defTabSz="731520">
              <a:defRPr sz="2100" b="1">
                <a:solidFill>
                  <a:srgbClr val="03142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0" b="1">
                <a:solidFill>
                  <a:srgbClr val="031428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66" name="safety-title">
            <a:extLst>
              <a:ext uri="{FF2B5EF4-FFF2-40B4-BE49-F238E27FC236}">
                <a16:creationId xmlns:a16="http://schemas.microsoft.com/office/drawing/2014/main" id="{BC06E833-AA7A-45A4-833A-2B5759284D4A}"/>
              </a:ext>
            </a:extLst>
          </p:cNvPr>
          <p:cNvSpPr>
            <a:spLocks noGrp="1"/>
          </p:cNvSpPr>
          <p:nvPr/>
        </p:nvSpPr>
        <p:spPr>
          <a:xfrm>
            <a:off x="1402080" y="5410200"/>
            <a:ext cx="31242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80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所有入口共用同一安全边界</a:t>
            </a:r>
          </a:p>
        </p:txBody>
      </p:sp>
      <p:sp>
        <p:nvSpPr>
          <p:cNvPr id="67" name="safety-body">
            <a:extLst>
              <a:ext uri="{FF2B5EF4-FFF2-40B4-BE49-F238E27FC236}">
                <a16:creationId xmlns:a16="http://schemas.microsoft.com/office/drawing/2014/main" id="{AA7A72B3-52C7-4A6D-82EA-F028C7F90FA7}"/>
              </a:ext>
            </a:extLst>
          </p:cNvPr>
          <p:cNvSpPr>
            <a:spLocks noGrp="1"/>
          </p:cNvSpPr>
          <p:nvPr/>
        </p:nvSpPr>
        <p:spPr>
          <a:xfrm>
            <a:off x="1402080" y="5730240"/>
            <a:ext cx="495300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defTabSz="731520">
              <a:defRPr sz="1350" b="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A7BCD0"/>
                </a:solidFill>
                <a:latin typeface="Noto Sans CJK SC"/>
                <a:ea typeface="Noto Sans CJK SC"/>
                <a:cs typeface="Noto Sans CJK SC"/>
              </a:rPr>
              <a:t>AI 生成草稿  ·  医生修改确认  ·  未审核不可导出</a:t>
            </a:r>
          </a:p>
        </p:txBody>
      </p:sp>
      <p:cxnSp>
        <p:nvCxnSpPr>
          <p:cNvPr id="139" name="safety-divider"/>
          <p:cNvCxnSpPr/>
          <p:nvPr/>
        </p:nvCxnSpPr>
        <p:spPr>
          <a:xfrm>
            <a:off x="6705600" y="5417820"/>
            <a:ext cx="7620" cy="449580"/>
          </a:xfrm>
          <a:prstGeom prst="straightConnector1">
            <a:avLst/>
          </a:prstGeom>
          <a:ln w="9525">
            <a:solidFill>
              <a:srgbClr val="1E4A6D"/>
            </a:solidFill>
            <a:prstDash val="solid"/>
          </a:ln>
        </p:spPr>
      </p:cxnSp>
      <p:sp>
        <p:nvSpPr>
          <p:cNvPr id="69" name="safety-promise">
            <a:extLst>
              <a:ext uri="{FF2B5EF4-FFF2-40B4-BE49-F238E27FC236}">
                <a16:creationId xmlns:a16="http://schemas.microsoft.com/office/drawing/2014/main" id="{8DD3E000-6A7A-49A8-85C8-766CD123F678}"/>
              </a:ext>
            </a:extLst>
          </p:cNvPr>
          <p:cNvSpPr>
            <a:spLocks noGrp="1"/>
          </p:cNvSpPr>
          <p:nvPr/>
        </p:nvSpPr>
        <p:spPr>
          <a:xfrm>
            <a:off x="7086600" y="5516880"/>
            <a:ext cx="39624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defTabSz="731520">
              <a:defRPr sz="2025" b="1">
                <a:solidFill>
                  <a:srgbClr val="28C79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28C79C"/>
                </a:solidFill>
                <a:latin typeface="Noto Sans CJK SC"/>
                <a:ea typeface="Noto Sans CJK SC"/>
                <a:cs typeface="Noto Sans CJK SC"/>
              </a:rPr>
              <a:t>入口可以不同，交付标准始终一致。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F9B3FE5-A5AA-6AD1-E58D-30D67DD582D7}"/>
              </a:ext>
            </a:extLst>
          </p:cNvPr>
          <p:cNvSpPr/>
          <p:nvPr/>
        </p:nvSpPr>
        <p:spPr>
          <a:xfrm>
            <a:off x="3056890" y="4832350"/>
            <a:ext cx="3585210" cy="3276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34">
            <a:extLst>
              <a:ext uri="{FF2B5EF4-FFF2-40B4-BE49-F238E27FC236}">
                <a16:creationId xmlns:a16="http://schemas.microsoft.com/office/drawing/2014/main" id="{91FD642C-D0BB-4D09-D651-3AC6EAC5C409}"/>
              </a:ext>
            </a:extLst>
          </p:cNvPr>
          <p:cNvSpPr/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35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0DCF4D-0CA4-BC09-33AB-BC21272492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21" y="0"/>
            <a:ext cx="3114879" cy="7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6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-6">
            <a:extLst>
              <a:ext uri="{FF2B5EF4-FFF2-40B4-BE49-F238E27FC236}">
                <a16:creationId xmlns:a16="http://schemas.microsoft.com/office/drawing/2014/main" id="{E7A1219D-A2C9-49FF-BD4D-77FC7BA3ED53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25846710-D25C-4842-8248-71275D525573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医生工作台把转写、病历与临床提示放在同一视野</a:t>
            </a:r>
          </a:p>
        </p:txBody>
      </p:sp>
      <p:cxnSp>
        <p:nvCxnSpPr>
          <p:cNvPr id="21" name="header-line-6"/>
          <p:cNvCxnSpPr/>
          <p:nvPr/>
        </p:nvCxnSpPr>
        <p:spPr>
          <a:xfrm>
            <a:off x="609600" y="1200150"/>
            <a:ext cx="10972800" cy="0"/>
          </a:xfrm>
          <a:prstGeom prst="straightConnector1">
            <a:avLst/>
          </a:prstGeom>
          <a:ln w="9525">
            <a:solidFill>
              <a:srgbClr val="0C3566"/>
            </a:solidFill>
            <a:prstDash val="solid"/>
          </a:ln>
        </p:spPr>
      </p:cxnSp>
      <p:sp>
        <p:nvSpPr>
          <p:cNvPr id="6" name="ui-side-title">
            <a:extLst>
              <a:ext uri="{FF2B5EF4-FFF2-40B4-BE49-F238E27FC236}">
                <a16:creationId xmlns:a16="http://schemas.microsoft.com/office/drawing/2014/main" id="{E32126B0-A323-4B26-B484-ADCE33272B84}"/>
              </a:ext>
            </a:extLst>
          </p:cNvPr>
          <p:cNvSpPr>
            <a:spLocks noGrp="1"/>
          </p:cNvSpPr>
          <p:nvPr/>
        </p:nvSpPr>
        <p:spPr>
          <a:xfrm>
            <a:off x="8743950" y="15621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rPr>
              <a:t>三栏各有明确任务</a:t>
            </a:r>
          </a:p>
        </p:txBody>
      </p:sp>
      <p:sp>
        <p:nvSpPr>
          <p:cNvPr id="7" name="ui-side-label-0">
            <a:extLst>
              <a:ext uri="{FF2B5EF4-FFF2-40B4-BE49-F238E27FC236}">
                <a16:creationId xmlns:a16="http://schemas.microsoft.com/office/drawing/2014/main" id="{075B0B4B-F515-4FF1-BCC7-9F60811A09A7}"/>
              </a:ext>
            </a:extLst>
          </p:cNvPr>
          <p:cNvSpPr>
            <a:spLocks noGrp="1"/>
          </p:cNvSpPr>
          <p:nvPr/>
        </p:nvSpPr>
        <p:spPr>
          <a:xfrm>
            <a:off x="8743950" y="22098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rPr>
              <a:t>左侧</a:t>
            </a:r>
          </a:p>
        </p:txBody>
      </p:sp>
      <p:sp>
        <p:nvSpPr>
          <p:cNvPr id="8" name="ui-side-main-0">
            <a:extLst>
              <a:ext uri="{FF2B5EF4-FFF2-40B4-BE49-F238E27FC236}">
                <a16:creationId xmlns:a16="http://schemas.microsoft.com/office/drawing/2014/main" id="{BDC11CBE-A639-4DAF-9AC8-FEDEF6B5A0F6}"/>
              </a:ext>
            </a:extLst>
          </p:cNvPr>
          <p:cNvSpPr>
            <a:spLocks noGrp="1"/>
          </p:cNvSpPr>
          <p:nvPr/>
        </p:nvSpPr>
        <p:spPr>
          <a:xfrm>
            <a:off x="9448800" y="2190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dirty="0" err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问诊转写与证据</a:t>
            </a:r>
            <a:endParaRPr sz="1575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ui-side-sub-0">
            <a:extLst>
              <a:ext uri="{FF2B5EF4-FFF2-40B4-BE49-F238E27FC236}">
                <a16:creationId xmlns:a16="http://schemas.microsoft.com/office/drawing/2014/main" id="{276B538E-2F82-4EA6-BA0F-08E52A31E551}"/>
              </a:ext>
            </a:extLst>
          </p:cNvPr>
          <p:cNvSpPr>
            <a:spLocks noGrp="1"/>
          </p:cNvSpPr>
          <p:nvPr/>
        </p:nvSpPr>
        <p:spPr>
          <a:xfrm>
            <a:off x="9448800" y="25527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rPr>
              <a:t>保留时间、角色和原文锚点</a:t>
            </a:r>
          </a:p>
        </p:txBody>
      </p:sp>
      <p:sp>
        <p:nvSpPr>
          <p:cNvPr id="10" name="ui-side-label-1">
            <a:extLst>
              <a:ext uri="{FF2B5EF4-FFF2-40B4-BE49-F238E27FC236}">
                <a16:creationId xmlns:a16="http://schemas.microsoft.com/office/drawing/2014/main" id="{F2AFF07B-3023-456F-ACAC-22EABF6E3C50}"/>
              </a:ext>
            </a:extLst>
          </p:cNvPr>
          <p:cNvSpPr>
            <a:spLocks noGrp="1"/>
          </p:cNvSpPr>
          <p:nvPr/>
        </p:nvSpPr>
        <p:spPr>
          <a:xfrm>
            <a:off x="8743950" y="333375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 err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中间</a:t>
            </a:r>
            <a:endParaRPr sz="1200" b="1" dirty="0">
              <a:solidFill>
                <a:srgbClr val="FF000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ui-side-main-1">
            <a:extLst>
              <a:ext uri="{FF2B5EF4-FFF2-40B4-BE49-F238E27FC236}">
                <a16:creationId xmlns:a16="http://schemas.microsoft.com/office/drawing/2014/main" id="{D901944E-7815-4A41-BE63-5A81E90AACCE}"/>
              </a:ext>
            </a:extLst>
          </p:cNvPr>
          <p:cNvSpPr>
            <a:spLocks noGrp="1"/>
          </p:cNvSpPr>
          <p:nvPr/>
        </p:nvSpPr>
        <p:spPr>
          <a:xfrm>
            <a:off x="9448800" y="33147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dirty="0" err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结构化病历</a:t>
            </a:r>
            <a:endParaRPr sz="1575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ui-side-sub-1">
            <a:extLst>
              <a:ext uri="{FF2B5EF4-FFF2-40B4-BE49-F238E27FC236}">
                <a16:creationId xmlns:a16="http://schemas.microsoft.com/office/drawing/2014/main" id="{D662A2E8-BCA1-498E-9D6B-925EA7401A09}"/>
              </a:ext>
            </a:extLst>
          </p:cNvPr>
          <p:cNvSpPr>
            <a:spLocks noGrp="1"/>
          </p:cNvSpPr>
          <p:nvPr/>
        </p:nvSpPr>
        <p:spPr>
          <a:xfrm>
            <a:off x="9448800" y="36766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rPr>
              <a:t>字段状态、候选诊断、医生编辑</a:t>
            </a:r>
          </a:p>
        </p:txBody>
      </p:sp>
      <p:sp>
        <p:nvSpPr>
          <p:cNvPr id="13" name="ui-side-label-2">
            <a:extLst>
              <a:ext uri="{FF2B5EF4-FFF2-40B4-BE49-F238E27FC236}">
                <a16:creationId xmlns:a16="http://schemas.microsoft.com/office/drawing/2014/main" id="{0E947E1B-CF58-4D80-A107-8D2E2DF907FC}"/>
              </a:ext>
            </a:extLst>
          </p:cNvPr>
          <p:cNvSpPr>
            <a:spLocks noGrp="1"/>
          </p:cNvSpPr>
          <p:nvPr/>
        </p:nvSpPr>
        <p:spPr>
          <a:xfrm>
            <a:off x="8743950" y="44577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7B9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 err="1">
                <a:solidFill>
                  <a:schemeClr val="accent6"/>
                </a:solidFill>
                <a:latin typeface="Noto Sans CJK SC"/>
                <a:ea typeface="Noto Sans CJK SC"/>
                <a:cs typeface="Noto Sans CJK SC"/>
              </a:rPr>
              <a:t>右侧</a:t>
            </a:r>
            <a:endParaRPr sz="1200" b="1" dirty="0">
              <a:solidFill>
                <a:schemeClr val="accent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ui-side-main-2">
            <a:extLst>
              <a:ext uri="{FF2B5EF4-FFF2-40B4-BE49-F238E27FC236}">
                <a16:creationId xmlns:a16="http://schemas.microsoft.com/office/drawing/2014/main" id="{F4DEF9B6-5AC6-4796-ABF0-0B92002A08E8}"/>
              </a:ext>
            </a:extLst>
          </p:cNvPr>
          <p:cNvSpPr>
            <a:spLocks noGrp="1"/>
          </p:cNvSpPr>
          <p:nvPr/>
        </p:nvSpPr>
        <p:spPr>
          <a:xfrm>
            <a:off x="9448800" y="44386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dirty="0" err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rPr>
              <a:t>临床提示</a:t>
            </a:r>
            <a:endParaRPr sz="1575" b="1" dirty="0">
              <a:solidFill>
                <a:srgbClr val="F7FB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ui-side-sub-2">
            <a:extLst>
              <a:ext uri="{FF2B5EF4-FFF2-40B4-BE49-F238E27FC236}">
                <a16:creationId xmlns:a16="http://schemas.microsoft.com/office/drawing/2014/main" id="{FBBD441D-C86B-4E5C-9C4F-58680845B9CF}"/>
              </a:ext>
            </a:extLst>
          </p:cNvPr>
          <p:cNvSpPr>
            <a:spLocks noGrp="1"/>
          </p:cNvSpPr>
          <p:nvPr/>
        </p:nvSpPr>
        <p:spPr>
          <a:xfrm>
            <a:off x="9448800" y="4800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rPr>
              <a:t>待补充、危险征象、诊疗参考</a:t>
            </a:r>
          </a:p>
        </p:txBody>
      </p:sp>
      <p:sp>
        <p:nvSpPr>
          <p:cNvPr id="16" name="ui-gate-box">
            <a:extLst>
              <a:ext uri="{FF2B5EF4-FFF2-40B4-BE49-F238E27FC236}">
                <a16:creationId xmlns:a16="http://schemas.microsoft.com/office/drawing/2014/main" id="{8F150F57-4980-4268-B708-AE74B7976F34}"/>
              </a:ext>
            </a:extLst>
          </p:cNvPr>
          <p:cNvSpPr>
            <a:spLocks noGrp="1"/>
          </p:cNvSpPr>
          <p:nvPr/>
        </p:nvSpPr>
        <p:spPr>
          <a:xfrm>
            <a:off x="8743950" y="5657850"/>
            <a:ext cx="2838450" cy="495300"/>
          </a:xfrm>
          <a:prstGeom prst="roundRect">
            <a:avLst>
              <a:gd name="adj" fmla="val 19231"/>
            </a:avLst>
          </a:prstGeom>
          <a:solidFill>
            <a:srgbClr val="08244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ui-gate">
            <a:extLst>
              <a:ext uri="{FF2B5EF4-FFF2-40B4-BE49-F238E27FC236}">
                <a16:creationId xmlns:a16="http://schemas.microsoft.com/office/drawing/2014/main" id="{D0FDBA03-8D05-4E1B-9C60-D28F77E759CB}"/>
              </a:ext>
            </a:extLst>
          </p:cNvPr>
          <p:cNvSpPr>
            <a:spLocks noGrp="1"/>
          </p:cNvSpPr>
          <p:nvPr/>
        </p:nvSpPr>
        <p:spPr>
          <a:xfrm>
            <a:off x="8915400" y="579120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7B9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 err="1">
                <a:solidFill>
                  <a:srgbClr val="17B98C"/>
                </a:solidFill>
                <a:latin typeface="Noto Sans CJK SC"/>
                <a:ea typeface="Noto Sans CJK SC"/>
                <a:cs typeface="Noto Sans CJK SC"/>
              </a:rPr>
              <a:t>AI负责整理，医生负责判断与发布</a:t>
            </a:r>
            <a:endParaRPr sz="1200" b="1" dirty="0">
              <a:solidFill>
                <a:srgbClr val="17B9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4">
            <a:extLst>
              <a:ext uri="{FF2B5EF4-FFF2-40B4-BE49-F238E27FC236}">
                <a16:creationId xmlns:a16="http://schemas.microsoft.com/office/drawing/2014/main" id="{A1514B36-14BC-ACAF-E8FA-B4761B7848BC}"/>
              </a:ext>
            </a:extLst>
          </p:cNvPr>
          <p:cNvSpPr/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35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45809FC-FDEE-CEA5-3A52-D0C45ACD16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21" y="0"/>
            <a:ext cx="3114879" cy="79746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F4CB113-BE55-E340-5331-6359D636B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44" y="1517106"/>
            <a:ext cx="8130346" cy="463604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BB17AAF-49BE-7785-E8B5-5B3E6D275BA8}"/>
              </a:ext>
            </a:extLst>
          </p:cNvPr>
          <p:cNvSpPr/>
          <p:nvPr/>
        </p:nvSpPr>
        <p:spPr>
          <a:xfrm>
            <a:off x="3644900" y="2781300"/>
            <a:ext cx="2622550" cy="3009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B21C7D-8C85-3CC9-3E85-52E977621058}"/>
              </a:ext>
            </a:extLst>
          </p:cNvPr>
          <p:cNvSpPr/>
          <p:nvPr/>
        </p:nvSpPr>
        <p:spPr>
          <a:xfrm>
            <a:off x="6362700" y="2774404"/>
            <a:ext cx="1860550" cy="301679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6DD242-41E6-A7F0-AACA-5766730304E6}"/>
              </a:ext>
            </a:extLst>
          </p:cNvPr>
          <p:cNvSpPr/>
          <p:nvPr/>
        </p:nvSpPr>
        <p:spPr>
          <a:xfrm>
            <a:off x="1606550" y="2774404"/>
            <a:ext cx="1943100" cy="300990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776184-EFA5-3D2D-8CE8-51D00FB346FB}"/>
              </a:ext>
            </a:extLst>
          </p:cNvPr>
          <p:cNvCxnSpPr>
            <a:stCxn id="25" idx="0"/>
          </p:cNvCxnSpPr>
          <p:nvPr/>
        </p:nvCxnSpPr>
        <p:spPr>
          <a:xfrm flipH="1" flipV="1">
            <a:off x="2571750" y="2393950"/>
            <a:ext cx="6350" cy="380454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ui-side-main-0">
            <a:extLst>
              <a:ext uri="{FF2B5EF4-FFF2-40B4-BE49-F238E27FC236}">
                <a16:creationId xmlns:a16="http://schemas.microsoft.com/office/drawing/2014/main" id="{E10EBE1A-02F4-B621-6223-99DA838670C9}"/>
              </a:ext>
            </a:extLst>
          </p:cNvPr>
          <p:cNvSpPr>
            <a:spLocks noGrp="1"/>
          </p:cNvSpPr>
          <p:nvPr/>
        </p:nvSpPr>
        <p:spPr>
          <a:xfrm>
            <a:off x="1866764" y="2114549"/>
            <a:ext cx="140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Noto Sans CJK SC"/>
                <a:ea typeface="Noto Sans CJK SC"/>
                <a:cs typeface="Noto Sans CJK SC"/>
              </a:rPr>
              <a:t>问诊转写与证据</a:t>
            </a:r>
            <a:endParaRPr sz="1575" b="1" dirty="0">
              <a:solidFill>
                <a:schemeClr val="accent4">
                  <a:lumMod val="60000"/>
                  <a:lumOff val="40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3166A93-8DED-9DF6-6DC5-3889A666B424}"/>
              </a:ext>
            </a:extLst>
          </p:cNvPr>
          <p:cNvCxnSpPr/>
          <p:nvPr/>
        </p:nvCxnSpPr>
        <p:spPr>
          <a:xfrm flipH="1" flipV="1">
            <a:off x="4940300" y="2400846"/>
            <a:ext cx="6350" cy="3804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ui-side-main-0">
            <a:extLst>
              <a:ext uri="{FF2B5EF4-FFF2-40B4-BE49-F238E27FC236}">
                <a16:creationId xmlns:a16="http://schemas.microsoft.com/office/drawing/2014/main" id="{3A9D8F83-4A0B-3B79-9CAD-3A8B0BBD9170}"/>
              </a:ext>
            </a:extLst>
          </p:cNvPr>
          <p:cNvSpPr>
            <a:spLocks noGrp="1"/>
          </p:cNvSpPr>
          <p:nvPr/>
        </p:nvSpPr>
        <p:spPr>
          <a:xfrm>
            <a:off x="4422775" y="2117182"/>
            <a:ext cx="103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5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575" b="1" dirty="0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结构化病历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41D3873-AAE7-DEA9-2E12-AD30A6D65D0C}"/>
              </a:ext>
            </a:extLst>
          </p:cNvPr>
          <p:cNvCxnSpPr/>
          <p:nvPr/>
        </p:nvCxnSpPr>
        <p:spPr>
          <a:xfrm flipH="1" flipV="1">
            <a:off x="7289800" y="2412456"/>
            <a:ext cx="6350" cy="38045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ui-side-main-0">
            <a:extLst>
              <a:ext uri="{FF2B5EF4-FFF2-40B4-BE49-F238E27FC236}">
                <a16:creationId xmlns:a16="http://schemas.microsoft.com/office/drawing/2014/main" id="{C6CCAEB5-AABE-29B1-0B87-831E798613B7}"/>
              </a:ext>
            </a:extLst>
          </p:cNvPr>
          <p:cNvSpPr>
            <a:spLocks noGrp="1"/>
          </p:cNvSpPr>
          <p:nvPr/>
        </p:nvSpPr>
        <p:spPr>
          <a:xfrm>
            <a:off x="6877322" y="2114549"/>
            <a:ext cx="82495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575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575" b="1" dirty="0">
                <a:solidFill>
                  <a:schemeClr val="accent6"/>
                </a:solidFill>
                <a:latin typeface="Noto Sans CJK SC"/>
                <a:ea typeface="Noto Sans CJK SC"/>
                <a:cs typeface="Noto Sans CJK SC"/>
              </a:rPr>
              <a:t>临床提示</a:t>
            </a:r>
          </a:p>
        </p:txBody>
      </p:sp>
    </p:spTree>
    <p:extLst>
      <p:ext uri="{BB962C8B-B14F-4D97-AF65-F5344CB8AC3E}">
        <p14:creationId xmlns:p14="http://schemas.microsoft.com/office/powerpoint/2010/main" val="1469872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-10">
            <a:extLst>
              <a:ext uri="{FF2B5EF4-FFF2-40B4-BE49-F238E27FC236}">
                <a16:creationId xmlns:a16="http://schemas.microsoft.com/office/drawing/2014/main" id="{C1737418-D3B3-47EB-AEB2-BD9805A79E44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0D9E8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C3216B85-7BFD-4E80-A394-AA545EF33C22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363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测试—修复—复测：关键风险逐步收敛</a:t>
            </a:r>
          </a:p>
        </p:txBody>
      </p:sp>
      <p:cxnSp>
        <p:nvCxnSpPr>
          <p:cNvPr id="135" name="header-line-10"/>
          <p:cNvCxnSpPr/>
          <p:nvPr/>
        </p:nvCxnSpPr>
        <p:spPr>
          <a:xfrm>
            <a:off x="609600" y="1327150"/>
            <a:ext cx="10972800" cy="0"/>
          </a:xfrm>
          <a:prstGeom prst="straightConnector1">
            <a:avLst/>
          </a:prstGeom>
          <a:ln w="9525">
            <a:solidFill>
              <a:srgbClr val="0C3566"/>
            </a:solidFill>
            <a:prstDash val="solid"/>
          </a:ln>
        </p:spPr>
      </p:cxnSp>
      <p:sp>
        <p:nvSpPr>
          <p:cNvPr id="5" name="acc-tests-value">
            <a:extLst>
              <a:ext uri="{FF2B5EF4-FFF2-40B4-BE49-F238E27FC236}">
                <a16:creationId xmlns:a16="http://schemas.microsoft.com/office/drawing/2014/main" id="{9D9C0F2D-A697-432D-AFA6-751AB98A751E}"/>
              </a:ext>
            </a:extLst>
          </p:cNvPr>
          <p:cNvSpPr>
            <a:spLocks noGrp="1"/>
          </p:cNvSpPr>
          <p:nvPr/>
        </p:nvSpPr>
        <p:spPr>
          <a:xfrm>
            <a:off x="609600" y="153670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0D9E8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382 → 429</a:t>
            </a:r>
          </a:p>
        </p:txBody>
      </p:sp>
      <p:sp>
        <p:nvSpPr>
          <p:cNvPr id="6" name="acc-tests-label">
            <a:extLst>
              <a:ext uri="{FF2B5EF4-FFF2-40B4-BE49-F238E27FC236}">
                <a16:creationId xmlns:a16="http://schemas.microsoft.com/office/drawing/2014/main" id="{0B0E89FA-02EA-44BA-AA03-6532D2B9FB02}"/>
              </a:ext>
            </a:extLst>
          </p:cNvPr>
          <p:cNvSpPr>
            <a:spLocks noGrp="1"/>
          </p:cNvSpPr>
          <p:nvPr/>
        </p:nvSpPr>
        <p:spPr>
          <a:xfrm>
            <a:off x="609600" y="1936750"/>
            <a:ext cx="23622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A9C4D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新增 47 项回归覆盖</a:t>
            </a:r>
          </a:p>
        </p:txBody>
      </p:sp>
      <p:sp>
        <p:nvSpPr>
          <p:cNvPr id="7" name="acc-tests-sub">
            <a:extLst>
              <a:ext uri="{FF2B5EF4-FFF2-40B4-BE49-F238E27FC236}">
                <a16:creationId xmlns:a16="http://schemas.microsoft.com/office/drawing/2014/main" id="{7401EA80-D26B-49D6-9993-DB3D447389E4}"/>
              </a:ext>
            </a:extLst>
          </p:cNvPr>
          <p:cNvSpPr>
            <a:spLocks noGrp="1"/>
          </p:cNvSpPr>
          <p:nvPr/>
        </p:nvSpPr>
        <p:spPr>
          <a:xfrm>
            <a:off x="762000" y="31496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FF9A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FF9A76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测试发现</a:t>
            </a:r>
          </a:p>
        </p:txBody>
      </p:sp>
      <p:sp>
        <p:nvSpPr>
          <p:cNvPr id="8" name="acc-e2e-value">
            <a:extLst>
              <a:ext uri="{FF2B5EF4-FFF2-40B4-BE49-F238E27FC236}">
                <a16:creationId xmlns:a16="http://schemas.microsoft.com/office/drawing/2014/main" id="{25E0863A-912C-40FB-B21C-4746E2F9C283}"/>
              </a:ext>
            </a:extLst>
          </p:cNvPr>
          <p:cNvSpPr>
            <a:spLocks noGrp="1"/>
          </p:cNvSpPr>
          <p:nvPr/>
        </p:nvSpPr>
        <p:spPr>
          <a:xfrm>
            <a:off x="3333750" y="153670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9C39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9C39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3 × 104 / 104</a:t>
            </a:r>
          </a:p>
        </p:txBody>
      </p:sp>
      <p:sp>
        <p:nvSpPr>
          <p:cNvPr id="9" name="acc-e2e-label">
            <a:extLst>
              <a:ext uri="{FF2B5EF4-FFF2-40B4-BE49-F238E27FC236}">
                <a16:creationId xmlns:a16="http://schemas.microsoft.com/office/drawing/2014/main" id="{BF025C4F-99DA-42BF-A9F3-1C4836AA7A10}"/>
              </a:ext>
            </a:extLst>
          </p:cNvPr>
          <p:cNvSpPr>
            <a:spLocks noGrp="1"/>
          </p:cNvSpPr>
          <p:nvPr/>
        </p:nvSpPr>
        <p:spPr>
          <a:xfrm>
            <a:off x="3333750" y="1936750"/>
            <a:ext cx="23622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A9C4D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固定音频连续三轮 · 无缺块</a:t>
            </a:r>
          </a:p>
        </p:txBody>
      </p:sp>
      <p:sp>
        <p:nvSpPr>
          <p:cNvPr id="10" name="acc-e2e-sub">
            <a:extLst>
              <a:ext uri="{FF2B5EF4-FFF2-40B4-BE49-F238E27FC236}">
                <a16:creationId xmlns:a16="http://schemas.microsoft.com/office/drawing/2014/main" id="{BC860DEB-F4E9-4CDC-9145-10ADB22F6EF7}"/>
              </a:ext>
            </a:extLst>
          </p:cNvPr>
          <p:cNvSpPr>
            <a:spLocks noGrp="1"/>
          </p:cNvSpPr>
          <p:nvPr/>
        </p:nvSpPr>
        <p:spPr>
          <a:xfrm>
            <a:off x="4533900" y="31496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20D9E8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本轮修改</a:t>
            </a:r>
          </a:p>
        </p:txBody>
      </p:sp>
      <p:sp>
        <p:nvSpPr>
          <p:cNvPr id="11" name="acc-chunks-value">
            <a:extLst>
              <a:ext uri="{FF2B5EF4-FFF2-40B4-BE49-F238E27FC236}">
                <a16:creationId xmlns:a16="http://schemas.microsoft.com/office/drawing/2014/main" id="{0E2A61C7-D0CE-4459-8642-F8D72B81A5AC}"/>
              </a:ext>
            </a:extLst>
          </p:cNvPr>
          <p:cNvSpPr>
            <a:spLocks noGrp="1"/>
          </p:cNvSpPr>
          <p:nvPr/>
        </p:nvSpPr>
        <p:spPr>
          <a:xfrm>
            <a:off x="6057900" y="153670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2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20D9E8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3 / 3</a:t>
            </a:r>
          </a:p>
        </p:txBody>
      </p:sp>
      <p:sp>
        <p:nvSpPr>
          <p:cNvPr id="12" name="acc-chunks-label">
            <a:extLst>
              <a:ext uri="{FF2B5EF4-FFF2-40B4-BE49-F238E27FC236}">
                <a16:creationId xmlns:a16="http://schemas.microsoft.com/office/drawing/2014/main" id="{DBEDBE52-F387-47F2-A822-9334E6709CBA}"/>
              </a:ext>
            </a:extLst>
          </p:cNvPr>
          <p:cNvSpPr>
            <a:spLocks noGrp="1"/>
          </p:cNvSpPr>
          <p:nvPr/>
        </p:nvSpPr>
        <p:spPr>
          <a:xfrm>
            <a:off x="6057900" y="1936750"/>
            <a:ext cx="23622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A9C4D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浏览器完整业务闭环</a:t>
            </a:r>
          </a:p>
        </p:txBody>
      </p:sp>
      <p:sp>
        <p:nvSpPr>
          <p:cNvPr id="13" name="acc-chunks-sub">
            <a:extLst>
              <a:ext uri="{FF2B5EF4-FFF2-40B4-BE49-F238E27FC236}">
                <a16:creationId xmlns:a16="http://schemas.microsoft.com/office/drawing/2014/main" id="{194915C9-3689-440F-B5C6-356A9E282363}"/>
              </a:ext>
            </a:extLst>
          </p:cNvPr>
          <p:cNvSpPr>
            <a:spLocks noGrp="1"/>
          </p:cNvSpPr>
          <p:nvPr/>
        </p:nvSpPr>
        <p:spPr>
          <a:xfrm>
            <a:off x="8305800" y="31496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9C39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9C39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复测变化</a:t>
            </a:r>
          </a:p>
        </p:txBody>
      </p:sp>
      <p:sp>
        <p:nvSpPr>
          <p:cNvPr id="14" name="acc-health-value">
            <a:extLst>
              <a:ext uri="{FF2B5EF4-FFF2-40B4-BE49-F238E27FC236}">
                <a16:creationId xmlns:a16="http://schemas.microsoft.com/office/drawing/2014/main" id="{7CC06457-0E3F-4F6E-9334-AB746A7A7145}"/>
              </a:ext>
            </a:extLst>
          </p:cNvPr>
          <p:cNvSpPr>
            <a:spLocks noGrp="1"/>
          </p:cNvSpPr>
          <p:nvPr/>
        </p:nvSpPr>
        <p:spPr>
          <a:xfrm>
            <a:off x="8782050" y="153670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19C39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19C39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37 / 37</a:t>
            </a:r>
          </a:p>
        </p:txBody>
      </p:sp>
      <p:sp>
        <p:nvSpPr>
          <p:cNvPr id="15" name="acc-health-label">
            <a:extLst>
              <a:ext uri="{FF2B5EF4-FFF2-40B4-BE49-F238E27FC236}">
                <a16:creationId xmlns:a16="http://schemas.microsoft.com/office/drawing/2014/main" id="{5CF94A0B-1F50-4E38-A25D-27941CA254BD}"/>
              </a:ext>
            </a:extLst>
          </p:cNvPr>
          <p:cNvSpPr>
            <a:spLocks noGrp="1"/>
          </p:cNvSpPr>
          <p:nvPr/>
        </p:nvSpPr>
        <p:spPr>
          <a:xfrm>
            <a:off x="8782050" y="1936750"/>
            <a:ext cx="23622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A9C4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A9C4D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审核与版本门禁</a:t>
            </a:r>
          </a:p>
        </p:txBody>
      </p:sp>
      <p:cxnSp>
        <p:nvCxnSpPr>
          <p:cNvPr id="148" name="acc-line"/>
          <p:cNvCxnSpPr/>
          <p:nvPr/>
        </p:nvCxnSpPr>
        <p:spPr>
          <a:xfrm>
            <a:off x="609600" y="2336800"/>
            <a:ext cx="10972800" cy="0"/>
          </a:xfrm>
          <a:prstGeom prst="straightConnector1">
            <a:avLst/>
          </a:prstGeom>
          <a:ln w="9525">
            <a:solidFill>
              <a:srgbClr val="0C3566"/>
            </a:solidFill>
            <a:prstDash val="solid"/>
          </a:ln>
        </p:spPr>
      </p:cxnSp>
      <p:sp>
        <p:nvSpPr>
          <p:cNvPr id="18" name="acc-check-0-dot">
            <a:extLst>
              <a:ext uri="{FF2B5EF4-FFF2-40B4-BE49-F238E27FC236}">
                <a16:creationId xmlns:a16="http://schemas.microsoft.com/office/drawing/2014/main" id="{0C2E724C-D432-4757-8C48-01E7106AB9FF}"/>
              </a:ext>
            </a:extLst>
          </p:cNvPr>
          <p:cNvSpPr>
            <a:spLocks noGrp="1"/>
          </p:cNvSpPr>
          <p:nvPr/>
        </p:nvSpPr>
        <p:spPr>
          <a:xfrm>
            <a:off x="609600" y="31972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 w="0">
            <a:solidFill>
              <a:srgbClr val="FF8A65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9" name="acc-check-0-text">
            <a:extLst>
              <a:ext uri="{FF2B5EF4-FFF2-40B4-BE49-F238E27FC236}">
                <a16:creationId xmlns:a16="http://schemas.microsoft.com/office/drawing/2014/main" id="{37C5FC67-0C4E-4BEB-B7FE-E5C2AB2C574B}"/>
              </a:ext>
            </a:extLst>
          </p:cNvPr>
          <p:cNvSpPr>
            <a:spLocks noGrp="1"/>
          </p:cNvSpPr>
          <p:nvPr/>
        </p:nvSpPr>
        <p:spPr>
          <a:xfrm>
            <a:off x="469900" y="3702050"/>
            <a:ext cx="382905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9A76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01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长转写挤压临床提示，底部操作容易被遮挡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3F8FC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9A76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02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SSE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重连可能产生重复事件，进度状态倒退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3F8FC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9A76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03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病历修改后，旧审核与重复收敛仍有风险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3F8FC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acc-check-1-dot">
            <a:extLst>
              <a:ext uri="{FF2B5EF4-FFF2-40B4-BE49-F238E27FC236}">
                <a16:creationId xmlns:a16="http://schemas.microsoft.com/office/drawing/2014/main" id="{63C8A72F-46F4-4A80-9289-3C57CCC083C5}"/>
              </a:ext>
            </a:extLst>
          </p:cNvPr>
          <p:cNvSpPr>
            <a:spLocks noGrp="1"/>
          </p:cNvSpPr>
          <p:nvPr/>
        </p:nvSpPr>
        <p:spPr>
          <a:xfrm>
            <a:off x="4381500" y="31972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20D9E8"/>
          </a:solidFill>
          <a:ln w="0">
            <a:solidFill>
              <a:srgbClr val="20D9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acc-check-1-text">
            <a:extLst>
              <a:ext uri="{FF2B5EF4-FFF2-40B4-BE49-F238E27FC236}">
                <a16:creationId xmlns:a16="http://schemas.microsoft.com/office/drawing/2014/main" id="{510A0B34-2E6A-49AC-9ABF-B907090841E1}"/>
              </a:ext>
            </a:extLst>
          </p:cNvPr>
          <p:cNvSpPr>
            <a:spLocks noGrp="1"/>
          </p:cNvSpPr>
          <p:nvPr/>
        </p:nvSpPr>
        <p:spPr>
          <a:xfrm>
            <a:off x="4419600" y="3702050"/>
            <a:ext cx="3651984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0D9E8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01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纵向提示卡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 +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内部滚动，小屏保留关键操作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3F8FC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0D9E8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02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chunk_id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 +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Last-Event-ID，断点续传并去重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3F8FC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0D9E8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03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版本哈希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 + CAS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门禁，修改即使旧审核失效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3F8FC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acc-check-2-dot">
            <a:extLst>
              <a:ext uri="{FF2B5EF4-FFF2-40B4-BE49-F238E27FC236}">
                <a16:creationId xmlns:a16="http://schemas.microsoft.com/office/drawing/2014/main" id="{1B10AA4D-8A3D-4AAB-9DCB-F5E50C43898F}"/>
              </a:ext>
            </a:extLst>
          </p:cNvPr>
          <p:cNvSpPr>
            <a:spLocks noGrp="1"/>
          </p:cNvSpPr>
          <p:nvPr/>
        </p:nvSpPr>
        <p:spPr>
          <a:xfrm>
            <a:off x="8153400" y="31972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19C39C"/>
          </a:solidFill>
          <a:ln w="0">
            <a:solidFill>
              <a:srgbClr val="19C39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3" name="acc-check-2-text">
            <a:extLst>
              <a:ext uri="{FF2B5EF4-FFF2-40B4-BE49-F238E27FC236}">
                <a16:creationId xmlns:a16="http://schemas.microsoft.com/office/drawing/2014/main" id="{A5A6D0DC-2248-4287-9DB2-82919ACBCBE3}"/>
              </a:ext>
            </a:extLst>
          </p:cNvPr>
          <p:cNvSpPr>
            <a:spLocks noGrp="1"/>
          </p:cNvSpPr>
          <p:nvPr/>
        </p:nvSpPr>
        <p:spPr>
          <a:xfrm>
            <a:off x="8299450" y="3702050"/>
            <a:ext cx="3651984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9C39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01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最新布局修复已提交，冻结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 QA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仍待复测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3F8FC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9C39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02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连续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 3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轮运行，每轮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 104/104，无缺块</a:t>
            </a:r>
          </a:p>
          <a:p>
            <a:pPr marL="0" marR="0" lvl="0" indent="0" algn="l" defTabSz="914400" eaLnBrk="1" fontAlgn="auto" latinLnBrk="0" hangingPunct="1">
              <a:lnSpc>
                <a:spcPct val="220000"/>
              </a:lnSpc>
              <a:spcBef>
                <a:spcPts val="0"/>
              </a:spcBef>
              <a:spcAft>
                <a:spcPts val="17"/>
              </a:spcAft>
              <a:buClrTx/>
              <a:buSzTx/>
              <a:buFontTx/>
              <a:buNone/>
              <a:tabLst/>
              <a:defRPr>
                <a:latin typeface="Noto Sans CJK SC"/>
                <a:ea typeface="Noto Sans CJK SC"/>
                <a:cs typeface="Noto Sans CJK SC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9C39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03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3F8FC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未审核、旧审核与重复结束均被正确阻断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3F8FC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acc-check-3-dot">
            <a:extLst>
              <a:ext uri="{FF2B5EF4-FFF2-40B4-BE49-F238E27FC236}">
                <a16:creationId xmlns:a16="http://schemas.microsoft.com/office/drawing/2014/main" id="{9746F59D-F18B-41C0-8A56-B79611A03013}"/>
              </a:ext>
            </a:extLst>
          </p:cNvPr>
          <p:cNvSpPr>
            <a:spLocks noGrp="1"/>
          </p:cNvSpPr>
          <p:nvPr/>
        </p:nvSpPr>
        <p:spPr>
          <a:xfrm>
            <a:off x="3952875" y="3140075"/>
            <a:ext cx="361950" cy="3810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605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>
                <a:solidFill>
                  <a:srgbClr val="5B86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5B86AA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5" name="acc-check-3-text">
            <a:extLst>
              <a:ext uri="{FF2B5EF4-FFF2-40B4-BE49-F238E27FC236}">
                <a16:creationId xmlns:a16="http://schemas.microsoft.com/office/drawing/2014/main" id="{55E8CBA7-90B4-438D-8132-8D1F0A903332}"/>
              </a:ext>
            </a:extLst>
          </p:cNvPr>
          <p:cNvSpPr>
            <a:spLocks noGrp="1"/>
          </p:cNvSpPr>
          <p:nvPr/>
        </p:nvSpPr>
        <p:spPr>
          <a:xfrm>
            <a:off x="-952500" y="-952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F7FBFF"/>
              </a:solidFill>
              <a:effectLst/>
              <a:uLnTx/>
              <a:uFillTx/>
              <a:latin typeface="Noto Sans CJK SC"/>
            </a:endParaRPr>
          </a:p>
        </p:txBody>
      </p:sp>
      <p:sp>
        <p:nvSpPr>
          <p:cNvPr id="26" name="acc-check-4-dot">
            <a:extLst>
              <a:ext uri="{FF2B5EF4-FFF2-40B4-BE49-F238E27FC236}">
                <a16:creationId xmlns:a16="http://schemas.microsoft.com/office/drawing/2014/main" id="{DE506CC3-EF30-4D0B-8362-92BE6DF62221}"/>
              </a:ext>
            </a:extLst>
          </p:cNvPr>
          <p:cNvSpPr>
            <a:spLocks noGrp="1"/>
          </p:cNvSpPr>
          <p:nvPr/>
        </p:nvSpPr>
        <p:spPr>
          <a:xfrm>
            <a:off x="7724775" y="3140075"/>
            <a:ext cx="361950" cy="3810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605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>
                <a:solidFill>
                  <a:srgbClr val="5B86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5B86AA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7" name="acc-check-4-text">
            <a:extLst>
              <a:ext uri="{FF2B5EF4-FFF2-40B4-BE49-F238E27FC236}">
                <a16:creationId xmlns:a16="http://schemas.microsoft.com/office/drawing/2014/main" id="{6AA38EA2-E70F-4592-8212-7AF32DAA8369}"/>
              </a:ext>
            </a:extLst>
          </p:cNvPr>
          <p:cNvSpPr>
            <a:spLocks noGrp="1"/>
          </p:cNvSpPr>
          <p:nvPr/>
        </p:nvSpPr>
        <p:spPr>
          <a:xfrm>
            <a:off x="-952500" y="-952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F7FBFF"/>
              </a:solidFill>
              <a:effectLst/>
              <a:uLnTx/>
              <a:uFillTx/>
              <a:latin typeface="Noto Sans CJK SC"/>
            </a:endParaRPr>
          </a:p>
        </p:txBody>
      </p:sp>
      <p:sp>
        <p:nvSpPr>
          <p:cNvPr id="17" name="Text 34">
            <a:extLst>
              <a:ext uri="{FF2B5EF4-FFF2-40B4-BE49-F238E27FC236}">
                <a16:creationId xmlns:a16="http://schemas.microsoft.com/office/drawing/2014/main" id="{D85BB2A6-FD12-0297-EE21-CF69833D65D4}"/>
              </a:ext>
            </a:extLst>
          </p:cNvPr>
          <p:cNvSpPr>
            <a:spLocks noGrp="1"/>
          </p:cNvSpPr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6420" lnSpcReduction="1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8A98AD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0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8A98AD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8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8A98AD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 / 1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8A98AD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</a:rPr>
              <a:t>0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8A98AD"/>
              </a:solidFill>
              <a:effectLst/>
              <a:uLnTx/>
              <a:uFillTx/>
              <a:latin typeface="Courier New"/>
              <a:ea typeface="Courier New"/>
              <a:cs typeface="Courier New"/>
            </a:endParaRPr>
          </a:p>
        </p:txBody>
      </p:sp>
      <p:pic>
        <p:nvPicPr>
          <p:cNvPr id="16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121" y="0"/>
            <a:ext cx="3114879" cy="7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2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0C47B88D-294B-4C89-859C-FBF7B35880C0}"/>
              </a:ext>
            </a:extLst>
          </p:cNvPr>
          <p:cNvSpPr>
            <a:spLocks noGrp="1"/>
          </p:cNvSpPr>
          <p:nvPr/>
        </p:nvSpPr>
        <p:spPr>
          <a:xfrm>
            <a:off x="609600" y="190500"/>
            <a:ext cx="39624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F7C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2F7CF4"/>
                </a:solidFill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67800" y="169005"/>
            <a:ext cx="2667000" cy="545910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25D8D3EA-DC69-4A84-A88E-5343423C067C}"/>
              </a:ext>
            </a:extLst>
          </p:cNvPr>
          <p:cNvSpPr>
            <a:spLocks noGrp="1"/>
          </p:cNvSpPr>
          <p:nvPr/>
        </p:nvSpPr>
        <p:spPr>
          <a:xfrm>
            <a:off x="609600" y="548640"/>
            <a:ext cx="6858000" cy="441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40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rPr>
              <a:t>为什么 MediListen 更适合真实问诊</a:t>
            </a:r>
          </a:p>
        </p:txBody>
      </p:sp>
      <p:sp>
        <p:nvSpPr>
          <p:cNvPr id="5" name="header-rule">
            <a:extLst>
              <a:ext uri="{FF2B5EF4-FFF2-40B4-BE49-F238E27FC236}">
                <a16:creationId xmlns:a16="http://schemas.microsoft.com/office/drawing/2014/main" id="{AC0AE1A3-FFB3-419C-B2CD-BAC988A0D39E}"/>
              </a:ext>
            </a:extLst>
          </p:cNvPr>
          <p:cNvSpPr>
            <a:spLocks noGrp="1"/>
          </p:cNvSpPr>
          <p:nvPr/>
        </p:nvSpPr>
        <p:spPr>
          <a:xfrm>
            <a:off x="609600" y="1463040"/>
            <a:ext cx="10972800" cy="11430"/>
          </a:xfrm>
          <a:prstGeom prst="rect">
            <a:avLst/>
          </a:prstGeom>
          <a:solidFill>
            <a:srgbClr val="C8D7E8"/>
          </a:solidFill>
          <a:ln w="0">
            <a:solidFill>
              <a:srgbClr val="C8D7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header-question">
            <a:extLst>
              <a:ext uri="{FF2B5EF4-FFF2-40B4-BE49-F238E27FC236}">
                <a16:creationId xmlns:a16="http://schemas.microsoft.com/office/drawing/2014/main" id="{9461421C-D537-4722-A9DE-596C10815C42}"/>
              </a:ext>
            </a:extLst>
          </p:cNvPr>
          <p:cNvSpPr>
            <a:spLocks noGrp="1"/>
          </p:cNvSpPr>
          <p:nvPr/>
        </p:nvSpPr>
        <p:spPr>
          <a:xfrm>
            <a:off x="609600" y="1691640"/>
            <a:ext cx="1447800" cy="533400"/>
          </a:xfrm>
          <a:prstGeom prst="rect">
            <a:avLst/>
          </a:prstGeom>
          <a:solidFill>
            <a:srgbClr val="0B203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header-regular">
            <a:extLst>
              <a:ext uri="{FF2B5EF4-FFF2-40B4-BE49-F238E27FC236}">
                <a16:creationId xmlns:a16="http://schemas.microsoft.com/office/drawing/2014/main" id="{61001132-86AD-40EB-968D-08D93A9D086A}"/>
              </a:ext>
            </a:extLst>
          </p:cNvPr>
          <p:cNvSpPr>
            <a:spLocks noGrp="1"/>
          </p:cNvSpPr>
          <p:nvPr/>
        </p:nvSpPr>
        <p:spPr>
          <a:xfrm>
            <a:off x="2057400" y="1691640"/>
            <a:ext cx="2286000" cy="533400"/>
          </a:xfrm>
          <a:prstGeom prst="rect">
            <a:avLst/>
          </a:prstGeom>
          <a:solidFill>
            <a:srgbClr val="EEF4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header-ai">
            <a:extLst>
              <a:ext uri="{FF2B5EF4-FFF2-40B4-BE49-F238E27FC236}">
                <a16:creationId xmlns:a16="http://schemas.microsoft.com/office/drawing/2014/main" id="{C2BD8C13-0C36-43A2-AC29-2ED173157B7A}"/>
              </a:ext>
            </a:extLst>
          </p:cNvPr>
          <p:cNvSpPr>
            <a:spLocks noGrp="1"/>
          </p:cNvSpPr>
          <p:nvPr/>
        </p:nvSpPr>
        <p:spPr>
          <a:xfrm>
            <a:off x="4343400" y="1691640"/>
            <a:ext cx="2514600" cy="533400"/>
          </a:xfrm>
          <a:prstGeom prst="rect">
            <a:avLst/>
          </a:prstGeom>
          <a:solidFill>
            <a:srgbClr val="E7EEF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header-medi">
            <a:extLst>
              <a:ext uri="{FF2B5EF4-FFF2-40B4-BE49-F238E27FC236}">
                <a16:creationId xmlns:a16="http://schemas.microsoft.com/office/drawing/2014/main" id="{D5E8DD08-3ECC-4D53-8039-73F0DD57A394}"/>
              </a:ext>
            </a:extLst>
          </p:cNvPr>
          <p:cNvSpPr>
            <a:spLocks noGrp="1"/>
          </p:cNvSpPr>
          <p:nvPr/>
        </p:nvSpPr>
        <p:spPr>
          <a:xfrm>
            <a:off x="6858000" y="1691640"/>
            <a:ext cx="4724400" cy="533400"/>
          </a:xfrm>
          <a:prstGeom prst="rect">
            <a:avLst/>
          </a:prstGeom>
          <a:solidFill>
            <a:srgbClr val="2F7C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header-question-text">
            <a:extLst>
              <a:ext uri="{FF2B5EF4-FFF2-40B4-BE49-F238E27FC236}">
                <a16:creationId xmlns:a16="http://schemas.microsoft.com/office/drawing/2014/main" id="{1A72A143-0C4B-4466-8ADD-1435263577D4}"/>
              </a:ext>
            </a:extLst>
          </p:cNvPr>
          <p:cNvSpPr>
            <a:spLocks noGrp="1"/>
          </p:cNvSpPr>
          <p:nvPr/>
        </p:nvSpPr>
        <p:spPr>
          <a:xfrm>
            <a:off x="701040" y="1691640"/>
            <a:ext cx="126492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</a:t>
            </a:r>
            <a:endParaRPr sz="1200" b="1" dirty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header-regular-text">
            <a:extLst>
              <a:ext uri="{FF2B5EF4-FFF2-40B4-BE49-F238E27FC236}">
                <a16:creationId xmlns:a16="http://schemas.microsoft.com/office/drawing/2014/main" id="{FB6AB4EE-B592-4EE8-84F8-2D12358F21D6}"/>
              </a:ext>
            </a:extLst>
          </p:cNvPr>
          <p:cNvSpPr>
            <a:spLocks noGrp="1"/>
          </p:cNvSpPr>
          <p:nvPr/>
        </p:nvSpPr>
        <p:spPr>
          <a:xfrm>
            <a:off x="2148840" y="1691640"/>
            <a:ext cx="210312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23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1">
                <a:solidFill>
                  <a:srgbClr val="0D2340"/>
                </a:solidFill>
                <a:latin typeface="Noto Sans CJK SC"/>
                <a:ea typeface="Noto Sans CJK SC"/>
                <a:cs typeface="Noto Sans CJK SC"/>
              </a:rPr>
              <a:t>常规录音 / 转写</a:t>
            </a:r>
          </a:p>
        </p:txBody>
      </p:sp>
      <p:sp>
        <p:nvSpPr>
          <p:cNvPr id="12" name="header-ai-text">
            <a:extLst>
              <a:ext uri="{FF2B5EF4-FFF2-40B4-BE49-F238E27FC236}">
                <a16:creationId xmlns:a16="http://schemas.microsoft.com/office/drawing/2014/main" id="{F030CA5C-97DF-45DD-82AD-CE3088FA7C97}"/>
              </a:ext>
            </a:extLst>
          </p:cNvPr>
          <p:cNvSpPr>
            <a:spLocks noGrp="1"/>
          </p:cNvSpPr>
          <p:nvPr/>
        </p:nvSpPr>
        <p:spPr>
          <a:xfrm>
            <a:off x="4434840" y="1691640"/>
            <a:ext cx="233172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23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1">
                <a:solidFill>
                  <a:srgbClr val="0D2340"/>
                </a:solidFill>
                <a:latin typeface="Noto Sans CJK SC"/>
                <a:ea typeface="Noto Sans CJK SC"/>
                <a:cs typeface="Noto Sans CJK SC"/>
              </a:rPr>
              <a:t>通用 AI 生成</a:t>
            </a:r>
          </a:p>
        </p:txBody>
      </p:sp>
      <p:sp>
        <p:nvSpPr>
          <p:cNvPr id="13" name="header-medi-text">
            <a:extLst>
              <a:ext uri="{FF2B5EF4-FFF2-40B4-BE49-F238E27FC236}">
                <a16:creationId xmlns:a16="http://schemas.microsoft.com/office/drawing/2014/main" id="{0EA9897D-93EB-4737-9EB9-E933B528D45E}"/>
              </a:ext>
            </a:extLst>
          </p:cNvPr>
          <p:cNvSpPr>
            <a:spLocks noGrp="1"/>
          </p:cNvSpPr>
          <p:nvPr/>
        </p:nvSpPr>
        <p:spPr>
          <a:xfrm>
            <a:off x="6949440" y="1691640"/>
            <a:ext cx="454152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MediListen｜受控病历闭环</a:t>
            </a:r>
          </a:p>
        </p:txBody>
      </p:sp>
      <p:sp>
        <p:nvSpPr>
          <p:cNvPr id="14" name="q-cell-1">
            <a:extLst>
              <a:ext uri="{FF2B5EF4-FFF2-40B4-BE49-F238E27FC236}">
                <a16:creationId xmlns:a16="http://schemas.microsoft.com/office/drawing/2014/main" id="{EECB8581-42F0-4C3B-9F6E-72E057DB309F}"/>
              </a:ext>
            </a:extLst>
          </p:cNvPr>
          <p:cNvSpPr>
            <a:spLocks noGrp="1"/>
          </p:cNvSpPr>
          <p:nvPr/>
        </p:nvSpPr>
        <p:spPr>
          <a:xfrm>
            <a:off x="609600" y="2225040"/>
            <a:ext cx="1447800" cy="746760"/>
          </a:xfrm>
          <a:prstGeom prst="rect">
            <a:avLst/>
          </a:prstGeom>
          <a:solidFill>
            <a:srgbClr val="EEF4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gular-cell-1">
            <a:extLst>
              <a:ext uri="{FF2B5EF4-FFF2-40B4-BE49-F238E27FC236}">
                <a16:creationId xmlns:a16="http://schemas.microsoft.com/office/drawing/2014/main" id="{83A0EDB5-FAB5-4126-BC63-C9FBCF352DC6}"/>
              </a:ext>
            </a:extLst>
          </p:cNvPr>
          <p:cNvSpPr>
            <a:spLocks noGrp="1"/>
          </p:cNvSpPr>
          <p:nvPr/>
        </p:nvSpPr>
        <p:spPr>
          <a:xfrm>
            <a:off x="2057400" y="2225040"/>
            <a:ext cx="22860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i-cell-1">
            <a:extLst>
              <a:ext uri="{FF2B5EF4-FFF2-40B4-BE49-F238E27FC236}">
                <a16:creationId xmlns:a16="http://schemas.microsoft.com/office/drawing/2014/main" id="{CB081A31-387A-444E-9988-105A9E15468B}"/>
              </a:ext>
            </a:extLst>
          </p:cNvPr>
          <p:cNvSpPr>
            <a:spLocks noGrp="1"/>
          </p:cNvSpPr>
          <p:nvPr/>
        </p:nvSpPr>
        <p:spPr>
          <a:xfrm>
            <a:off x="4343400" y="2225040"/>
            <a:ext cx="25146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medi-cell-1">
            <a:extLst>
              <a:ext uri="{FF2B5EF4-FFF2-40B4-BE49-F238E27FC236}">
                <a16:creationId xmlns:a16="http://schemas.microsoft.com/office/drawing/2014/main" id="{014CC6DA-CC5D-46F4-89E2-BC1A6F24E561}"/>
              </a:ext>
            </a:extLst>
          </p:cNvPr>
          <p:cNvSpPr>
            <a:spLocks noGrp="1"/>
          </p:cNvSpPr>
          <p:nvPr/>
        </p:nvSpPr>
        <p:spPr>
          <a:xfrm>
            <a:off x="6858000" y="2225040"/>
            <a:ext cx="4724400" cy="746760"/>
          </a:xfrm>
          <a:prstGeom prst="rect">
            <a:avLst/>
          </a:prstGeom>
          <a:solidFill>
            <a:srgbClr val="EAF3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q-text-1">
            <a:extLst>
              <a:ext uri="{FF2B5EF4-FFF2-40B4-BE49-F238E27FC236}">
                <a16:creationId xmlns:a16="http://schemas.microsoft.com/office/drawing/2014/main" id="{BCBAF98F-6214-4BF6-B2C4-DC5A5AD43C33}"/>
              </a:ext>
            </a:extLst>
          </p:cNvPr>
          <p:cNvSpPr>
            <a:spLocks noGrp="1"/>
          </p:cNvSpPr>
          <p:nvPr/>
        </p:nvSpPr>
        <p:spPr>
          <a:xfrm>
            <a:off x="746760" y="2286000"/>
            <a:ext cx="117348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Q1  </a:t>
            </a:r>
            <a:r>
              <a:rPr sz="1200" b="1" dirty="0" err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何时生成</a:t>
            </a:r>
            <a:r>
              <a:rPr sz="1200" b="1" dirty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？</a:t>
            </a:r>
          </a:p>
        </p:txBody>
      </p:sp>
      <p:sp>
        <p:nvSpPr>
          <p:cNvPr id="19" name="regular-text-1">
            <a:extLst>
              <a:ext uri="{FF2B5EF4-FFF2-40B4-BE49-F238E27FC236}">
                <a16:creationId xmlns:a16="http://schemas.microsoft.com/office/drawing/2014/main" id="{9161EE14-18CC-40F0-8790-8389C21CA4B0}"/>
              </a:ext>
            </a:extLst>
          </p:cNvPr>
          <p:cNvSpPr>
            <a:spLocks noGrp="1"/>
          </p:cNvSpPr>
          <p:nvPr/>
        </p:nvSpPr>
        <p:spPr>
          <a:xfrm>
            <a:off x="2209800" y="2286000"/>
            <a:ext cx="19812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诊后回听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再人工整理</a:t>
            </a:r>
          </a:p>
        </p:txBody>
      </p:sp>
      <p:sp>
        <p:nvSpPr>
          <p:cNvPr id="20" name="ai-text-1">
            <a:extLst>
              <a:ext uri="{FF2B5EF4-FFF2-40B4-BE49-F238E27FC236}">
                <a16:creationId xmlns:a16="http://schemas.microsoft.com/office/drawing/2014/main" id="{FBC37D7E-86D3-45FA-AE66-2FD322400FD3}"/>
              </a:ext>
            </a:extLst>
          </p:cNvPr>
          <p:cNvSpPr>
            <a:spLocks noGrp="1"/>
          </p:cNvSpPr>
          <p:nvPr/>
        </p:nvSpPr>
        <p:spPr>
          <a:xfrm>
            <a:off x="4495800" y="2286000"/>
            <a:ext cx="22098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输入完整文本后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一次性生成</a:t>
            </a:r>
          </a:p>
        </p:txBody>
      </p:sp>
      <p:sp>
        <p:nvSpPr>
          <p:cNvPr id="21" name="medi-accent-1">
            <a:extLst>
              <a:ext uri="{FF2B5EF4-FFF2-40B4-BE49-F238E27FC236}">
                <a16:creationId xmlns:a16="http://schemas.microsoft.com/office/drawing/2014/main" id="{E55DBF2F-DC77-49BB-BB2E-B7058597261C}"/>
              </a:ext>
            </a:extLst>
          </p:cNvPr>
          <p:cNvSpPr>
            <a:spLocks noGrp="1"/>
          </p:cNvSpPr>
          <p:nvPr/>
        </p:nvSpPr>
        <p:spPr>
          <a:xfrm>
            <a:off x="6858000" y="2225040"/>
            <a:ext cx="38100" cy="746760"/>
          </a:xfrm>
          <a:prstGeom prst="rect">
            <a:avLst/>
          </a:prstGeom>
          <a:solidFill>
            <a:srgbClr val="2F7CF4"/>
          </a:solidFill>
          <a:ln w="0">
            <a:solidFill>
              <a:srgbClr val="2F7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check-circle-1">
            <a:extLst>
              <a:ext uri="{FF2B5EF4-FFF2-40B4-BE49-F238E27FC236}">
                <a16:creationId xmlns:a16="http://schemas.microsoft.com/office/drawing/2014/main" id="{0C859C7B-358D-4037-8353-5718B32A4EF5}"/>
              </a:ext>
            </a:extLst>
          </p:cNvPr>
          <p:cNvSpPr>
            <a:spLocks noGrp="1"/>
          </p:cNvSpPr>
          <p:nvPr/>
        </p:nvSpPr>
        <p:spPr>
          <a:xfrm>
            <a:off x="7071360" y="24384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F7CF4"/>
          </a:solidFill>
          <a:ln w="0">
            <a:solidFill>
              <a:srgbClr val="2F7CF4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3" name="medi-headline-1">
            <a:extLst>
              <a:ext uri="{FF2B5EF4-FFF2-40B4-BE49-F238E27FC236}">
                <a16:creationId xmlns:a16="http://schemas.microsoft.com/office/drawing/2014/main" id="{2790584A-F9B9-45CE-9E30-94648AE58ACC}"/>
              </a:ext>
            </a:extLst>
          </p:cNvPr>
          <p:cNvSpPr>
            <a:spLocks noGrp="1"/>
          </p:cNvSpPr>
          <p:nvPr/>
        </p:nvSpPr>
        <p:spPr>
          <a:xfrm>
            <a:off x="7513320" y="2346960"/>
            <a:ext cx="36957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rPr>
              <a:t>问诊同步生成</a:t>
            </a:r>
          </a:p>
        </p:txBody>
      </p:sp>
      <p:sp>
        <p:nvSpPr>
          <p:cNvPr id="24" name="medi-detail-1">
            <a:extLst>
              <a:ext uri="{FF2B5EF4-FFF2-40B4-BE49-F238E27FC236}">
                <a16:creationId xmlns:a16="http://schemas.microsoft.com/office/drawing/2014/main" id="{09CA94A3-FA45-4A92-92D1-CC48215F4786}"/>
              </a:ext>
            </a:extLst>
          </p:cNvPr>
          <p:cNvSpPr>
            <a:spLocks noGrp="1"/>
          </p:cNvSpPr>
          <p:nvPr/>
        </p:nvSpPr>
        <p:spPr>
          <a:xfrm>
            <a:off x="7513320" y="2606040"/>
            <a:ext cx="38100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持续转写，病历草稿随对话更新</a:t>
            </a:r>
          </a:p>
        </p:txBody>
      </p:sp>
      <p:sp>
        <p:nvSpPr>
          <p:cNvPr id="25" name="q-cell-2">
            <a:extLst>
              <a:ext uri="{FF2B5EF4-FFF2-40B4-BE49-F238E27FC236}">
                <a16:creationId xmlns:a16="http://schemas.microsoft.com/office/drawing/2014/main" id="{C78C473F-7AE1-4E85-BF6E-389EFCA8A41D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1447800" cy="746760"/>
          </a:xfrm>
          <a:prstGeom prst="rect">
            <a:avLst/>
          </a:prstGeom>
          <a:solidFill>
            <a:srgbClr val="F5F8F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gular-cell-2">
            <a:extLst>
              <a:ext uri="{FF2B5EF4-FFF2-40B4-BE49-F238E27FC236}">
                <a16:creationId xmlns:a16="http://schemas.microsoft.com/office/drawing/2014/main" id="{AB7DCA73-931F-408C-BD0F-6C4AD28D67AB}"/>
              </a:ext>
            </a:extLst>
          </p:cNvPr>
          <p:cNvSpPr>
            <a:spLocks noGrp="1"/>
          </p:cNvSpPr>
          <p:nvPr/>
        </p:nvSpPr>
        <p:spPr>
          <a:xfrm>
            <a:off x="2057400" y="2971800"/>
            <a:ext cx="2286000" cy="746760"/>
          </a:xfrm>
          <a:prstGeom prst="rect">
            <a:avLst/>
          </a:prstGeom>
          <a:solidFill>
            <a:srgbClr val="FAFCF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ai-cell-2">
            <a:extLst>
              <a:ext uri="{FF2B5EF4-FFF2-40B4-BE49-F238E27FC236}">
                <a16:creationId xmlns:a16="http://schemas.microsoft.com/office/drawing/2014/main" id="{83CB0DF1-C8CF-4CA4-955E-1DBD0139644F}"/>
              </a:ext>
            </a:extLst>
          </p:cNvPr>
          <p:cNvSpPr>
            <a:spLocks noGrp="1"/>
          </p:cNvSpPr>
          <p:nvPr/>
        </p:nvSpPr>
        <p:spPr>
          <a:xfrm>
            <a:off x="4343400" y="2971800"/>
            <a:ext cx="2514600" cy="746760"/>
          </a:xfrm>
          <a:prstGeom prst="rect">
            <a:avLst/>
          </a:prstGeom>
          <a:solidFill>
            <a:srgbClr val="FAFCF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medi-cell-2">
            <a:extLst>
              <a:ext uri="{FF2B5EF4-FFF2-40B4-BE49-F238E27FC236}">
                <a16:creationId xmlns:a16="http://schemas.microsoft.com/office/drawing/2014/main" id="{0C51CD2B-1A26-48C8-9742-03C454BF6975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4724400" cy="746760"/>
          </a:xfrm>
          <a:prstGeom prst="rect">
            <a:avLst/>
          </a:prstGeom>
          <a:solidFill>
            <a:srgbClr val="E2EE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q-text-2">
            <a:extLst>
              <a:ext uri="{FF2B5EF4-FFF2-40B4-BE49-F238E27FC236}">
                <a16:creationId xmlns:a16="http://schemas.microsoft.com/office/drawing/2014/main" id="{527003EE-560C-4F6F-A1FB-CD9425F1FC61}"/>
              </a:ext>
            </a:extLst>
          </p:cNvPr>
          <p:cNvSpPr>
            <a:spLocks noGrp="1"/>
          </p:cNvSpPr>
          <p:nvPr/>
        </p:nvSpPr>
        <p:spPr>
          <a:xfrm>
            <a:off x="746760" y="3032760"/>
            <a:ext cx="117348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Q2  </a:t>
            </a:r>
            <a:r>
              <a:rPr sz="1200" b="1" dirty="0" err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证据能追吗</a:t>
            </a:r>
            <a:endParaRPr sz="1200" b="1" dirty="0">
              <a:solidFill>
                <a:srgbClr val="1F66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egular-text-2">
            <a:extLst>
              <a:ext uri="{FF2B5EF4-FFF2-40B4-BE49-F238E27FC236}">
                <a16:creationId xmlns:a16="http://schemas.microsoft.com/office/drawing/2014/main" id="{E019723A-6170-4D84-8305-81CAA66FE3BD}"/>
              </a:ext>
            </a:extLst>
          </p:cNvPr>
          <p:cNvSpPr>
            <a:spLocks noGrp="1"/>
          </p:cNvSpPr>
          <p:nvPr/>
        </p:nvSpPr>
        <p:spPr>
          <a:xfrm>
            <a:off x="2209800" y="3032760"/>
            <a:ext cx="19812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逐段回听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靠人工核对</a:t>
            </a:r>
          </a:p>
        </p:txBody>
      </p:sp>
      <p:sp>
        <p:nvSpPr>
          <p:cNvPr id="31" name="ai-text-2">
            <a:extLst>
              <a:ext uri="{FF2B5EF4-FFF2-40B4-BE49-F238E27FC236}">
                <a16:creationId xmlns:a16="http://schemas.microsoft.com/office/drawing/2014/main" id="{C495244C-9984-4F38-82E5-E89CB3A1F678}"/>
              </a:ext>
            </a:extLst>
          </p:cNvPr>
          <p:cNvSpPr>
            <a:spLocks noGrp="1"/>
          </p:cNvSpPr>
          <p:nvPr/>
        </p:nvSpPr>
        <p:spPr>
          <a:xfrm>
            <a:off x="4495800" y="3032760"/>
            <a:ext cx="22098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生成结果与原文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缺少逐字段关联</a:t>
            </a:r>
          </a:p>
        </p:txBody>
      </p:sp>
      <p:sp>
        <p:nvSpPr>
          <p:cNvPr id="32" name="medi-accent-2">
            <a:extLst>
              <a:ext uri="{FF2B5EF4-FFF2-40B4-BE49-F238E27FC236}">
                <a16:creationId xmlns:a16="http://schemas.microsoft.com/office/drawing/2014/main" id="{D22D0729-CF19-4A6A-A2BA-68BF36DFABE7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38100" cy="746760"/>
          </a:xfrm>
          <a:prstGeom prst="rect">
            <a:avLst/>
          </a:prstGeom>
          <a:solidFill>
            <a:srgbClr val="2F7CF4"/>
          </a:solidFill>
          <a:ln w="0">
            <a:solidFill>
              <a:srgbClr val="2F7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check-circle-2">
            <a:extLst>
              <a:ext uri="{FF2B5EF4-FFF2-40B4-BE49-F238E27FC236}">
                <a16:creationId xmlns:a16="http://schemas.microsoft.com/office/drawing/2014/main" id="{72F62776-FE5D-4737-883D-72FE50E438EA}"/>
              </a:ext>
            </a:extLst>
          </p:cNvPr>
          <p:cNvSpPr>
            <a:spLocks noGrp="1"/>
          </p:cNvSpPr>
          <p:nvPr/>
        </p:nvSpPr>
        <p:spPr>
          <a:xfrm>
            <a:off x="7071360" y="318516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F7CF4"/>
          </a:solidFill>
          <a:ln w="0">
            <a:solidFill>
              <a:srgbClr val="2F7CF4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34" name="medi-headline-2">
            <a:extLst>
              <a:ext uri="{FF2B5EF4-FFF2-40B4-BE49-F238E27FC236}">
                <a16:creationId xmlns:a16="http://schemas.microsoft.com/office/drawing/2014/main" id="{0FC854DB-3D96-4D14-9660-87AC4FE1D1D2}"/>
              </a:ext>
            </a:extLst>
          </p:cNvPr>
          <p:cNvSpPr>
            <a:spLocks noGrp="1"/>
          </p:cNvSpPr>
          <p:nvPr/>
        </p:nvSpPr>
        <p:spPr>
          <a:xfrm>
            <a:off x="7513320" y="3093720"/>
            <a:ext cx="36957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rPr>
              <a:t>每个字段可回溯</a:t>
            </a:r>
          </a:p>
        </p:txBody>
      </p:sp>
      <p:sp>
        <p:nvSpPr>
          <p:cNvPr id="35" name="medi-detail-2">
            <a:extLst>
              <a:ext uri="{FF2B5EF4-FFF2-40B4-BE49-F238E27FC236}">
                <a16:creationId xmlns:a16="http://schemas.microsoft.com/office/drawing/2014/main" id="{17744EFA-792F-4ED3-A638-FDFD9A17E537}"/>
              </a:ext>
            </a:extLst>
          </p:cNvPr>
          <p:cNvSpPr>
            <a:spLocks noGrp="1"/>
          </p:cNvSpPr>
          <p:nvPr/>
        </p:nvSpPr>
        <p:spPr>
          <a:xfrm>
            <a:off x="7513320" y="3352800"/>
            <a:ext cx="38100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关联说话人、时间片段与患者原话</a:t>
            </a:r>
          </a:p>
        </p:txBody>
      </p:sp>
      <p:sp>
        <p:nvSpPr>
          <p:cNvPr id="36" name="q-cell-3">
            <a:extLst>
              <a:ext uri="{FF2B5EF4-FFF2-40B4-BE49-F238E27FC236}">
                <a16:creationId xmlns:a16="http://schemas.microsoft.com/office/drawing/2014/main" id="{E1E3FF4E-BA01-4BA3-A7EC-FBD02D4F8AAF}"/>
              </a:ext>
            </a:extLst>
          </p:cNvPr>
          <p:cNvSpPr>
            <a:spLocks noGrp="1"/>
          </p:cNvSpPr>
          <p:nvPr/>
        </p:nvSpPr>
        <p:spPr>
          <a:xfrm>
            <a:off x="609600" y="3718560"/>
            <a:ext cx="1447800" cy="746760"/>
          </a:xfrm>
          <a:prstGeom prst="rect">
            <a:avLst/>
          </a:prstGeom>
          <a:solidFill>
            <a:srgbClr val="EEF4F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gular-cell-3">
            <a:extLst>
              <a:ext uri="{FF2B5EF4-FFF2-40B4-BE49-F238E27FC236}">
                <a16:creationId xmlns:a16="http://schemas.microsoft.com/office/drawing/2014/main" id="{7FE3149F-05AF-47F7-9166-4FFDCAFE3FC6}"/>
              </a:ext>
            </a:extLst>
          </p:cNvPr>
          <p:cNvSpPr>
            <a:spLocks noGrp="1"/>
          </p:cNvSpPr>
          <p:nvPr/>
        </p:nvSpPr>
        <p:spPr>
          <a:xfrm>
            <a:off x="2057400" y="3718560"/>
            <a:ext cx="22860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ai-cell-3">
            <a:extLst>
              <a:ext uri="{FF2B5EF4-FFF2-40B4-BE49-F238E27FC236}">
                <a16:creationId xmlns:a16="http://schemas.microsoft.com/office/drawing/2014/main" id="{5390606A-3CF7-4BB9-9FB0-C68F564C3A91}"/>
              </a:ext>
            </a:extLst>
          </p:cNvPr>
          <p:cNvSpPr>
            <a:spLocks noGrp="1"/>
          </p:cNvSpPr>
          <p:nvPr/>
        </p:nvSpPr>
        <p:spPr>
          <a:xfrm>
            <a:off x="4343400" y="3718560"/>
            <a:ext cx="25146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medi-cell-3">
            <a:extLst>
              <a:ext uri="{FF2B5EF4-FFF2-40B4-BE49-F238E27FC236}">
                <a16:creationId xmlns:a16="http://schemas.microsoft.com/office/drawing/2014/main" id="{8D025B4C-DCAB-4310-AA34-A60C0BAAD62B}"/>
              </a:ext>
            </a:extLst>
          </p:cNvPr>
          <p:cNvSpPr>
            <a:spLocks noGrp="1"/>
          </p:cNvSpPr>
          <p:nvPr/>
        </p:nvSpPr>
        <p:spPr>
          <a:xfrm>
            <a:off x="6858000" y="3718560"/>
            <a:ext cx="4724400" cy="746760"/>
          </a:xfrm>
          <a:prstGeom prst="rect">
            <a:avLst/>
          </a:prstGeom>
          <a:solidFill>
            <a:srgbClr val="EAF3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q-text-3">
            <a:extLst>
              <a:ext uri="{FF2B5EF4-FFF2-40B4-BE49-F238E27FC236}">
                <a16:creationId xmlns:a16="http://schemas.microsoft.com/office/drawing/2014/main" id="{71E8927E-A565-4570-8F1B-3D9BDA55C50E}"/>
              </a:ext>
            </a:extLst>
          </p:cNvPr>
          <p:cNvSpPr>
            <a:spLocks noGrp="1"/>
          </p:cNvSpPr>
          <p:nvPr/>
        </p:nvSpPr>
        <p:spPr>
          <a:xfrm>
            <a:off x="746760" y="3779520"/>
            <a:ext cx="117348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Q3  </a:t>
            </a:r>
            <a:r>
              <a:rPr sz="1200" b="1" dirty="0" err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医生如何把关</a:t>
            </a:r>
            <a:r>
              <a:rPr sz="1200" b="1" dirty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？</a:t>
            </a:r>
          </a:p>
        </p:txBody>
      </p:sp>
      <p:sp>
        <p:nvSpPr>
          <p:cNvPr id="41" name="regular-text-3">
            <a:extLst>
              <a:ext uri="{FF2B5EF4-FFF2-40B4-BE49-F238E27FC236}">
                <a16:creationId xmlns:a16="http://schemas.microsoft.com/office/drawing/2014/main" id="{D3BBFC30-029B-40FC-8241-3058896AD9E5}"/>
              </a:ext>
            </a:extLst>
          </p:cNvPr>
          <p:cNvSpPr>
            <a:spLocks noGrp="1"/>
          </p:cNvSpPr>
          <p:nvPr/>
        </p:nvSpPr>
        <p:spPr>
          <a:xfrm>
            <a:off x="2209800" y="3779520"/>
            <a:ext cx="19812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医生另行整理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并完成最终确认</a:t>
            </a:r>
          </a:p>
        </p:txBody>
      </p:sp>
      <p:sp>
        <p:nvSpPr>
          <p:cNvPr id="42" name="ai-text-3">
            <a:extLst>
              <a:ext uri="{FF2B5EF4-FFF2-40B4-BE49-F238E27FC236}">
                <a16:creationId xmlns:a16="http://schemas.microsoft.com/office/drawing/2014/main" id="{D9DD9CF9-75C5-403A-8E7E-AAF6912995CF}"/>
              </a:ext>
            </a:extLst>
          </p:cNvPr>
          <p:cNvSpPr>
            <a:spLocks noGrp="1"/>
          </p:cNvSpPr>
          <p:nvPr/>
        </p:nvSpPr>
        <p:spPr>
          <a:xfrm>
            <a:off x="4495800" y="3779520"/>
            <a:ext cx="22098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需另建编辑、审核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与修改失效规则</a:t>
            </a:r>
          </a:p>
        </p:txBody>
      </p:sp>
      <p:sp>
        <p:nvSpPr>
          <p:cNvPr id="43" name="medi-accent-3">
            <a:extLst>
              <a:ext uri="{FF2B5EF4-FFF2-40B4-BE49-F238E27FC236}">
                <a16:creationId xmlns:a16="http://schemas.microsoft.com/office/drawing/2014/main" id="{27E0F402-36C2-4CB7-8252-873FD4E1E00E}"/>
              </a:ext>
            </a:extLst>
          </p:cNvPr>
          <p:cNvSpPr>
            <a:spLocks noGrp="1"/>
          </p:cNvSpPr>
          <p:nvPr/>
        </p:nvSpPr>
        <p:spPr>
          <a:xfrm>
            <a:off x="6858000" y="3718560"/>
            <a:ext cx="38100" cy="746760"/>
          </a:xfrm>
          <a:prstGeom prst="rect">
            <a:avLst/>
          </a:prstGeom>
          <a:solidFill>
            <a:srgbClr val="2F7CF4"/>
          </a:solidFill>
          <a:ln w="0">
            <a:solidFill>
              <a:srgbClr val="2F7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check-circle-3">
            <a:extLst>
              <a:ext uri="{FF2B5EF4-FFF2-40B4-BE49-F238E27FC236}">
                <a16:creationId xmlns:a16="http://schemas.microsoft.com/office/drawing/2014/main" id="{FEDEF5D7-3E2E-460D-9FA6-A812F47BD49A}"/>
              </a:ext>
            </a:extLst>
          </p:cNvPr>
          <p:cNvSpPr>
            <a:spLocks noGrp="1"/>
          </p:cNvSpPr>
          <p:nvPr/>
        </p:nvSpPr>
        <p:spPr>
          <a:xfrm>
            <a:off x="7071360" y="39319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F7CF4"/>
          </a:solidFill>
          <a:ln w="0">
            <a:solidFill>
              <a:srgbClr val="2F7CF4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45" name="medi-headline-3">
            <a:extLst>
              <a:ext uri="{FF2B5EF4-FFF2-40B4-BE49-F238E27FC236}">
                <a16:creationId xmlns:a16="http://schemas.microsoft.com/office/drawing/2014/main" id="{FD277ACB-1848-4828-AFAE-233053B3D6B1}"/>
              </a:ext>
            </a:extLst>
          </p:cNvPr>
          <p:cNvSpPr>
            <a:spLocks noGrp="1"/>
          </p:cNvSpPr>
          <p:nvPr/>
        </p:nvSpPr>
        <p:spPr>
          <a:xfrm>
            <a:off x="7513320" y="3840480"/>
            <a:ext cx="36957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rPr>
              <a:t>医生分项审核</a:t>
            </a:r>
          </a:p>
        </p:txBody>
      </p:sp>
      <p:sp>
        <p:nvSpPr>
          <p:cNvPr id="46" name="medi-detail-3">
            <a:extLst>
              <a:ext uri="{FF2B5EF4-FFF2-40B4-BE49-F238E27FC236}">
                <a16:creationId xmlns:a16="http://schemas.microsoft.com/office/drawing/2014/main" id="{4FDB3492-1837-4FDC-971F-4F03AD25EB0D}"/>
              </a:ext>
            </a:extLst>
          </p:cNvPr>
          <p:cNvSpPr>
            <a:spLocks noGrp="1"/>
          </p:cNvSpPr>
          <p:nvPr/>
        </p:nvSpPr>
        <p:spPr>
          <a:xfrm>
            <a:off x="7513320" y="4099560"/>
            <a:ext cx="38100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普通字段与高风险项分别确认</a:t>
            </a:r>
          </a:p>
        </p:txBody>
      </p:sp>
      <p:sp>
        <p:nvSpPr>
          <p:cNvPr id="47" name="q-cell-4">
            <a:extLst>
              <a:ext uri="{FF2B5EF4-FFF2-40B4-BE49-F238E27FC236}">
                <a16:creationId xmlns:a16="http://schemas.microsoft.com/office/drawing/2014/main" id="{DB8C7161-F5B5-4DA5-BC79-639BBD4694FF}"/>
              </a:ext>
            </a:extLst>
          </p:cNvPr>
          <p:cNvSpPr>
            <a:spLocks noGrp="1"/>
          </p:cNvSpPr>
          <p:nvPr/>
        </p:nvSpPr>
        <p:spPr>
          <a:xfrm>
            <a:off x="609600" y="4465320"/>
            <a:ext cx="1447800" cy="746760"/>
          </a:xfrm>
          <a:prstGeom prst="rect">
            <a:avLst/>
          </a:prstGeom>
          <a:solidFill>
            <a:srgbClr val="F5F8F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gular-cell-4">
            <a:extLst>
              <a:ext uri="{FF2B5EF4-FFF2-40B4-BE49-F238E27FC236}">
                <a16:creationId xmlns:a16="http://schemas.microsoft.com/office/drawing/2014/main" id="{69B98A49-1107-498E-B84D-42B741F41AA5}"/>
              </a:ext>
            </a:extLst>
          </p:cNvPr>
          <p:cNvSpPr>
            <a:spLocks noGrp="1"/>
          </p:cNvSpPr>
          <p:nvPr/>
        </p:nvSpPr>
        <p:spPr>
          <a:xfrm>
            <a:off x="2057400" y="4465320"/>
            <a:ext cx="2286000" cy="746760"/>
          </a:xfrm>
          <a:prstGeom prst="rect">
            <a:avLst/>
          </a:prstGeom>
          <a:solidFill>
            <a:srgbClr val="FAFCF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ai-cell-4">
            <a:extLst>
              <a:ext uri="{FF2B5EF4-FFF2-40B4-BE49-F238E27FC236}">
                <a16:creationId xmlns:a16="http://schemas.microsoft.com/office/drawing/2014/main" id="{039D7571-8ABF-4ED0-B1B3-408C1A8BD041}"/>
              </a:ext>
            </a:extLst>
          </p:cNvPr>
          <p:cNvSpPr>
            <a:spLocks noGrp="1"/>
          </p:cNvSpPr>
          <p:nvPr/>
        </p:nvSpPr>
        <p:spPr>
          <a:xfrm>
            <a:off x="4343400" y="4465320"/>
            <a:ext cx="2514600" cy="746760"/>
          </a:xfrm>
          <a:prstGeom prst="rect">
            <a:avLst/>
          </a:prstGeom>
          <a:solidFill>
            <a:srgbClr val="FAFCF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medi-cell-4">
            <a:extLst>
              <a:ext uri="{FF2B5EF4-FFF2-40B4-BE49-F238E27FC236}">
                <a16:creationId xmlns:a16="http://schemas.microsoft.com/office/drawing/2014/main" id="{CB2BF5AD-40E2-47D8-911F-7B615EC5B373}"/>
              </a:ext>
            </a:extLst>
          </p:cNvPr>
          <p:cNvSpPr>
            <a:spLocks noGrp="1"/>
          </p:cNvSpPr>
          <p:nvPr/>
        </p:nvSpPr>
        <p:spPr>
          <a:xfrm>
            <a:off x="6858000" y="4465320"/>
            <a:ext cx="4724400" cy="746760"/>
          </a:xfrm>
          <a:prstGeom prst="rect">
            <a:avLst/>
          </a:prstGeom>
          <a:solidFill>
            <a:srgbClr val="E2EE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q-text-4">
            <a:extLst>
              <a:ext uri="{FF2B5EF4-FFF2-40B4-BE49-F238E27FC236}">
                <a16:creationId xmlns:a16="http://schemas.microsoft.com/office/drawing/2014/main" id="{3E166B34-94B0-419C-BF44-0FE3DD6D348F}"/>
              </a:ext>
            </a:extLst>
          </p:cNvPr>
          <p:cNvSpPr>
            <a:spLocks noGrp="1"/>
          </p:cNvSpPr>
          <p:nvPr/>
        </p:nvSpPr>
        <p:spPr>
          <a:xfrm>
            <a:off x="746760" y="4526280"/>
            <a:ext cx="117348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Q4  修改后还能交付吗？</a:t>
            </a:r>
          </a:p>
        </p:txBody>
      </p:sp>
      <p:sp>
        <p:nvSpPr>
          <p:cNvPr id="52" name="regular-text-4">
            <a:extLst>
              <a:ext uri="{FF2B5EF4-FFF2-40B4-BE49-F238E27FC236}">
                <a16:creationId xmlns:a16="http://schemas.microsoft.com/office/drawing/2014/main" id="{BA4BD4D8-ED53-48B9-9EDA-5D77ED50D6CC}"/>
              </a:ext>
            </a:extLst>
          </p:cNvPr>
          <p:cNvSpPr>
            <a:spLocks noGrp="1"/>
          </p:cNvSpPr>
          <p:nvPr/>
        </p:nvSpPr>
        <p:spPr>
          <a:xfrm>
            <a:off x="2209800" y="4526280"/>
            <a:ext cx="19812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人工维护版本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通常需要二次录入</a:t>
            </a:r>
          </a:p>
        </p:txBody>
      </p:sp>
      <p:sp>
        <p:nvSpPr>
          <p:cNvPr id="53" name="ai-text-4">
            <a:extLst>
              <a:ext uri="{FF2B5EF4-FFF2-40B4-BE49-F238E27FC236}">
                <a16:creationId xmlns:a16="http://schemas.microsoft.com/office/drawing/2014/main" id="{EE77C459-CE7B-486E-948B-DA8DB987DF42}"/>
              </a:ext>
            </a:extLst>
          </p:cNvPr>
          <p:cNvSpPr>
            <a:spLocks noGrp="1"/>
          </p:cNvSpPr>
          <p:nvPr/>
        </p:nvSpPr>
        <p:spPr>
          <a:xfrm>
            <a:off x="4495800" y="4526280"/>
            <a:ext cx="22098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30480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常以复制粘贴交付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>
                <a:solidFill>
                  <a:srgbClr val="384C63"/>
                </a:solidFill>
                <a:latin typeface="Noto Sans CJK SC"/>
                <a:ea typeface="Noto Sans CJK SC"/>
                <a:cs typeface="Noto Sans CJK SC"/>
              </a:rPr>
              <a:t>难证明已经审核</a:t>
            </a:r>
          </a:p>
        </p:txBody>
      </p:sp>
      <p:sp>
        <p:nvSpPr>
          <p:cNvPr id="54" name="medi-accent-4">
            <a:extLst>
              <a:ext uri="{FF2B5EF4-FFF2-40B4-BE49-F238E27FC236}">
                <a16:creationId xmlns:a16="http://schemas.microsoft.com/office/drawing/2014/main" id="{43D3CE9A-BC21-4D6D-A4B3-DE5C5E92250A}"/>
              </a:ext>
            </a:extLst>
          </p:cNvPr>
          <p:cNvSpPr>
            <a:spLocks noGrp="1"/>
          </p:cNvSpPr>
          <p:nvPr/>
        </p:nvSpPr>
        <p:spPr>
          <a:xfrm>
            <a:off x="6858000" y="4465320"/>
            <a:ext cx="38100" cy="746760"/>
          </a:xfrm>
          <a:prstGeom prst="rect">
            <a:avLst/>
          </a:prstGeom>
          <a:solidFill>
            <a:srgbClr val="2F7CF4"/>
          </a:solidFill>
          <a:ln w="0">
            <a:solidFill>
              <a:srgbClr val="2F7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check-circle-4">
            <a:extLst>
              <a:ext uri="{FF2B5EF4-FFF2-40B4-BE49-F238E27FC236}">
                <a16:creationId xmlns:a16="http://schemas.microsoft.com/office/drawing/2014/main" id="{F3BA8A91-EF61-4B65-BE32-489B02E40E4A}"/>
              </a:ext>
            </a:extLst>
          </p:cNvPr>
          <p:cNvSpPr>
            <a:spLocks noGrp="1"/>
          </p:cNvSpPr>
          <p:nvPr/>
        </p:nvSpPr>
        <p:spPr>
          <a:xfrm>
            <a:off x="7071360" y="46786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F7CF4"/>
          </a:solidFill>
          <a:ln w="0">
            <a:solidFill>
              <a:srgbClr val="2F7CF4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56" name="medi-headline-4">
            <a:extLst>
              <a:ext uri="{FF2B5EF4-FFF2-40B4-BE49-F238E27FC236}">
                <a16:creationId xmlns:a16="http://schemas.microsoft.com/office/drawing/2014/main" id="{27731084-A556-4238-B0F7-8A67F340A915}"/>
              </a:ext>
            </a:extLst>
          </p:cNvPr>
          <p:cNvSpPr>
            <a:spLocks noGrp="1"/>
          </p:cNvSpPr>
          <p:nvPr/>
        </p:nvSpPr>
        <p:spPr>
          <a:xfrm>
            <a:off x="7513320" y="4587240"/>
            <a:ext cx="36957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0B203B"/>
                </a:solidFill>
                <a:latin typeface="Noto Sans CJK SC"/>
                <a:ea typeface="Noto Sans CJK SC"/>
                <a:cs typeface="Noto Sans CJK SC"/>
              </a:rPr>
              <a:t>审核与版本绑定</a:t>
            </a:r>
          </a:p>
        </p:txBody>
      </p:sp>
      <p:sp>
        <p:nvSpPr>
          <p:cNvPr id="57" name="medi-detail-4">
            <a:extLst>
              <a:ext uri="{FF2B5EF4-FFF2-40B4-BE49-F238E27FC236}">
                <a16:creationId xmlns:a16="http://schemas.microsoft.com/office/drawing/2014/main" id="{4000E861-E28D-4DC5-A5C3-F3EE0AE5D96E}"/>
              </a:ext>
            </a:extLst>
          </p:cNvPr>
          <p:cNvSpPr>
            <a:spLocks noGrp="1"/>
          </p:cNvSpPr>
          <p:nvPr/>
        </p:nvSpPr>
        <p:spPr>
          <a:xfrm>
            <a:off x="7513320" y="4846320"/>
            <a:ext cx="38100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内容修改即使旧审核失效；仅当前版本可导出</a:t>
            </a:r>
          </a:p>
        </p:txBody>
      </p:sp>
      <p:sp>
        <p:nvSpPr>
          <p:cNvPr id="58" name="takeaway-surface">
            <a:extLst>
              <a:ext uri="{FF2B5EF4-FFF2-40B4-BE49-F238E27FC236}">
                <a16:creationId xmlns:a16="http://schemas.microsoft.com/office/drawing/2014/main" id="{D465323E-1460-405B-A4C6-751DCBB58A25}"/>
              </a:ext>
            </a:extLst>
          </p:cNvPr>
          <p:cNvSpPr>
            <a:spLocks noGrp="1"/>
          </p:cNvSpPr>
          <p:nvPr/>
        </p:nvSpPr>
        <p:spPr>
          <a:xfrm>
            <a:off x="609600" y="5364480"/>
            <a:ext cx="10972800" cy="624840"/>
          </a:xfrm>
          <a:prstGeom prst="roundRect">
            <a:avLst>
              <a:gd name="adj" fmla="val 19512"/>
            </a:avLst>
          </a:prstGeom>
          <a:solidFill>
            <a:srgbClr val="DDF6F7"/>
          </a:solidFill>
          <a:ln w="0">
            <a:solidFill>
              <a:srgbClr val="DDF6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akeaway-label">
            <a:extLst>
              <a:ext uri="{FF2B5EF4-FFF2-40B4-BE49-F238E27FC236}">
                <a16:creationId xmlns:a16="http://schemas.microsoft.com/office/drawing/2014/main" id="{B7D63F23-084B-447F-A646-A24B1BF9F947}"/>
              </a:ext>
            </a:extLst>
          </p:cNvPr>
          <p:cNvSpPr>
            <a:spLocks noGrp="1"/>
          </p:cNvSpPr>
          <p:nvPr/>
        </p:nvSpPr>
        <p:spPr>
          <a:xfrm>
            <a:off x="822960" y="5509260"/>
            <a:ext cx="853440" cy="335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核心优势</a:t>
            </a:r>
          </a:p>
        </p:txBody>
      </p:sp>
      <p:sp>
        <p:nvSpPr>
          <p:cNvPr id="60" name="takeaway-divider">
            <a:extLst>
              <a:ext uri="{FF2B5EF4-FFF2-40B4-BE49-F238E27FC236}">
                <a16:creationId xmlns:a16="http://schemas.microsoft.com/office/drawing/2014/main" id="{DC172B9F-D558-405E-A48B-65CEB22F6A06}"/>
              </a:ext>
            </a:extLst>
          </p:cNvPr>
          <p:cNvSpPr>
            <a:spLocks noGrp="1"/>
          </p:cNvSpPr>
          <p:nvPr/>
        </p:nvSpPr>
        <p:spPr>
          <a:xfrm>
            <a:off x="1798320" y="5516880"/>
            <a:ext cx="15240" cy="320040"/>
          </a:xfrm>
          <a:prstGeom prst="rect">
            <a:avLst/>
          </a:prstGeom>
          <a:solidFill>
            <a:srgbClr val="9EDFE2"/>
          </a:solidFill>
          <a:ln w="0">
            <a:solidFill>
              <a:srgbClr val="9EDF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akeaway-prefix">
            <a:extLst>
              <a:ext uri="{FF2B5EF4-FFF2-40B4-BE49-F238E27FC236}">
                <a16:creationId xmlns:a16="http://schemas.microsoft.com/office/drawing/2014/main" id="{D70232A7-9DEE-4882-B2E9-0F60D702A0AC}"/>
              </a:ext>
            </a:extLst>
          </p:cNvPr>
          <p:cNvSpPr>
            <a:spLocks noGrp="1"/>
          </p:cNvSpPr>
          <p:nvPr/>
        </p:nvSpPr>
        <p:spPr>
          <a:xfrm>
            <a:off x="2011680" y="5471160"/>
            <a:ext cx="2438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0D23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0D2340"/>
                </a:solidFill>
                <a:latin typeface="Noto Sans CJK SC"/>
                <a:ea typeface="Noto Sans CJK SC"/>
                <a:cs typeface="Noto Sans CJK SC"/>
              </a:rPr>
              <a:t>生成的不是一份孤立文本，而是</a:t>
            </a:r>
          </a:p>
        </p:txBody>
      </p:sp>
      <p:sp>
        <p:nvSpPr>
          <p:cNvPr id="62" name="takeaway-main">
            <a:extLst>
              <a:ext uri="{FF2B5EF4-FFF2-40B4-BE49-F238E27FC236}">
                <a16:creationId xmlns:a16="http://schemas.microsoft.com/office/drawing/2014/main" id="{08BBEBE0-8900-4467-9DFD-99F884CD08CF}"/>
              </a:ext>
            </a:extLst>
          </p:cNvPr>
          <p:cNvSpPr>
            <a:spLocks noGrp="1"/>
          </p:cNvSpPr>
          <p:nvPr/>
        </p:nvSpPr>
        <p:spPr>
          <a:xfrm>
            <a:off x="4480560" y="5455920"/>
            <a:ext cx="6248400" cy="441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F66D8"/>
                </a:solidFill>
                <a:latin typeface="Noto Sans CJK SC"/>
                <a:ea typeface="Noto Sans CJK SC"/>
                <a:cs typeface="Noto Sans CJK SC"/>
              </a:rPr>
              <a:t>一条可追溯、可审核、可交付的病历责任链</a:t>
            </a:r>
          </a:p>
        </p:txBody>
      </p:sp>
      <p:sp>
        <p:nvSpPr>
          <p:cNvPr id="64" name="Text 34">
            <a:extLst>
              <a:ext uri="{FF2B5EF4-FFF2-40B4-BE49-F238E27FC236}">
                <a16:creationId xmlns:a16="http://schemas.microsoft.com/office/drawing/2014/main" id="{5D358407-680A-0BE4-9480-FF093E11EDF9}"/>
              </a:ext>
            </a:extLst>
          </p:cNvPr>
          <p:cNvSpPr/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73013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815"/>
            </a:gs>
            <a:gs pos="52000">
              <a:srgbClr val="05142D"/>
            </a:gs>
            <a:gs pos="100000">
              <a:srgbClr val="071E43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-11">
            <a:extLst>
              <a:ext uri="{FF2B5EF4-FFF2-40B4-BE49-F238E27FC236}">
                <a16:creationId xmlns:a16="http://schemas.microsoft.com/office/drawing/2014/main" id="{02748B78-7CEC-4AB5-928F-149BCDCB4092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35D7F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35D7F2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MediListen · 综合设计3 POC工程实践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F63FDFE6-0EAA-479E-BBFF-73562679FF42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819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受控病历已跑通，下一步验证真实问诊</a:t>
            </a:r>
          </a:p>
        </p:txBody>
      </p:sp>
      <p:cxnSp>
        <p:nvCxnSpPr>
          <p:cNvPr id="55" name="header-line-11"/>
          <p:cNvCxnSpPr/>
          <p:nvPr/>
        </p:nvCxnSpPr>
        <p:spPr>
          <a:xfrm>
            <a:off x="609600" y="1200150"/>
            <a:ext cx="10972800" cy="0"/>
          </a:xfrm>
          <a:prstGeom prst="straightConnector1">
            <a:avLst/>
          </a:prstGeom>
          <a:ln w="9525">
            <a:solidFill>
              <a:srgbClr val="2A537D"/>
            </a:solidFill>
            <a:prstDash val="solid"/>
          </a:ln>
        </p:spPr>
      </p:cxnSp>
      <p:sp>
        <p:nvSpPr>
          <p:cNvPr id="5" name="eval-left-title">
            <a:extLst>
              <a:ext uri="{FF2B5EF4-FFF2-40B4-BE49-F238E27FC236}">
                <a16:creationId xmlns:a16="http://schemas.microsoft.com/office/drawing/2014/main" id="{1039FA7A-ED6C-48CA-A8B6-3A00EA290A95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35D7F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35D7F2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本轮完成｜核心结论</a:t>
            </a:r>
          </a:p>
        </p:txBody>
      </p:sp>
      <p:sp>
        <p:nvSpPr>
          <p:cNvPr id="6" name="eval-left-big">
            <a:extLst>
              <a:ext uri="{FF2B5EF4-FFF2-40B4-BE49-F238E27FC236}">
                <a16:creationId xmlns:a16="http://schemas.microsoft.com/office/drawing/2014/main" id="{069B2103-C637-4251-AFAA-C9B403E1041D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1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2325" b="1" i="0" u="none" strike="noStrike" kern="1200" cap="none" spc="0" normalizeH="0" baseline="0" noProof="0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三种输入已经进入同一套医生审核闭环</a:t>
            </a:r>
          </a:p>
        </p:txBody>
      </p:sp>
      <p:sp>
        <p:nvSpPr>
          <p:cNvPr id="7" name="eval-left-big-label">
            <a:extLst>
              <a:ext uri="{FF2B5EF4-FFF2-40B4-BE49-F238E27FC236}">
                <a16:creationId xmlns:a16="http://schemas.microsoft.com/office/drawing/2014/main" id="{A75485F3-ACD7-43D1-B5B0-A93F7916DBAE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9EB4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9EB4D1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实时录音 / 音频文件 / 文本  →  转写与字段抽取  →  医生修改与分项审核  →  仅当前有效版本可导出</a:t>
            </a:r>
          </a:p>
        </p:txBody>
      </p:sp>
      <p:sp>
        <p:nvSpPr>
          <p:cNvPr id="8" name="eval-left-body">
            <a:extLst>
              <a:ext uri="{FF2B5EF4-FFF2-40B4-BE49-F238E27FC236}">
                <a16:creationId xmlns:a16="http://schemas.microsoft.com/office/drawing/2014/main" id="{809A7E76-4C75-4966-A82A-D5EDFD812D1B}"/>
              </a:ext>
            </a:extLst>
          </p:cNvPr>
          <p:cNvSpPr>
            <a:spLocks noGrp="1"/>
          </p:cNvSpPr>
          <p:nvPr/>
        </p:nvSpPr>
        <p:spPr>
          <a:xfrm>
            <a:off x="609600" y="3543299"/>
            <a:ext cx="3333750" cy="2647947"/>
          </a:xfrm>
          <a:prstGeom prst="roundRect">
            <a:avLst>
              <a:gd name="adj" fmla="val 10127"/>
            </a:avLst>
          </a:prstGeom>
          <a:gradFill>
            <a:gsLst>
              <a:gs pos="0">
                <a:srgbClr val="07162D"/>
              </a:gs>
              <a:gs pos="100000">
                <a:srgbClr val="0A2B55"/>
              </a:gs>
            </a:gsLst>
            <a:lin ang="8100000"/>
          </a:gradFill>
          <a:ln w="11430">
            <a:solidFill>
              <a:srgbClr val="21517D"/>
            </a:solidFill>
            <a:prstDash val="solid"/>
          </a:ln>
        </p:spPr>
        <p:txBody>
          <a:bodyPr wrap="square" lIns="190500" tIns="190500" rIns="171450" bIns="1524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1200" cap="none" spc="0" normalizeH="0" baseline="0" noProof="0" dirty="0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01  </a:t>
            </a:r>
            <a:r>
              <a:rPr kumimoji="0" sz="1275" b="1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真实场景验证</a:t>
            </a:r>
            <a:endParaRPr kumimoji="0" sz="1275" b="1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9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0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真人双人问诊、门诊噪声、长音频、未见样本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验收：</a:t>
            </a:r>
            <a:r>
              <a:rPr kumimoji="0" sz="1275" b="0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整链路完成率；角色、转写、字段错误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60" name="eval-divider"/>
          <p:cNvCxnSpPr/>
          <p:nvPr/>
        </p:nvCxnSpPr>
        <p:spPr>
          <a:xfrm>
            <a:off x="609600" y="2867025"/>
            <a:ext cx="10972800" cy="0"/>
          </a:xfrm>
          <a:prstGeom prst="straightConnector1">
            <a:avLst/>
          </a:prstGeom>
          <a:ln w="11430">
            <a:solidFill>
              <a:srgbClr val="2A537D"/>
            </a:solidFill>
            <a:prstDash val="solid"/>
          </a:ln>
        </p:spPr>
      </p:cxnSp>
      <p:sp>
        <p:nvSpPr>
          <p:cNvPr id="10" name="eval-right-title">
            <a:extLst>
              <a:ext uri="{FF2B5EF4-FFF2-40B4-BE49-F238E27FC236}">
                <a16:creationId xmlns:a16="http://schemas.microsoft.com/office/drawing/2014/main" id="{6349DC3D-FF61-42CD-A56C-8261146AC268}"/>
              </a:ext>
            </a:extLst>
          </p:cNvPr>
          <p:cNvSpPr>
            <a:spLocks noGrp="1"/>
          </p:cNvSpPr>
          <p:nvPr/>
        </p:nvSpPr>
        <p:spPr>
          <a:xfrm>
            <a:off x="4429125" y="3543299"/>
            <a:ext cx="3333750" cy="2647947"/>
          </a:xfrm>
          <a:prstGeom prst="roundRect">
            <a:avLst>
              <a:gd name="adj" fmla="val 10127"/>
            </a:avLst>
          </a:prstGeom>
          <a:gradFill>
            <a:gsLst>
              <a:gs pos="0">
                <a:srgbClr val="07162D"/>
              </a:gs>
              <a:gs pos="100000">
                <a:srgbClr val="0A2B55"/>
              </a:gs>
            </a:gsLst>
            <a:lin ang="8100000"/>
          </a:gradFill>
          <a:ln w="11430">
            <a:solidFill>
              <a:srgbClr val="21517D"/>
            </a:solidFill>
            <a:prstDash val="solid"/>
          </a:ln>
        </p:spPr>
        <p:txBody>
          <a:bodyPr wrap="square" lIns="190500" tIns="190500" rIns="171450" bIns="1524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1200" cap="none" spc="0" normalizeH="0" baseline="0" noProof="0" dirty="0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02  </a:t>
            </a:r>
            <a:r>
              <a:rPr kumimoji="0" sz="1275" b="1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临床能力扩展</a:t>
            </a:r>
            <a:endParaRPr kumimoji="0" sz="1275" b="1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9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0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接通知识库解析检索，完善语义判角色与多病种知识包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验收：</a:t>
            </a:r>
            <a:r>
              <a:rPr kumimoji="0" sz="1275" b="0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结论可追溯；新增病种独立评测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eval-right-big">
            <a:extLst>
              <a:ext uri="{FF2B5EF4-FFF2-40B4-BE49-F238E27FC236}">
                <a16:creationId xmlns:a16="http://schemas.microsoft.com/office/drawing/2014/main" id="{D816C331-C8B7-45E7-B4F8-312C837AA3AD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9D3B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9D3B1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下一阶段｜三项优先任务</a:t>
            </a:r>
          </a:p>
        </p:txBody>
      </p:sp>
      <p:sp>
        <p:nvSpPr>
          <p:cNvPr id="12" name="eval-right-big-label">
            <a:extLst>
              <a:ext uri="{FF2B5EF4-FFF2-40B4-BE49-F238E27FC236}">
                <a16:creationId xmlns:a16="http://schemas.microsoft.com/office/drawing/2014/main" id="{D88122F4-F102-4D81-9E1D-F49635F49569}"/>
              </a:ext>
            </a:extLst>
          </p:cNvPr>
          <p:cNvSpPr>
            <a:spLocks noGrp="1"/>
          </p:cNvSpPr>
          <p:nvPr/>
        </p:nvSpPr>
        <p:spPr>
          <a:xfrm>
            <a:off x="8248650" y="3543299"/>
            <a:ext cx="3333750" cy="2647947"/>
          </a:xfrm>
          <a:prstGeom prst="roundRect">
            <a:avLst>
              <a:gd name="adj" fmla="val 10127"/>
            </a:avLst>
          </a:prstGeom>
          <a:gradFill>
            <a:gsLst>
              <a:gs pos="0">
                <a:srgbClr val="07162D"/>
              </a:gs>
              <a:gs pos="100000">
                <a:srgbClr val="0A2B55"/>
              </a:gs>
            </a:gsLst>
            <a:lin ang="8100000"/>
          </a:gradFill>
          <a:ln w="11430">
            <a:solidFill>
              <a:srgbClr val="21517D"/>
            </a:solidFill>
            <a:prstDash val="solid"/>
          </a:ln>
        </p:spPr>
        <p:txBody>
          <a:bodyPr wrap="square" lIns="190500" tIns="190500" rIns="171450" bIns="15240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1200" cap="none" spc="0" normalizeH="0" baseline="0" noProof="0" dirty="0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03  </a:t>
            </a:r>
            <a:r>
              <a:rPr kumimoji="0" sz="1275" b="1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部署与系统集成</a:t>
            </a:r>
            <a:endParaRPr kumimoji="0" sz="1275" b="1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9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0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验证边缘设备运行，联调</a:t>
            </a: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 HIS/</a:t>
            </a:r>
            <a:r>
              <a:rPr kumimoji="0" sz="1275" b="0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EMR、权限与审计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  <a:p>
            <a:pPr marL="0" marR="0" lvl="0" indent="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F4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验收：</a:t>
            </a:r>
            <a:r>
              <a:rPr kumimoji="0" sz="1275" b="0" i="0" u="none" strike="noStrike" kern="1200" cap="none" spc="0" normalizeH="0" baseline="0" noProof="0" dirty="0" err="1">
                <a:ln>
                  <a:noFill/>
                </a:ln>
                <a:solidFill>
                  <a:srgbClr val="F4F8FF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离线运行；接口联调；操作留痕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F4F8FF"/>
              </a:solidFill>
              <a:effectLst/>
              <a:uLnTx/>
              <a:uFillTx/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eval-right-body">
            <a:extLst>
              <a:ext uri="{FF2B5EF4-FFF2-40B4-BE49-F238E27FC236}">
                <a16:creationId xmlns:a16="http://schemas.microsoft.com/office/drawing/2014/main" id="{33EE6D6E-3829-433B-AF9F-838C28CD3CB7}"/>
              </a:ext>
            </a:extLst>
          </p:cNvPr>
          <p:cNvSpPr>
            <a:spLocks noGrp="1"/>
          </p:cNvSpPr>
          <p:nvPr/>
        </p:nvSpPr>
        <p:spPr>
          <a:xfrm>
            <a:off x="5734050" y="3067050"/>
            <a:ext cx="563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tabLst/>
              <a:defRPr sz="1200" b="1">
                <a:solidFill>
                  <a:srgbClr val="9EB4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EB4D1"/>
                </a:solidFill>
                <a:effectLst/>
                <a:uLnTx/>
                <a:uFillTx/>
                <a:latin typeface="Noto Sans CJK SC"/>
                <a:ea typeface="Noto Sans CJK SC"/>
                <a:cs typeface="Noto Sans CJK SC"/>
              </a:rPr>
              <a:t>先验证真实环境  →  再扩展临床能力  →  最后完成系统集成</a:t>
            </a:r>
          </a:p>
        </p:txBody>
      </p:sp>
      <p:pic>
        <p:nvPicPr>
          <p:cNvPr id="68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121" y="0"/>
            <a:ext cx="3114879" cy="797469"/>
          </a:xfrm>
          <a:prstGeom prst="rect">
            <a:avLst/>
          </a:prstGeom>
        </p:spPr>
      </p:pic>
      <p:sp>
        <p:nvSpPr>
          <p:cNvPr id="3" name="Text 34">
            <a:extLst>
              <a:ext uri="{FF2B5EF4-FFF2-40B4-BE49-F238E27FC236}">
                <a16:creationId xmlns:a16="http://schemas.microsoft.com/office/drawing/2014/main" id="{B9211CA6-36A2-5971-DEE0-340542702B81}"/>
              </a:ext>
            </a:extLst>
          </p:cNvPr>
          <p:cNvSpPr/>
          <p:nvPr/>
        </p:nvSpPr>
        <p:spPr>
          <a:xfrm>
            <a:off x="11087100" y="6391275"/>
            <a:ext cx="892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8A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6455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lose-right">
            <a:extLst>
              <a:ext uri="{FF2B5EF4-FFF2-40B4-BE49-F238E27FC236}">
                <a16:creationId xmlns:a16="http://schemas.microsoft.com/office/drawing/2014/main" id="{50CBE231-14C7-4E04-B30F-2531A96F771F}"/>
              </a:ext>
            </a:extLst>
          </p:cNvPr>
          <p:cNvSpPr>
            <a:spLocks noGrp="1"/>
          </p:cNvSpPr>
          <p:nvPr/>
        </p:nvSpPr>
        <p:spPr>
          <a:xfrm>
            <a:off x="7715250" y="0"/>
            <a:ext cx="4476750" cy="6858000"/>
          </a:xfrm>
          <a:prstGeom prst="rect">
            <a:avLst/>
          </a:prstGeom>
          <a:solidFill>
            <a:srgbClr val="06162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close-accent">
            <a:extLst>
              <a:ext uri="{FF2B5EF4-FFF2-40B4-BE49-F238E27FC236}">
                <a16:creationId xmlns:a16="http://schemas.microsoft.com/office/drawing/2014/main" id="{31C5039B-0588-413B-A643-0066F4829546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00100" cy="57150"/>
          </a:xfrm>
          <a:prstGeom prst="rect">
            <a:avLst/>
          </a:prstGeom>
          <a:solidFill>
            <a:srgbClr val="20D3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close-kicker">
            <a:extLst>
              <a:ext uri="{FF2B5EF4-FFF2-40B4-BE49-F238E27FC236}">
                <a16:creationId xmlns:a16="http://schemas.microsoft.com/office/drawing/2014/main" id="{F0E51160-94DE-4F84-B3DE-8D1A89CD2E7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2F7EF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400" b="1" dirty="0" err="1">
                <a:solidFill>
                  <a:srgbClr val="2F7EF7"/>
                </a:solidFill>
                <a:latin typeface="Noto Sans CJK SC"/>
                <a:ea typeface="Noto Sans CJK SC"/>
                <a:cs typeface="Noto Sans CJK SC"/>
              </a:rPr>
              <a:t>结论</a:t>
            </a:r>
            <a:endParaRPr sz="4400" b="1" dirty="0">
              <a:solidFill>
                <a:srgbClr val="2F7EF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close-title">
            <a:extLst>
              <a:ext uri="{FF2B5EF4-FFF2-40B4-BE49-F238E27FC236}">
                <a16:creationId xmlns:a16="http://schemas.microsoft.com/office/drawing/2014/main" id="{1DF2C384-DC3F-4109-801B-38372079BFFC}"/>
              </a:ext>
            </a:extLst>
          </p:cNvPr>
          <p:cNvSpPr>
            <a:spLocks noGrp="1"/>
          </p:cNvSpPr>
          <p:nvPr/>
        </p:nvSpPr>
        <p:spPr>
          <a:xfrm>
            <a:off x="446375" y="3721100"/>
            <a:ext cx="566347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765"/>
          </a:bodyPr>
          <a:lstStyle/>
          <a:p>
            <a:pPr algn="l">
              <a:defRPr sz="4050" b="1">
                <a:solidFill>
                  <a:srgbClr val="0B1F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让医生把注意力</a:t>
            </a:r>
            <a:endParaRPr lang="en-US" sz="4050" b="1" dirty="0">
              <a:solidFill>
                <a:schemeClr val="tx1">
                  <a:lumMod val="95000"/>
                  <a:lumOff val="5000"/>
                </a:schemeClr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4050" b="1">
                <a:solidFill>
                  <a:srgbClr val="0B1F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还给患</a:t>
            </a:r>
            <a:r>
              <a:rPr lang="zh-CN" altLang="en-US" sz="4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者</a:t>
            </a:r>
            <a:endParaRPr sz="4050" b="1" dirty="0">
              <a:solidFill>
                <a:schemeClr val="tx1">
                  <a:lumMod val="95000"/>
                  <a:lumOff val="5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close-q">
            <a:extLst>
              <a:ext uri="{FF2B5EF4-FFF2-40B4-BE49-F238E27FC236}">
                <a16:creationId xmlns:a16="http://schemas.microsoft.com/office/drawing/2014/main" id="{AA3186FC-64C7-4C7E-85AA-AF852C14802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616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6162D"/>
                </a:solidFill>
                <a:latin typeface="Noto Sans CJK SC"/>
                <a:ea typeface="Noto Sans CJK SC"/>
                <a:cs typeface="Noto Sans CJK SC"/>
              </a:rPr>
              <a:t>Q &amp; A</a:t>
            </a:r>
          </a:p>
        </p:txBody>
      </p:sp>
      <p:sp>
        <p:nvSpPr>
          <p:cNvPr id="8" name="close-brand">
            <a:extLst>
              <a:ext uri="{FF2B5EF4-FFF2-40B4-BE49-F238E27FC236}">
                <a16:creationId xmlns:a16="http://schemas.microsoft.com/office/drawing/2014/main" id="{8C0768CF-A24A-43A6-B22E-18DA6E39F941}"/>
              </a:ext>
            </a:extLst>
          </p:cNvPr>
          <p:cNvSpPr>
            <a:spLocks noGrp="1"/>
          </p:cNvSpPr>
          <p:nvPr/>
        </p:nvSpPr>
        <p:spPr>
          <a:xfrm>
            <a:off x="8210550" y="18097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MediListen</a:t>
            </a:r>
          </a:p>
        </p:txBody>
      </p:sp>
      <p:sp>
        <p:nvSpPr>
          <p:cNvPr id="9" name="close-chain">
            <a:extLst>
              <a:ext uri="{FF2B5EF4-FFF2-40B4-BE49-F238E27FC236}">
                <a16:creationId xmlns:a16="http://schemas.microsoft.com/office/drawing/2014/main" id="{7D10F4E2-F4F0-4AA5-9ED6-229AB59D9260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9527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rPr>
              <a:t>LISTEN</a:t>
            </a:r>
          </a:p>
          <a:p>
            <a:endParaRPr sz="1650" b="1">
              <a:solidFill>
                <a:srgbClr val="20D3E8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6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rPr>
              <a:t>TRANSCRIBE</a:t>
            </a:r>
          </a:p>
          <a:p>
            <a:endParaRPr sz="1650" b="1">
              <a:solidFill>
                <a:srgbClr val="20D3E8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6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rPr>
              <a:t>GENERATE</a:t>
            </a:r>
          </a:p>
          <a:p>
            <a:endParaRPr sz="1650" b="1">
              <a:solidFill>
                <a:srgbClr val="20D3E8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6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D3E8"/>
                </a:solidFill>
                <a:latin typeface="Noto Sans CJK SC"/>
                <a:ea typeface="Noto Sans CJK SC"/>
                <a:cs typeface="Noto Sans CJK SC"/>
              </a:rPr>
              <a:t>REVIEW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D7236CF-E1C8-8B68-F591-7D707F591D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14879" cy="797469"/>
          </a:xfrm>
          <a:prstGeom prst="rect">
            <a:avLst/>
          </a:prstGeom>
        </p:spPr>
      </p:pic>
      <p:sp>
        <p:nvSpPr>
          <p:cNvPr id="14" name="cover-name">
            <a:extLst>
              <a:ext uri="{FF2B5EF4-FFF2-40B4-BE49-F238E27FC236}">
                <a16:creationId xmlns:a16="http://schemas.microsoft.com/office/drawing/2014/main" id="{79A302B7-7865-02F7-CC99-977DCBD71D57}"/>
              </a:ext>
            </a:extLst>
          </p:cNvPr>
          <p:cNvSpPr>
            <a:spLocks noGrp="1"/>
          </p:cNvSpPr>
          <p:nvPr/>
        </p:nvSpPr>
        <p:spPr>
          <a:xfrm>
            <a:off x="450038" y="2332881"/>
            <a:ext cx="628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F7F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CJK SC"/>
                <a:ea typeface="Noto Sans CJK SC"/>
                <a:cs typeface="Noto Sans CJK SC"/>
              </a:rPr>
              <a:t>MediListen</a:t>
            </a:r>
            <a:endParaRPr sz="4350" b="1" dirty="0">
              <a:solidFill>
                <a:schemeClr val="tx1">
                  <a:lumMod val="95000"/>
                  <a:lumOff val="5000"/>
                </a:schemeClr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510428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1014</Words>
  <Application>Microsoft Office PowerPoint</Application>
  <DocSecurity>0</DocSecurity>
  <PresentationFormat>宽屏</PresentationFormat>
  <Paragraphs>301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Noto Sans CJK SC</vt:lpstr>
      <vt:lpstr>Arial</vt:lpstr>
      <vt:lpstr>Calibri</vt:lpstr>
      <vt:lpstr>Courier New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Nicole Young</cp:lastModifiedBy>
  <cp:revision>14</cp:revision>
  <dcterms:created xsi:type="dcterms:W3CDTF">2026-07-29T16:44:51Z</dcterms:created>
  <dcterms:modified xsi:type="dcterms:W3CDTF">2026-07-31T02:18:12Z</dcterms:modified>
</cp:coreProperties>
</file>