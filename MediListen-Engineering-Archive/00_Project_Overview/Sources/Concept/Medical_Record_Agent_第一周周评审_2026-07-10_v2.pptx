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开场先定边界：这不是自动诊断系统，而是把中文医患问诊转成可审核病历草稿的医生辅助系统。本周目标是从汇报版推进到可运行、可评测、可部署、可追踪的工程原型。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这页要讲清边界。系统接收文本或音频，经过转写、角色校正、草稿生成和医生审核，最后导出。候选诊断只是提示，不是最终诊断。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第一周评分表是主线。技术打通 8 分、架构 6 分、接口 3 分、过程记录 3 分，每项都对应到代码、页面、接口、测试或文档证据。最终分数以老师审核为准。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这里按每日输出物讲。Day1-2 是工程治理和 ASR SSE，Day3-4 是评测、知识库和长音频，Day5 是架构表、Docker 2601、医生端验收和 UI 简化。主动说明 Day3-4 表单口径差异，PPT 以日志和验证为准。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表单不要逐个念，要讲证据链。每日任务记录、功能清单、项目说明、架构设计表和评分表之间互相支撑，再由日志、测试和页面验证补强。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系统架构分五层：前端医生工作台、FastAPI 后端、ASR 引擎层、Agent 和知识库、存储和证据。每一层可测试、可替换，不把模型和业务逻辑混在一起。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这页解释为什么之前看起来复杂：旧主视图暴露工程细节。现在默认只显示时间、角色、文本和查看原文。校正放进抽屉，保存后如果角色都确认会继续生成病历，若仍有待确认会提示剩余段数。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模型选择按指标，不凭感觉。SenseVoice 和 FunASR 是当前主线，Qwen3 已跑通但资源占用高，Mock ASR 负责现场稳定演示 SSE 分段追加。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展示前先确认 Docker 2601。讲清楚前端打包在镜像内，所以前端改动需要 docker compose up -d --build 才会生效。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这页要强调长音频问题没有回避。30 分钟现场不建议强跑，因为耗时且受模型加载影响。已有 16/30 分钟样本和切片报告，现场展示机制和证据更稳。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ver-title">
            <a:extLst>
              <a:ext uri="{FF2B5EF4-FFF2-40B4-BE49-F238E27FC236}">
                <a16:creationId xmlns:a16="http://schemas.microsoft.com/office/drawing/2014/main" id="{EBA123B4-7B50-4F61-9FCD-8C66A92301F7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025" b="1" i="0">
                <a:solidFill>
                  <a:srgbClr val="0A0A0A"/>
                </a:solidFill>
              </a:defRPr>
            </a:pPr>
            <a:r>
              <a:rPr sz="5025" b="1" i="0">
                <a:solidFill>
                  <a:srgbClr val="0A0A0A"/>
                </a:solidFill>
              </a:rPr>
              <a:t>Medical Record Agent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70F89D5D-6CD8-46AA-9F7C-6F61680756D2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555555"/>
                </a:solidFill>
              </a:defRPr>
            </a:pPr>
            <a:r>
              <a:rPr sz="2400" b="1" i="0">
                <a:solidFill>
                  <a:srgbClr val="555555"/>
                </a:solidFill>
              </a:rPr>
              <a:t>中文医患问诊电子病历辅助系统</a:t>
            </a:r>
          </a:p>
        </p:txBody>
      </p:sp>
      <p:sp>
        <p:nvSpPr>
          <p:cNvPr id="3" name="cover-topic">
            <a:extLst>
              <a:ext uri="{FF2B5EF4-FFF2-40B4-BE49-F238E27FC236}">
                <a16:creationId xmlns:a16="http://schemas.microsoft.com/office/drawing/2014/main" id="{4BD4EDDE-E45B-4E14-A5F4-BC6B8D8C076B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609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 i="0">
                <a:solidFill>
                  <a:srgbClr val="0A0A0A"/>
                </a:solidFill>
              </a:defRPr>
            </a:pPr>
            <a:r>
              <a:rPr sz="2325" b="0" i="0">
                <a:solidFill>
                  <a:srgbClr val="0A0A0A"/>
                </a:solidFill>
              </a:rPr>
              <a:t>第一周工程进展与周评审</a:t>
            </a:r>
          </a:p>
        </p:txBody>
      </p:sp>
      <p:sp>
        <p:nvSpPr>
          <p:cNvPr id="4" name="cover-panel">
            <a:extLst>
              <a:ext uri="{FF2B5EF4-FFF2-40B4-BE49-F238E27FC236}">
                <a16:creationId xmlns:a16="http://schemas.microsoft.com/office/drawing/2014/main" id="{649A17BA-DFB5-4C23-9FCE-B23A077A414F}"/>
              </a:ext>
            </a:extLst>
          </p:cNvPr>
          <p:cNvSpPr>
            <a:spLocks noGrp="1"/>
          </p:cNvSpPr>
          <p:nvPr/>
        </p:nvSpPr>
        <p:spPr>
          <a:xfrm>
            <a:off x="7239000" y="628650"/>
            <a:ext cx="4038600" cy="4476750"/>
          </a:xfrm>
          <a:prstGeom prst="roundRect">
            <a:avLst>
              <a:gd name="adj" fmla="val 472"/>
            </a:avLst>
          </a:prstGeom>
          <a:solidFill>
            <a:srgbClr val="F0F0F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ver-word1">
            <a:extLst>
              <a:ext uri="{FF2B5EF4-FFF2-40B4-BE49-F238E27FC236}">
                <a16:creationId xmlns:a16="http://schemas.microsoft.com/office/drawing/2014/main" id="{CD62EC51-29DF-402E-943D-AE5DDD4B9740}"/>
              </a:ext>
            </a:extLst>
          </p:cNvPr>
          <p:cNvSpPr>
            <a:spLocks noGrp="1"/>
          </p:cNvSpPr>
          <p:nvPr/>
        </p:nvSpPr>
        <p:spPr>
          <a:xfrm>
            <a:off x="7620000" y="10668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可运行</a:t>
            </a:r>
          </a:p>
        </p:txBody>
      </p:sp>
      <p:sp>
        <p:nvSpPr>
          <p:cNvPr id="6" name="cover-word2">
            <a:extLst>
              <a:ext uri="{FF2B5EF4-FFF2-40B4-BE49-F238E27FC236}">
                <a16:creationId xmlns:a16="http://schemas.microsoft.com/office/drawing/2014/main" id="{6FB1483F-0939-4410-BCFE-DB1EF69B5C67}"/>
              </a:ext>
            </a:extLst>
          </p:cNvPr>
          <p:cNvSpPr>
            <a:spLocks noGrp="1"/>
          </p:cNvSpPr>
          <p:nvPr/>
        </p:nvSpPr>
        <p:spPr>
          <a:xfrm>
            <a:off x="7620000" y="19812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可评测</a:t>
            </a:r>
          </a:p>
        </p:txBody>
      </p:sp>
      <p:sp>
        <p:nvSpPr>
          <p:cNvPr id="7" name="cover-word3">
            <a:extLst>
              <a:ext uri="{FF2B5EF4-FFF2-40B4-BE49-F238E27FC236}">
                <a16:creationId xmlns:a16="http://schemas.microsoft.com/office/drawing/2014/main" id="{64A5C5FB-C64A-449C-8B13-F647E823E999}"/>
              </a:ext>
            </a:extLst>
          </p:cNvPr>
          <p:cNvSpPr>
            <a:spLocks noGrp="1"/>
          </p:cNvSpPr>
          <p:nvPr/>
        </p:nvSpPr>
        <p:spPr>
          <a:xfrm>
            <a:off x="7620000" y="28956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可部署</a:t>
            </a:r>
          </a:p>
        </p:txBody>
      </p:sp>
      <p:sp>
        <p:nvSpPr>
          <p:cNvPr id="8" name="cover-word4">
            <a:extLst>
              <a:ext uri="{FF2B5EF4-FFF2-40B4-BE49-F238E27FC236}">
                <a16:creationId xmlns:a16="http://schemas.microsoft.com/office/drawing/2014/main" id="{36E1ADC2-2615-4411-B95C-FD25224EF79B}"/>
              </a:ext>
            </a:extLst>
          </p:cNvPr>
          <p:cNvSpPr>
            <a:spLocks noGrp="1"/>
          </p:cNvSpPr>
          <p:nvPr/>
        </p:nvSpPr>
        <p:spPr>
          <a:xfrm>
            <a:off x="7620000" y="38100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可追踪</a:t>
            </a:r>
          </a:p>
        </p:txBody>
      </p:sp>
      <p:sp>
        <p:nvSpPr>
          <p:cNvPr id="9" name="rule">
            <a:extLst>
              <a:ext uri="{FF2B5EF4-FFF2-40B4-BE49-F238E27FC236}">
                <a16:creationId xmlns:a16="http://schemas.microsoft.com/office/drawing/2014/main" id="{836B4181-DDAF-4508-9CE0-C9483C48FF5C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6096000" cy="1143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over-foot">
            <a:extLst>
              <a:ext uri="{FF2B5EF4-FFF2-40B4-BE49-F238E27FC236}">
                <a16:creationId xmlns:a16="http://schemas.microsoft.com/office/drawing/2014/main" id="{8AA72A96-B409-4613-B91D-36097E26678A}"/>
              </a:ext>
            </a:extLst>
          </p:cNvPr>
          <p:cNvSpPr>
            <a:spLocks noGrp="1"/>
          </p:cNvSpPr>
          <p:nvPr/>
        </p:nvSpPr>
        <p:spPr>
          <a:xfrm>
            <a:off x="400050" y="558165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55555"/>
                </a:solidFill>
              </a:defRPr>
            </a:pPr>
            <a:r>
              <a:rPr sz="1650" b="0" i="0">
                <a:solidFill>
                  <a:srgbClr val="555555"/>
                </a:solidFill>
              </a:rPr>
              <a:t>Docker 2601 | ASR SSE | 角色校正 | 病历草稿 | 医生审核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622D4CEE-7F9D-4050-ABCD-20F675F9914A}"/>
              </a:ext>
            </a:extLst>
          </p:cNvPr>
          <p:cNvSpPr>
            <a:spLocks noGrp="1"/>
          </p:cNvSpPr>
          <p:nvPr/>
        </p:nvSpPr>
        <p:spPr>
          <a:xfrm>
            <a:off x="10096500" y="6267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2026-07-10</a:t>
            </a:r>
          </a:p>
        </p:txBody>
      </p:sp>
    </p:spTree>
    <p:extLst>
      <p:ext uri="{BB962C8B-B14F-4D97-AF65-F5344CB8AC3E}">
        <p14:creationId xmlns:p14="http://schemas.microsoft.com/office/powerpoint/2010/main" val="174648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">
            <a:extLst>
              <a:ext uri="{FF2B5EF4-FFF2-40B4-BE49-F238E27FC236}">
                <a16:creationId xmlns:a16="http://schemas.microsoft.com/office/drawing/2014/main" id="{497F945A-AF5D-4F76-A95E-C74E0AC2684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DBB316E-3A07-496A-99BA-24D7B8A9C73D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系统定位是医生审核辅助，不替代临床判断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05199DBD-B3C1-42A0-8C97-2FDB579A174A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ABE3F220-AC88-43F7-80F9-4623EE45D8FC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low-step">
            <a:extLst>
              <a:ext uri="{FF2B5EF4-FFF2-40B4-BE49-F238E27FC236}">
                <a16:creationId xmlns:a16="http://schemas.microsoft.com/office/drawing/2014/main" id="{D24D8CA4-D7A1-44E0-82FF-F2F47162F662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1F1F1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flow-label">
            <a:extLst>
              <a:ext uri="{FF2B5EF4-FFF2-40B4-BE49-F238E27FC236}">
                <a16:creationId xmlns:a16="http://schemas.microsoft.com/office/drawing/2014/main" id="{94F72FBF-9E62-49C6-AF7A-39628E8B0386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输入</a:t>
            </a:r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682D92EE-911A-4554-9A84-9EBA0C86BAC5}"/>
              </a:ext>
            </a:extLst>
          </p:cNvPr>
          <p:cNvSpPr>
            <a:spLocks noGrp="1"/>
          </p:cNvSpPr>
          <p:nvPr/>
        </p:nvSpPr>
        <p:spPr>
          <a:xfrm>
            <a:off x="20002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flow-step">
            <a:extLst>
              <a:ext uri="{FF2B5EF4-FFF2-40B4-BE49-F238E27FC236}">
                <a16:creationId xmlns:a16="http://schemas.microsoft.com/office/drawing/2014/main" id="{D5CB7BB2-E751-4825-B970-82DBEC159C1C}"/>
              </a:ext>
            </a:extLst>
          </p:cNvPr>
          <p:cNvSpPr>
            <a:spLocks noGrp="1"/>
          </p:cNvSpPr>
          <p:nvPr/>
        </p:nvSpPr>
        <p:spPr>
          <a:xfrm>
            <a:off x="23812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low-label">
            <a:extLst>
              <a:ext uri="{FF2B5EF4-FFF2-40B4-BE49-F238E27FC236}">
                <a16:creationId xmlns:a16="http://schemas.microsoft.com/office/drawing/2014/main" id="{A56D6978-F848-4E9A-832D-9396E480A5B5}"/>
              </a:ext>
            </a:extLst>
          </p:cNvPr>
          <p:cNvSpPr>
            <a:spLocks noGrp="1"/>
          </p:cNvSpPr>
          <p:nvPr/>
        </p:nvSpPr>
        <p:spPr>
          <a:xfrm>
            <a:off x="25527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ASR转写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1E161EF2-33DB-41D4-B068-CEEBBDE41260}"/>
              </a:ext>
            </a:extLst>
          </p:cNvPr>
          <p:cNvSpPr>
            <a:spLocks noGrp="1"/>
          </p:cNvSpPr>
          <p:nvPr/>
        </p:nvSpPr>
        <p:spPr>
          <a:xfrm>
            <a:off x="38290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1" name="flow-step">
            <a:extLst>
              <a:ext uri="{FF2B5EF4-FFF2-40B4-BE49-F238E27FC236}">
                <a16:creationId xmlns:a16="http://schemas.microsoft.com/office/drawing/2014/main" id="{219A66C6-BE1A-4330-BC10-4E07C516A60F}"/>
              </a:ext>
            </a:extLst>
          </p:cNvPr>
          <p:cNvSpPr>
            <a:spLocks noGrp="1"/>
          </p:cNvSpPr>
          <p:nvPr/>
        </p:nvSpPr>
        <p:spPr>
          <a:xfrm>
            <a:off x="42100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1F1F1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low-label">
            <a:extLst>
              <a:ext uri="{FF2B5EF4-FFF2-40B4-BE49-F238E27FC236}">
                <a16:creationId xmlns:a16="http://schemas.microsoft.com/office/drawing/2014/main" id="{2645F891-0437-4CD5-87F1-58522BA673A9}"/>
              </a:ext>
            </a:extLst>
          </p:cNvPr>
          <p:cNvSpPr>
            <a:spLocks noGrp="1"/>
          </p:cNvSpPr>
          <p:nvPr/>
        </p:nvSpPr>
        <p:spPr>
          <a:xfrm>
            <a:off x="43815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lang="zh-CN" altLang="en-US" sz="1650" b="1" dirty="0">
                <a:solidFill>
                  <a:srgbClr val="0A0A0A"/>
                </a:solidFill>
              </a:rPr>
              <a:t>病症判断</a:t>
            </a:r>
            <a:endParaRPr sz="1650" b="1" i="0" dirty="0">
              <a:solidFill>
                <a:srgbClr val="0A0A0A"/>
              </a:solidFill>
            </a:endParaRPr>
          </a:p>
        </p:txBody>
      </p:sp>
      <p:sp>
        <p:nvSpPr>
          <p:cNvPr id="13" name="arrow">
            <a:extLst>
              <a:ext uri="{FF2B5EF4-FFF2-40B4-BE49-F238E27FC236}">
                <a16:creationId xmlns:a16="http://schemas.microsoft.com/office/drawing/2014/main" id="{CD93AC13-203F-4FA4-AE01-02E21FFE0FBF}"/>
              </a:ext>
            </a:extLst>
          </p:cNvPr>
          <p:cNvSpPr>
            <a:spLocks noGrp="1"/>
          </p:cNvSpPr>
          <p:nvPr/>
        </p:nvSpPr>
        <p:spPr>
          <a:xfrm>
            <a:off x="56578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flow-step">
            <a:extLst>
              <a:ext uri="{FF2B5EF4-FFF2-40B4-BE49-F238E27FC236}">
                <a16:creationId xmlns:a16="http://schemas.microsoft.com/office/drawing/2014/main" id="{7A2A9FFF-8538-4C10-A0E0-B18A1E5ECF86}"/>
              </a:ext>
            </a:extLst>
          </p:cNvPr>
          <p:cNvSpPr>
            <a:spLocks noGrp="1"/>
          </p:cNvSpPr>
          <p:nvPr/>
        </p:nvSpPr>
        <p:spPr>
          <a:xfrm>
            <a:off x="60388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low-label">
            <a:extLst>
              <a:ext uri="{FF2B5EF4-FFF2-40B4-BE49-F238E27FC236}">
                <a16:creationId xmlns:a16="http://schemas.microsoft.com/office/drawing/2014/main" id="{DD4FFDEA-9695-48AA-AB85-77739EBDE3D2}"/>
              </a:ext>
            </a:extLst>
          </p:cNvPr>
          <p:cNvSpPr>
            <a:spLocks noGrp="1"/>
          </p:cNvSpPr>
          <p:nvPr/>
        </p:nvSpPr>
        <p:spPr>
          <a:xfrm>
            <a:off x="62103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生成草稿</a:t>
            </a:r>
          </a:p>
        </p:txBody>
      </p:sp>
      <p:sp>
        <p:nvSpPr>
          <p:cNvPr id="16" name="arrow">
            <a:extLst>
              <a:ext uri="{FF2B5EF4-FFF2-40B4-BE49-F238E27FC236}">
                <a16:creationId xmlns:a16="http://schemas.microsoft.com/office/drawing/2014/main" id="{53491740-70E9-42D9-A87A-46947A501FE1}"/>
              </a:ext>
            </a:extLst>
          </p:cNvPr>
          <p:cNvSpPr>
            <a:spLocks noGrp="1"/>
          </p:cNvSpPr>
          <p:nvPr/>
        </p:nvSpPr>
        <p:spPr>
          <a:xfrm>
            <a:off x="74866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flow-step">
            <a:extLst>
              <a:ext uri="{FF2B5EF4-FFF2-40B4-BE49-F238E27FC236}">
                <a16:creationId xmlns:a16="http://schemas.microsoft.com/office/drawing/2014/main" id="{6403E298-C698-4F57-9C60-6F6949B7791C}"/>
              </a:ext>
            </a:extLst>
          </p:cNvPr>
          <p:cNvSpPr>
            <a:spLocks noGrp="1"/>
          </p:cNvSpPr>
          <p:nvPr/>
        </p:nvSpPr>
        <p:spPr>
          <a:xfrm>
            <a:off x="78676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1F1F1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low-label">
            <a:extLst>
              <a:ext uri="{FF2B5EF4-FFF2-40B4-BE49-F238E27FC236}">
                <a16:creationId xmlns:a16="http://schemas.microsoft.com/office/drawing/2014/main" id="{716039E7-49D1-4C45-BFD3-FE7422FB27CB}"/>
              </a:ext>
            </a:extLst>
          </p:cNvPr>
          <p:cNvSpPr>
            <a:spLocks noGrp="1"/>
          </p:cNvSpPr>
          <p:nvPr/>
        </p:nvSpPr>
        <p:spPr>
          <a:xfrm>
            <a:off x="80391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医生审核</a:t>
            </a:r>
          </a:p>
        </p:txBody>
      </p:sp>
      <p:sp>
        <p:nvSpPr>
          <p:cNvPr id="19" name="arrow">
            <a:extLst>
              <a:ext uri="{FF2B5EF4-FFF2-40B4-BE49-F238E27FC236}">
                <a16:creationId xmlns:a16="http://schemas.microsoft.com/office/drawing/2014/main" id="{A10C40AA-A3F5-4CC9-A984-C4FCF619E0EA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flow-step">
            <a:extLst>
              <a:ext uri="{FF2B5EF4-FFF2-40B4-BE49-F238E27FC236}">
                <a16:creationId xmlns:a16="http://schemas.microsoft.com/office/drawing/2014/main" id="{77131592-D668-426A-B7D4-F486372EB316}"/>
              </a:ext>
            </a:extLst>
          </p:cNvPr>
          <p:cNvSpPr>
            <a:spLocks noGrp="1"/>
          </p:cNvSpPr>
          <p:nvPr/>
        </p:nvSpPr>
        <p:spPr>
          <a:xfrm>
            <a:off x="96964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low-label">
            <a:extLst>
              <a:ext uri="{FF2B5EF4-FFF2-40B4-BE49-F238E27FC236}">
                <a16:creationId xmlns:a16="http://schemas.microsoft.com/office/drawing/2014/main" id="{327DDCF8-9E96-443F-BE26-5DF5F4C91065}"/>
              </a:ext>
            </a:extLst>
          </p:cNvPr>
          <p:cNvSpPr>
            <a:spLocks noGrp="1"/>
          </p:cNvSpPr>
          <p:nvPr/>
        </p:nvSpPr>
        <p:spPr>
          <a:xfrm>
            <a:off x="98679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导出</a:t>
            </a:r>
          </a:p>
        </p:txBody>
      </p:sp>
      <p:sp>
        <p:nvSpPr>
          <p:cNvPr id="22" name="col-title-left">
            <a:extLst>
              <a:ext uri="{FF2B5EF4-FFF2-40B4-BE49-F238E27FC236}">
                <a16:creationId xmlns:a16="http://schemas.microsoft.com/office/drawing/2014/main" id="{0D58637D-70A2-4185-89EF-D3C23C02E04D}"/>
              </a:ext>
            </a:extLst>
          </p:cNvPr>
          <p:cNvSpPr>
            <a:spLocks noGrp="1"/>
          </p:cNvSpPr>
          <p:nvPr/>
        </p:nvSpPr>
        <p:spPr>
          <a:xfrm>
            <a:off x="400050" y="3250969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 dirty="0" err="1">
                <a:solidFill>
                  <a:srgbClr val="0A0A0A"/>
                </a:solidFill>
              </a:rPr>
              <a:t>项目做什么</a:t>
            </a:r>
            <a:endParaRPr sz="2025" b="1" i="0" dirty="0">
              <a:solidFill>
                <a:srgbClr val="0A0A0A"/>
              </a:solidFill>
            </a:endParaRPr>
          </a:p>
        </p:txBody>
      </p:sp>
      <p:sp>
        <p:nvSpPr>
          <p:cNvPr id="23" name="bullet-dot">
            <a:extLst>
              <a:ext uri="{FF2B5EF4-FFF2-40B4-BE49-F238E27FC236}">
                <a16:creationId xmlns:a16="http://schemas.microsoft.com/office/drawing/2014/main" id="{97613600-B059-4001-A2D6-3D11EB225AB0}"/>
              </a:ext>
            </a:extLst>
          </p:cNvPr>
          <p:cNvSpPr>
            <a:spLocks noGrp="1"/>
          </p:cNvSpPr>
          <p:nvPr/>
        </p:nvSpPr>
        <p:spPr>
          <a:xfrm>
            <a:off x="552450" y="3862359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bullet-text">
            <a:extLst>
              <a:ext uri="{FF2B5EF4-FFF2-40B4-BE49-F238E27FC236}">
                <a16:creationId xmlns:a16="http://schemas.microsoft.com/office/drawing/2014/main" id="{31F90122-04B6-4B97-8C6E-29158B035B13}"/>
              </a:ext>
            </a:extLst>
          </p:cNvPr>
          <p:cNvSpPr>
            <a:spLocks noGrp="1"/>
          </p:cNvSpPr>
          <p:nvPr/>
        </p:nvSpPr>
        <p:spPr>
          <a:xfrm>
            <a:off x="723900" y="3776634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 dirty="0" err="1">
                <a:solidFill>
                  <a:srgbClr val="0A0A0A"/>
                </a:solidFill>
              </a:rPr>
              <a:t>把中文问诊音频或文本结构化</a:t>
            </a:r>
            <a:endParaRPr sz="1575" b="0" i="0" dirty="0">
              <a:solidFill>
                <a:srgbClr val="0A0A0A"/>
              </a:solidFill>
            </a:endParaRPr>
          </a:p>
        </p:txBody>
      </p:sp>
      <p:sp>
        <p:nvSpPr>
          <p:cNvPr id="25" name="bullet-dot">
            <a:extLst>
              <a:ext uri="{FF2B5EF4-FFF2-40B4-BE49-F238E27FC236}">
                <a16:creationId xmlns:a16="http://schemas.microsoft.com/office/drawing/2014/main" id="{89AA87DF-5ED7-49AA-987D-BE6446D5A84E}"/>
              </a:ext>
            </a:extLst>
          </p:cNvPr>
          <p:cNvSpPr>
            <a:spLocks noGrp="1"/>
          </p:cNvSpPr>
          <p:nvPr/>
        </p:nvSpPr>
        <p:spPr>
          <a:xfrm>
            <a:off x="552450" y="4491009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bullet-text">
            <a:extLst>
              <a:ext uri="{FF2B5EF4-FFF2-40B4-BE49-F238E27FC236}">
                <a16:creationId xmlns:a16="http://schemas.microsoft.com/office/drawing/2014/main" id="{0770BF5E-7F2A-4A67-BE9F-B21FE35E954B}"/>
              </a:ext>
            </a:extLst>
          </p:cNvPr>
          <p:cNvSpPr>
            <a:spLocks noGrp="1"/>
          </p:cNvSpPr>
          <p:nvPr/>
        </p:nvSpPr>
        <p:spPr>
          <a:xfrm>
            <a:off x="723900" y="4405284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>
                <a:solidFill>
                  <a:srgbClr val="0A0A0A"/>
                </a:solidFill>
              </a:rPr>
              <a:t>给出病历字段、候选诊断和证据</a:t>
            </a:r>
          </a:p>
        </p:txBody>
      </p:sp>
      <p:sp>
        <p:nvSpPr>
          <p:cNvPr id="27" name="bullet-dot">
            <a:extLst>
              <a:ext uri="{FF2B5EF4-FFF2-40B4-BE49-F238E27FC236}">
                <a16:creationId xmlns:a16="http://schemas.microsoft.com/office/drawing/2014/main" id="{689C2C7A-935A-4ADB-A4E5-40874169F66D}"/>
              </a:ext>
            </a:extLst>
          </p:cNvPr>
          <p:cNvSpPr>
            <a:spLocks noGrp="1"/>
          </p:cNvSpPr>
          <p:nvPr/>
        </p:nvSpPr>
        <p:spPr>
          <a:xfrm>
            <a:off x="552450" y="5119659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bullet-text">
            <a:extLst>
              <a:ext uri="{FF2B5EF4-FFF2-40B4-BE49-F238E27FC236}">
                <a16:creationId xmlns:a16="http://schemas.microsoft.com/office/drawing/2014/main" id="{BFA11F48-3AFC-4E42-9FA9-8A1D18908652}"/>
              </a:ext>
            </a:extLst>
          </p:cNvPr>
          <p:cNvSpPr>
            <a:spLocks noGrp="1"/>
          </p:cNvSpPr>
          <p:nvPr/>
        </p:nvSpPr>
        <p:spPr>
          <a:xfrm>
            <a:off x="723900" y="5033934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>
                <a:solidFill>
                  <a:srgbClr val="0A0A0A"/>
                </a:solidFill>
              </a:rPr>
              <a:t>最终必须由医生确认后才能导出</a:t>
            </a:r>
          </a:p>
        </p:txBody>
      </p:sp>
      <p:sp>
        <p:nvSpPr>
          <p:cNvPr id="30" name="col-title-right">
            <a:extLst>
              <a:ext uri="{FF2B5EF4-FFF2-40B4-BE49-F238E27FC236}">
                <a16:creationId xmlns:a16="http://schemas.microsoft.com/office/drawing/2014/main" id="{56B82DA4-95C2-483A-BF8B-7B76B1B84C10}"/>
              </a:ext>
            </a:extLst>
          </p:cNvPr>
          <p:cNvSpPr>
            <a:spLocks noGrp="1"/>
          </p:cNvSpPr>
          <p:nvPr/>
        </p:nvSpPr>
        <p:spPr>
          <a:xfrm>
            <a:off x="6096000" y="324802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 dirty="0" err="1">
                <a:solidFill>
                  <a:srgbClr val="0A0A0A"/>
                </a:solidFill>
              </a:rPr>
              <a:t>项目不做什么</a:t>
            </a:r>
            <a:endParaRPr sz="2025" b="1" i="0" dirty="0">
              <a:solidFill>
                <a:srgbClr val="0A0A0A"/>
              </a:solidFill>
            </a:endParaRPr>
          </a:p>
        </p:txBody>
      </p:sp>
      <p:sp>
        <p:nvSpPr>
          <p:cNvPr id="31" name="bullet-dot">
            <a:extLst>
              <a:ext uri="{FF2B5EF4-FFF2-40B4-BE49-F238E27FC236}">
                <a16:creationId xmlns:a16="http://schemas.microsoft.com/office/drawing/2014/main" id="{6CCA327A-77E8-43AB-9836-539311F1BD19}"/>
              </a:ext>
            </a:extLst>
          </p:cNvPr>
          <p:cNvSpPr>
            <a:spLocks noGrp="1"/>
          </p:cNvSpPr>
          <p:nvPr/>
        </p:nvSpPr>
        <p:spPr>
          <a:xfrm>
            <a:off x="6334636" y="3948084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bullet-text">
            <a:extLst>
              <a:ext uri="{FF2B5EF4-FFF2-40B4-BE49-F238E27FC236}">
                <a16:creationId xmlns:a16="http://schemas.microsoft.com/office/drawing/2014/main" id="{333EB5FE-520E-4DCE-A908-B565BB290327}"/>
              </a:ext>
            </a:extLst>
          </p:cNvPr>
          <p:cNvSpPr>
            <a:spLocks noGrp="1"/>
          </p:cNvSpPr>
          <p:nvPr/>
        </p:nvSpPr>
        <p:spPr>
          <a:xfrm>
            <a:off x="6506086" y="3862359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不自动下临床诊断结论</a:t>
            </a:r>
          </a:p>
        </p:txBody>
      </p:sp>
      <p:sp>
        <p:nvSpPr>
          <p:cNvPr id="33" name="bullet-dot">
            <a:extLst>
              <a:ext uri="{FF2B5EF4-FFF2-40B4-BE49-F238E27FC236}">
                <a16:creationId xmlns:a16="http://schemas.microsoft.com/office/drawing/2014/main" id="{12146A5E-097D-4919-BFF5-8322518F3F70}"/>
              </a:ext>
            </a:extLst>
          </p:cNvPr>
          <p:cNvSpPr>
            <a:spLocks noGrp="1"/>
          </p:cNvSpPr>
          <p:nvPr/>
        </p:nvSpPr>
        <p:spPr>
          <a:xfrm>
            <a:off x="6334636" y="4500534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bullet-text">
            <a:extLst>
              <a:ext uri="{FF2B5EF4-FFF2-40B4-BE49-F238E27FC236}">
                <a16:creationId xmlns:a16="http://schemas.microsoft.com/office/drawing/2014/main" id="{AB156E86-C05A-4516-8B34-FE5098589E70}"/>
              </a:ext>
            </a:extLst>
          </p:cNvPr>
          <p:cNvSpPr>
            <a:spLocks noGrp="1"/>
          </p:cNvSpPr>
          <p:nvPr/>
        </p:nvSpPr>
        <p:spPr>
          <a:xfrm>
            <a:off x="6506086" y="4414809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不自动生成处方</a:t>
            </a:r>
          </a:p>
        </p:txBody>
      </p:sp>
      <p:sp>
        <p:nvSpPr>
          <p:cNvPr id="35" name="bullet-dot">
            <a:extLst>
              <a:ext uri="{FF2B5EF4-FFF2-40B4-BE49-F238E27FC236}">
                <a16:creationId xmlns:a16="http://schemas.microsoft.com/office/drawing/2014/main" id="{B86E986F-6937-4AFE-830E-74985F6DFC6F}"/>
              </a:ext>
            </a:extLst>
          </p:cNvPr>
          <p:cNvSpPr>
            <a:spLocks noGrp="1"/>
          </p:cNvSpPr>
          <p:nvPr/>
        </p:nvSpPr>
        <p:spPr>
          <a:xfrm>
            <a:off x="6334636" y="5052984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bullet-text">
            <a:extLst>
              <a:ext uri="{FF2B5EF4-FFF2-40B4-BE49-F238E27FC236}">
                <a16:creationId xmlns:a16="http://schemas.microsoft.com/office/drawing/2014/main" id="{A61D320B-E15E-4BF6-8446-F21E473855DF}"/>
              </a:ext>
            </a:extLst>
          </p:cNvPr>
          <p:cNvSpPr>
            <a:spLocks noGrp="1"/>
          </p:cNvSpPr>
          <p:nvPr/>
        </p:nvSpPr>
        <p:spPr>
          <a:xfrm>
            <a:off x="6506086" y="4967259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不写入真实患者数据或密钥</a:t>
            </a:r>
          </a:p>
        </p:txBody>
      </p:sp>
    </p:spTree>
    <p:extLst>
      <p:ext uri="{BB962C8B-B14F-4D97-AF65-F5344CB8AC3E}">
        <p14:creationId xmlns:p14="http://schemas.microsoft.com/office/powerpoint/2010/main" val="2979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D66652F0-C57C-4E03-AA2A-619237D4CC21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EED25AD-9F88-4A28-8504-5D31B58CC054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 dirty="0" err="1">
                <a:solidFill>
                  <a:srgbClr val="0A0A0A"/>
                </a:solidFill>
              </a:rPr>
              <a:t>对应工程证据</a:t>
            </a:r>
            <a:endParaRPr sz="3075" b="1" i="0" dirty="0">
              <a:solidFill>
                <a:srgbClr val="0A0A0A"/>
              </a:solidFill>
            </a:endParaRP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30806B50-A119-451B-8357-21E665BF72D0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87AEEF8F-B924-4D30-A43D-B564E7B13CA6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metric-card">
            <a:extLst>
              <a:ext uri="{FF2B5EF4-FFF2-40B4-BE49-F238E27FC236}">
                <a16:creationId xmlns:a16="http://schemas.microsoft.com/office/drawing/2014/main" id="{514DDF5D-FB71-4A7A-A8A9-BC32B05678B1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metric-score">
            <a:extLst>
              <a:ext uri="{FF2B5EF4-FFF2-40B4-BE49-F238E27FC236}">
                <a16:creationId xmlns:a16="http://schemas.microsoft.com/office/drawing/2014/main" id="{826F5656-2089-43AA-8547-7A6F28151738}"/>
              </a:ext>
            </a:extLst>
          </p:cNvPr>
          <p:cNvSpPr>
            <a:spLocks noGrp="1"/>
          </p:cNvSpPr>
          <p:nvPr/>
        </p:nvSpPr>
        <p:spPr>
          <a:xfrm>
            <a:off x="781050" y="2085975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FF6B35"/>
                </a:solidFill>
              </a:defRPr>
            </a:pPr>
            <a:r>
              <a:rPr sz="3300" b="1" i="0">
                <a:solidFill>
                  <a:srgbClr val="FF6B35"/>
                </a:solidFill>
              </a:rPr>
              <a:t>8</a:t>
            </a:r>
          </a:p>
        </p:txBody>
      </p:sp>
      <p:sp>
        <p:nvSpPr>
          <p:cNvPr id="7" name="metric-label">
            <a:extLst>
              <a:ext uri="{FF2B5EF4-FFF2-40B4-BE49-F238E27FC236}">
                <a16:creationId xmlns:a16="http://schemas.microsoft.com/office/drawing/2014/main" id="{7E350FDA-17F4-466F-99F0-E37FF592C9E0}"/>
              </a:ext>
            </a:extLst>
          </p:cNvPr>
          <p:cNvSpPr>
            <a:spLocks noGrp="1"/>
          </p:cNvSpPr>
          <p:nvPr/>
        </p:nvSpPr>
        <p:spPr>
          <a:xfrm>
            <a:off x="1676400" y="2124075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技术打通</a:t>
            </a:r>
          </a:p>
        </p:txBody>
      </p:sp>
      <p:sp>
        <p:nvSpPr>
          <p:cNvPr id="8" name="metric-detail">
            <a:extLst>
              <a:ext uri="{FF2B5EF4-FFF2-40B4-BE49-F238E27FC236}">
                <a16:creationId xmlns:a16="http://schemas.microsoft.com/office/drawing/2014/main" id="{568FCCBF-72BA-4960-8FF3-6F3AA61488D6}"/>
              </a:ext>
            </a:extLst>
          </p:cNvPr>
          <p:cNvSpPr>
            <a:spLocks noGrp="1"/>
          </p:cNvSpPr>
          <p:nvPr/>
        </p:nvSpPr>
        <p:spPr>
          <a:xfrm>
            <a:off x="1676400" y="2524125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ASR session、SSE 分段追加、角色校正、病历生成、审核导出已串联</a:t>
            </a:r>
          </a:p>
        </p:txBody>
      </p:sp>
      <p:sp>
        <p:nvSpPr>
          <p:cNvPr id="9" name="metric-card">
            <a:extLst>
              <a:ext uri="{FF2B5EF4-FFF2-40B4-BE49-F238E27FC236}">
                <a16:creationId xmlns:a16="http://schemas.microsoft.com/office/drawing/2014/main" id="{5F201283-901C-4292-8D2F-906D5307ADC9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metric-score">
            <a:extLst>
              <a:ext uri="{FF2B5EF4-FFF2-40B4-BE49-F238E27FC236}">
                <a16:creationId xmlns:a16="http://schemas.microsoft.com/office/drawing/2014/main" id="{1E6D22CF-BC6F-4669-82CD-4FEA89E4AC52}"/>
              </a:ext>
            </a:extLst>
          </p:cNvPr>
          <p:cNvSpPr>
            <a:spLocks noGrp="1"/>
          </p:cNvSpPr>
          <p:nvPr/>
        </p:nvSpPr>
        <p:spPr>
          <a:xfrm>
            <a:off x="6343650" y="2085975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0A0A0A"/>
                </a:solidFill>
              </a:defRPr>
            </a:pPr>
            <a:r>
              <a:rPr sz="3300" b="1" i="0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11" name="metric-label">
            <a:extLst>
              <a:ext uri="{FF2B5EF4-FFF2-40B4-BE49-F238E27FC236}">
                <a16:creationId xmlns:a16="http://schemas.microsoft.com/office/drawing/2014/main" id="{D81B9BF3-3DB3-46DF-9875-1C51C0C82EA5}"/>
              </a:ext>
            </a:extLst>
          </p:cNvPr>
          <p:cNvSpPr>
            <a:spLocks noGrp="1"/>
          </p:cNvSpPr>
          <p:nvPr/>
        </p:nvSpPr>
        <p:spPr>
          <a:xfrm>
            <a:off x="7239000" y="2124075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系统架构</a:t>
            </a:r>
          </a:p>
        </p:txBody>
      </p:sp>
      <p:sp>
        <p:nvSpPr>
          <p:cNvPr id="12" name="metric-detail">
            <a:extLst>
              <a:ext uri="{FF2B5EF4-FFF2-40B4-BE49-F238E27FC236}">
                <a16:creationId xmlns:a16="http://schemas.microsoft.com/office/drawing/2014/main" id="{0245F11C-9C16-4261-9790-6DC196EFA460}"/>
              </a:ext>
            </a:extLst>
          </p:cNvPr>
          <p:cNvSpPr>
            <a:spLocks noGrp="1"/>
          </p:cNvSpPr>
          <p:nvPr/>
        </p:nvSpPr>
        <p:spPr>
          <a:xfrm>
            <a:off x="7239000" y="2524125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医生端、FastAPI、ASR 引擎、Agent 编排、知识库、SQLite 分层清晰</a:t>
            </a:r>
          </a:p>
        </p:txBody>
      </p:sp>
      <p:sp>
        <p:nvSpPr>
          <p:cNvPr id="13" name="metric-card">
            <a:extLst>
              <a:ext uri="{FF2B5EF4-FFF2-40B4-BE49-F238E27FC236}">
                <a16:creationId xmlns:a16="http://schemas.microsoft.com/office/drawing/2014/main" id="{A520038E-001C-4CC5-B5F3-56E0933086C1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metric-score">
            <a:extLst>
              <a:ext uri="{FF2B5EF4-FFF2-40B4-BE49-F238E27FC236}">
                <a16:creationId xmlns:a16="http://schemas.microsoft.com/office/drawing/2014/main" id="{32D89B0F-55A0-478E-A0CA-AEA34014D1B9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2563EB"/>
                </a:solidFill>
              </a:defRPr>
            </a:pPr>
            <a:r>
              <a:rPr sz="3300" b="1" i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metric-label">
            <a:extLst>
              <a:ext uri="{FF2B5EF4-FFF2-40B4-BE49-F238E27FC236}">
                <a16:creationId xmlns:a16="http://schemas.microsoft.com/office/drawing/2014/main" id="{CB71E52A-8CCA-4C5F-A7BC-EF30D754C29A}"/>
              </a:ext>
            </a:extLst>
          </p:cNvPr>
          <p:cNvSpPr>
            <a:spLocks noGrp="1"/>
          </p:cNvSpPr>
          <p:nvPr/>
        </p:nvSpPr>
        <p:spPr>
          <a:xfrm>
            <a:off x="1676400" y="39814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接口定义</a:t>
            </a:r>
          </a:p>
        </p:txBody>
      </p:sp>
      <p:sp>
        <p:nvSpPr>
          <p:cNvPr id="16" name="metric-detail">
            <a:extLst>
              <a:ext uri="{FF2B5EF4-FFF2-40B4-BE49-F238E27FC236}">
                <a16:creationId xmlns:a16="http://schemas.microsoft.com/office/drawing/2014/main" id="{4B420EAF-E320-48DA-9706-B6CF69BB981C}"/>
              </a:ext>
            </a:extLst>
          </p:cNvPr>
          <p:cNvSpPr>
            <a:spLocks noGrp="1"/>
          </p:cNvSpPr>
          <p:nvPr/>
        </p:nvSpPr>
        <p:spPr>
          <a:xfrm>
            <a:off x="1676400" y="4381500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/api/asr/sessions、/api/audio/{id}/generate-record、/api/records/preview、/api/tasks/*</a:t>
            </a:r>
          </a:p>
        </p:txBody>
      </p:sp>
      <p:sp>
        <p:nvSpPr>
          <p:cNvPr id="17" name="metric-card">
            <a:extLst>
              <a:ext uri="{FF2B5EF4-FFF2-40B4-BE49-F238E27FC236}">
                <a16:creationId xmlns:a16="http://schemas.microsoft.com/office/drawing/2014/main" id="{0FC8AC66-F730-4861-B5B5-FCF5E5C592EA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metric-score">
            <a:extLst>
              <a:ext uri="{FF2B5EF4-FFF2-40B4-BE49-F238E27FC236}">
                <a16:creationId xmlns:a16="http://schemas.microsoft.com/office/drawing/2014/main" id="{23B29E7B-7F19-4BEA-A39C-1A614425A9C4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5803D"/>
                </a:solidFill>
              </a:defRPr>
            </a:pPr>
            <a:r>
              <a:rPr sz="3300" b="1" i="0">
                <a:solidFill>
                  <a:srgbClr val="15803D"/>
                </a:solidFill>
              </a:rPr>
              <a:t>3</a:t>
            </a:r>
          </a:p>
        </p:txBody>
      </p:sp>
      <p:sp>
        <p:nvSpPr>
          <p:cNvPr id="19" name="metric-label">
            <a:extLst>
              <a:ext uri="{FF2B5EF4-FFF2-40B4-BE49-F238E27FC236}">
                <a16:creationId xmlns:a16="http://schemas.microsoft.com/office/drawing/2014/main" id="{14760B32-5CD0-482A-9ECE-6295070B4C8A}"/>
              </a:ext>
            </a:extLst>
          </p:cNvPr>
          <p:cNvSpPr>
            <a:spLocks noGrp="1"/>
          </p:cNvSpPr>
          <p:nvPr/>
        </p:nvSpPr>
        <p:spPr>
          <a:xfrm>
            <a:off x="7239000" y="39814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过程记录</a:t>
            </a:r>
          </a:p>
        </p:txBody>
      </p:sp>
      <p:sp>
        <p:nvSpPr>
          <p:cNvPr id="20" name="metric-detail">
            <a:extLst>
              <a:ext uri="{FF2B5EF4-FFF2-40B4-BE49-F238E27FC236}">
                <a16:creationId xmlns:a16="http://schemas.microsoft.com/office/drawing/2014/main" id="{0D7E68EA-9040-4D31-9C1E-5F1AA2C04667}"/>
              </a:ext>
            </a:extLst>
          </p:cNvPr>
          <p:cNvSpPr>
            <a:spLocks noGrp="1"/>
          </p:cNvSpPr>
          <p:nvPr/>
        </p:nvSpPr>
        <p:spPr>
          <a:xfrm>
            <a:off x="7239000" y="4381500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logs/daily、logs/debug、版本演进、能力证据矩阵和 Word 表单互相支撑</a:t>
            </a:r>
          </a:p>
        </p:txBody>
      </p:sp>
    </p:spTree>
    <p:extLst>
      <p:ext uri="{BB962C8B-B14F-4D97-AF65-F5344CB8AC3E}">
        <p14:creationId xmlns:p14="http://schemas.microsoft.com/office/powerpoint/2010/main" val="150414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5879A1BE-26A0-419C-AE38-57D61C5E7BBC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CE7EA79-0CE6-4372-8465-4DC8C2BDE764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每日输出物逐步补齐评分证据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A971B66-5FDE-4798-8AB9-5930C725953F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916D9B70-70BD-46A6-8E9C-DDE3CF99870A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day-block">
            <a:extLst>
              <a:ext uri="{FF2B5EF4-FFF2-40B4-BE49-F238E27FC236}">
                <a16:creationId xmlns:a16="http://schemas.microsoft.com/office/drawing/2014/main" id="{3C44603D-7DA9-487A-B012-EE6B91A9EAC1}"/>
              </a:ext>
            </a:extLst>
          </p:cNvPr>
          <p:cNvSpPr>
            <a:spLocks noGrp="1"/>
          </p:cNvSpPr>
          <p:nvPr/>
        </p:nvSpPr>
        <p:spPr>
          <a:xfrm>
            <a:off x="552450" y="1962150"/>
            <a:ext cx="3238500" cy="3067050"/>
          </a:xfrm>
          <a:prstGeom prst="roundRect">
            <a:avLst>
              <a:gd name="adj" fmla="val 621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day-label">
            <a:extLst>
              <a:ext uri="{FF2B5EF4-FFF2-40B4-BE49-F238E27FC236}">
                <a16:creationId xmlns:a16="http://schemas.microsoft.com/office/drawing/2014/main" id="{BEC85AC7-36C7-417A-882A-D7C7E1D096E7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555555"/>
                </a:solidFill>
              </a:defRPr>
            </a:pPr>
            <a:r>
              <a:rPr sz="1650" b="1" i="0">
                <a:solidFill>
                  <a:srgbClr val="555555"/>
                </a:solidFill>
              </a:rPr>
              <a:t>Day1-2</a:t>
            </a:r>
          </a:p>
        </p:txBody>
      </p:sp>
      <p:sp>
        <p:nvSpPr>
          <p:cNvPr id="7" name="day-title">
            <a:extLst>
              <a:ext uri="{FF2B5EF4-FFF2-40B4-BE49-F238E27FC236}">
                <a16:creationId xmlns:a16="http://schemas.microsoft.com/office/drawing/2014/main" id="{028407BB-ADA9-4401-8726-806528224F7B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0A0A0A"/>
                </a:solidFill>
              </a:defRPr>
            </a:pPr>
            <a:r>
              <a:rPr sz="2100" b="1" i="0">
                <a:solidFill>
                  <a:srgbClr val="0A0A0A"/>
                </a:solidFill>
              </a:rPr>
              <a:t>工程治理 + ASR SSE</a:t>
            </a:r>
          </a:p>
        </p:txBody>
      </p:sp>
      <p:sp>
        <p:nvSpPr>
          <p:cNvPr id="8" name="day-detail">
            <a:extLst>
              <a:ext uri="{FF2B5EF4-FFF2-40B4-BE49-F238E27FC236}">
                <a16:creationId xmlns:a16="http://schemas.microsoft.com/office/drawing/2014/main" id="{1DFCB5C0-64A2-4FAC-ABE6-E683664CAB1C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55555"/>
                </a:solidFill>
              </a:defRPr>
            </a:pPr>
            <a:r>
              <a:rPr sz="1425" b="0" i="0">
                <a:solidFill>
                  <a:srgbClr val="555555"/>
                </a:solidFill>
              </a:rPr>
              <a:t>README、架构、版本记录、daily/debug log；ASR 文件流和角色校正基础。</a:t>
            </a:r>
          </a:p>
        </p:txBody>
      </p:sp>
      <p:sp>
        <p:nvSpPr>
          <p:cNvPr id="9" name="rule">
            <a:extLst>
              <a:ext uri="{FF2B5EF4-FFF2-40B4-BE49-F238E27FC236}">
                <a16:creationId xmlns:a16="http://schemas.microsoft.com/office/drawing/2014/main" id="{4EC804B5-EE79-4C0D-9855-84859AF22981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2628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day-map">
            <a:extLst>
              <a:ext uri="{FF2B5EF4-FFF2-40B4-BE49-F238E27FC236}">
                <a16:creationId xmlns:a16="http://schemas.microsoft.com/office/drawing/2014/main" id="{A8F5ACE8-6A24-47C9-A07C-EC972EAC60A7}"/>
              </a:ext>
            </a:extLst>
          </p:cNvPr>
          <p:cNvSpPr>
            <a:spLocks noGrp="1"/>
          </p:cNvSpPr>
          <p:nvPr/>
        </p:nvSpPr>
        <p:spPr>
          <a:xfrm>
            <a:off x="819150" y="4648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技术打通 / 过程记录</a:t>
            </a:r>
          </a:p>
        </p:txBody>
      </p:sp>
      <p:sp>
        <p:nvSpPr>
          <p:cNvPr id="11" name="day-block">
            <a:extLst>
              <a:ext uri="{FF2B5EF4-FFF2-40B4-BE49-F238E27FC236}">
                <a16:creationId xmlns:a16="http://schemas.microsoft.com/office/drawing/2014/main" id="{97B3DD9D-3FC6-443C-878C-BEA231655A01}"/>
              </a:ext>
            </a:extLst>
          </p:cNvPr>
          <p:cNvSpPr>
            <a:spLocks noGrp="1"/>
          </p:cNvSpPr>
          <p:nvPr/>
        </p:nvSpPr>
        <p:spPr>
          <a:xfrm>
            <a:off x="4248150" y="1962150"/>
            <a:ext cx="32385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1143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ay-label">
            <a:extLst>
              <a:ext uri="{FF2B5EF4-FFF2-40B4-BE49-F238E27FC236}">
                <a16:creationId xmlns:a16="http://schemas.microsoft.com/office/drawing/2014/main" id="{9213CC6A-F26F-45DE-8541-81030D1AE794}"/>
              </a:ext>
            </a:extLst>
          </p:cNvPr>
          <p:cNvSpPr>
            <a:spLocks noGrp="1"/>
          </p:cNvSpPr>
          <p:nvPr/>
        </p:nvSpPr>
        <p:spPr>
          <a:xfrm>
            <a:off x="4514850" y="2266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Day3-4</a:t>
            </a:r>
          </a:p>
        </p:txBody>
      </p:sp>
      <p:sp>
        <p:nvSpPr>
          <p:cNvPr id="13" name="day-title">
            <a:extLst>
              <a:ext uri="{FF2B5EF4-FFF2-40B4-BE49-F238E27FC236}">
                <a16:creationId xmlns:a16="http://schemas.microsoft.com/office/drawing/2014/main" id="{E859191F-1F79-48B4-A1F5-3C87038D3DFA}"/>
              </a:ext>
            </a:extLst>
          </p:cNvPr>
          <p:cNvSpPr>
            <a:spLocks noGrp="1"/>
          </p:cNvSpPr>
          <p:nvPr/>
        </p:nvSpPr>
        <p:spPr>
          <a:xfrm>
            <a:off x="4514850" y="27432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0A0A0A"/>
                </a:solidFill>
              </a:defRPr>
            </a:pPr>
            <a:r>
              <a:rPr sz="2100" b="1" i="0">
                <a:solidFill>
                  <a:srgbClr val="0A0A0A"/>
                </a:solidFill>
              </a:rPr>
              <a:t>评测与长音频</a:t>
            </a:r>
          </a:p>
        </p:txBody>
      </p:sp>
      <p:sp>
        <p:nvSpPr>
          <p:cNvPr id="14" name="day-detail">
            <a:extLst>
              <a:ext uri="{FF2B5EF4-FFF2-40B4-BE49-F238E27FC236}">
                <a16:creationId xmlns:a16="http://schemas.microsoft.com/office/drawing/2014/main" id="{7E8264EC-1DAD-46DE-84F2-31C42F197BC8}"/>
              </a:ext>
            </a:extLst>
          </p:cNvPr>
          <p:cNvSpPr>
            <a:spLocks noGrp="1"/>
          </p:cNvSpPr>
          <p:nvPr/>
        </p:nvSpPr>
        <p:spPr>
          <a:xfrm>
            <a:off x="4514850" y="33909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55555"/>
                </a:solidFill>
              </a:defRPr>
            </a:pPr>
            <a:r>
              <a:rPr sz="1425" b="0" i="0">
                <a:solidFill>
                  <a:srgbClr val="555555"/>
                </a:solidFill>
              </a:rPr>
              <a:t>表单自动化、知识库规则、FunASR/SenseVoice/Qwen3 评测；16/30 分钟与切片验证。</a:t>
            </a:r>
          </a:p>
        </p:txBody>
      </p:sp>
      <p:sp>
        <p:nvSpPr>
          <p:cNvPr id="15" name="rule">
            <a:extLst>
              <a:ext uri="{FF2B5EF4-FFF2-40B4-BE49-F238E27FC236}">
                <a16:creationId xmlns:a16="http://schemas.microsoft.com/office/drawing/2014/main" id="{F4F5E492-702A-4A85-9892-ECA4286AFAC9}"/>
              </a:ext>
            </a:extLst>
          </p:cNvPr>
          <p:cNvSpPr>
            <a:spLocks noGrp="1"/>
          </p:cNvSpPr>
          <p:nvPr/>
        </p:nvSpPr>
        <p:spPr>
          <a:xfrm>
            <a:off x="4514850" y="4457700"/>
            <a:ext cx="2628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ay-map">
            <a:extLst>
              <a:ext uri="{FF2B5EF4-FFF2-40B4-BE49-F238E27FC236}">
                <a16:creationId xmlns:a16="http://schemas.microsoft.com/office/drawing/2014/main" id="{1EB577F7-37BA-4880-B34B-662EDD9997A2}"/>
              </a:ext>
            </a:extLst>
          </p:cNvPr>
          <p:cNvSpPr>
            <a:spLocks noGrp="1"/>
          </p:cNvSpPr>
          <p:nvPr/>
        </p:nvSpPr>
        <p:spPr>
          <a:xfrm>
            <a:off x="4514850" y="4648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技术打通 / 技术深度</a:t>
            </a:r>
          </a:p>
        </p:txBody>
      </p:sp>
      <p:sp>
        <p:nvSpPr>
          <p:cNvPr id="17" name="day-block">
            <a:extLst>
              <a:ext uri="{FF2B5EF4-FFF2-40B4-BE49-F238E27FC236}">
                <a16:creationId xmlns:a16="http://schemas.microsoft.com/office/drawing/2014/main" id="{8286B36D-FE53-4A03-9B8C-EEB6ADAF1368}"/>
              </a:ext>
            </a:extLst>
          </p:cNvPr>
          <p:cNvSpPr>
            <a:spLocks noGrp="1"/>
          </p:cNvSpPr>
          <p:nvPr/>
        </p:nvSpPr>
        <p:spPr>
          <a:xfrm>
            <a:off x="7943850" y="1962150"/>
            <a:ext cx="3238500" cy="3067050"/>
          </a:xfrm>
          <a:prstGeom prst="roundRect">
            <a:avLst>
              <a:gd name="adj" fmla="val 621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day-label">
            <a:extLst>
              <a:ext uri="{FF2B5EF4-FFF2-40B4-BE49-F238E27FC236}">
                <a16:creationId xmlns:a16="http://schemas.microsoft.com/office/drawing/2014/main" id="{0D5B7415-5BF2-4157-A51E-FC0ADFECFED6}"/>
              </a:ext>
            </a:extLst>
          </p:cNvPr>
          <p:cNvSpPr>
            <a:spLocks noGrp="1"/>
          </p:cNvSpPr>
          <p:nvPr/>
        </p:nvSpPr>
        <p:spPr>
          <a:xfrm>
            <a:off x="8210550" y="2266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555555"/>
                </a:solidFill>
              </a:defRPr>
            </a:pPr>
            <a:r>
              <a:rPr sz="1650" b="1" i="0">
                <a:solidFill>
                  <a:srgbClr val="555555"/>
                </a:solidFill>
              </a:rPr>
              <a:t>Day5</a:t>
            </a:r>
          </a:p>
        </p:txBody>
      </p:sp>
      <p:sp>
        <p:nvSpPr>
          <p:cNvPr id="19" name="day-title">
            <a:extLst>
              <a:ext uri="{FF2B5EF4-FFF2-40B4-BE49-F238E27FC236}">
                <a16:creationId xmlns:a16="http://schemas.microsoft.com/office/drawing/2014/main" id="{33C39E9B-32D9-47C5-9149-A9607D43BF57}"/>
              </a:ext>
            </a:extLst>
          </p:cNvPr>
          <p:cNvSpPr>
            <a:spLocks noGrp="1"/>
          </p:cNvSpPr>
          <p:nvPr/>
        </p:nvSpPr>
        <p:spPr>
          <a:xfrm>
            <a:off x="8210550" y="27432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0A0A0A"/>
                </a:solidFill>
              </a:defRPr>
            </a:pPr>
            <a:r>
              <a:rPr sz="2100" b="1" i="0">
                <a:solidFill>
                  <a:srgbClr val="0A0A0A"/>
                </a:solidFill>
              </a:rPr>
              <a:t>可部署可演示</a:t>
            </a:r>
          </a:p>
        </p:txBody>
      </p:sp>
      <p:sp>
        <p:nvSpPr>
          <p:cNvPr id="20" name="day-detail">
            <a:extLst>
              <a:ext uri="{FF2B5EF4-FFF2-40B4-BE49-F238E27FC236}">
                <a16:creationId xmlns:a16="http://schemas.microsoft.com/office/drawing/2014/main" id="{ED962629-6259-4B0B-AF44-1522075AAAAC}"/>
              </a:ext>
            </a:extLst>
          </p:cNvPr>
          <p:cNvSpPr>
            <a:spLocks noGrp="1"/>
          </p:cNvSpPr>
          <p:nvPr/>
        </p:nvSpPr>
        <p:spPr>
          <a:xfrm>
            <a:off x="8210550" y="33909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55555"/>
                </a:solidFill>
              </a:defRPr>
            </a:pPr>
            <a:r>
              <a:rPr sz="1425" b="0" i="0">
                <a:solidFill>
                  <a:srgbClr val="555555"/>
                </a:solidFill>
              </a:rPr>
              <a:t>系统架构设计表、Docker 2601、医生端验收、实时预览、转写 UI 简化。</a:t>
            </a:r>
          </a:p>
        </p:txBody>
      </p:sp>
      <p:sp>
        <p:nvSpPr>
          <p:cNvPr id="21" name="rule">
            <a:extLst>
              <a:ext uri="{FF2B5EF4-FFF2-40B4-BE49-F238E27FC236}">
                <a16:creationId xmlns:a16="http://schemas.microsoft.com/office/drawing/2014/main" id="{206FFBAD-A532-49FB-9C8B-9C2FAEA6CDE5}"/>
              </a:ext>
            </a:extLst>
          </p:cNvPr>
          <p:cNvSpPr>
            <a:spLocks noGrp="1"/>
          </p:cNvSpPr>
          <p:nvPr/>
        </p:nvSpPr>
        <p:spPr>
          <a:xfrm>
            <a:off x="8210550" y="4457700"/>
            <a:ext cx="2628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day-map">
            <a:extLst>
              <a:ext uri="{FF2B5EF4-FFF2-40B4-BE49-F238E27FC236}">
                <a16:creationId xmlns:a16="http://schemas.microsoft.com/office/drawing/2014/main" id="{7E0BAF4B-0F37-4774-ACF0-A19E58CE792A}"/>
              </a:ext>
            </a:extLst>
          </p:cNvPr>
          <p:cNvSpPr>
            <a:spLocks noGrp="1"/>
          </p:cNvSpPr>
          <p:nvPr/>
        </p:nvSpPr>
        <p:spPr>
          <a:xfrm>
            <a:off x="8210550" y="4648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架构 / 接口 / 演示</a:t>
            </a:r>
          </a:p>
        </p:txBody>
      </p:sp>
    </p:spTree>
    <p:extLst>
      <p:ext uri="{BB962C8B-B14F-4D97-AF65-F5344CB8AC3E}">
        <p14:creationId xmlns:p14="http://schemas.microsoft.com/office/powerpoint/2010/main" val="34459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3B6FC755-19AA-480F-8673-51D6CABAD909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FAFD11-C72D-4A33-80BA-1B48A58F4D17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表单、日志和测试形成一条证据链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8F5509F-63F7-4117-93C6-EDC432B28A0D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1C2AF79D-2190-4123-ADF1-7BB6DB584ADA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hain-left">
            <a:extLst>
              <a:ext uri="{FF2B5EF4-FFF2-40B4-BE49-F238E27FC236}">
                <a16:creationId xmlns:a16="http://schemas.microsoft.com/office/drawing/2014/main" id="{15BA9E24-FB2A-4B2F-8F2F-6CED94AD14F8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hain-name">
            <a:extLst>
              <a:ext uri="{FF2B5EF4-FFF2-40B4-BE49-F238E27FC236}">
                <a16:creationId xmlns:a16="http://schemas.microsoft.com/office/drawing/2014/main" id="{D8776D3E-4628-4F42-88E7-B333DBF22CEA}"/>
              </a:ext>
            </a:extLst>
          </p:cNvPr>
          <p:cNvSpPr>
            <a:spLocks noGrp="1"/>
          </p:cNvSpPr>
          <p:nvPr/>
        </p:nvSpPr>
        <p:spPr>
          <a:xfrm>
            <a:off x="933450" y="18764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每日任务记录表</a:t>
            </a:r>
          </a:p>
        </p:txBody>
      </p:sp>
      <p:sp>
        <p:nvSpPr>
          <p:cNvPr id="7" name="chain-arrow">
            <a:extLst>
              <a:ext uri="{FF2B5EF4-FFF2-40B4-BE49-F238E27FC236}">
                <a16:creationId xmlns:a16="http://schemas.microsoft.com/office/drawing/2014/main" id="{6F945BE5-7FF5-4BD8-A805-CF488D52EE57}"/>
              </a:ext>
            </a:extLst>
          </p:cNvPr>
          <p:cNvSpPr>
            <a:spLocks noGrp="1"/>
          </p:cNvSpPr>
          <p:nvPr/>
        </p:nvSpPr>
        <p:spPr>
          <a:xfrm>
            <a:off x="3752850" y="18478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8" name="chain-detail">
            <a:extLst>
              <a:ext uri="{FF2B5EF4-FFF2-40B4-BE49-F238E27FC236}">
                <a16:creationId xmlns:a16="http://schemas.microsoft.com/office/drawing/2014/main" id="{9BC9D8E6-65C4-44A2-8562-3E3756BF195F}"/>
              </a:ext>
            </a:extLst>
          </p:cNvPr>
          <p:cNvSpPr>
            <a:spLocks noGrp="1"/>
          </p:cNvSpPr>
          <p:nvPr/>
        </p:nvSpPr>
        <p:spPr>
          <a:xfrm>
            <a:off x="4400550" y="18573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计划、完成、问题、解决方案、下一步</a:t>
            </a:r>
          </a:p>
        </p:txBody>
      </p:sp>
      <p:sp>
        <p:nvSpPr>
          <p:cNvPr id="9" name="chain-left">
            <a:extLst>
              <a:ext uri="{FF2B5EF4-FFF2-40B4-BE49-F238E27FC236}">
                <a16:creationId xmlns:a16="http://schemas.microsoft.com/office/drawing/2014/main" id="{5DF5CEE3-528C-454B-B7C0-112518DB5319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hain-name">
            <a:extLst>
              <a:ext uri="{FF2B5EF4-FFF2-40B4-BE49-F238E27FC236}">
                <a16:creationId xmlns:a16="http://schemas.microsoft.com/office/drawing/2014/main" id="{513B9FE8-58A6-474E-B55D-538A7A1ABB3D}"/>
              </a:ext>
            </a:extLst>
          </p:cNvPr>
          <p:cNvSpPr>
            <a:spLocks noGrp="1"/>
          </p:cNvSpPr>
          <p:nvPr/>
        </p:nvSpPr>
        <p:spPr>
          <a:xfrm>
            <a:off x="933450" y="26003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功能清单</a:t>
            </a:r>
          </a:p>
        </p:txBody>
      </p:sp>
      <p:sp>
        <p:nvSpPr>
          <p:cNvPr id="11" name="chain-arrow">
            <a:extLst>
              <a:ext uri="{FF2B5EF4-FFF2-40B4-BE49-F238E27FC236}">
                <a16:creationId xmlns:a16="http://schemas.microsoft.com/office/drawing/2014/main" id="{7C576EEB-8041-475F-88E0-2EE6A4F5C105}"/>
              </a:ext>
            </a:extLst>
          </p:cNvPr>
          <p:cNvSpPr>
            <a:spLocks noGrp="1"/>
          </p:cNvSpPr>
          <p:nvPr/>
        </p:nvSpPr>
        <p:spPr>
          <a:xfrm>
            <a:off x="3752850" y="25717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chain-detail">
            <a:extLst>
              <a:ext uri="{FF2B5EF4-FFF2-40B4-BE49-F238E27FC236}">
                <a16:creationId xmlns:a16="http://schemas.microsoft.com/office/drawing/2014/main" id="{618B62A0-4EA4-4DB3-9659-F66EDA3C023E}"/>
              </a:ext>
            </a:extLst>
          </p:cNvPr>
          <p:cNvSpPr>
            <a:spLocks noGrp="1"/>
          </p:cNvSpPr>
          <p:nvPr/>
        </p:nvSpPr>
        <p:spPr>
          <a:xfrm>
            <a:off x="4400550" y="25812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转写、角色校正、病历生成、知识库、评测、长音频</a:t>
            </a:r>
          </a:p>
        </p:txBody>
      </p:sp>
      <p:sp>
        <p:nvSpPr>
          <p:cNvPr id="13" name="chain-left">
            <a:extLst>
              <a:ext uri="{FF2B5EF4-FFF2-40B4-BE49-F238E27FC236}">
                <a16:creationId xmlns:a16="http://schemas.microsoft.com/office/drawing/2014/main" id="{F16D086A-A240-4D92-A3D5-7AFCC6630A4B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hain-name">
            <a:extLst>
              <a:ext uri="{FF2B5EF4-FFF2-40B4-BE49-F238E27FC236}">
                <a16:creationId xmlns:a16="http://schemas.microsoft.com/office/drawing/2014/main" id="{138825F5-5CB7-4C27-AACB-D2C37A3A979E}"/>
              </a:ext>
            </a:extLst>
          </p:cNvPr>
          <p:cNvSpPr>
            <a:spLocks noGrp="1"/>
          </p:cNvSpPr>
          <p:nvPr/>
        </p:nvSpPr>
        <p:spPr>
          <a:xfrm>
            <a:off x="933450" y="33242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项目说明</a:t>
            </a:r>
          </a:p>
        </p:txBody>
      </p:sp>
      <p:sp>
        <p:nvSpPr>
          <p:cNvPr id="15" name="chain-arrow">
            <a:extLst>
              <a:ext uri="{FF2B5EF4-FFF2-40B4-BE49-F238E27FC236}">
                <a16:creationId xmlns:a16="http://schemas.microsoft.com/office/drawing/2014/main" id="{2B24277F-63EB-47D2-BF53-DCBCA679D859}"/>
              </a:ext>
            </a:extLst>
          </p:cNvPr>
          <p:cNvSpPr>
            <a:spLocks noGrp="1"/>
          </p:cNvSpPr>
          <p:nvPr/>
        </p:nvSpPr>
        <p:spPr>
          <a:xfrm>
            <a:off x="3752850" y="32956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6" name="chain-detail">
            <a:extLst>
              <a:ext uri="{FF2B5EF4-FFF2-40B4-BE49-F238E27FC236}">
                <a16:creationId xmlns:a16="http://schemas.microsoft.com/office/drawing/2014/main" id="{D6CBB14F-A779-48BF-89EE-58D1569ED111}"/>
              </a:ext>
            </a:extLst>
          </p:cNvPr>
          <p:cNvSpPr>
            <a:spLocks noGrp="1"/>
          </p:cNvSpPr>
          <p:nvPr/>
        </p:nvSpPr>
        <p:spPr>
          <a:xfrm>
            <a:off x="4400550" y="33051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医生审核辅助定位，不宣称自动诊断</a:t>
            </a:r>
          </a:p>
        </p:txBody>
      </p:sp>
      <p:sp>
        <p:nvSpPr>
          <p:cNvPr id="17" name="chain-left">
            <a:extLst>
              <a:ext uri="{FF2B5EF4-FFF2-40B4-BE49-F238E27FC236}">
                <a16:creationId xmlns:a16="http://schemas.microsoft.com/office/drawing/2014/main" id="{571E0555-B008-437C-BCA3-52487381F73B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chain-name">
            <a:extLst>
              <a:ext uri="{FF2B5EF4-FFF2-40B4-BE49-F238E27FC236}">
                <a16:creationId xmlns:a16="http://schemas.microsoft.com/office/drawing/2014/main" id="{29ED1BAF-CCF0-4FE0-B7F5-E2495873E103}"/>
              </a:ext>
            </a:extLst>
          </p:cNvPr>
          <p:cNvSpPr>
            <a:spLocks noGrp="1"/>
          </p:cNvSpPr>
          <p:nvPr/>
        </p:nvSpPr>
        <p:spPr>
          <a:xfrm>
            <a:off x="933450" y="40481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系统架构设计表</a:t>
            </a:r>
          </a:p>
        </p:txBody>
      </p:sp>
      <p:sp>
        <p:nvSpPr>
          <p:cNvPr id="19" name="chain-arrow">
            <a:extLst>
              <a:ext uri="{FF2B5EF4-FFF2-40B4-BE49-F238E27FC236}">
                <a16:creationId xmlns:a16="http://schemas.microsoft.com/office/drawing/2014/main" id="{10FCE7F6-93F4-4F14-BB70-DD750C945306}"/>
              </a:ext>
            </a:extLst>
          </p:cNvPr>
          <p:cNvSpPr>
            <a:spLocks noGrp="1"/>
          </p:cNvSpPr>
          <p:nvPr/>
        </p:nvSpPr>
        <p:spPr>
          <a:xfrm>
            <a:off x="3752850" y="4019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0" name="chain-detail">
            <a:extLst>
              <a:ext uri="{FF2B5EF4-FFF2-40B4-BE49-F238E27FC236}">
                <a16:creationId xmlns:a16="http://schemas.microsoft.com/office/drawing/2014/main" id="{071AC2F7-00B7-4464-A19A-5409F4907F01}"/>
              </a:ext>
            </a:extLst>
          </p:cNvPr>
          <p:cNvSpPr>
            <a:spLocks noGrp="1"/>
          </p:cNvSpPr>
          <p:nvPr/>
        </p:nvSpPr>
        <p:spPr>
          <a:xfrm>
            <a:off x="4400550" y="40290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前端、API、ASR、Agent、存储和导出链路</a:t>
            </a:r>
          </a:p>
        </p:txBody>
      </p:sp>
      <p:sp>
        <p:nvSpPr>
          <p:cNvPr id="21" name="chain-left">
            <a:extLst>
              <a:ext uri="{FF2B5EF4-FFF2-40B4-BE49-F238E27FC236}">
                <a16:creationId xmlns:a16="http://schemas.microsoft.com/office/drawing/2014/main" id="{E154DE94-B080-4D98-9E2C-710973B43517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chain-name">
            <a:extLst>
              <a:ext uri="{FF2B5EF4-FFF2-40B4-BE49-F238E27FC236}">
                <a16:creationId xmlns:a16="http://schemas.microsoft.com/office/drawing/2014/main" id="{D4493AB0-68BB-43C3-8467-72EFD7B32108}"/>
              </a:ext>
            </a:extLst>
          </p:cNvPr>
          <p:cNvSpPr>
            <a:spLocks noGrp="1"/>
          </p:cNvSpPr>
          <p:nvPr/>
        </p:nvSpPr>
        <p:spPr>
          <a:xfrm>
            <a:off x="933450" y="47720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第一周评分表</a:t>
            </a:r>
          </a:p>
        </p:txBody>
      </p:sp>
      <p:sp>
        <p:nvSpPr>
          <p:cNvPr id="23" name="chain-arrow">
            <a:extLst>
              <a:ext uri="{FF2B5EF4-FFF2-40B4-BE49-F238E27FC236}">
                <a16:creationId xmlns:a16="http://schemas.microsoft.com/office/drawing/2014/main" id="{5CDDEEBE-6A9C-47D7-8FD6-1074E82D4598}"/>
              </a:ext>
            </a:extLst>
          </p:cNvPr>
          <p:cNvSpPr>
            <a:spLocks noGrp="1"/>
          </p:cNvSpPr>
          <p:nvPr/>
        </p:nvSpPr>
        <p:spPr>
          <a:xfrm>
            <a:off x="3752850" y="47434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4" name="chain-detail">
            <a:extLst>
              <a:ext uri="{FF2B5EF4-FFF2-40B4-BE49-F238E27FC236}">
                <a16:creationId xmlns:a16="http://schemas.microsoft.com/office/drawing/2014/main" id="{B8826D64-B4C4-4700-A835-8E4862E3D5F0}"/>
              </a:ext>
            </a:extLst>
          </p:cNvPr>
          <p:cNvSpPr>
            <a:spLocks noGrp="1"/>
          </p:cNvSpPr>
          <p:nvPr/>
        </p:nvSpPr>
        <p:spPr>
          <a:xfrm>
            <a:off x="4400550" y="47529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>
                <a:solidFill>
                  <a:srgbClr val="0A0A0A"/>
                </a:solidFill>
              </a:rPr>
              <a:t>8+6+3+3 汇总自评，等待老师确认</a:t>
            </a:r>
          </a:p>
        </p:txBody>
      </p:sp>
    </p:spTree>
    <p:extLst>
      <p:ext uri="{BB962C8B-B14F-4D97-AF65-F5344CB8AC3E}">
        <p14:creationId xmlns:p14="http://schemas.microsoft.com/office/powerpoint/2010/main" val="1400865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E680E2F2-2192-4931-B685-802066EB6EE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279FFE9-0A55-4182-9A3D-BA85B464577F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音频到病历的链路已经拆成可替换模块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959969D4-ACA0-4E57-B103-9F3CC56AB8B4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24A64DA4-D92B-428C-8975-FF75F5D544D1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865709"/>
            <a:ext cx="6000750" cy="3450431"/>
          </a:xfrm>
          <a:prstGeom prst="roundRect">
            <a:avLst>
              <a:gd name="adj" fmla="val 503"/>
            </a:avLst>
          </a:prstGeom>
        </p:spPr>
      </p:pic>
      <p:sp>
        <p:nvSpPr>
          <p:cNvPr id="6" name="arch-panel">
            <a:extLst>
              <a:ext uri="{FF2B5EF4-FFF2-40B4-BE49-F238E27FC236}">
                <a16:creationId xmlns:a16="http://schemas.microsoft.com/office/drawing/2014/main" id="{194D057D-2724-4AF0-9239-FCBF036A2FDF}"/>
              </a:ext>
            </a:extLst>
          </p:cNvPr>
          <p:cNvSpPr>
            <a:spLocks noGrp="1"/>
          </p:cNvSpPr>
          <p:nvPr/>
        </p:nvSpPr>
        <p:spPr>
          <a:xfrm>
            <a:off x="6972300" y="1695450"/>
            <a:ext cx="4095750" cy="3790950"/>
          </a:xfrm>
          <a:prstGeom prst="roundRect">
            <a:avLst>
              <a:gd name="adj" fmla="val 50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bullet-dot">
            <a:extLst>
              <a:ext uri="{FF2B5EF4-FFF2-40B4-BE49-F238E27FC236}">
                <a16:creationId xmlns:a16="http://schemas.microsoft.com/office/drawing/2014/main" id="{0537E6E1-F414-470E-B348-4967E5CA89DD}"/>
              </a:ext>
            </a:extLst>
          </p:cNvPr>
          <p:cNvSpPr>
            <a:spLocks noGrp="1"/>
          </p:cNvSpPr>
          <p:nvPr/>
        </p:nvSpPr>
        <p:spPr>
          <a:xfrm>
            <a:off x="7296150" y="21431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ullet-text">
            <a:extLst>
              <a:ext uri="{FF2B5EF4-FFF2-40B4-BE49-F238E27FC236}">
                <a16:creationId xmlns:a16="http://schemas.microsoft.com/office/drawing/2014/main" id="{3DB94FC9-AA41-48DF-9249-4FC6C727B145}"/>
              </a:ext>
            </a:extLst>
          </p:cNvPr>
          <p:cNvSpPr>
            <a:spLocks noGrp="1"/>
          </p:cNvSpPr>
          <p:nvPr/>
        </p:nvSpPr>
        <p:spPr>
          <a:xfrm>
            <a:off x="7467600" y="205740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医生工作台：输入、转写、校正、审核、导出</a:t>
            </a:r>
          </a:p>
        </p:txBody>
      </p:sp>
      <p:sp>
        <p:nvSpPr>
          <p:cNvPr id="9" name="bullet-dot">
            <a:extLst>
              <a:ext uri="{FF2B5EF4-FFF2-40B4-BE49-F238E27FC236}">
                <a16:creationId xmlns:a16="http://schemas.microsoft.com/office/drawing/2014/main" id="{5E69CB77-0BD2-429A-9CDA-FF9C0D105147}"/>
              </a:ext>
            </a:extLst>
          </p:cNvPr>
          <p:cNvSpPr>
            <a:spLocks noGrp="1"/>
          </p:cNvSpPr>
          <p:nvPr/>
        </p:nvSpPr>
        <p:spPr>
          <a:xfrm>
            <a:off x="7296150" y="27336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ullet-text">
            <a:extLst>
              <a:ext uri="{FF2B5EF4-FFF2-40B4-BE49-F238E27FC236}">
                <a16:creationId xmlns:a16="http://schemas.microsoft.com/office/drawing/2014/main" id="{7E7A1C5C-D4FD-44FB-807F-A0D812579985}"/>
              </a:ext>
            </a:extLst>
          </p:cNvPr>
          <p:cNvSpPr>
            <a:spLocks noGrp="1"/>
          </p:cNvSpPr>
          <p:nvPr/>
        </p:nvSpPr>
        <p:spPr>
          <a:xfrm>
            <a:off x="7467600" y="264795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FastAPI：ASR session、records、tasks、export</a:t>
            </a:r>
          </a:p>
        </p:txBody>
      </p:sp>
      <p:sp>
        <p:nvSpPr>
          <p:cNvPr id="11" name="bullet-dot">
            <a:extLst>
              <a:ext uri="{FF2B5EF4-FFF2-40B4-BE49-F238E27FC236}">
                <a16:creationId xmlns:a16="http://schemas.microsoft.com/office/drawing/2014/main" id="{BFB9462F-034B-4B66-9F0D-2FAD3CA38666}"/>
              </a:ext>
            </a:extLst>
          </p:cNvPr>
          <p:cNvSpPr>
            <a:spLocks noGrp="1"/>
          </p:cNvSpPr>
          <p:nvPr/>
        </p:nvSpPr>
        <p:spPr>
          <a:xfrm>
            <a:off x="7296150" y="33242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ullet-text">
            <a:extLst>
              <a:ext uri="{FF2B5EF4-FFF2-40B4-BE49-F238E27FC236}">
                <a16:creationId xmlns:a16="http://schemas.microsoft.com/office/drawing/2014/main" id="{D6BB5415-C7DE-4BA3-B39E-7FEB3F10C6B6}"/>
              </a:ext>
            </a:extLst>
          </p:cNvPr>
          <p:cNvSpPr>
            <a:spLocks noGrp="1"/>
          </p:cNvSpPr>
          <p:nvPr/>
        </p:nvSpPr>
        <p:spPr>
          <a:xfrm>
            <a:off x="7467600" y="323850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ASR 层：Mock、FunASR、SenseVoice、Qwen3 候选</a:t>
            </a:r>
          </a:p>
        </p:txBody>
      </p:sp>
      <p:sp>
        <p:nvSpPr>
          <p:cNvPr id="13" name="bullet-dot">
            <a:extLst>
              <a:ext uri="{FF2B5EF4-FFF2-40B4-BE49-F238E27FC236}">
                <a16:creationId xmlns:a16="http://schemas.microsoft.com/office/drawing/2014/main" id="{A1FA6A97-E003-48EA-AA24-F81189DAA629}"/>
              </a:ext>
            </a:extLst>
          </p:cNvPr>
          <p:cNvSpPr>
            <a:spLocks noGrp="1"/>
          </p:cNvSpPr>
          <p:nvPr/>
        </p:nvSpPr>
        <p:spPr>
          <a:xfrm>
            <a:off x="7296150" y="39147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-text">
            <a:extLst>
              <a:ext uri="{FF2B5EF4-FFF2-40B4-BE49-F238E27FC236}">
                <a16:creationId xmlns:a16="http://schemas.microsoft.com/office/drawing/2014/main" id="{EAA5BEE0-6D0F-4E76-94BE-460329EC154A}"/>
              </a:ext>
            </a:extLst>
          </p:cNvPr>
          <p:cNvSpPr>
            <a:spLocks noGrp="1"/>
          </p:cNvSpPr>
          <p:nvPr/>
        </p:nvSpPr>
        <p:spPr>
          <a:xfrm>
            <a:off x="7467600" y="382905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Agent/知识库：字段抽取、候选诊断、风险提醒</a:t>
            </a:r>
          </a:p>
        </p:txBody>
      </p:sp>
      <p:sp>
        <p:nvSpPr>
          <p:cNvPr id="15" name="bullet-dot">
            <a:extLst>
              <a:ext uri="{FF2B5EF4-FFF2-40B4-BE49-F238E27FC236}">
                <a16:creationId xmlns:a16="http://schemas.microsoft.com/office/drawing/2014/main" id="{33CA0B7A-9009-4F09-A6A3-EE0B57DB4045}"/>
              </a:ext>
            </a:extLst>
          </p:cNvPr>
          <p:cNvSpPr>
            <a:spLocks noGrp="1"/>
          </p:cNvSpPr>
          <p:nvPr/>
        </p:nvSpPr>
        <p:spPr>
          <a:xfrm>
            <a:off x="7296150" y="45053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ullet-text">
            <a:extLst>
              <a:ext uri="{FF2B5EF4-FFF2-40B4-BE49-F238E27FC236}">
                <a16:creationId xmlns:a16="http://schemas.microsoft.com/office/drawing/2014/main" id="{BC8B4244-4207-487C-B627-1AF26FB1FD5D}"/>
              </a:ext>
            </a:extLst>
          </p:cNvPr>
          <p:cNvSpPr>
            <a:spLocks noGrp="1"/>
          </p:cNvSpPr>
          <p:nvPr/>
        </p:nvSpPr>
        <p:spPr>
          <a:xfrm>
            <a:off x="7467600" y="441960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证据落点：SQLite、runtime、daily/debug log</a:t>
            </a:r>
          </a:p>
        </p:txBody>
      </p:sp>
    </p:spTree>
    <p:extLst>
      <p:ext uri="{BB962C8B-B14F-4D97-AF65-F5344CB8AC3E}">
        <p14:creationId xmlns:p14="http://schemas.microsoft.com/office/powerpoint/2010/main" val="70728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70A5195D-EC91-4680-AFF8-3C0CB389143D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C2A713D-43A7-4DCF-9028-ED962DE27783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转写主视图改成医生可读的对话列表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2739DCD-3FA8-409F-A05A-8706479CFB6F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183134FF-0705-4FFE-B70F-FEE544447FD2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ranscript-panel">
            <a:extLst>
              <a:ext uri="{FF2B5EF4-FFF2-40B4-BE49-F238E27FC236}">
                <a16:creationId xmlns:a16="http://schemas.microsoft.com/office/drawing/2014/main" id="{EE5AED24-E1CA-403D-90B6-142BBD1651DC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6762750" cy="3429000"/>
          </a:xfrm>
          <a:prstGeom prst="roundRect">
            <a:avLst>
              <a:gd name="adj" fmla="val 556"/>
            </a:avLst>
          </a:prstGeom>
          <a:solidFill>
            <a:srgbClr val="F7F7F7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ranscript-title">
            <a:extLst>
              <a:ext uri="{FF2B5EF4-FFF2-40B4-BE49-F238E27FC236}">
                <a16:creationId xmlns:a16="http://schemas.microsoft.com/office/drawing/2014/main" id="{E956E5CA-0D7B-4D28-9D9D-FA4FE18ACC62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>
                <a:solidFill>
                  <a:srgbClr val="0A0A0A"/>
                </a:solidFill>
              </a:rPr>
              <a:t>对话转写</a:t>
            </a:r>
          </a:p>
        </p:txBody>
      </p:sp>
      <p:sp>
        <p:nvSpPr>
          <p:cNvPr id="7" name="time">
            <a:extLst>
              <a:ext uri="{FF2B5EF4-FFF2-40B4-BE49-F238E27FC236}">
                <a16:creationId xmlns:a16="http://schemas.microsoft.com/office/drawing/2014/main" id="{51D20262-33CC-4EC5-A398-046D28E8254A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10:05:12</a:t>
            </a:r>
          </a:p>
        </p:txBody>
      </p:sp>
      <p:sp>
        <p:nvSpPr>
          <p:cNvPr id="8" name="role">
            <a:extLst>
              <a:ext uri="{FF2B5EF4-FFF2-40B4-BE49-F238E27FC236}">
                <a16:creationId xmlns:a16="http://schemas.microsoft.com/office/drawing/2014/main" id="{4BF2643A-800E-4A63-A421-6D474262AE7E}"/>
              </a:ext>
            </a:extLst>
          </p:cNvPr>
          <p:cNvSpPr>
            <a:spLocks noGrp="1"/>
          </p:cNvSpPr>
          <p:nvPr/>
        </p:nvSpPr>
        <p:spPr>
          <a:xfrm>
            <a:off x="1952625" y="264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【医生】</a:t>
            </a:r>
          </a:p>
        </p:txBody>
      </p:sp>
      <p:sp>
        <p:nvSpPr>
          <p:cNvPr id="9" name="line-text">
            <a:extLst>
              <a:ext uri="{FF2B5EF4-FFF2-40B4-BE49-F238E27FC236}">
                <a16:creationId xmlns:a16="http://schemas.microsoft.com/office/drawing/2014/main" id="{CB6EBBBC-04A4-44C6-91F6-90F7F6921864}"/>
              </a:ext>
            </a:extLst>
          </p:cNvPr>
          <p:cNvSpPr>
            <a:spLocks noGrp="1"/>
          </p:cNvSpPr>
          <p:nvPr/>
        </p:nvSpPr>
        <p:spPr>
          <a:xfrm>
            <a:off x="3009900" y="26479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你好，哪里不舒服？</a:t>
            </a:r>
          </a:p>
        </p:txBody>
      </p:sp>
      <p:sp>
        <p:nvSpPr>
          <p:cNvPr id="10" name="source-link">
            <a:extLst>
              <a:ext uri="{FF2B5EF4-FFF2-40B4-BE49-F238E27FC236}">
                <a16:creationId xmlns:a16="http://schemas.microsoft.com/office/drawing/2014/main" id="{4302D143-A2A6-4714-9435-87227CDEEE40}"/>
              </a:ext>
            </a:extLst>
          </p:cNvPr>
          <p:cNvSpPr>
            <a:spLocks noGrp="1"/>
          </p:cNvSpPr>
          <p:nvPr/>
        </p:nvSpPr>
        <p:spPr>
          <a:xfrm>
            <a:off x="6210300" y="2647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11" name="time">
            <a:extLst>
              <a:ext uri="{FF2B5EF4-FFF2-40B4-BE49-F238E27FC236}">
                <a16:creationId xmlns:a16="http://schemas.microsoft.com/office/drawing/2014/main" id="{4DB3EC40-C123-48F5-BEA4-DAB0E723BF58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10:05:18</a:t>
            </a:r>
          </a:p>
        </p:txBody>
      </p:sp>
      <p:sp>
        <p:nvSpPr>
          <p:cNvPr id="12" name="role">
            <a:extLst>
              <a:ext uri="{FF2B5EF4-FFF2-40B4-BE49-F238E27FC236}">
                <a16:creationId xmlns:a16="http://schemas.microsoft.com/office/drawing/2014/main" id="{8131CCF5-3F41-4D14-916A-E820A45CBE8A}"/>
              </a:ext>
            </a:extLst>
          </p:cNvPr>
          <p:cNvSpPr>
            <a:spLocks noGrp="1"/>
          </p:cNvSpPr>
          <p:nvPr/>
        </p:nvSpPr>
        <p:spPr>
          <a:xfrm>
            <a:off x="1952625" y="32004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</a:defRPr>
            </a:pPr>
            <a:r>
              <a:rPr sz="1275" b="1" i="0">
                <a:solidFill>
                  <a:srgbClr val="2563EB"/>
                </a:solidFill>
              </a:rPr>
              <a:t>【患者】</a:t>
            </a:r>
          </a:p>
        </p:txBody>
      </p:sp>
      <p:sp>
        <p:nvSpPr>
          <p:cNvPr id="13" name="line-text">
            <a:extLst>
              <a:ext uri="{FF2B5EF4-FFF2-40B4-BE49-F238E27FC236}">
                <a16:creationId xmlns:a16="http://schemas.microsoft.com/office/drawing/2014/main" id="{FF23D6AE-41B2-43C3-BB13-37439AD15B01}"/>
              </a:ext>
            </a:extLst>
          </p:cNvPr>
          <p:cNvSpPr>
            <a:spLocks noGrp="1"/>
          </p:cNvSpPr>
          <p:nvPr/>
        </p:nvSpPr>
        <p:spPr>
          <a:xfrm>
            <a:off x="3009900" y="320040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左手手掌被蛇咬了，肿痛两个小时左右。</a:t>
            </a:r>
          </a:p>
        </p:txBody>
      </p:sp>
      <p:sp>
        <p:nvSpPr>
          <p:cNvPr id="14" name="source-link">
            <a:extLst>
              <a:ext uri="{FF2B5EF4-FFF2-40B4-BE49-F238E27FC236}">
                <a16:creationId xmlns:a16="http://schemas.microsoft.com/office/drawing/2014/main" id="{F89070E2-16FA-4462-969D-C3BFE9F1B12D}"/>
              </a:ext>
            </a:extLst>
          </p:cNvPr>
          <p:cNvSpPr>
            <a:spLocks noGrp="1"/>
          </p:cNvSpPr>
          <p:nvPr/>
        </p:nvSpPr>
        <p:spPr>
          <a:xfrm>
            <a:off x="6210300" y="32004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15" name="time">
            <a:extLst>
              <a:ext uri="{FF2B5EF4-FFF2-40B4-BE49-F238E27FC236}">
                <a16:creationId xmlns:a16="http://schemas.microsoft.com/office/drawing/2014/main" id="{25200400-9572-4F7B-9D07-321692472DF3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10:05:26</a:t>
            </a:r>
          </a:p>
        </p:txBody>
      </p:sp>
      <p:sp>
        <p:nvSpPr>
          <p:cNvPr id="16" name="role">
            <a:extLst>
              <a:ext uri="{FF2B5EF4-FFF2-40B4-BE49-F238E27FC236}">
                <a16:creationId xmlns:a16="http://schemas.microsoft.com/office/drawing/2014/main" id="{E2C51507-E1C5-4C9B-861C-7423F03B60E0}"/>
              </a:ext>
            </a:extLst>
          </p:cNvPr>
          <p:cNvSpPr>
            <a:spLocks noGrp="1"/>
          </p:cNvSpPr>
          <p:nvPr/>
        </p:nvSpPr>
        <p:spPr>
          <a:xfrm>
            <a:off x="1952625" y="37528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【医生】</a:t>
            </a:r>
          </a:p>
        </p:txBody>
      </p:sp>
      <p:sp>
        <p:nvSpPr>
          <p:cNvPr id="17" name="line-text">
            <a:extLst>
              <a:ext uri="{FF2B5EF4-FFF2-40B4-BE49-F238E27FC236}">
                <a16:creationId xmlns:a16="http://schemas.microsoft.com/office/drawing/2014/main" id="{5243F937-F38D-43A9-A2A1-D06C9AE4F857}"/>
              </a:ext>
            </a:extLst>
          </p:cNvPr>
          <p:cNvSpPr>
            <a:spLocks noGrp="1"/>
          </p:cNvSpPr>
          <p:nvPr/>
        </p:nvSpPr>
        <p:spPr>
          <a:xfrm>
            <a:off x="3009900" y="37528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是什么时候被咬的？在什么地方？</a:t>
            </a:r>
          </a:p>
        </p:txBody>
      </p:sp>
      <p:sp>
        <p:nvSpPr>
          <p:cNvPr id="18" name="source-link">
            <a:extLst>
              <a:ext uri="{FF2B5EF4-FFF2-40B4-BE49-F238E27FC236}">
                <a16:creationId xmlns:a16="http://schemas.microsoft.com/office/drawing/2014/main" id="{1A6A6C4A-90E2-4B22-97F3-E63EF75385DF}"/>
              </a:ext>
            </a:extLst>
          </p:cNvPr>
          <p:cNvSpPr>
            <a:spLocks noGrp="1"/>
          </p:cNvSpPr>
          <p:nvPr/>
        </p:nvSpPr>
        <p:spPr>
          <a:xfrm>
            <a:off x="6210300" y="37528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19" name="active-row">
            <a:extLst>
              <a:ext uri="{FF2B5EF4-FFF2-40B4-BE49-F238E27FC236}">
                <a16:creationId xmlns:a16="http://schemas.microsoft.com/office/drawing/2014/main" id="{8B384312-7684-4872-A581-86EB6B72A6E5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6165935" cy="675572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ime">
            <a:extLst>
              <a:ext uri="{FF2B5EF4-FFF2-40B4-BE49-F238E27FC236}">
                <a16:creationId xmlns:a16="http://schemas.microsoft.com/office/drawing/2014/main" id="{65735391-78B9-417A-A343-2B922A1789FF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10:06:05</a:t>
            </a:r>
          </a:p>
        </p:txBody>
      </p:sp>
      <p:sp>
        <p:nvSpPr>
          <p:cNvPr id="21" name="role">
            <a:extLst>
              <a:ext uri="{FF2B5EF4-FFF2-40B4-BE49-F238E27FC236}">
                <a16:creationId xmlns:a16="http://schemas.microsoft.com/office/drawing/2014/main" id="{AFE1420A-34C9-4D48-80B6-EA2D9E6DB7E5}"/>
              </a:ext>
            </a:extLst>
          </p:cNvPr>
          <p:cNvSpPr>
            <a:spLocks noGrp="1"/>
          </p:cNvSpPr>
          <p:nvPr/>
        </p:nvSpPr>
        <p:spPr>
          <a:xfrm>
            <a:off x="1952625" y="43053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</a:defRPr>
            </a:pPr>
            <a:r>
              <a:rPr sz="1275" b="1" i="0">
                <a:solidFill>
                  <a:srgbClr val="2563EB"/>
                </a:solidFill>
              </a:rPr>
              <a:t>【患者】</a:t>
            </a:r>
          </a:p>
        </p:txBody>
      </p:sp>
      <p:sp>
        <p:nvSpPr>
          <p:cNvPr id="22" name="line-text">
            <a:extLst>
              <a:ext uri="{FF2B5EF4-FFF2-40B4-BE49-F238E27FC236}">
                <a16:creationId xmlns:a16="http://schemas.microsoft.com/office/drawing/2014/main" id="{DCF30B54-DC51-4DA0-8659-108D47F8C40B}"/>
              </a:ext>
            </a:extLst>
          </p:cNvPr>
          <p:cNvSpPr>
            <a:spLocks noGrp="1"/>
          </p:cNvSpPr>
          <p:nvPr/>
        </p:nvSpPr>
        <p:spPr>
          <a:xfrm>
            <a:off x="3009900" y="4293026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 dirty="0" err="1">
                <a:solidFill>
                  <a:srgbClr val="0A0A0A"/>
                </a:solidFill>
              </a:rPr>
              <a:t>现在肿得厉害，还有畏寒、头晕、牙龈出血</a:t>
            </a:r>
            <a:r>
              <a:rPr sz="1350" b="0" i="0" dirty="0">
                <a:solidFill>
                  <a:srgbClr val="0A0A0A"/>
                </a:solidFill>
              </a:rPr>
              <a:t>。</a:t>
            </a:r>
          </a:p>
        </p:txBody>
      </p:sp>
      <p:sp>
        <p:nvSpPr>
          <p:cNvPr id="23" name="source-link">
            <a:extLst>
              <a:ext uri="{FF2B5EF4-FFF2-40B4-BE49-F238E27FC236}">
                <a16:creationId xmlns:a16="http://schemas.microsoft.com/office/drawing/2014/main" id="{D2437A89-C891-44E4-9002-CB7992599323}"/>
              </a:ext>
            </a:extLst>
          </p:cNvPr>
          <p:cNvSpPr>
            <a:spLocks noGrp="1"/>
          </p:cNvSpPr>
          <p:nvPr/>
        </p:nvSpPr>
        <p:spPr>
          <a:xfrm>
            <a:off x="6210300" y="43053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24" name="correction-panel">
            <a:extLst>
              <a:ext uri="{FF2B5EF4-FFF2-40B4-BE49-F238E27FC236}">
                <a16:creationId xmlns:a16="http://schemas.microsoft.com/office/drawing/2014/main" id="{9514D923-2A2C-4E29-A179-A4ED8E82D351}"/>
              </a:ext>
            </a:extLst>
          </p:cNvPr>
          <p:cNvSpPr>
            <a:spLocks noGrp="1"/>
          </p:cNvSpPr>
          <p:nvPr/>
        </p:nvSpPr>
        <p:spPr>
          <a:xfrm>
            <a:off x="7715250" y="1809750"/>
            <a:ext cx="3333750" cy="3429000"/>
          </a:xfrm>
          <a:prstGeom prst="roundRect">
            <a:avLst>
              <a:gd name="adj" fmla="val 571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correction-title">
            <a:extLst>
              <a:ext uri="{FF2B5EF4-FFF2-40B4-BE49-F238E27FC236}">
                <a16:creationId xmlns:a16="http://schemas.microsoft.com/office/drawing/2014/main" id="{169B46B6-F79C-4A8F-8930-3EAD33FC8C56}"/>
              </a:ext>
            </a:extLst>
          </p:cNvPr>
          <p:cNvSpPr>
            <a:spLocks noGrp="1"/>
          </p:cNvSpPr>
          <p:nvPr/>
        </p:nvSpPr>
        <p:spPr>
          <a:xfrm>
            <a:off x="8020050" y="2190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>
                <a:solidFill>
                  <a:srgbClr val="0A0A0A"/>
                </a:solidFill>
              </a:rPr>
              <a:t>角色校正移入抽屉</a:t>
            </a:r>
          </a:p>
        </p:txBody>
      </p:sp>
      <p:sp>
        <p:nvSpPr>
          <p:cNvPr id="26" name="bullet-dot">
            <a:extLst>
              <a:ext uri="{FF2B5EF4-FFF2-40B4-BE49-F238E27FC236}">
                <a16:creationId xmlns:a16="http://schemas.microsoft.com/office/drawing/2014/main" id="{6E6032AB-A4E3-48A9-AA58-85009BD1F54D}"/>
              </a:ext>
            </a:extLst>
          </p:cNvPr>
          <p:cNvSpPr>
            <a:spLocks noGrp="1"/>
          </p:cNvSpPr>
          <p:nvPr/>
        </p:nvSpPr>
        <p:spPr>
          <a:xfrm>
            <a:off x="8020050" y="29241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bullet-text">
            <a:extLst>
              <a:ext uri="{FF2B5EF4-FFF2-40B4-BE49-F238E27FC236}">
                <a16:creationId xmlns:a16="http://schemas.microsoft.com/office/drawing/2014/main" id="{73EC549F-84A1-4629-816C-85EA7C0A9E9E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主栏默认不显示 engine/chunk/warning</a:t>
            </a:r>
          </a:p>
        </p:txBody>
      </p:sp>
      <p:sp>
        <p:nvSpPr>
          <p:cNvPr id="28" name="bullet-dot">
            <a:extLst>
              <a:ext uri="{FF2B5EF4-FFF2-40B4-BE49-F238E27FC236}">
                <a16:creationId xmlns:a16="http://schemas.microsoft.com/office/drawing/2014/main" id="{A2D9079D-4320-4AF6-A1CA-77442282CED4}"/>
              </a:ext>
            </a:extLst>
          </p:cNvPr>
          <p:cNvSpPr>
            <a:spLocks noGrp="1"/>
          </p:cNvSpPr>
          <p:nvPr/>
        </p:nvSpPr>
        <p:spPr>
          <a:xfrm>
            <a:off x="8020050" y="34766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bullet-text">
            <a:extLst>
              <a:ext uri="{FF2B5EF4-FFF2-40B4-BE49-F238E27FC236}">
                <a16:creationId xmlns:a16="http://schemas.microsoft.com/office/drawing/2014/main" id="{D2AC402F-D868-4CE8-9DA3-FEB6FEECD184}"/>
              </a:ext>
            </a:extLst>
          </p:cNvPr>
          <p:cNvSpPr>
            <a:spLocks noGrp="1"/>
          </p:cNvSpPr>
          <p:nvPr/>
        </p:nvSpPr>
        <p:spPr>
          <a:xfrm>
            <a:off x="8191500" y="33909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点击行或显示设置进入校正</a:t>
            </a:r>
          </a:p>
        </p:txBody>
      </p:sp>
      <p:sp>
        <p:nvSpPr>
          <p:cNvPr id="30" name="bullet-dot">
            <a:extLst>
              <a:ext uri="{FF2B5EF4-FFF2-40B4-BE49-F238E27FC236}">
                <a16:creationId xmlns:a16="http://schemas.microsoft.com/office/drawing/2014/main" id="{3B4DA45C-B9D6-4B8C-947A-81D50407FA79}"/>
              </a:ext>
            </a:extLst>
          </p:cNvPr>
          <p:cNvSpPr>
            <a:spLocks noGrp="1"/>
          </p:cNvSpPr>
          <p:nvPr/>
        </p:nvSpPr>
        <p:spPr>
          <a:xfrm>
            <a:off x="8020050" y="40290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bullet-text">
            <a:extLst>
              <a:ext uri="{FF2B5EF4-FFF2-40B4-BE49-F238E27FC236}">
                <a16:creationId xmlns:a16="http://schemas.microsoft.com/office/drawing/2014/main" id="{AEBE432D-A887-4CFF-AE2C-746B91D7D08B}"/>
              </a:ext>
            </a:extLst>
          </p:cNvPr>
          <p:cNvSpPr>
            <a:spLocks noGrp="1"/>
          </p:cNvSpPr>
          <p:nvPr/>
        </p:nvSpPr>
        <p:spPr>
          <a:xfrm>
            <a:off x="8191500" y="39433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保存后自动继续或显示下一步</a:t>
            </a:r>
          </a:p>
        </p:txBody>
      </p:sp>
      <p:sp>
        <p:nvSpPr>
          <p:cNvPr id="32" name="bullet-dot">
            <a:extLst>
              <a:ext uri="{FF2B5EF4-FFF2-40B4-BE49-F238E27FC236}">
                <a16:creationId xmlns:a16="http://schemas.microsoft.com/office/drawing/2014/main" id="{314870B1-94FC-4379-82A8-7539A598549D}"/>
              </a:ext>
            </a:extLst>
          </p:cNvPr>
          <p:cNvSpPr>
            <a:spLocks noGrp="1"/>
          </p:cNvSpPr>
          <p:nvPr/>
        </p:nvSpPr>
        <p:spPr>
          <a:xfrm>
            <a:off x="8020050" y="45815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bullet-text">
            <a:extLst>
              <a:ext uri="{FF2B5EF4-FFF2-40B4-BE49-F238E27FC236}">
                <a16:creationId xmlns:a16="http://schemas.microsoft.com/office/drawing/2014/main" id="{FC9CDEA9-CCC0-4289-B3D0-9814E75E797D}"/>
              </a:ext>
            </a:extLst>
          </p:cNvPr>
          <p:cNvSpPr>
            <a:spLocks noGrp="1"/>
          </p:cNvSpPr>
          <p:nvPr/>
        </p:nvSpPr>
        <p:spPr>
          <a:xfrm>
            <a:off x="8191500" y="44958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仍有待确认段时提示具体数量</a:t>
            </a:r>
          </a:p>
        </p:txBody>
      </p:sp>
    </p:spTree>
    <p:extLst>
      <p:ext uri="{BB962C8B-B14F-4D97-AF65-F5344CB8AC3E}">
        <p14:creationId xmlns:p14="http://schemas.microsoft.com/office/powerpoint/2010/main" val="846347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85FEEE8D-2276-4072-B611-39C42B89C48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170C6A4-3F6D-4A1A-9CE4-4E04326BD20F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ASR 路线按中文医患样本和资源指标选择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723199B-C8DB-420A-A90C-C4CA5860182A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003EBDCD-9984-44EA-BBC1-CD7DAD772A01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able-header">
            <a:extLst>
              <a:ext uri="{FF2B5EF4-FFF2-40B4-BE49-F238E27FC236}">
                <a16:creationId xmlns:a16="http://schemas.microsoft.com/office/drawing/2014/main" id="{BE2FCAF4-6D59-42C3-A6C0-FD094660287D}"/>
              </a:ext>
            </a:extLst>
          </p:cNvPr>
          <p:cNvSpPr>
            <a:spLocks noGrp="1"/>
          </p:cNvSpPr>
          <p:nvPr/>
        </p:nvSpPr>
        <p:spPr>
          <a:xfrm>
            <a:off x="742950" y="1905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555555"/>
                </a:solidFill>
              </a:defRPr>
            </a:pPr>
            <a:r>
              <a:rPr sz="1575" b="1" i="0">
                <a:solidFill>
                  <a:srgbClr val="555555"/>
                </a:solidFill>
              </a:rPr>
              <a:t>模型</a:t>
            </a:r>
          </a:p>
        </p:txBody>
      </p:sp>
      <p:sp>
        <p:nvSpPr>
          <p:cNvPr id="6" name="table-header">
            <a:extLst>
              <a:ext uri="{FF2B5EF4-FFF2-40B4-BE49-F238E27FC236}">
                <a16:creationId xmlns:a16="http://schemas.microsoft.com/office/drawing/2014/main" id="{47E78C9D-1E90-4D72-A7EF-55259FFAEFFD}"/>
              </a:ext>
            </a:extLst>
          </p:cNvPr>
          <p:cNvSpPr>
            <a:spLocks noGrp="1"/>
          </p:cNvSpPr>
          <p:nvPr/>
        </p:nvSpPr>
        <p:spPr>
          <a:xfrm>
            <a:off x="2838450" y="19050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555555"/>
                </a:solidFill>
              </a:defRPr>
            </a:pPr>
            <a:r>
              <a:rPr sz="1575" b="1" i="0">
                <a:solidFill>
                  <a:srgbClr val="555555"/>
                </a:solidFill>
              </a:rPr>
              <a:t>当前结论</a:t>
            </a:r>
          </a:p>
        </p:txBody>
      </p:sp>
      <p:sp>
        <p:nvSpPr>
          <p:cNvPr id="7" name="table-header">
            <a:extLst>
              <a:ext uri="{FF2B5EF4-FFF2-40B4-BE49-F238E27FC236}">
                <a16:creationId xmlns:a16="http://schemas.microsoft.com/office/drawing/2014/main" id="{27A6561F-B7E6-4CF4-B5C9-1AFF4884CF3B}"/>
              </a:ext>
            </a:extLst>
          </p:cNvPr>
          <p:cNvSpPr>
            <a:spLocks noGrp="1"/>
          </p:cNvSpPr>
          <p:nvPr/>
        </p:nvSpPr>
        <p:spPr>
          <a:xfrm>
            <a:off x="7741587" y="1905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555555"/>
                </a:solidFill>
              </a:defRPr>
            </a:pPr>
            <a:r>
              <a:rPr sz="1575" b="1" i="0" dirty="0" err="1">
                <a:solidFill>
                  <a:srgbClr val="555555"/>
                </a:solidFill>
              </a:rPr>
              <a:t>展示</a:t>
            </a:r>
            <a:endParaRPr sz="1575" b="1" i="0" dirty="0">
              <a:solidFill>
                <a:srgbClr val="555555"/>
              </a:solidFill>
            </a:endParaRP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11B93851-F294-46CB-8C60-5D20D8C0906A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99060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able-cell">
            <a:extLst>
              <a:ext uri="{FF2B5EF4-FFF2-40B4-BE49-F238E27FC236}">
                <a16:creationId xmlns:a16="http://schemas.microsoft.com/office/drawing/2014/main" id="{2353A634-708F-4AF5-B2E7-4D5DEEB55A9F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SenseVoice</a:t>
            </a:r>
          </a:p>
        </p:txBody>
      </p:sp>
      <p:sp>
        <p:nvSpPr>
          <p:cNvPr id="10" name="table-cell">
            <a:extLst>
              <a:ext uri="{FF2B5EF4-FFF2-40B4-BE49-F238E27FC236}">
                <a16:creationId xmlns:a16="http://schemas.microsoft.com/office/drawing/2014/main" id="{58C742F1-243E-47C8-842B-E314AA18C988}"/>
              </a:ext>
            </a:extLst>
          </p:cNvPr>
          <p:cNvSpPr>
            <a:spLocks noGrp="1"/>
          </p:cNvSpPr>
          <p:nvPr/>
        </p:nvSpPr>
        <p:spPr>
          <a:xfrm>
            <a:off x="2838450" y="25717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短中音频效果和资源占用较好</a:t>
            </a:r>
          </a:p>
        </p:txBody>
      </p:sp>
      <p:sp>
        <p:nvSpPr>
          <p:cNvPr id="11" name="table-cell">
            <a:extLst>
              <a:ext uri="{FF2B5EF4-FFF2-40B4-BE49-F238E27FC236}">
                <a16:creationId xmlns:a16="http://schemas.microsoft.com/office/drawing/2014/main" id="{02534F89-55F5-48ED-883B-460C84277BE1}"/>
              </a:ext>
            </a:extLst>
          </p:cNvPr>
          <p:cNvSpPr>
            <a:spLocks noGrp="1"/>
          </p:cNvSpPr>
          <p:nvPr/>
        </p:nvSpPr>
        <p:spPr>
          <a:xfrm>
            <a:off x="7219950" y="25717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真实 ASR 预热后展示</a:t>
            </a:r>
          </a:p>
        </p:txBody>
      </p:sp>
      <p:sp>
        <p:nvSpPr>
          <p:cNvPr id="12" name="table-row-bg">
            <a:extLst>
              <a:ext uri="{FF2B5EF4-FFF2-40B4-BE49-F238E27FC236}">
                <a16:creationId xmlns:a16="http://schemas.microsoft.com/office/drawing/2014/main" id="{3CE585EE-3A1C-4457-9156-297725667F74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10096500" cy="533400"/>
          </a:xfrm>
          <a:prstGeom prst="roundRect">
            <a:avLst>
              <a:gd name="adj" fmla="val 3571"/>
            </a:avLst>
          </a:prstGeom>
          <a:solidFill>
            <a:srgbClr val="F7F7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able-cell">
            <a:extLst>
              <a:ext uri="{FF2B5EF4-FFF2-40B4-BE49-F238E27FC236}">
                <a16:creationId xmlns:a16="http://schemas.microsoft.com/office/drawing/2014/main" id="{A5DE825D-C133-4921-8AF8-FBA28F5740A9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FunASR</a:t>
            </a:r>
          </a:p>
        </p:txBody>
      </p:sp>
      <p:sp>
        <p:nvSpPr>
          <p:cNvPr id="14" name="table-cell">
            <a:extLst>
              <a:ext uri="{FF2B5EF4-FFF2-40B4-BE49-F238E27FC236}">
                <a16:creationId xmlns:a16="http://schemas.microsoft.com/office/drawing/2014/main" id="{3EFBD008-2453-4166-A962-CA3E571B790E}"/>
              </a:ext>
            </a:extLst>
          </p:cNvPr>
          <p:cNvSpPr>
            <a:spLocks noGrp="1"/>
          </p:cNvSpPr>
          <p:nvPr/>
        </p:nvSpPr>
        <p:spPr>
          <a:xfrm>
            <a:off x="2838450" y="32956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长音频稳定，适合作为 fallback</a:t>
            </a:r>
          </a:p>
        </p:txBody>
      </p:sp>
      <p:sp>
        <p:nvSpPr>
          <p:cNvPr id="15" name="table-cell">
            <a:extLst>
              <a:ext uri="{FF2B5EF4-FFF2-40B4-BE49-F238E27FC236}">
                <a16:creationId xmlns:a16="http://schemas.microsoft.com/office/drawing/2014/main" id="{B19DF93F-ED6B-4B22-8242-75071BC61474}"/>
              </a:ext>
            </a:extLst>
          </p:cNvPr>
          <p:cNvSpPr>
            <a:spLocks noGrp="1"/>
          </p:cNvSpPr>
          <p:nvPr/>
        </p:nvSpPr>
        <p:spPr>
          <a:xfrm>
            <a:off x="7219950" y="32956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长音频报告和切片证据</a:t>
            </a:r>
          </a:p>
        </p:txBody>
      </p:sp>
      <p:sp>
        <p:nvSpPr>
          <p:cNvPr id="16" name="table-cell">
            <a:extLst>
              <a:ext uri="{FF2B5EF4-FFF2-40B4-BE49-F238E27FC236}">
                <a16:creationId xmlns:a16="http://schemas.microsoft.com/office/drawing/2014/main" id="{67CADD4B-2B7D-4374-9F36-525A5DE13A4B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Qwen3-ASR</a:t>
            </a:r>
          </a:p>
        </p:txBody>
      </p:sp>
      <p:sp>
        <p:nvSpPr>
          <p:cNvPr id="17" name="table-cell">
            <a:extLst>
              <a:ext uri="{FF2B5EF4-FFF2-40B4-BE49-F238E27FC236}">
                <a16:creationId xmlns:a16="http://schemas.microsoft.com/office/drawing/2014/main" id="{5AC43950-FDA4-4039-BB83-3A266C023D88}"/>
              </a:ext>
            </a:extLst>
          </p:cNvPr>
          <p:cNvSpPr>
            <a:spLocks noGrp="1"/>
          </p:cNvSpPr>
          <p:nvPr/>
        </p:nvSpPr>
        <p:spPr>
          <a:xfrm>
            <a:off x="2838450" y="40195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已跑通但 CPU-only 资源占用高</a:t>
            </a:r>
          </a:p>
        </p:txBody>
      </p:sp>
      <p:sp>
        <p:nvSpPr>
          <p:cNvPr id="18" name="table-cell">
            <a:extLst>
              <a:ext uri="{FF2B5EF4-FFF2-40B4-BE49-F238E27FC236}">
                <a16:creationId xmlns:a16="http://schemas.microsoft.com/office/drawing/2014/main" id="{CDD9BC38-5306-4334-A608-C59F199CD632}"/>
              </a:ext>
            </a:extLst>
          </p:cNvPr>
          <p:cNvSpPr>
            <a:spLocks noGrp="1"/>
          </p:cNvSpPr>
          <p:nvPr/>
        </p:nvSpPr>
        <p:spPr>
          <a:xfrm>
            <a:off x="7219950" y="40195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 dirty="0" err="1">
                <a:solidFill>
                  <a:srgbClr val="555555"/>
                </a:solidFill>
              </a:rPr>
              <a:t>作为研究路线</a:t>
            </a:r>
            <a:endParaRPr sz="1500" b="0" i="0" dirty="0">
              <a:solidFill>
                <a:srgbClr val="555555"/>
              </a:solidFill>
            </a:endParaRPr>
          </a:p>
        </p:txBody>
      </p:sp>
      <p:sp>
        <p:nvSpPr>
          <p:cNvPr id="19" name="table-row-bg">
            <a:extLst>
              <a:ext uri="{FF2B5EF4-FFF2-40B4-BE49-F238E27FC236}">
                <a16:creationId xmlns:a16="http://schemas.microsoft.com/office/drawing/2014/main" id="{383C1D2A-200F-4127-B7D6-E61F2FC7E978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10096500" cy="533400"/>
          </a:xfrm>
          <a:prstGeom prst="roundRect">
            <a:avLst>
              <a:gd name="adj" fmla="val 3571"/>
            </a:avLst>
          </a:prstGeom>
          <a:solidFill>
            <a:srgbClr val="F7F7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able-cell">
            <a:extLst>
              <a:ext uri="{FF2B5EF4-FFF2-40B4-BE49-F238E27FC236}">
                <a16:creationId xmlns:a16="http://schemas.microsoft.com/office/drawing/2014/main" id="{CF66CE19-6F52-462E-A764-9C1960B3246B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Mock ASR</a:t>
            </a:r>
          </a:p>
        </p:txBody>
      </p:sp>
      <p:sp>
        <p:nvSpPr>
          <p:cNvPr id="21" name="table-cell">
            <a:extLst>
              <a:ext uri="{FF2B5EF4-FFF2-40B4-BE49-F238E27FC236}">
                <a16:creationId xmlns:a16="http://schemas.microsoft.com/office/drawing/2014/main" id="{EC059A2E-E5E7-4A19-9DA5-7F904FCFD0CB}"/>
              </a:ext>
            </a:extLst>
          </p:cNvPr>
          <p:cNvSpPr>
            <a:spLocks noGrp="1"/>
          </p:cNvSpPr>
          <p:nvPr/>
        </p:nvSpPr>
        <p:spPr>
          <a:xfrm>
            <a:off x="2838450" y="47434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最稳定，可证明 SSE 分段追加</a:t>
            </a:r>
          </a:p>
        </p:txBody>
      </p:sp>
      <p:sp>
        <p:nvSpPr>
          <p:cNvPr id="22" name="table-cell">
            <a:extLst>
              <a:ext uri="{FF2B5EF4-FFF2-40B4-BE49-F238E27FC236}">
                <a16:creationId xmlns:a16="http://schemas.microsoft.com/office/drawing/2014/main" id="{34077812-A4F3-438D-AB2C-FF47D1FD926C}"/>
              </a:ext>
            </a:extLst>
          </p:cNvPr>
          <p:cNvSpPr>
            <a:spLocks noGrp="1"/>
          </p:cNvSpPr>
          <p:nvPr/>
        </p:nvSpPr>
        <p:spPr>
          <a:xfrm>
            <a:off x="7219950" y="47434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 dirty="0" err="1">
                <a:solidFill>
                  <a:srgbClr val="555555"/>
                </a:solidFill>
              </a:rPr>
              <a:t>实时转写保底</a:t>
            </a:r>
            <a:endParaRPr sz="1500" b="0" i="0" dirty="0">
              <a:solidFill>
                <a:srgbClr val="555555"/>
              </a:solidFill>
            </a:endParaRPr>
          </a:p>
        </p:txBody>
      </p:sp>
      <p:sp>
        <p:nvSpPr>
          <p:cNvPr id="23" name="asr-callout">
            <a:extLst>
              <a:ext uri="{FF2B5EF4-FFF2-40B4-BE49-F238E27FC236}">
                <a16:creationId xmlns:a16="http://schemas.microsoft.com/office/drawing/2014/main" id="{1308B21D-0B55-41AB-8C7A-622FFBFF66D9}"/>
              </a:ext>
            </a:extLst>
          </p:cNvPr>
          <p:cNvSpPr>
            <a:spLocks noGrp="1"/>
          </p:cNvSpPr>
          <p:nvPr/>
        </p:nvSpPr>
        <p:spPr>
          <a:xfrm>
            <a:off x="650895" y="56769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6000"/>
              </a:lnSpc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评测重点：</a:t>
            </a:r>
            <a:r>
              <a:rPr lang="en-US" altLang="zh-CN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CER</a:t>
            </a: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 看字错误率，关键词召回看医学词保留，</a:t>
            </a:r>
            <a:r>
              <a:rPr lang="en-US" altLang="zh-CN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RTF</a:t>
            </a: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 看速度，</a:t>
            </a:r>
            <a:r>
              <a:rPr lang="en-US" altLang="zh-CN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RSS</a:t>
            </a: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 看内存。</a:t>
            </a:r>
          </a:p>
        </p:txBody>
      </p:sp>
    </p:spTree>
    <p:extLst>
      <p:ext uri="{BB962C8B-B14F-4D97-AF65-F5344CB8AC3E}">
        <p14:creationId xmlns:p14="http://schemas.microsoft.com/office/powerpoint/2010/main" val="123708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-11">
            <a:extLst>
              <a:ext uri="{FF2B5EF4-FFF2-40B4-BE49-F238E27FC236}">
                <a16:creationId xmlns:a16="http://schemas.microsoft.com/office/drawing/2014/main" id="{ACFF0C0D-FED1-4E0A-B5E2-4C0DC3C7FA7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部署验证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07ECA5E0-C662-4DA4-9673-3C23CCC7A4F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Docker 2601 </a:t>
            </a:r>
            <a:r>
              <a:rPr sz="30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固定展示入口</a:t>
            </a:r>
            <a:endParaRPr sz="30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DEF23A30-847C-49CC-BC39-DB3C26B09D91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11">
            <a:extLst>
              <a:ext uri="{FF2B5EF4-FFF2-40B4-BE49-F238E27FC236}">
                <a16:creationId xmlns:a16="http://schemas.microsoft.com/office/drawing/2014/main" id="{415A489A-F654-4721-A08E-D7F4EA99E17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11">
            <a:extLst>
              <a:ext uri="{FF2B5EF4-FFF2-40B4-BE49-F238E27FC236}">
                <a16:creationId xmlns:a16="http://schemas.microsoft.com/office/drawing/2014/main" id="{15246DA8-8B28-43BF-9659-6F635D83027C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url">
            <a:extLst>
              <a:ext uri="{FF2B5EF4-FFF2-40B4-BE49-F238E27FC236}">
                <a16:creationId xmlns:a16="http://schemas.microsoft.com/office/drawing/2014/main" id="{4CA1718D-804B-4A65-A9C7-1EABEB1B1B5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http://127.0.0.1:2601/static/doctor.html</a:t>
            </a:r>
          </a:p>
        </p:txBody>
      </p:sp>
      <p:sp>
        <p:nvSpPr>
          <p:cNvPr id="7" name="deploy-0-panel">
            <a:extLst>
              <a:ext uri="{FF2B5EF4-FFF2-40B4-BE49-F238E27FC236}">
                <a16:creationId xmlns:a16="http://schemas.microsoft.com/office/drawing/2014/main" id="{E81C3907-BC5E-494A-BFD6-76E524591A2A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deploy-0-accent">
            <a:extLst>
              <a:ext uri="{FF2B5EF4-FFF2-40B4-BE49-F238E27FC236}">
                <a16:creationId xmlns:a16="http://schemas.microsoft.com/office/drawing/2014/main" id="{6C2A050A-7021-4B8B-BDBD-4AEDE4952C7D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6675" cy="8191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eploy-0-label">
            <a:extLst>
              <a:ext uri="{FF2B5EF4-FFF2-40B4-BE49-F238E27FC236}">
                <a16:creationId xmlns:a16="http://schemas.microsoft.com/office/drawing/2014/main" id="{382D45D4-0B77-4067-B743-ED745BB6EB2D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0" name="deploy-0-body">
            <a:extLst>
              <a:ext uri="{FF2B5EF4-FFF2-40B4-BE49-F238E27FC236}">
                <a16:creationId xmlns:a16="http://schemas.microsoft.com/office/drawing/2014/main" id="{3911CD8E-11CA-414F-ACD4-68D285D8E40F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docker compose ps -&gt; running / healthy</a:t>
            </a:r>
          </a:p>
        </p:txBody>
      </p:sp>
      <p:sp>
        <p:nvSpPr>
          <p:cNvPr id="11" name="deploy-1-panel">
            <a:extLst>
              <a:ext uri="{FF2B5EF4-FFF2-40B4-BE49-F238E27FC236}">
                <a16:creationId xmlns:a16="http://schemas.microsoft.com/office/drawing/2014/main" id="{792A0A15-5B36-4379-A4AF-6CA370634774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eploy-1-accent">
            <a:extLst>
              <a:ext uri="{FF2B5EF4-FFF2-40B4-BE49-F238E27FC236}">
                <a16:creationId xmlns:a16="http://schemas.microsoft.com/office/drawing/2014/main" id="{0B9C7BF9-0B02-48EC-A6C5-31271F0F9341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66675" cy="8191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eploy-1-label">
            <a:extLst>
              <a:ext uri="{FF2B5EF4-FFF2-40B4-BE49-F238E27FC236}">
                <a16:creationId xmlns:a16="http://schemas.microsoft.com/office/drawing/2014/main" id="{DC36CB9D-C710-4D2D-BE89-55299392C593}"/>
              </a:ext>
            </a:extLst>
          </p:cNvPr>
          <p:cNvSpPr>
            <a:spLocks noGrp="1"/>
          </p:cNvSpPr>
          <p:nvPr/>
        </p:nvSpPr>
        <p:spPr>
          <a:xfrm>
            <a:off x="6229350" y="3314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健康</a:t>
            </a:r>
          </a:p>
        </p:txBody>
      </p:sp>
      <p:sp>
        <p:nvSpPr>
          <p:cNvPr id="14" name="deploy-1-body">
            <a:extLst>
              <a:ext uri="{FF2B5EF4-FFF2-40B4-BE49-F238E27FC236}">
                <a16:creationId xmlns:a16="http://schemas.microsoft.com/office/drawing/2014/main" id="{860DE15C-AF2B-4AC3-A400-4CC5123696CA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/health -&gt; { status: ok }</a:t>
            </a:r>
          </a:p>
        </p:txBody>
      </p:sp>
      <p:sp>
        <p:nvSpPr>
          <p:cNvPr id="15" name="deploy-2-panel">
            <a:extLst>
              <a:ext uri="{FF2B5EF4-FFF2-40B4-BE49-F238E27FC236}">
                <a16:creationId xmlns:a16="http://schemas.microsoft.com/office/drawing/2014/main" id="{F3E24DD9-1F6B-4D23-A872-1E4F1C04C94E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eploy-2-accent">
            <a:extLst>
              <a:ext uri="{FF2B5EF4-FFF2-40B4-BE49-F238E27FC236}">
                <a16:creationId xmlns:a16="http://schemas.microsoft.com/office/drawing/2014/main" id="{C4AACF46-E475-4AE3-9D8F-52C26EBBECAD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66675" cy="8191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deploy-2-label">
            <a:extLst>
              <a:ext uri="{FF2B5EF4-FFF2-40B4-BE49-F238E27FC236}">
                <a16:creationId xmlns:a16="http://schemas.microsoft.com/office/drawing/2014/main" id="{0BEC266B-E9F9-441D-A7CF-4CC778C427CA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8" name="deploy-2-body">
            <a:extLst>
              <a:ext uri="{FF2B5EF4-FFF2-40B4-BE49-F238E27FC236}">
                <a16:creationId xmlns:a16="http://schemas.microsoft.com/office/drawing/2014/main" id="{5FE8B39B-9E43-43C3-ABA0-C4AA6768CA6B}"/>
              </a:ext>
            </a:extLst>
          </p:cNvPr>
          <p:cNvSpPr>
            <a:spLocks noGrp="1"/>
          </p:cNvSpPr>
          <p:nvPr/>
        </p:nvSpPr>
        <p:spPr>
          <a:xfrm>
            <a:off x="895350" y="4876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中栏显示转写列表和等待首段提示</a:t>
            </a:r>
          </a:p>
        </p:txBody>
      </p:sp>
      <p:sp>
        <p:nvSpPr>
          <p:cNvPr id="19" name="deploy-3-panel">
            <a:extLst>
              <a:ext uri="{FF2B5EF4-FFF2-40B4-BE49-F238E27FC236}">
                <a16:creationId xmlns:a16="http://schemas.microsoft.com/office/drawing/2014/main" id="{E1BB5372-57BD-4BCB-A405-6F49EE386D73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deploy-3-accent">
            <a:extLst>
              <a:ext uri="{FF2B5EF4-FFF2-40B4-BE49-F238E27FC236}">
                <a16:creationId xmlns:a16="http://schemas.microsoft.com/office/drawing/2014/main" id="{C2F0EF4F-0B04-4702-9117-4890425E324A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66675" cy="8191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deploy-3-label">
            <a:extLst>
              <a:ext uri="{FF2B5EF4-FFF2-40B4-BE49-F238E27FC236}">
                <a16:creationId xmlns:a16="http://schemas.microsoft.com/office/drawing/2014/main" id="{DF4B57AB-EC49-42FC-AEB1-9CAC64C2F12F}"/>
              </a:ext>
            </a:extLst>
          </p:cNvPr>
          <p:cNvSpPr>
            <a:spLocks noGrp="1"/>
          </p:cNvSpPr>
          <p:nvPr/>
        </p:nvSpPr>
        <p:spPr>
          <a:xfrm>
            <a:off x="6229350" y="4457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22" name="deploy-3-body">
            <a:extLst>
              <a:ext uri="{FF2B5EF4-FFF2-40B4-BE49-F238E27FC236}">
                <a16:creationId xmlns:a16="http://schemas.microsoft.com/office/drawing/2014/main" id="{636B4984-0B9C-4BFD-8FA2-300CEAFE597A}"/>
              </a:ext>
            </a:extLst>
          </p:cNvPr>
          <p:cNvSpPr>
            <a:spLocks noGrp="1"/>
          </p:cNvSpPr>
          <p:nvPr/>
        </p:nvSpPr>
        <p:spPr>
          <a:xfrm>
            <a:off x="6229350" y="4876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node --check + pytest 定向测试</a:t>
            </a:r>
          </a:p>
        </p:txBody>
      </p:sp>
    </p:spTree>
    <p:extLst>
      <p:ext uri="{BB962C8B-B14F-4D97-AF65-F5344CB8AC3E}">
        <p14:creationId xmlns:p14="http://schemas.microsoft.com/office/powerpoint/2010/main" val="26387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A63E384D-C2B2-4543-A108-83560BF18CD9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EECAAB9-139D-49C3-B11F-73B26994F8E2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长音频通过切片机制工程化处理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46479EC-A656-4638-8835-339FE591382C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EF846003-42FC-4CCC-90AC-ACEEB81C46FC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2665" b="2665"/>
          <a:stretch>
            <a:fillRect/>
          </a:stretch>
        </p:blipFill>
        <p:spPr>
          <a:xfrm>
            <a:off x="552450" y="1695450"/>
            <a:ext cx="6705600" cy="3790950"/>
          </a:xfrm>
          <a:prstGeom prst="roundRect">
            <a:avLst>
              <a:gd name="adj" fmla="val 503"/>
            </a:avLst>
          </a:prstGeom>
        </p:spPr>
      </p:pic>
      <p:sp>
        <p:nvSpPr>
          <p:cNvPr id="6" name="long-panel">
            <a:extLst>
              <a:ext uri="{FF2B5EF4-FFF2-40B4-BE49-F238E27FC236}">
                <a16:creationId xmlns:a16="http://schemas.microsoft.com/office/drawing/2014/main" id="{FDDBA36C-2755-4BC3-A79F-DE8A5719CEBA}"/>
              </a:ext>
            </a:extLst>
          </p:cNvPr>
          <p:cNvSpPr>
            <a:spLocks noGrp="1"/>
          </p:cNvSpPr>
          <p:nvPr/>
        </p:nvSpPr>
        <p:spPr>
          <a:xfrm>
            <a:off x="7677150" y="1695450"/>
            <a:ext cx="3352800" cy="3790950"/>
          </a:xfrm>
          <a:prstGeom prst="roundRect">
            <a:avLst>
              <a:gd name="adj" fmla="val 568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bullet-dot">
            <a:extLst>
              <a:ext uri="{FF2B5EF4-FFF2-40B4-BE49-F238E27FC236}">
                <a16:creationId xmlns:a16="http://schemas.microsoft.com/office/drawing/2014/main" id="{02C6EE42-2601-4884-8D83-9281AE99A55F}"/>
              </a:ext>
            </a:extLst>
          </p:cNvPr>
          <p:cNvSpPr>
            <a:spLocks noGrp="1"/>
          </p:cNvSpPr>
          <p:nvPr/>
        </p:nvSpPr>
        <p:spPr>
          <a:xfrm>
            <a:off x="8001000" y="21621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ullet-text">
            <a:extLst>
              <a:ext uri="{FF2B5EF4-FFF2-40B4-BE49-F238E27FC236}">
                <a16:creationId xmlns:a16="http://schemas.microsoft.com/office/drawing/2014/main" id="{1F6EDABD-D10A-4E4E-95B9-5ED10454E2E6}"/>
              </a:ext>
            </a:extLst>
          </p:cNvPr>
          <p:cNvSpPr>
            <a:spLocks noGrp="1"/>
          </p:cNvSpPr>
          <p:nvPr/>
        </p:nvSpPr>
        <p:spPr>
          <a:xfrm>
            <a:off x="8172450" y="20764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16/30 分钟样本已做稳定性测试</a:t>
            </a:r>
          </a:p>
        </p:txBody>
      </p:sp>
      <p:sp>
        <p:nvSpPr>
          <p:cNvPr id="9" name="bullet-dot">
            <a:extLst>
              <a:ext uri="{FF2B5EF4-FFF2-40B4-BE49-F238E27FC236}">
                <a16:creationId xmlns:a16="http://schemas.microsoft.com/office/drawing/2014/main" id="{2EA01691-F454-4D10-B977-6F9F451162F9}"/>
              </a:ext>
            </a:extLst>
          </p:cNvPr>
          <p:cNvSpPr>
            <a:spLocks noGrp="1"/>
          </p:cNvSpPr>
          <p:nvPr/>
        </p:nvSpPr>
        <p:spPr>
          <a:xfrm>
            <a:off x="8001000" y="27717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ullet-text">
            <a:extLst>
              <a:ext uri="{FF2B5EF4-FFF2-40B4-BE49-F238E27FC236}">
                <a16:creationId xmlns:a16="http://schemas.microsoft.com/office/drawing/2014/main" id="{F6386D59-1932-4D15-A5BC-15765BE022A8}"/>
              </a:ext>
            </a:extLst>
          </p:cNvPr>
          <p:cNvSpPr>
            <a:spLocks noGrp="1"/>
          </p:cNvSpPr>
          <p:nvPr/>
        </p:nvSpPr>
        <p:spPr>
          <a:xfrm>
            <a:off x="8172450" y="26860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SenseVoice 30 分钟整文件失败被记录</a:t>
            </a:r>
          </a:p>
        </p:txBody>
      </p:sp>
      <p:sp>
        <p:nvSpPr>
          <p:cNvPr id="11" name="bullet-dot">
            <a:extLst>
              <a:ext uri="{FF2B5EF4-FFF2-40B4-BE49-F238E27FC236}">
                <a16:creationId xmlns:a16="http://schemas.microsoft.com/office/drawing/2014/main" id="{64A8A721-F872-43DE-B82C-1668832CE3FD}"/>
              </a:ext>
            </a:extLst>
          </p:cNvPr>
          <p:cNvSpPr>
            <a:spLocks noGrp="1"/>
          </p:cNvSpPr>
          <p:nvPr/>
        </p:nvSpPr>
        <p:spPr>
          <a:xfrm>
            <a:off x="8001000" y="33813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ullet-text">
            <a:extLst>
              <a:ext uri="{FF2B5EF4-FFF2-40B4-BE49-F238E27FC236}">
                <a16:creationId xmlns:a16="http://schemas.microsoft.com/office/drawing/2014/main" id="{076D6186-0E91-4017-8639-30209BFDF934}"/>
              </a:ext>
            </a:extLst>
          </p:cNvPr>
          <p:cNvSpPr>
            <a:spLocks noGrp="1"/>
          </p:cNvSpPr>
          <p:nvPr/>
        </p:nvSpPr>
        <p:spPr>
          <a:xfrm>
            <a:off x="8172450" y="32956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5 分钟切片规避整文件失败</a:t>
            </a:r>
          </a:p>
        </p:txBody>
      </p:sp>
      <p:sp>
        <p:nvSpPr>
          <p:cNvPr id="13" name="bullet-dot">
            <a:extLst>
              <a:ext uri="{FF2B5EF4-FFF2-40B4-BE49-F238E27FC236}">
                <a16:creationId xmlns:a16="http://schemas.microsoft.com/office/drawing/2014/main" id="{9571CFC9-FD97-406A-8A97-091DCCFE6C9F}"/>
              </a:ext>
            </a:extLst>
          </p:cNvPr>
          <p:cNvSpPr>
            <a:spLocks noGrp="1"/>
          </p:cNvSpPr>
          <p:nvPr/>
        </p:nvSpPr>
        <p:spPr>
          <a:xfrm>
            <a:off x="8001000" y="39909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-text">
            <a:extLst>
              <a:ext uri="{FF2B5EF4-FFF2-40B4-BE49-F238E27FC236}">
                <a16:creationId xmlns:a16="http://schemas.microsoft.com/office/drawing/2014/main" id="{86A68596-A597-4B17-943B-474D510394AE}"/>
              </a:ext>
            </a:extLst>
          </p:cNvPr>
          <p:cNvSpPr>
            <a:spLocks noGrp="1"/>
          </p:cNvSpPr>
          <p:nvPr/>
        </p:nvSpPr>
        <p:spPr>
          <a:xfrm>
            <a:off x="8172450" y="39052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 dirty="0" err="1">
                <a:solidFill>
                  <a:srgbClr val="0A0A0A"/>
                </a:solidFill>
              </a:rPr>
              <a:t>现场展示报告，不跑</a:t>
            </a:r>
            <a:r>
              <a:rPr sz="1425" b="0" i="0" dirty="0">
                <a:solidFill>
                  <a:srgbClr val="0A0A0A"/>
                </a:solidFill>
              </a:rPr>
              <a:t> 30 </a:t>
            </a:r>
            <a:r>
              <a:rPr sz="1425" b="0" i="0" dirty="0" err="1">
                <a:solidFill>
                  <a:srgbClr val="0A0A0A"/>
                </a:solidFill>
              </a:rPr>
              <a:t>分钟</a:t>
            </a:r>
            <a:r>
              <a:rPr lang="zh-CN" altLang="en-US" sz="1425" b="0" i="0" dirty="0">
                <a:solidFill>
                  <a:srgbClr val="0A0A0A"/>
                </a:solidFill>
              </a:rPr>
              <a:t>转写</a:t>
            </a:r>
            <a:endParaRPr sz="1425" b="0" i="0" dirty="0">
              <a:solidFill>
                <a:srgbClr val="0A0A0A"/>
              </a:solidFill>
            </a:endParaRPr>
          </a:p>
        </p:txBody>
      </p:sp>
      <p:sp>
        <p:nvSpPr>
          <p:cNvPr id="15" name="bullet-dot">
            <a:extLst>
              <a:ext uri="{FF2B5EF4-FFF2-40B4-BE49-F238E27FC236}">
                <a16:creationId xmlns:a16="http://schemas.microsoft.com/office/drawing/2014/main" id="{114AED2A-D202-49B0-B600-40337D1CD49F}"/>
              </a:ext>
            </a:extLst>
          </p:cNvPr>
          <p:cNvSpPr>
            <a:spLocks noGrp="1"/>
          </p:cNvSpPr>
          <p:nvPr/>
        </p:nvSpPr>
        <p:spPr>
          <a:xfrm>
            <a:off x="8001000" y="46005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ullet-text">
            <a:extLst>
              <a:ext uri="{FF2B5EF4-FFF2-40B4-BE49-F238E27FC236}">
                <a16:creationId xmlns:a16="http://schemas.microsoft.com/office/drawing/2014/main" id="{46A6DF5F-73F7-4AA2-A345-D11D5A07D5FB}"/>
              </a:ext>
            </a:extLst>
          </p:cNvPr>
          <p:cNvSpPr>
            <a:spLocks noGrp="1"/>
          </p:cNvSpPr>
          <p:nvPr/>
        </p:nvSpPr>
        <p:spPr>
          <a:xfrm>
            <a:off x="8172450" y="45148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SSE 展示切片计划、进度和分段结果</a:t>
            </a:r>
          </a:p>
        </p:txBody>
      </p:sp>
    </p:spTree>
    <p:extLst>
      <p:ext uri="{BB962C8B-B14F-4D97-AF65-F5344CB8AC3E}">
        <p14:creationId xmlns:p14="http://schemas.microsoft.com/office/powerpoint/2010/main" val="15709571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652</Words>
  <Application>Microsoft Office PowerPoint</Application>
  <DocSecurity>0</DocSecurity>
  <PresentationFormat>宽屏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Nicole Young</cp:lastModifiedBy>
  <cp:revision>3</cp:revision>
  <dcterms:created xsi:type="dcterms:W3CDTF">2026-07-09T15:30:59Z</dcterms:created>
  <dcterms:modified xsi:type="dcterms:W3CDTF">2026-07-10T06:52:09Z</dcterms:modified>
</cp:coreProperties>
</file>