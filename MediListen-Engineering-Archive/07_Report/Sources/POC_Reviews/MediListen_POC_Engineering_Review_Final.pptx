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  <Relationship Id="rId17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这次复盘只讲一个转变：MediListen 如何从能生成病历的 AI Demo，走到有门禁、有审核、有追溯的可信病历闭环。评审口径冻结在主干提交 690b72c，并把开放候选与正式能力严格分开。项目入口为 https://github.com/awa606/medical_record_agent 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冻结快照由六个环节组成：音频或文本进入 ASR，随后经过说话人角色质量门禁，再进入 Medical Agent，最后由医生审核并导出。v1.4.0 是正式版本锚点；PR 四十七、五十一和五十三是后续已合并的工程增量，对应回归测试从一百八十三、二百零一到二百零四项。来源：https://github.com/awa606/medical_record_agent/pull/47 、https://github.com/awa606/medical_record_agent/pull/51 、https://github.com/awa606/medical_record_agent/pull/53 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传统链路把生成当成终点，因此角色错配仍可能变成看似完整的病历。MediListen 把低置信、未映射和混合角色放到服务端质量门禁，低质量结果直接阻断正式病历生成，医生确认后才允许进入交付链路。PR 四十七已合并；PR 五十二只是关闭且未合并的校准候选，不计入已交付能力。来源：https://github.com/awa606/medical_record_agent/pull/47 与 https://github.com/awa606/medical_record_agent/pull/52 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Demo 阶段的问题不是模型不够强，而是状态丢失、失败无法恢复、过程不可审计。生产化架构把前端、FastAPI、Agent Orchestrator、领域服务以及 SQLite 和日志拆开，让每一层都能被测试、恢复和追踪。架构依据来自仓库 README、架构文档与主干实现：https://github.com/awa606/medical_record_agent 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这个 Bug 出现在连接中断之后：固定时间窗与真实说话人边界不一致，重连又可能重复边界事件。修复采用追加式事件日志、单调 event id、Last-Event-ID 续传和稳定话段；录音分片另外使用 chunk index 与 SHA 二百五十六摘要保证幂等。验证结果为五百零一个总事件、五十个续传事件、重复边界为零。来源：https://github.com/awa606/medical_record_agent/pull/66 与 https://github.com/awa606/medical_record_agent/pull/93 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审核不能只是一枚按钮，因为病历批准后仍可能被修改。当前机制把审批绑定到 revision id，新修订会使旧的活动审批失效，导出只接受当前修订对应的有效审批；这就是页面中展示的真实实现，而不是 CAS 或版本哈希。PR 六十四已合并，PR 九十四进一步提供重启后的持久化证明候选。来源：https://github.com/awa606/medical_record_agent/pull/64 与 https://github.com/awa606/medical_record_agent/pull/94 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如果重新开始，第一优先级会是领域模型：先定义状态、版本、审批和导出的边界。第二是证据层，让每个 AI 结果都能回到输入、证据与决策。第三是尽早分开演示路径和生产路径，避免把一次可运行误判为可交付。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四张卡片代表四类可审阅增量：安全门禁、评估数据集、录音 MVP 与 Pilot RC2。前三项已合并；PR 九十六仍是开放草稿候选，即使本地报告三百三十项测试通过，也不能写成正式发布。PR 八十二、八十三、九十二至九十五和九十八展示了候选链路的连续演进。来源：https://github.com/awa606/medical_record_agent/pull/96 与 https://github.com/awa606/medical_record_agent/pull/98 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路线分成四个阶段：POC 证明可信审核闭环，Pilot 证明长录音与关键故障可控，Clinical Assistant 进入字段级临床评估，Hospital Integration 再处理单点登录、HIS 或 EMR 接口、审计、留痕和回滚。字段准确率不低于百分之八十、结构完整性不低于百分之九十是下一阶段验收目标，不是现有生产指标。来源：https://github.com/awa606/medical_record_agent/issues/89 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最终目标不是让模型写出更多文字，而是让医生少做重复录入，把更多注意力留给患者。可信闭环把生成能力放在审核、证据与责任边界之内，这也是 MediListen 从 Demo 走向临床助手的核心价值。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edilisten_poc_review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edilisten_poc_review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b871dd8aaf945b5.png"/>
  <Relationship Id="rId3" Type="http://schemas.openxmlformats.org/officeDocument/2006/relationships/image" Target="../media/image_2cbe01264aa76b50.png"/>
  <Relationship Id="rId4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8d4961b916f0d1f.png"/>
  <Relationship Id="rId3" Type="http://schemas.openxmlformats.org/officeDocument/2006/relationships/image" Target="../media/image_2cbe01264aa76b50.png"/>
  <Relationship Id="rId4" Type="http://schemas.openxmlformats.org/officeDocument/2006/relationships/notesSlide" Target="../notesSlides/notesSlide10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25280" r="0" b="2528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071A3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A33">
                  <a:alpha val="98000"/>
                </a:srgbClr>
              </a:gs>
              <a:gs pos="48000">
                <a:srgbClr val="071A33">
                  <a:alpha val="94000"/>
                </a:srgbClr>
              </a:gs>
              <a:gs pos="78000">
                <a:srgbClr val="071A33">
                  <a:alpha val="42000"/>
                </a:srgbClr>
              </a:gs>
              <a:gs pos="100000">
                <a:srgbClr val="071A33">
                  <a:alpha val="1000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90550" y="462568"/>
            <a:ext cx="2165663" cy="520888"/>
            <a:chOff x="590550" y="462568"/>
            <a:chExt cx="2165663" cy="520888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0550" y="462568"/>
              <a:ext cx="514350" cy="503613"/>
            </a:xfrm>
            <a:prstGeom prst="rect">
              <a:avLst/>
            </a:prstGeom>
          </p:spPr>
        </p:pic>
        <p:sp>
          <p:nvSpPr>
            <p:cNvPr id="6" name="TextBox 6"/>
            <p:cNvSpPr txBox="1"/>
            <p:nvPr/>
          </p:nvSpPr>
          <p:spPr>
            <a:xfrm>
              <a:off x="1247775" y="616744"/>
              <a:ext cx="150843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b="1" spc="75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MediListen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71500" y="1684020"/>
            <a:ext cx="4091056" cy="2367439"/>
            <a:chOff x="571500" y="1684020"/>
            <a:chExt cx="4091056" cy="2367439"/>
          </a:xfrm>
        </p:grpSpPr>
        <p:sp>
          <p:nvSpPr>
            <p:cNvPr id="8" name="TextBox 8"/>
            <p:cNvSpPr txBox="1"/>
            <p:nvPr/>
          </p:nvSpPr>
          <p:spPr>
            <a:xfrm>
              <a:off x="571500" y="1684020"/>
              <a:ext cx="293715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MediListen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90550" y="2343150"/>
              <a:ext cx="78105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0D9E8"/>
                </a:gs>
                <a:gs pos="100000">
                  <a:srgbClr val="2F7CF4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78358" y="2636520"/>
              <a:ext cx="408419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AI生成式电子病历辅助系统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2168" y="3288982"/>
              <a:ext cx="31051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150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POC ENGINEERING REVIEW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84835" y="3831431"/>
              <a:ext cx="24446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Engineering retrospective · 2026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84454" y="5476875"/>
            <a:ext cx="4105656" cy="543306"/>
            <a:chOff x="584454" y="5476875"/>
            <a:chExt cx="4105656" cy="543306"/>
          </a:xfrm>
        </p:grpSpPr>
        <p:sp>
          <p:nvSpPr>
            <p:cNvPr id="14" name="Ellipse 14"/>
            <p:cNvSpPr/>
            <p:nvPr/>
          </p:nvSpPr>
          <p:spPr>
            <a:xfrm>
              <a:off x="647700" y="5486400"/>
              <a:ext cx="152400" cy="152400"/>
            </a:xfrm>
            <a:prstGeom prst="ellipse">
              <a:avLst/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876300" y="556260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19050">
              <a:solidFill>
                <a:srgbClr val="20D9E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3781425" y="5476875"/>
              <a:ext cx="171450" cy="171450"/>
            </a:xfrm>
            <a:prstGeom prst="ellipse">
              <a:avLst/>
            </a:prstGeom>
            <a:solidFill>
              <a:srgbClr val="23D7B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4454" y="5785485"/>
              <a:ext cx="6313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AI Demo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08654" y="578548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可信病历闭环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991600" y="5848350"/>
            <a:ext cx="1200150" cy="447675"/>
            <a:chOff x="8991600" y="5848350"/>
            <a:chExt cx="1200150" cy="447675"/>
          </a:xfrm>
        </p:grpSpPr>
        <p:sp>
          <p:nvSpPr>
            <p:cNvPr id="20" name="Rectangle 20"/>
            <p:cNvSpPr/>
            <p:nvPr/>
          </p:nvSpPr>
          <p:spPr>
            <a:xfrm>
              <a:off x="8991600" y="6029325"/>
              <a:ext cx="114300" cy="85725"/>
            </a:xfrm>
            <a:prstGeom prst="roundRect">
              <a:avLst>
                <a:gd name="adj" fmla="val 44444"/>
              </a:avLst>
            </a:prstGeom>
            <a:solidFill>
              <a:srgbClr val="20D9E8">
                <a:alpha val="55000"/>
              </a:srgbClr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9172575" y="5943600"/>
              <a:ext cx="114300" cy="257175"/>
            </a:xfrm>
            <a:prstGeom prst="roundRect">
              <a:avLst>
                <a:gd name="adj" fmla="val 33333"/>
              </a:avLst>
            </a:prstGeom>
            <a:solidFill>
              <a:srgbClr val="20D9E8">
                <a:alpha val="70000"/>
              </a:srgbClr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9353550" y="5848350"/>
              <a:ext cx="114300" cy="447675"/>
            </a:xfrm>
            <a:prstGeom prst="roundRect">
              <a:avLst>
                <a:gd name="adj" fmla="val 33333"/>
              </a:avLst>
            </a:prstGeom>
            <a:solidFill>
              <a:srgbClr val="20D9E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9534525" y="5991225"/>
              <a:ext cx="114300" cy="161925"/>
            </a:xfrm>
            <a:prstGeom prst="roundRect">
              <a:avLst>
                <a:gd name="adj" fmla="val 33333"/>
              </a:avLst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9715500" y="5895975"/>
              <a:ext cx="114300" cy="352425"/>
            </a:xfrm>
            <a:prstGeom prst="roundRect">
              <a:avLst>
                <a:gd name="adj" fmla="val 33333"/>
              </a:avLst>
            </a:prstGeom>
            <a:solidFill>
              <a:srgbClr val="20D9E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9896475" y="5962650"/>
              <a:ext cx="114300" cy="219075"/>
            </a:xfrm>
            <a:prstGeom prst="roundRect">
              <a:avLst>
                <a:gd name="adj" fmla="val 33333"/>
              </a:avLst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10077450" y="6019800"/>
              <a:ext cx="114300" cy="104775"/>
            </a:xfrm>
            <a:prstGeom prst="roundRect">
              <a:avLst>
                <a:gd name="adj" fmla="val 36364"/>
              </a:avLst>
            </a:prstGeom>
            <a:solidFill>
              <a:srgbClr val="20D9E8">
                <a:alpha val="650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20446" y="572452"/>
            <a:ext cx="4488561" cy="717805"/>
            <a:chOff x="520446" y="572452"/>
            <a:chExt cx="4488561" cy="717805"/>
          </a:xfrm>
        </p:grpSpPr>
        <p:sp>
          <p:nvSpPr>
            <p:cNvPr id="2" name="TextBox 2"/>
            <p:cNvSpPr txBox="1"/>
            <p:nvPr/>
          </p:nvSpPr>
          <p:spPr>
            <a:xfrm>
              <a:off x="528066" y="572452"/>
              <a:ext cx="25086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02 · FROZEN POC SNAPSHOT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0446" y="7915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冻结版本，闭环能力已经成形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848850" y="419100"/>
            <a:ext cx="1809750" cy="495300"/>
            <a:chOff x="9848850" y="419100"/>
            <a:chExt cx="1809750" cy="495300"/>
          </a:xfrm>
        </p:grpSpPr>
        <p:sp>
          <p:nvSpPr>
            <p:cNvPr id="5" name="Rectangle 5"/>
            <p:cNvSpPr/>
            <p:nvPr/>
          </p:nvSpPr>
          <p:spPr>
            <a:xfrm>
              <a:off x="9848850" y="419100"/>
              <a:ext cx="1809750" cy="495300"/>
            </a:xfrm>
            <a:prstGeom prst="roundRect">
              <a:avLst>
                <a:gd name="adj" fmla="val 50000"/>
              </a:avLst>
            </a:prstGeom>
            <a:solidFill>
              <a:srgbClr val="071A3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076017" y="605314"/>
              <a:ext cx="13554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MAIN · 690b72c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71500" y="2028825"/>
            <a:ext cx="11010900" cy="1761839"/>
            <a:chOff x="571500" y="2028825"/>
            <a:chExt cx="11010900" cy="1761839"/>
          </a:xfrm>
        </p:grpSpPr>
        <p:sp>
          <p:nvSpPr>
            <p:cNvPr id="8" name="Rectangle 8"/>
            <p:cNvSpPr/>
            <p:nvPr/>
          </p:nvSpPr>
          <p:spPr>
            <a:xfrm>
              <a:off x="1047750" y="2609850"/>
              <a:ext cx="100965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7CF4">
                    <a:alpha val="75000"/>
                  </a:srgbClr>
                </a:gs>
                <a:gs pos="100000">
                  <a:srgbClr val="20D9E8">
                    <a:alpha val="75000"/>
                  </a:srgbClr>
                </a:gs>
              </a:gsLst>
              <a:lin ang="0" scaled="1"/>
            </a:gra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571500" y="2076450"/>
              <a:ext cx="1104900" cy="1714214"/>
              <a:chOff x="571500" y="2076450"/>
              <a:chExt cx="1104900" cy="1714214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571500" y="2076450"/>
                <a:ext cx="1104900" cy="11049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BFD9F9"/>
                </a:solidFill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>
                <a:off x="979488" y="2422525"/>
                <a:ext cx="288925" cy="401638"/>
                <a:chOff x="979488" y="2422525"/>
                <a:chExt cx="288925" cy="401638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1062038" y="2422525"/>
                  <a:ext cx="123825" cy="227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227013">
                      <a:moveTo>
                        <a:pt x="0" y="61913"/>
                      </a:moveTo>
                      <a:cubicBezTo>
                        <a:pt x="0" y="27719"/>
                        <a:pt x="27719" y="0"/>
                        <a:pt x="61913" y="0"/>
                      </a:cubicBezTo>
                      <a:cubicBezTo>
                        <a:pt x="96106" y="0"/>
                        <a:pt x="123825" y="27719"/>
                        <a:pt x="123825" y="61913"/>
                      </a:cubicBezTo>
                      <a:lnTo>
                        <a:pt x="123825" y="165100"/>
                      </a:lnTo>
                      <a:cubicBezTo>
                        <a:pt x="123825" y="199294"/>
                        <a:pt x="96106" y="227013"/>
                        <a:pt x="61913" y="227013"/>
                      </a:cubicBezTo>
                      <a:cubicBezTo>
                        <a:pt x="27719" y="227013"/>
                        <a:pt x="0" y="199294"/>
                        <a:pt x="0" y="165100"/>
                      </a:cubicBezTo>
                      <a:lnTo>
                        <a:pt x="0" y="61913"/>
                      </a:lnTo>
                    </a:path>
                  </a:pathLst>
                </a:custGeom>
                <a:noFill/>
                <a:ln w="41275">
                  <a:solidFill>
                    <a:srgbClr val="2F7CF4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979488" y="2587625"/>
                  <a:ext cx="288925" cy="144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925" h="144463">
                      <a:moveTo>
                        <a:pt x="0" y="0"/>
                      </a:moveTo>
                      <a:cubicBezTo>
                        <a:pt x="0" y="79785"/>
                        <a:pt x="64678" y="144463"/>
                        <a:pt x="144463" y="144463"/>
                      </a:cubicBezTo>
                      <a:cubicBezTo>
                        <a:pt x="224247" y="144463"/>
                        <a:pt x="288925" y="79785"/>
                        <a:pt x="288925" y="0"/>
                      </a:cubicBezTo>
                    </a:path>
                  </a:pathLst>
                </a:custGeom>
                <a:noFill/>
                <a:ln w="41275">
                  <a:solidFill>
                    <a:srgbClr val="2F7CF4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041400" y="2814638"/>
                  <a:ext cx="1651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9525">
                      <a:moveTo>
                        <a:pt x="0" y="0"/>
                      </a:moveTo>
                      <a:lnTo>
                        <a:pt x="165100" y="0"/>
                      </a:lnTo>
                    </a:path>
                  </a:pathLst>
                </a:custGeom>
                <a:noFill/>
                <a:ln w="41275">
                  <a:solidFill>
                    <a:srgbClr val="2F7CF4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123950" y="2732088"/>
                  <a:ext cx="9525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2550">
                      <a:moveTo>
                        <a:pt x="0" y="0"/>
                      </a:moveTo>
                      <a:lnTo>
                        <a:pt x="0" y="82550"/>
                      </a:lnTo>
                    </a:path>
                  </a:pathLst>
                </a:custGeom>
                <a:noFill/>
                <a:ln w="41275">
                  <a:solidFill>
                    <a:srgbClr val="2F7CF4"/>
                  </a:solidFill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581598" y="3319939"/>
                <a:ext cx="108470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071A33"/>
                    </a:solidFill>
                    <a:latin typeface="Microsoft YaHei"/>
                    <a:ea typeface="Microsoft YaHei"/>
                    <a:cs typeface="Microsoft YaHei"/>
                  </a:rPr>
                  <a:t>Audio / Text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87069" y="3599974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66809F"/>
                    </a:solidFill>
                    <a:latin typeface="Microsoft YaHei"/>
                    <a:ea typeface="Microsoft YaHei"/>
                    <a:cs typeface="Microsoft YaHei"/>
                  </a:rPr>
                  <a:t>输入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2552700" y="2076450"/>
              <a:ext cx="1104900" cy="1714214"/>
              <a:chOff x="2552700" y="2076450"/>
              <a:chExt cx="1104900" cy="1714214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2552700" y="2076450"/>
                <a:ext cx="1104900" cy="1104900"/>
              </a:xfrm>
              <a:prstGeom prst="ellipse">
                <a:avLst/>
              </a:prstGeom>
              <a:solidFill>
                <a:srgbClr val="EAF4FF"/>
              </a:solidFill>
              <a:ln w="19050">
                <a:solidFill>
                  <a:srgbClr val="9CC7F8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2918959" y="2463800"/>
                <a:ext cx="371930" cy="330201"/>
              </a:xfrm>
              <a:custGeom>
                <a:avLst/>
                <a:gdLst/>
                <a:ahLst/>
                <a:cxnLst/>
                <a:rect l="l" t="t" r="r" b="b"/>
                <a:pathLst>
                  <a:path w="371930" h="330201">
                    <a:moveTo>
                      <a:pt x="371930" y="165100"/>
                    </a:moveTo>
                    <a:lnTo>
                      <a:pt x="330655" y="165100"/>
                    </a:lnTo>
                    <a:cubicBezTo>
                      <a:pt x="312205" y="165100"/>
                      <a:pt x="296355" y="147414"/>
                      <a:pt x="294312" y="123825"/>
                    </a:cubicBezTo>
                    <a:cubicBezTo>
                      <a:pt x="288203" y="52626"/>
                      <a:pt x="278854" y="0"/>
                      <a:pt x="237579" y="0"/>
                    </a:cubicBezTo>
                    <a:cubicBezTo>
                      <a:pt x="196304" y="0"/>
                      <a:pt x="185985" y="73924"/>
                      <a:pt x="185985" y="165100"/>
                    </a:cubicBezTo>
                    <a:cubicBezTo>
                      <a:pt x="185985" y="256277"/>
                      <a:pt x="175667" y="330201"/>
                      <a:pt x="134392" y="330201"/>
                    </a:cubicBezTo>
                    <a:cubicBezTo>
                      <a:pt x="93117" y="330201"/>
                      <a:pt x="83788" y="277637"/>
                      <a:pt x="77659" y="206375"/>
                    </a:cubicBezTo>
                    <a:cubicBezTo>
                      <a:pt x="75595" y="182704"/>
                      <a:pt x="59766" y="165100"/>
                      <a:pt x="41275" y="165100"/>
                    </a:cubicBezTo>
                    <a:lnTo>
                      <a:pt x="0" y="165100"/>
                    </a:lnTo>
                  </a:path>
                </a:pathLst>
              </a:custGeom>
              <a:noFill/>
              <a:ln w="41275">
                <a:solidFill>
                  <a:srgbClr val="2F7CF4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2634971" y="3319939"/>
                <a:ext cx="94035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071A33"/>
                    </a:solidFill>
                    <a:latin typeface="Microsoft YaHei"/>
                    <a:ea typeface="Microsoft YaHei"/>
                    <a:cs typeface="Microsoft YaHei"/>
                  </a:rPr>
                  <a:t>ASR Engine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968269" y="3599974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66809F"/>
                    </a:solidFill>
                    <a:latin typeface="Microsoft YaHei"/>
                    <a:ea typeface="Microsoft YaHei"/>
                    <a:cs typeface="Microsoft YaHei"/>
                  </a:rPr>
                  <a:t>转写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4148429" y="2028825"/>
              <a:ext cx="1875843" cy="1761839"/>
              <a:chOff x="4148429" y="2028825"/>
              <a:chExt cx="1875843" cy="1761839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4486275" y="2028825"/>
                <a:ext cx="1200150" cy="1200150"/>
              </a:xfrm>
              <a:prstGeom prst="ellipse">
                <a:avLst/>
              </a:prstGeom>
              <a:solidFill>
                <a:srgbClr val="071A33"/>
              </a:solidFill>
              <a:ln w="28575">
                <a:solidFill>
                  <a:srgbClr val="20D9E8"/>
                </a:solidFill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4856331" y="2428875"/>
                <a:ext cx="434014" cy="400049"/>
                <a:chOff x="4856331" y="2428875"/>
                <a:chExt cx="434014" cy="400049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4856331" y="2428875"/>
                  <a:ext cx="434014" cy="396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4014" h="396627">
                      <a:moveTo>
                        <a:pt x="218017" y="396627"/>
                      </a:moveTo>
                      <a:cubicBezTo>
                        <a:pt x="78788" y="353469"/>
                        <a:pt x="0" y="206524"/>
                        <a:pt x="41106" y="66675"/>
                      </a:cubicBezTo>
                      <a:cubicBezTo>
                        <a:pt x="110349" y="69843"/>
                        <a:pt x="178105" y="45930"/>
                        <a:pt x="230018" y="0"/>
                      </a:cubicBezTo>
                      <a:cubicBezTo>
                        <a:pt x="281932" y="45930"/>
                        <a:pt x="349688" y="69843"/>
                        <a:pt x="418931" y="66675"/>
                      </a:cubicBezTo>
                      <a:cubicBezTo>
                        <a:pt x="434014" y="117995"/>
                        <a:pt x="433317" y="172664"/>
                        <a:pt x="416930" y="223583"/>
                      </a:cubicBezTo>
                    </a:path>
                  </a:pathLst>
                </a:custGeom>
                <a:noFill/>
                <a:ln w="44450">
                  <a:solidFill>
                    <a:srgbClr val="20D9E8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5153025" y="2740024"/>
                  <a:ext cx="13335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88900">
                      <a:moveTo>
                        <a:pt x="0" y="44450"/>
                      </a:moveTo>
                      <a:lnTo>
                        <a:pt x="44450" y="88900"/>
                      </a:lnTo>
                      <a:lnTo>
                        <a:pt x="133350" y="0"/>
                      </a:lnTo>
                    </a:path>
                  </a:pathLst>
                </a:custGeom>
                <a:noFill/>
                <a:ln w="44450">
                  <a:solidFill>
                    <a:srgbClr val="20D9E8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4148429" y="3319939"/>
                <a:ext cx="187584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071A33"/>
                    </a:solidFill>
                    <a:latin typeface="Microsoft YaHei"/>
                    <a:ea typeface="Microsoft YaHei"/>
                    <a:cs typeface="Microsoft YaHei"/>
                  </a:rPr>
                  <a:t>Speaker Quality Gate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949469" y="3599974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23A88E"/>
                    </a:solidFill>
                    <a:latin typeface="Microsoft YaHei"/>
                    <a:ea typeface="Microsoft YaHei"/>
                    <a:cs typeface="Microsoft YaHei"/>
                  </a:rPr>
                  <a:t>阻断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458374" y="2076450"/>
              <a:ext cx="1218353" cy="1714214"/>
              <a:chOff x="6458374" y="2076450"/>
              <a:chExt cx="1218353" cy="1714214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6515100" y="2076450"/>
                <a:ext cx="1104900" cy="1104900"/>
              </a:xfrm>
              <a:prstGeom prst="ellipse">
                <a:avLst/>
              </a:prstGeom>
              <a:solidFill>
                <a:srgbClr val="E8FBFD"/>
              </a:solidFill>
              <a:ln w="19050">
                <a:solidFill>
                  <a:srgbClr val="8DEBF2"/>
                </a:solidFill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6881813" y="2443163"/>
                <a:ext cx="371475" cy="371475"/>
                <a:chOff x="6881813" y="2443163"/>
                <a:chExt cx="371475" cy="371475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7067550" y="2649538"/>
                  <a:ext cx="144463" cy="16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3" h="165100">
                      <a:moveTo>
                        <a:pt x="72231" y="0"/>
                      </a:moveTo>
                      <a:cubicBezTo>
                        <a:pt x="32339" y="0"/>
                        <a:pt x="0" y="32339"/>
                        <a:pt x="0" y="72231"/>
                      </a:cubicBezTo>
                      <a:lnTo>
                        <a:pt x="0" y="92869"/>
                      </a:lnTo>
                      <a:cubicBezTo>
                        <a:pt x="0" y="132761"/>
                        <a:pt x="32339" y="165100"/>
                        <a:pt x="72231" y="165100"/>
                      </a:cubicBezTo>
                      <a:cubicBezTo>
                        <a:pt x="112124" y="165100"/>
                        <a:pt x="144463" y="132761"/>
                        <a:pt x="144463" y="92869"/>
                      </a:cubicBezTo>
                      <a:lnTo>
                        <a:pt x="144463" y="55721"/>
                      </a:lnTo>
                    </a:path>
                  </a:pathLst>
                </a:custGeom>
                <a:noFill/>
                <a:ln w="41275">
                  <a:solidFill>
                    <a:srgbClr val="0AAFC0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6923088" y="2649538"/>
                  <a:ext cx="144463" cy="16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3" h="165100">
                      <a:moveTo>
                        <a:pt x="72231" y="0"/>
                      </a:moveTo>
                      <a:cubicBezTo>
                        <a:pt x="112124" y="0"/>
                        <a:pt x="144463" y="32339"/>
                        <a:pt x="144463" y="72231"/>
                      </a:cubicBezTo>
                      <a:lnTo>
                        <a:pt x="144463" y="92869"/>
                      </a:lnTo>
                      <a:cubicBezTo>
                        <a:pt x="144463" y="132761"/>
                        <a:pt x="112124" y="165100"/>
                        <a:pt x="72231" y="165100"/>
                      </a:cubicBezTo>
                      <a:cubicBezTo>
                        <a:pt x="32339" y="165100"/>
                        <a:pt x="0" y="132761"/>
                        <a:pt x="0" y="92869"/>
                      </a:cubicBezTo>
                      <a:lnTo>
                        <a:pt x="0" y="55721"/>
                      </a:lnTo>
                    </a:path>
                  </a:pathLst>
                </a:custGeom>
                <a:noFill/>
                <a:ln w="41275">
                  <a:solidFill>
                    <a:srgbClr val="0AAFC0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7170738" y="2566988"/>
                  <a:ext cx="82550" cy="144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144463">
                      <a:moveTo>
                        <a:pt x="10319" y="144463"/>
                      </a:moveTo>
                      <a:cubicBezTo>
                        <a:pt x="50211" y="144463"/>
                        <a:pt x="82550" y="112124"/>
                        <a:pt x="82550" y="72231"/>
                      </a:cubicBezTo>
                      <a:cubicBezTo>
                        <a:pt x="82550" y="32339"/>
                        <a:pt x="50211" y="0"/>
                        <a:pt x="10319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41275">
                  <a:solidFill>
                    <a:srgbClr val="0AAFC0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7067550" y="2443163"/>
                  <a:ext cx="144463" cy="1300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3" h="130016">
                      <a:moveTo>
                        <a:pt x="144463" y="130016"/>
                      </a:moveTo>
                      <a:lnTo>
                        <a:pt x="144463" y="72231"/>
                      </a:lnTo>
                      <a:cubicBezTo>
                        <a:pt x="144463" y="32339"/>
                        <a:pt x="112124" y="0"/>
                        <a:pt x="72231" y="0"/>
                      </a:cubicBezTo>
                      <a:cubicBezTo>
                        <a:pt x="32339" y="0"/>
                        <a:pt x="0" y="32339"/>
                        <a:pt x="0" y="72231"/>
                      </a:cubicBezTo>
                    </a:path>
                  </a:pathLst>
                </a:custGeom>
                <a:noFill/>
                <a:ln w="41275">
                  <a:solidFill>
                    <a:srgbClr val="0AAFC0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6881813" y="2566988"/>
                  <a:ext cx="82550" cy="144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144463">
                      <a:moveTo>
                        <a:pt x="72231" y="144463"/>
                      </a:moveTo>
                      <a:cubicBezTo>
                        <a:pt x="32339" y="144463"/>
                        <a:pt x="0" y="112124"/>
                        <a:pt x="0" y="72231"/>
                      </a:cubicBezTo>
                      <a:cubicBezTo>
                        <a:pt x="0" y="32339"/>
                        <a:pt x="32339" y="0"/>
                        <a:pt x="72231" y="0"/>
                      </a:cubicBezTo>
                      <a:lnTo>
                        <a:pt x="82550" y="0"/>
                      </a:lnTo>
                    </a:path>
                  </a:pathLst>
                </a:custGeom>
                <a:noFill/>
                <a:ln w="41275">
                  <a:solidFill>
                    <a:srgbClr val="0AAFC0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6923088" y="2443163"/>
                  <a:ext cx="144463" cy="2786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3" h="278607">
                      <a:moveTo>
                        <a:pt x="0" y="130016"/>
                      </a:moveTo>
                      <a:lnTo>
                        <a:pt x="0" y="72231"/>
                      </a:lnTo>
                      <a:cubicBezTo>
                        <a:pt x="0" y="32339"/>
                        <a:pt x="32339" y="0"/>
                        <a:pt x="72231" y="0"/>
                      </a:cubicBezTo>
                      <a:cubicBezTo>
                        <a:pt x="112124" y="0"/>
                        <a:pt x="144463" y="32339"/>
                        <a:pt x="144463" y="72231"/>
                      </a:cubicBezTo>
                      <a:lnTo>
                        <a:pt x="144463" y="278607"/>
                      </a:lnTo>
                    </a:path>
                  </a:pathLst>
                </a:custGeom>
                <a:noFill/>
                <a:ln w="41275">
                  <a:solidFill>
                    <a:srgbClr val="0AAFC0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6458374" y="3319939"/>
                <a:ext cx="121835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071A33"/>
                    </a:solidFill>
                    <a:latin typeface="Microsoft YaHei"/>
                    <a:ea typeface="Microsoft YaHei"/>
                    <a:cs typeface="Microsoft YaHei"/>
                  </a:rPr>
                  <a:t>Medical Agent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930669" y="3599974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66809F"/>
                    </a:solidFill>
                    <a:latin typeface="Microsoft YaHei"/>
                    <a:ea typeface="Microsoft YaHei"/>
                    <a:cs typeface="Microsoft YaHei"/>
                  </a:rPr>
                  <a:t>生成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8416744" y="2076450"/>
              <a:ext cx="1264012" cy="1714214"/>
              <a:chOff x="8416744" y="2076450"/>
              <a:chExt cx="1264012" cy="1714214"/>
            </a:xfrm>
          </p:grpSpPr>
          <p:sp>
            <p:nvSpPr>
              <p:cNvPr id="41" name="Ellipse 41"/>
              <p:cNvSpPr/>
              <p:nvPr/>
            </p:nvSpPr>
            <p:spPr>
              <a:xfrm>
                <a:off x="8496300" y="2076450"/>
                <a:ext cx="1104900" cy="1104900"/>
              </a:xfrm>
              <a:prstGeom prst="ellipse">
                <a:avLst/>
              </a:prstGeom>
              <a:solidFill>
                <a:srgbClr val="EBFBF7"/>
              </a:solidFill>
              <a:ln w="19050">
                <a:solidFill>
                  <a:srgbClr val="93E7D3"/>
                </a:solidFill>
              </a:ln>
            </p:spPr>
          </p:sp>
          <p:grpSp>
            <p:nvGrpSpPr>
              <p:cNvPr id="45" name="Group 45"/>
              <p:cNvGrpSpPr/>
              <p:nvPr/>
            </p:nvGrpSpPr>
            <p:grpSpPr>
              <a:xfrm>
                <a:off x="8924925" y="2443163"/>
                <a:ext cx="309563" cy="371475"/>
                <a:chOff x="8924925" y="2443163"/>
                <a:chExt cx="309563" cy="371475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8966200" y="2443163"/>
                  <a:ext cx="165100" cy="16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165100">
                      <a:moveTo>
                        <a:pt x="0" y="82550"/>
                      </a:moveTo>
                      <a:cubicBezTo>
                        <a:pt x="0" y="128141"/>
                        <a:pt x="36959" y="165100"/>
                        <a:pt x="82550" y="165100"/>
                      </a:cubicBezTo>
                      <a:cubicBezTo>
                        <a:pt x="128141" y="165100"/>
                        <a:pt x="165100" y="128141"/>
                        <a:pt x="165100" y="82550"/>
                      </a:cubicBezTo>
                      <a:cubicBezTo>
                        <a:pt x="165100" y="36959"/>
                        <a:pt x="128141" y="0"/>
                        <a:pt x="82550" y="0"/>
                      </a:cubicBezTo>
                      <a:cubicBezTo>
                        <a:pt x="36959" y="0"/>
                        <a:pt x="0" y="36959"/>
                        <a:pt x="0" y="82550"/>
                      </a:cubicBezTo>
                    </a:path>
                  </a:pathLst>
                </a:custGeom>
                <a:noFill/>
                <a:ln w="41275">
                  <a:solidFill>
                    <a:srgbClr val="23A88E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8924925" y="2690813"/>
                  <a:ext cx="165100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123825">
                      <a:moveTo>
                        <a:pt x="0" y="123825"/>
                      </a:moveTo>
                      <a:lnTo>
                        <a:pt x="0" y="82550"/>
                      </a:lnTo>
                      <a:cubicBezTo>
                        <a:pt x="0" y="36959"/>
                        <a:pt x="36959" y="0"/>
                        <a:pt x="82550" y="0"/>
                      </a:cubicBezTo>
                      <a:lnTo>
                        <a:pt x="165100" y="0"/>
                      </a:lnTo>
                    </a:path>
                  </a:pathLst>
                </a:custGeom>
                <a:noFill/>
                <a:ln w="41275">
                  <a:solidFill>
                    <a:srgbClr val="23A88E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9110663" y="2732088"/>
                  <a:ext cx="123825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82550">
                      <a:moveTo>
                        <a:pt x="0" y="41275"/>
                      </a:moveTo>
                      <a:lnTo>
                        <a:pt x="41275" y="82550"/>
                      </a:lnTo>
                      <a:lnTo>
                        <a:pt x="123825" y="0"/>
                      </a:lnTo>
                    </a:path>
                  </a:pathLst>
                </a:custGeom>
                <a:noFill/>
                <a:ln w="41275">
                  <a:solidFill>
                    <a:srgbClr val="23A88E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8416744" y="3319939"/>
                <a:ext cx="126401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071A33"/>
                    </a:solidFill>
                    <a:latin typeface="Microsoft YaHei"/>
                    <a:ea typeface="Microsoft YaHei"/>
                    <a:cs typeface="Microsoft YaHei"/>
                  </a:rPr>
                  <a:t>Doctor Review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911869" y="3599974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66809F"/>
                    </a:solidFill>
                    <a:latin typeface="Microsoft YaHei"/>
                    <a:ea typeface="Microsoft YaHei"/>
                    <a:cs typeface="Microsoft YaHei"/>
                  </a:rPr>
                  <a:t>审核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10477500" y="2076450"/>
              <a:ext cx="1104900" cy="1714214"/>
              <a:chOff x="10477500" y="2076450"/>
              <a:chExt cx="1104900" cy="1714214"/>
            </a:xfrm>
          </p:grpSpPr>
          <p:sp>
            <p:nvSpPr>
              <p:cNvPr id="49" name="Ellipse 49"/>
              <p:cNvSpPr/>
              <p:nvPr/>
            </p:nvSpPr>
            <p:spPr>
              <a:xfrm>
                <a:off x="10477500" y="2076450"/>
                <a:ext cx="1104900" cy="11049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BFD9F9"/>
                </a:solidFill>
              </a:ln>
            </p:spPr>
          </p:sp>
          <p:grpSp>
            <p:nvGrpSpPr>
              <p:cNvPr id="56" name="Group 56"/>
              <p:cNvGrpSpPr/>
              <p:nvPr/>
            </p:nvGrpSpPr>
            <p:grpSpPr>
              <a:xfrm>
                <a:off x="10864850" y="2443163"/>
                <a:ext cx="371476" cy="371476"/>
                <a:chOff x="10864850" y="2443163"/>
                <a:chExt cx="371476" cy="371476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10864850" y="2443163"/>
                  <a:ext cx="330201" cy="3714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201" h="371476">
                      <a:moveTo>
                        <a:pt x="165100" y="371476"/>
                      </a:moveTo>
                      <a:lnTo>
                        <a:pt x="0" y="278607"/>
                      </a:lnTo>
                      <a:lnTo>
                        <a:pt x="0" y="92869"/>
                      </a:lnTo>
                      <a:lnTo>
                        <a:pt x="165100" y="0"/>
                      </a:lnTo>
                      <a:lnTo>
                        <a:pt x="330201" y="92869"/>
                      </a:lnTo>
                      <a:lnTo>
                        <a:pt x="330201" y="185738"/>
                      </a:lnTo>
                    </a:path>
                  </a:pathLst>
                </a:custGeom>
                <a:noFill/>
                <a:ln w="41275">
                  <a:solidFill>
                    <a:srgbClr val="2F7CF4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11029950" y="2536031"/>
                  <a:ext cx="165100" cy="92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92869">
                      <a:moveTo>
                        <a:pt x="0" y="92869"/>
                      </a:moveTo>
                      <a:lnTo>
                        <a:pt x="165100" y="0"/>
                      </a:lnTo>
                    </a:path>
                  </a:pathLst>
                </a:custGeom>
                <a:noFill/>
                <a:ln w="41275">
                  <a:solidFill>
                    <a:srgbClr val="2F7CF4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11029950" y="2628900"/>
                  <a:ext cx="9525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85738">
                      <a:moveTo>
                        <a:pt x="0" y="0"/>
                      </a:moveTo>
                      <a:lnTo>
                        <a:pt x="0" y="185738"/>
                      </a:lnTo>
                    </a:path>
                  </a:pathLst>
                </a:custGeom>
                <a:noFill/>
                <a:ln w="41275">
                  <a:solidFill>
                    <a:srgbClr val="2F7CF4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10864850" y="2536031"/>
                  <a:ext cx="165100" cy="92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92869">
                      <a:moveTo>
                        <a:pt x="165100" y="92869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41275">
                  <a:solidFill>
                    <a:srgbClr val="2F7CF4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11091863" y="2752726"/>
                  <a:ext cx="14446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3" h="9525">
                      <a:moveTo>
                        <a:pt x="0" y="0"/>
                      </a:moveTo>
                      <a:lnTo>
                        <a:pt x="144463" y="0"/>
                      </a:lnTo>
                    </a:path>
                  </a:pathLst>
                </a:custGeom>
                <a:noFill/>
                <a:ln w="41275">
                  <a:solidFill>
                    <a:srgbClr val="2F7CF4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11174413" y="2690813"/>
                  <a:ext cx="61913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3" h="123825">
                      <a:moveTo>
                        <a:pt x="0" y="0"/>
                      </a:moveTo>
                      <a:lnTo>
                        <a:pt x="61913" y="61913"/>
                      </a:lnTo>
                      <a:lnTo>
                        <a:pt x="0" y="123825"/>
                      </a:lnTo>
                    </a:path>
                  </a:pathLst>
                </a:custGeom>
                <a:noFill/>
                <a:ln w="41275">
                  <a:solidFill>
                    <a:srgbClr val="2F7CF4"/>
                  </a:solidFill>
                </a:ln>
              </p:spPr>
            </p:sp>
          </p:grpSp>
          <p:sp>
            <p:nvSpPr>
              <p:cNvPr id="57" name="TextBox 57"/>
              <p:cNvSpPr txBox="1"/>
              <p:nvPr/>
            </p:nvSpPr>
            <p:spPr>
              <a:xfrm>
                <a:off x="10722123" y="3319939"/>
                <a:ext cx="61565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071A33"/>
                    </a:solidFill>
                    <a:latin typeface="Microsoft YaHei"/>
                    <a:ea typeface="Microsoft YaHei"/>
                    <a:cs typeface="Microsoft YaHei"/>
                  </a:rPr>
                  <a:t>Export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10893069" y="3599974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66809F"/>
                    </a:solidFill>
                    <a:latin typeface="Microsoft YaHei"/>
                    <a:ea typeface="Microsoft YaHei"/>
                    <a:cs typeface="Microsoft YaHei"/>
                  </a:rPr>
                  <a:t>交付</a:t>
                </a:r>
              </a:p>
            </p:txBody>
          </p:sp>
        </p:grpSp>
      </p:grpSp>
      <p:grpSp>
        <p:nvGrpSpPr>
          <p:cNvPr id="74" name="Group 74"/>
          <p:cNvGrpSpPr/>
          <p:nvPr/>
        </p:nvGrpSpPr>
        <p:grpSpPr>
          <a:xfrm>
            <a:off x="533400" y="4495800"/>
            <a:ext cx="11125200" cy="1428750"/>
            <a:chOff x="533400" y="4495800"/>
            <a:chExt cx="11125200" cy="1428750"/>
          </a:xfrm>
        </p:grpSpPr>
        <p:sp>
          <p:nvSpPr>
            <p:cNvPr id="61" name="Rectangle 61"/>
            <p:cNvSpPr/>
            <p:nvPr/>
          </p:nvSpPr>
          <p:spPr>
            <a:xfrm>
              <a:off x="533400" y="4495800"/>
              <a:ext cx="2533650" cy="1428750"/>
            </a:xfrm>
            <a:prstGeom prst="roundRect">
              <a:avLst>
                <a:gd name="adj" fmla="val 10667"/>
              </a:avLst>
            </a:prstGeom>
            <a:solidFill>
              <a:srgbClr val="071A33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69620" y="480536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v1.4.0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75335" y="53459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正式版本锚点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3314700" y="4495800"/>
              <a:ext cx="2533650" cy="1428750"/>
            </a:xfrm>
            <a:prstGeom prst="roundRect">
              <a:avLst>
                <a:gd name="adj" fmla="val 10667"/>
              </a:avLst>
            </a:prstGeom>
            <a:solidFill>
              <a:srgbClr val="FFFFFF"/>
            </a:solidFill>
            <a:ln w="19050">
              <a:solidFill>
                <a:srgbClr val="D9E7F6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552825" y="4845844"/>
              <a:ext cx="194566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#47 / #51 / #53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556635" y="53459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已合并工程增量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096000" y="4495800"/>
              <a:ext cx="2533650" cy="1428750"/>
            </a:xfrm>
            <a:prstGeom prst="roundRect">
              <a:avLst>
                <a:gd name="adj" fmla="val 10667"/>
              </a:avLst>
            </a:prstGeom>
            <a:solidFill>
              <a:srgbClr val="FFFFFF"/>
            </a:solidFill>
            <a:ln w="19050">
              <a:solidFill>
                <a:srgbClr val="D9E7F6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32220" y="4805362"/>
              <a:ext cx="232864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183 → 201 → 204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337935" y="53459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回归测试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877300" y="4495800"/>
              <a:ext cx="2781300" cy="1428750"/>
            </a:xfrm>
            <a:prstGeom prst="roundRect">
              <a:avLst>
                <a:gd name="adj" fmla="val 10667"/>
              </a:avLst>
            </a:prstGeom>
            <a:solidFill>
              <a:srgbClr val="E8FBFD"/>
            </a:solidFill>
            <a:ln w="19050">
              <a:solidFill>
                <a:srgbClr val="99EAF2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9143666" y="4922310"/>
              <a:ext cx="457534" cy="328136"/>
            </a:xfrm>
            <a:custGeom>
              <a:avLst/>
              <a:gdLst/>
              <a:ahLst/>
              <a:cxnLst/>
              <a:rect l="l" t="t" r="r" b="b"/>
              <a:pathLst>
                <a:path w="457534" h="328136">
                  <a:moveTo>
                    <a:pt x="266710" y="146475"/>
                  </a:moveTo>
                  <a:lnTo>
                    <a:pt x="307077" y="146475"/>
                  </a:lnTo>
                  <a:cubicBezTo>
                    <a:pt x="309026" y="146476"/>
                    <a:pt x="310610" y="144901"/>
                    <a:pt x="310620" y="142951"/>
                  </a:cubicBezTo>
                  <a:lnTo>
                    <a:pt x="310620" y="107004"/>
                  </a:lnTo>
                  <a:cubicBezTo>
                    <a:pt x="310620" y="105047"/>
                    <a:pt x="309034" y="103461"/>
                    <a:pt x="307077" y="103461"/>
                  </a:cubicBezTo>
                  <a:lnTo>
                    <a:pt x="266710" y="103461"/>
                  </a:lnTo>
                  <a:cubicBezTo>
                    <a:pt x="265775" y="103461"/>
                    <a:pt x="264879" y="103832"/>
                    <a:pt x="264218" y="104493"/>
                  </a:cubicBezTo>
                  <a:cubicBezTo>
                    <a:pt x="263557" y="105154"/>
                    <a:pt x="263186" y="106050"/>
                    <a:pt x="263186" y="106985"/>
                  </a:cubicBezTo>
                  <a:lnTo>
                    <a:pt x="263186" y="142951"/>
                  </a:lnTo>
                  <a:cubicBezTo>
                    <a:pt x="263186" y="144894"/>
                    <a:pt x="264767" y="146475"/>
                    <a:pt x="266710" y="146475"/>
                  </a:cubicBezTo>
                  <a:moveTo>
                    <a:pt x="210436" y="43034"/>
                  </a:moveTo>
                  <a:lnTo>
                    <a:pt x="250784" y="43034"/>
                  </a:lnTo>
                  <a:cubicBezTo>
                    <a:pt x="252741" y="43034"/>
                    <a:pt x="254327" y="41448"/>
                    <a:pt x="254327" y="39491"/>
                  </a:cubicBezTo>
                  <a:lnTo>
                    <a:pt x="254327" y="3524"/>
                  </a:lnTo>
                  <a:cubicBezTo>
                    <a:pt x="254317" y="1575"/>
                    <a:pt x="252734" y="0"/>
                    <a:pt x="250784" y="0"/>
                  </a:cubicBezTo>
                  <a:lnTo>
                    <a:pt x="210436" y="0"/>
                  </a:lnTo>
                  <a:cubicBezTo>
                    <a:pt x="209501" y="0"/>
                    <a:pt x="208605" y="371"/>
                    <a:pt x="207944" y="1032"/>
                  </a:cubicBezTo>
                  <a:cubicBezTo>
                    <a:pt x="207283" y="1693"/>
                    <a:pt x="206912" y="2590"/>
                    <a:pt x="206912" y="3524"/>
                  </a:cubicBezTo>
                  <a:lnTo>
                    <a:pt x="206912" y="39491"/>
                  </a:lnTo>
                  <a:cubicBezTo>
                    <a:pt x="206912" y="41434"/>
                    <a:pt x="208474" y="43015"/>
                    <a:pt x="210436" y="43015"/>
                  </a:cubicBezTo>
                  <a:moveTo>
                    <a:pt x="210436" y="94755"/>
                  </a:moveTo>
                  <a:lnTo>
                    <a:pt x="250784" y="94755"/>
                  </a:lnTo>
                  <a:cubicBezTo>
                    <a:pt x="252737" y="94744"/>
                    <a:pt x="254317" y="93164"/>
                    <a:pt x="254327" y="91211"/>
                  </a:cubicBezTo>
                  <a:lnTo>
                    <a:pt x="254327" y="55264"/>
                  </a:lnTo>
                  <a:cubicBezTo>
                    <a:pt x="254317" y="53315"/>
                    <a:pt x="252734" y="51740"/>
                    <a:pt x="250784" y="51740"/>
                  </a:cubicBezTo>
                  <a:lnTo>
                    <a:pt x="210436" y="51740"/>
                  </a:lnTo>
                  <a:cubicBezTo>
                    <a:pt x="209501" y="51740"/>
                    <a:pt x="208605" y="52111"/>
                    <a:pt x="207944" y="52772"/>
                  </a:cubicBezTo>
                  <a:cubicBezTo>
                    <a:pt x="207283" y="53433"/>
                    <a:pt x="206912" y="54329"/>
                    <a:pt x="206912" y="55264"/>
                  </a:cubicBezTo>
                  <a:lnTo>
                    <a:pt x="206912" y="91211"/>
                  </a:lnTo>
                  <a:cubicBezTo>
                    <a:pt x="206912" y="93155"/>
                    <a:pt x="208474" y="94736"/>
                    <a:pt x="210436" y="94755"/>
                  </a:cubicBezTo>
                  <a:moveTo>
                    <a:pt x="154620" y="94755"/>
                  </a:moveTo>
                  <a:lnTo>
                    <a:pt x="195006" y="94755"/>
                  </a:lnTo>
                  <a:cubicBezTo>
                    <a:pt x="196948" y="94734"/>
                    <a:pt x="198511" y="93154"/>
                    <a:pt x="198511" y="91211"/>
                  </a:cubicBezTo>
                  <a:lnTo>
                    <a:pt x="198511" y="55264"/>
                  </a:lnTo>
                  <a:cubicBezTo>
                    <a:pt x="198511" y="54329"/>
                    <a:pt x="198140" y="53433"/>
                    <a:pt x="197479" y="52772"/>
                  </a:cubicBezTo>
                  <a:cubicBezTo>
                    <a:pt x="196818" y="52111"/>
                    <a:pt x="195921" y="51740"/>
                    <a:pt x="194987" y="51740"/>
                  </a:cubicBezTo>
                  <a:lnTo>
                    <a:pt x="154639" y="51740"/>
                  </a:lnTo>
                  <a:cubicBezTo>
                    <a:pt x="152692" y="51740"/>
                    <a:pt x="151114" y="53318"/>
                    <a:pt x="151114" y="55264"/>
                  </a:cubicBezTo>
                  <a:lnTo>
                    <a:pt x="151114" y="91211"/>
                  </a:lnTo>
                  <a:cubicBezTo>
                    <a:pt x="151114" y="93155"/>
                    <a:pt x="152696" y="94736"/>
                    <a:pt x="154639" y="94755"/>
                  </a:cubicBezTo>
                  <a:moveTo>
                    <a:pt x="98175" y="94755"/>
                  </a:moveTo>
                  <a:lnTo>
                    <a:pt x="138541" y="94755"/>
                  </a:lnTo>
                  <a:cubicBezTo>
                    <a:pt x="140491" y="94744"/>
                    <a:pt x="142066" y="93161"/>
                    <a:pt x="142066" y="91211"/>
                  </a:cubicBezTo>
                  <a:lnTo>
                    <a:pt x="142066" y="55264"/>
                  </a:lnTo>
                  <a:cubicBezTo>
                    <a:pt x="142066" y="53318"/>
                    <a:pt x="140488" y="51740"/>
                    <a:pt x="138541" y="51740"/>
                  </a:cubicBezTo>
                  <a:lnTo>
                    <a:pt x="98175" y="51740"/>
                  </a:lnTo>
                  <a:cubicBezTo>
                    <a:pt x="96225" y="51740"/>
                    <a:pt x="94642" y="53315"/>
                    <a:pt x="94631" y="55264"/>
                  </a:cubicBezTo>
                  <a:lnTo>
                    <a:pt x="94631" y="91211"/>
                  </a:lnTo>
                  <a:cubicBezTo>
                    <a:pt x="94631" y="93155"/>
                    <a:pt x="96231" y="94736"/>
                    <a:pt x="98175" y="94755"/>
                  </a:cubicBezTo>
                  <a:moveTo>
                    <a:pt x="210436" y="146475"/>
                  </a:moveTo>
                  <a:lnTo>
                    <a:pt x="250784" y="146475"/>
                  </a:lnTo>
                  <a:cubicBezTo>
                    <a:pt x="252734" y="146476"/>
                    <a:pt x="254317" y="144901"/>
                    <a:pt x="254327" y="142951"/>
                  </a:cubicBezTo>
                  <a:lnTo>
                    <a:pt x="254327" y="107004"/>
                  </a:lnTo>
                  <a:cubicBezTo>
                    <a:pt x="254327" y="105047"/>
                    <a:pt x="252741" y="103461"/>
                    <a:pt x="250784" y="103461"/>
                  </a:cubicBezTo>
                  <a:lnTo>
                    <a:pt x="210436" y="103461"/>
                  </a:lnTo>
                  <a:cubicBezTo>
                    <a:pt x="209501" y="103461"/>
                    <a:pt x="208605" y="103832"/>
                    <a:pt x="207944" y="104493"/>
                  </a:cubicBezTo>
                  <a:cubicBezTo>
                    <a:pt x="207283" y="105154"/>
                    <a:pt x="206912" y="106050"/>
                    <a:pt x="206912" y="106985"/>
                  </a:cubicBezTo>
                  <a:lnTo>
                    <a:pt x="206912" y="142951"/>
                  </a:lnTo>
                  <a:cubicBezTo>
                    <a:pt x="206912" y="144894"/>
                    <a:pt x="208474" y="146475"/>
                    <a:pt x="210436" y="146475"/>
                  </a:cubicBezTo>
                  <a:moveTo>
                    <a:pt x="154620" y="146475"/>
                  </a:moveTo>
                  <a:lnTo>
                    <a:pt x="195006" y="146475"/>
                  </a:lnTo>
                  <a:cubicBezTo>
                    <a:pt x="196945" y="146465"/>
                    <a:pt x="198511" y="144890"/>
                    <a:pt x="198511" y="142951"/>
                  </a:cubicBezTo>
                  <a:lnTo>
                    <a:pt x="198511" y="107004"/>
                  </a:lnTo>
                  <a:cubicBezTo>
                    <a:pt x="198516" y="106069"/>
                    <a:pt x="198149" y="105171"/>
                    <a:pt x="197492" y="104506"/>
                  </a:cubicBezTo>
                  <a:cubicBezTo>
                    <a:pt x="196835" y="103842"/>
                    <a:pt x="195940" y="103466"/>
                    <a:pt x="195006" y="103461"/>
                  </a:cubicBezTo>
                  <a:lnTo>
                    <a:pt x="154620" y="103461"/>
                  </a:lnTo>
                  <a:cubicBezTo>
                    <a:pt x="152681" y="103471"/>
                    <a:pt x="151114" y="105046"/>
                    <a:pt x="151114" y="106985"/>
                  </a:cubicBezTo>
                  <a:lnTo>
                    <a:pt x="151114" y="142951"/>
                  </a:lnTo>
                  <a:cubicBezTo>
                    <a:pt x="151114" y="144894"/>
                    <a:pt x="152696" y="146475"/>
                    <a:pt x="154639" y="146475"/>
                  </a:cubicBezTo>
                  <a:moveTo>
                    <a:pt x="98175" y="146475"/>
                  </a:moveTo>
                  <a:lnTo>
                    <a:pt x="138541" y="146475"/>
                  </a:lnTo>
                  <a:cubicBezTo>
                    <a:pt x="139476" y="146475"/>
                    <a:pt x="140373" y="146104"/>
                    <a:pt x="141033" y="145443"/>
                  </a:cubicBezTo>
                  <a:cubicBezTo>
                    <a:pt x="141694" y="144782"/>
                    <a:pt x="142066" y="143886"/>
                    <a:pt x="142066" y="142951"/>
                  </a:cubicBezTo>
                  <a:lnTo>
                    <a:pt x="142066" y="107004"/>
                  </a:lnTo>
                  <a:cubicBezTo>
                    <a:pt x="142071" y="106069"/>
                    <a:pt x="141704" y="105171"/>
                    <a:pt x="141047" y="104506"/>
                  </a:cubicBezTo>
                  <a:cubicBezTo>
                    <a:pt x="140390" y="103842"/>
                    <a:pt x="139495" y="103466"/>
                    <a:pt x="138561" y="103461"/>
                  </a:cubicBezTo>
                  <a:lnTo>
                    <a:pt x="98175" y="103461"/>
                  </a:lnTo>
                  <a:cubicBezTo>
                    <a:pt x="96218" y="103461"/>
                    <a:pt x="94631" y="105047"/>
                    <a:pt x="94631" y="107004"/>
                  </a:cubicBezTo>
                  <a:lnTo>
                    <a:pt x="94631" y="142951"/>
                  </a:lnTo>
                  <a:cubicBezTo>
                    <a:pt x="94631" y="144894"/>
                    <a:pt x="96231" y="146475"/>
                    <a:pt x="98175" y="146475"/>
                  </a:cubicBezTo>
                  <a:moveTo>
                    <a:pt x="42549" y="146475"/>
                  </a:moveTo>
                  <a:lnTo>
                    <a:pt x="82935" y="146475"/>
                  </a:lnTo>
                  <a:cubicBezTo>
                    <a:pt x="84873" y="146465"/>
                    <a:pt x="86440" y="144890"/>
                    <a:pt x="86440" y="142951"/>
                  </a:cubicBezTo>
                  <a:lnTo>
                    <a:pt x="86440" y="107004"/>
                  </a:lnTo>
                  <a:cubicBezTo>
                    <a:pt x="86445" y="106069"/>
                    <a:pt x="86078" y="105171"/>
                    <a:pt x="85421" y="104506"/>
                  </a:cubicBezTo>
                  <a:cubicBezTo>
                    <a:pt x="84764" y="103842"/>
                    <a:pt x="83869" y="103466"/>
                    <a:pt x="82935" y="103461"/>
                  </a:cubicBezTo>
                  <a:lnTo>
                    <a:pt x="42549" y="103461"/>
                  </a:lnTo>
                  <a:cubicBezTo>
                    <a:pt x="40610" y="103471"/>
                    <a:pt x="39043" y="105046"/>
                    <a:pt x="39043" y="106985"/>
                  </a:cubicBezTo>
                  <a:lnTo>
                    <a:pt x="39043" y="142951"/>
                  </a:lnTo>
                  <a:cubicBezTo>
                    <a:pt x="39043" y="144894"/>
                    <a:pt x="40605" y="146475"/>
                    <a:pt x="42568" y="146475"/>
                  </a:cubicBezTo>
                  <a:moveTo>
                    <a:pt x="453019" y="123844"/>
                  </a:moveTo>
                  <a:cubicBezTo>
                    <a:pt x="451781" y="122873"/>
                    <a:pt x="440217" y="114129"/>
                    <a:pt x="415795" y="114129"/>
                  </a:cubicBezTo>
                  <a:cubicBezTo>
                    <a:pt x="409356" y="114148"/>
                    <a:pt x="402917" y="114700"/>
                    <a:pt x="396555" y="115786"/>
                  </a:cubicBezTo>
                  <a:cubicBezTo>
                    <a:pt x="391830" y="83401"/>
                    <a:pt x="365065" y="67589"/>
                    <a:pt x="363865" y="66904"/>
                  </a:cubicBezTo>
                  <a:lnTo>
                    <a:pt x="357312" y="63113"/>
                  </a:lnTo>
                  <a:lnTo>
                    <a:pt x="353006" y="69342"/>
                  </a:lnTo>
                  <a:cubicBezTo>
                    <a:pt x="347596" y="77686"/>
                    <a:pt x="343672" y="86906"/>
                    <a:pt x="341348" y="96584"/>
                  </a:cubicBezTo>
                  <a:cubicBezTo>
                    <a:pt x="336966" y="115062"/>
                    <a:pt x="339633" y="132436"/>
                    <a:pt x="349025" y="147276"/>
                  </a:cubicBezTo>
                  <a:cubicBezTo>
                    <a:pt x="337690" y="153600"/>
                    <a:pt x="319497" y="155143"/>
                    <a:pt x="315802" y="155277"/>
                  </a:cubicBezTo>
                  <a:lnTo>
                    <a:pt x="14640" y="155277"/>
                  </a:lnTo>
                  <a:cubicBezTo>
                    <a:pt x="6769" y="155287"/>
                    <a:pt x="384" y="161654"/>
                    <a:pt x="353" y="169526"/>
                  </a:cubicBezTo>
                  <a:cubicBezTo>
                    <a:pt x="0" y="195907"/>
                    <a:pt x="4467" y="222131"/>
                    <a:pt x="13535" y="246907"/>
                  </a:cubicBezTo>
                  <a:cubicBezTo>
                    <a:pt x="23918" y="274110"/>
                    <a:pt x="39348" y="294151"/>
                    <a:pt x="59446" y="306419"/>
                  </a:cubicBezTo>
                  <a:cubicBezTo>
                    <a:pt x="81925" y="320192"/>
                    <a:pt x="118501" y="328079"/>
                    <a:pt x="159935" y="328079"/>
                  </a:cubicBezTo>
                  <a:cubicBezTo>
                    <a:pt x="178661" y="328136"/>
                    <a:pt x="197330" y="326441"/>
                    <a:pt x="215751" y="323012"/>
                  </a:cubicBezTo>
                  <a:cubicBezTo>
                    <a:pt x="241332" y="318312"/>
                    <a:pt x="265948" y="309369"/>
                    <a:pt x="288579" y="296551"/>
                  </a:cubicBezTo>
                  <a:cubicBezTo>
                    <a:pt x="307248" y="285750"/>
                    <a:pt x="324012" y="272015"/>
                    <a:pt x="338300" y="255861"/>
                  </a:cubicBezTo>
                  <a:cubicBezTo>
                    <a:pt x="362150" y="228848"/>
                    <a:pt x="376362" y="198768"/>
                    <a:pt x="386934" y="172041"/>
                  </a:cubicBezTo>
                  <a:lnTo>
                    <a:pt x="391144" y="172041"/>
                  </a:lnTo>
                  <a:cubicBezTo>
                    <a:pt x="417281" y="172041"/>
                    <a:pt x="433340" y="161582"/>
                    <a:pt x="442198" y="152819"/>
                  </a:cubicBezTo>
                  <a:cubicBezTo>
                    <a:pt x="448085" y="147237"/>
                    <a:pt x="452676" y="140437"/>
                    <a:pt x="455667" y="132893"/>
                  </a:cubicBezTo>
                  <a:lnTo>
                    <a:pt x="457534" y="127406"/>
                  </a:lnTo>
                  <a:close/>
                </a:path>
              </a:pathLst>
            </a:custGeom>
            <a:solidFill>
              <a:srgbClr val="2F7CF4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744075" y="4893469"/>
              <a:ext cx="904265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Docker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747885" y="53554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可复现运行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528638" y="6398895"/>
            <a:ext cx="11134724" cy="176212"/>
            <a:chOff x="528638" y="6398895"/>
            <a:chExt cx="11134724" cy="176212"/>
          </a:xfrm>
        </p:grpSpPr>
        <p:sp>
          <p:nvSpPr>
            <p:cNvPr id="75" name="TextBox 75"/>
            <p:cNvSpPr txBox="1"/>
            <p:nvPr/>
          </p:nvSpPr>
          <p:spPr>
            <a:xfrm>
              <a:off x="528638" y="6398895"/>
              <a:ext cx="36732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7890A8"/>
                  </a:solidFill>
                  <a:latin typeface="Microsoft YaHei"/>
                  <a:ea typeface="Microsoft YaHei"/>
                  <a:cs typeface="Microsoft YaHei"/>
                </a:rPr>
                <a:t>Formal anchor: v1.4.0 · merged increments shown separately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227664" y="6398895"/>
              <a:ext cx="4356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02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20446" y="572452"/>
            <a:ext cx="6381529" cy="784479"/>
            <a:chOff x="520446" y="572452"/>
            <a:chExt cx="6381529" cy="784479"/>
          </a:xfrm>
        </p:grpSpPr>
        <p:sp>
          <p:nvSpPr>
            <p:cNvPr id="2" name="TextBox 2"/>
            <p:cNvSpPr txBox="1"/>
            <p:nvPr/>
          </p:nvSpPr>
          <p:spPr>
            <a:xfrm>
              <a:off x="528066" y="572452"/>
              <a:ext cx="16630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03 · 核心技术瓶颈 01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0446" y="858202"/>
              <a:ext cx="63815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医疗 AI 最大的挑战不是生成，而是可信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33400" y="1619250"/>
            <a:ext cx="4762500" cy="4095750"/>
            <a:chOff x="533400" y="1619250"/>
            <a:chExt cx="4762500" cy="4095750"/>
          </a:xfrm>
        </p:grpSpPr>
        <p:sp>
          <p:nvSpPr>
            <p:cNvPr id="5" name="Rectangle 5"/>
            <p:cNvSpPr/>
            <p:nvPr/>
          </p:nvSpPr>
          <p:spPr>
            <a:xfrm>
              <a:off x="533400" y="1619250"/>
              <a:ext cx="4762500" cy="4095750"/>
            </a:xfrm>
            <a:prstGeom prst="roundRect">
              <a:avLst>
                <a:gd name="adj" fmla="val 5116"/>
              </a:avLst>
            </a:prstGeom>
            <a:solidFill>
              <a:srgbClr val="101F36"/>
            </a:solidFill>
            <a:ln w="19050">
              <a:solidFill>
                <a:srgbClr val="823F5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32485" y="1935956"/>
              <a:ext cx="17244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75" dirty="0">
                  <a:solidFill>
                    <a:srgbClr val="FF8795"/>
                  </a:solidFill>
                  <a:latin typeface="Microsoft YaHei"/>
                  <a:ea typeface="Microsoft YaHei"/>
                  <a:cs typeface="Microsoft YaHei"/>
                </a:rPr>
                <a:t>BEFORE · 生成即终点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1428750" y="280035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28575">
              <a:solidFill>
                <a:srgbClr val="A85A68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104900" y="2476500"/>
              <a:ext cx="647700" cy="647700"/>
            </a:xfrm>
            <a:prstGeom prst="ellipse">
              <a:avLst/>
            </a:prstGeom>
            <a:solidFill>
              <a:srgbClr val="1B2A42"/>
            </a:solidFill>
            <a:ln w="19050">
              <a:solidFill>
                <a:srgbClr val="FF6B7C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328738" y="2657475"/>
              <a:ext cx="200025" cy="280988"/>
              <a:chOff x="1328738" y="2657475"/>
              <a:chExt cx="200025" cy="28098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385888" y="2657475"/>
                <a:ext cx="857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57162">
                    <a:moveTo>
                      <a:pt x="0" y="42862"/>
                    </a:moveTo>
                    <a:cubicBezTo>
                      <a:pt x="0" y="19190"/>
                      <a:pt x="19190" y="0"/>
                      <a:pt x="42862" y="0"/>
                    </a:cubicBezTo>
                    <a:cubicBezTo>
                      <a:pt x="66535" y="0"/>
                      <a:pt x="85725" y="19190"/>
                      <a:pt x="85725" y="42862"/>
                    </a:cubicBezTo>
                    <a:lnTo>
                      <a:pt x="85725" y="114300"/>
                    </a:lnTo>
                    <a:cubicBezTo>
                      <a:pt x="85725" y="137972"/>
                      <a:pt x="66535" y="157162"/>
                      <a:pt x="42862" y="157162"/>
                    </a:cubicBezTo>
                    <a:cubicBezTo>
                      <a:pt x="19190" y="157162"/>
                      <a:pt x="0" y="137972"/>
                      <a:pt x="0" y="114300"/>
                    </a:cubicBezTo>
                    <a:lnTo>
                      <a:pt x="0" y="42862"/>
                    </a:lnTo>
                  </a:path>
                </a:pathLst>
              </a:custGeom>
              <a:noFill/>
              <a:ln w="28575">
                <a:solidFill>
                  <a:srgbClr val="FF8795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328738" y="2771775"/>
                <a:ext cx="2000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00012">
                    <a:moveTo>
                      <a:pt x="0" y="0"/>
                    </a:moveTo>
                    <a:cubicBezTo>
                      <a:pt x="0" y="55235"/>
                      <a:pt x="44777" y="100012"/>
                      <a:pt x="100012" y="100012"/>
                    </a:cubicBezTo>
                    <a:cubicBezTo>
                      <a:pt x="155248" y="100012"/>
                      <a:pt x="200025" y="55235"/>
                      <a:pt x="200025" y="0"/>
                    </a:cubicBezTo>
                  </a:path>
                </a:pathLst>
              </a:custGeom>
              <a:noFill/>
              <a:ln w="28575">
                <a:solidFill>
                  <a:srgbClr val="FF8795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371600" y="2928938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8575">
                <a:solidFill>
                  <a:srgbClr val="FF8795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428750" y="2871788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rgbClr val="FF8795"/>
                </a:solidFill>
              </a:ln>
            </p:spPr>
          </p:sp>
        </p:grpSp>
        <p:sp>
          <p:nvSpPr>
            <p:cNvPr id="14" name="Ellipse 14"/>
            <p:cNvSpPr/>
            <p:nvPr/>
          </p:nvSpPr>
          <p:spPr>
            <a:xfrm>
              <a:off x="2076450" y="2476500"/>
              <a:ext cx="647700" cy="647700"/>
            </a:xfrm>
            <a:prstGeom prst="ellipse">
              <a:avLst/>
            </a:prstGeom>
            <a:solidFill>
              <a:srgbClr val="1B2A42"/>
            </a:solidFill>
            <a:ln w="19050">
              <a:solidFill>
                <a:srgbClr val="FF6B7C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2300288" y="2671762"/>
              <a:ext cx="200025" cy="257175"/>
              <a:chOff x="2300288" y="2671762"/>
              <a:chExt cx="200025" cy="25717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2428875" y="2671762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65041"/>
                      <a:pt x="6397" y="71438"/>
                      <a:pt x="14288" y="71438"/>
                    </a:cubicBezTo>
                    <a:lnTo>
                      <a:pt x="71438" y="71438"/>
                    </a:lnTo>
                  </a:path>
                </a:pathLst>
              </a:custGeom>
              <a:noFill/>
              <a:ln w="28575">
                <a:solidFill>
                  <a:srgbClr val="FF8795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2300288" y="2671762"/>
                <a:ext cx="20002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57175">
                    <a:moveTo>
                      <a:pt x="171450" y="257175"/>
                    </a:moveTo>
                    <a:lnTo>
                      <a:pt x="28575" y="257175"/>
                    </a:lnTo>
                    <a:cubicBezTo>
                      <a:pt x="12793" y="257175"/>
                      <a:pt x="0" y="244382"/>
                      <a:pt x="0" y="228600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28588" y="0"/>
                    </a:lnTo>
                    <a:lnTo>
                      <a:pt x="200025" y="71438"/>
                    </a:lnTo>
                    <a:lnTo>
                      <a:pt x="200025" y="228600"/>
                    </a:lnTo>
                    <a:cubicBezTo>
                      <a:pt x="200025" y="244382"/>
                      <a:pt x="187232" y="257175"/>
                      <a:pt x="171450" y="257175"/>
                    </a:cubicBezTo>
                  </a:path>
                </a:pathLst>
              </a:custGeom>
              <a:noFill/>
              <a:ln w="28575">
                <a:solidFill>
                  <a:srgbClr val="FF8795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2357438" y="2757488"/>
                <a:ext cx="142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8" h="9525">
                    <a:moveTo>
                      <a:pt x="0" y="0"/>
                    </a:moveTo>
                    <a:lnTo>
                      <a:pt x="14288" y="0"/>
                    </a:lnTo>
                  </a:path>
                </a:pathLst>
              </a:custGeom>
              <a:noFill/>
              <a:ln w="28575">
                <a:solidFill>
                  <a:srgbClr val="FF8795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2357438" y="2814638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rgbClr val="FF8795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2357438" y="2871788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rgbClr val="FF8795"/>
                </a:solidFill>
              </a:ln>
            </p:spPr>
          </p:sp>
        </p:grpSp>
        <p:sp>
          <p:nvSpPr>
            <p:cNvPr id="21" name="Ellipse 21"/>
            <p:cNvSpPr/>
            <p:nvPr/>
          </p:nvSpPr>
          <p:spPr>
            <a:xfrm>
              <a:off x="3048000" y="2476500"/>
              <a:ext cx="647700" cy="647700"/>
            </a:xfrm>
            <a:prstGeom prst="ellipse">
              <a:avLst/>
            </a:prstGeom>
            <a:solidFill>
              <a:srgbClr val="1B2A42"/>
            </a:solidFill>
            <a:ln w="19050">
              <a:solidFill>
                <a:srgbClr val="FF6B7C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3243262" y="2671762"/>
              <a:ext cx="257176" cy="257176"/>
              <a:chOff x="3243262" y="2671762"/>
              <a:chExt cx="257176" cy="25717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3371850" y="2814638"/>
                <a:ext cx="100012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14300">
                    <a:moveTo>
                      <a:pt x="50006" y="0"/>
                    </a:moveTo>
                    <a:cubicBezTo>
                      <a:pt x="22389" y="0"/>
                      <a:pt x="0" y="22389"/>
                      <a:pt x="0" y="50006"/>
                    </a:cubicBezTo>
                    <a:lnTo>
                      <a:pt x="0" y="64294"/>
                    </a:lnTo>
                    <a:cubicBezTo>
                      <a:pt x="0" y="91911"/>
                      <a:pt x="22389" y="114300"/>
                      <a:pt x="50006" y="114300"/>
                    </a:cubicBezTo>
                    <a:cubicBezTo>
                      <a:pt x="77624" y="114300"/>
                      <a:pt x="100012" y="91911"/>
                      <a:pt x="100012" y="64294"/>
                    </a:cubicBezTo>
                    <a:lnTo>
                      <a:pt x="100012" y="38576"/>
                    </a:lnTo>
                  </a:path>
                </a:pathLst>
              </a:custGeom>
              <a:noFill/>
              <a:ln w="28575">
                <a:solidFill>
                  <a:srgbClr val="FF8795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271838" y="2814638"/>
                <a:ext cx="100012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14300">
                    <a:moveTo>
                      <a:pt x="50006" y="0"/>
                    </a:moveTo>
                    <a:cubicBezTo>
                      <a:pt x="77624" y="0"/>
                      <a:pt x="100012" y="22389"/>
                      <a:pt x="100012" y="50006"/>
                    </a:cubicBezTo>
                    <a:lnTo>
                      <a:pt x="100012" y="64294"/>
                    </a:lnTo>
                    <a:cubicBezTo>
                      <a:pt x="100012" y="91911"/>
                      <a:pt x="77624" y="114300"/>
                      <a:pt x="50006" y="114300"/>
                    </a:cubicBezTo>
                    <a:cubicBezTo>
                      <a:pt x="22389" y="114300"/>
                      <a:pt x="0" y="91911"/>
                      <a:pt x="0" y="64294"/>
                    </a:cubicBezTo>
                    <a:lnTo>
                      <a:pt x="0" y="38576"/>
                    </a:lnTo>
                  </a:path>
                </a:pathLst>
              </a:custGeom>
              <a:noFill/>
              <a:ln w="28575">
                <a:solidFill>
                  <a:srgbClr val="FF8795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443288" y="2757488"/>
                <a:ext cx="5715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00012">
                    <a:moveTo>
                      <a:pt x="7144" y="100012"/>
                    </a:moveTo>
                    <a:cubicBezTo>
                      <a:pt x="34761" y="100012"/>
                      <a:pt x="57150" y="77624"/>
                      <a:pt x="57150" y="50006"/>
                    </a:cubicBezTo>
                    <a:cubicBezTo>
                      <a:pt x="57150" y="22389"/>
                      <a:pt x="34761" y="0"/>
                      <a:pt x="7144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FF8795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371850" y="2671762"/>
                <a:ext cx="100012" cy="90011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0011">
                    <a:moveTo>
                      <a:pt x="100012" y="90011"/>
                    </a:moveTo>
                    <a:lnTo>
                      <a:pt x="100012" y="50006"/>
                    </a:lnTo>
                    <a:cubicBezTo>
                      <a:pt x="100012" y="22389"/>
                      <a:pt x="77624" y="0"/>
                      <a:pt x="50006" y="0"/>
                    </a:cubicBezTo>
                    <a:cubicBezTo>
                      <a:pt x="22389" y="0"/>
                      <a:pt x="0" y="22389"/>
                      <a:pt x="0" y="50006"/>
                    </a:cubicBezTo>
                  </a:path>
                </a:pathLst>
              </a:custGeom>
              <a:noFill/>
              <a:ln w="28575">
                <a:solidFill>
                  <a:srgbClr val="FF8795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3243262" y="2757488"/>
                <a:ext cx="5715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00012">
                    <a:moveTo>
                      <a:pt x="50006" y="100012"/>
                    </a:moveTo>
                    <a:cubicBezTo>
                      <a:pt x="22389" y="100012"/>
                      <a:pt x="0" y="77624"/>
                      <a:pt x="0" y="50006"/>
                    </a:cubicBezTo>
                    <a:cubicBezTo>
                      <a:pt x="0" y="22389"/>
                      <a:pt x="22389" y="0"/>
                      <a:pt x="50006" y="0"/>
                    </a:cubicBez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rgbClr val="FF8795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3271838" y="2671762"/>
                <a:ext cx="100012" cy="192881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92881">
                    <a:moveTo>
                      <a:pt x="0" y="90011"/>
                    </a:moveTo>
                    <a:lnTo>
                      <a:pt x="0" y="50006"/>
                    </a:lnTo>
                    <a:cubicBezTo>
                      <a:pt x="0" y="22389"/>
                      <a:pt x="22389" y="0"/>
                      <a:pt x="50006" y="0"/>
                    </a:cubicBezTo>
                    <a:cubicBezTo>
                      <a:pt x="77624" y="0"/>
                      <a:pt x="100012" y="22389"/>
                      <a:pt x="100012" y="50006"/>
                    </a:cubicBezTo>
                    <a:lnTo>
                      <a:pt x="100012" y="192881"/>
                    </a:lnTo>
                  </a:path>
                </a:pathLst>
              </a:custGeom>
              <a:noFill/>
              <a:ln w="28575">
                <a:solidFill>
                  <a:srgbClr val="FF8795"/>
                </a:solidFill>
              </a:ln>
            </p:spPr>
          </p:sp>
        </p:grpSp>
        <p:sp>
          <p:nvSpPr>
            <p:cNvPr id="29" name="Ellipse 29"/>
            <p:cNvSpPr/>
            <p:nvPr/>
          </p:nvSpPr>
          <p:spPr>
            <a:xfrm>
              <a:off x="4019550" y="2476500"/>
              <a:ext cx="647700" cy="647700"/>
            </a:xfrm>
            <a:prstGeom prst="ellipse">
              <a:avLst/>
            </a:prstGeom>
            <a:solidFill>
              <a:srgbClr val="5A2637"/>
            </a:solidFill>
            <a:ln w="19050">
              <a:solidFill>
                <a:srgbClr val="FF6B7C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4243388" y="2671762"/>
              <a:ext cx="200025" cy="257176"/>
              <a:chOff x="4243388" y="2671762"/>
              <a:chExt cx="200025" cy="25717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4243388" y="2700338"/>
                <a:ext cx="2000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28600">
                    <a:moveTo>
                      <a:pt x="57150" y="0"/>
                    </a:moveTo>
                    <a:lnTo>
                      <a:pt x="28575" y="0"/>
                    </a:lnTo>
                    <a:cubicBezTo>
                      <a:pt x="12793" y="0"/>
                      <a:pt x="0" y="12793"/>
                      <a:pt x="0" y="28575"/>
                    </a:cubicBezTo>
                    <a:lnTo>
                      <a:pt x="0" y="200025"/>
                    </a:lnTo>
                    <a:cubicBezTo>
                      <a:pt x="0" y="215807"/>
                      <a:pt x="12793" y="228600"/>
                      <a:pt x="28575" y="228600"/>
                    </a:cubicBezTo>
                    <a:lnTo>
                      <a:pt x="171450" y="228600"/>
                    </a:lnTo>
                    <a:cubicBezTo>
                      <a:pt x="187232" y="228600"/>
                      <a:pt x="200025" y="215807"/>
                      <a:pt x="200025" y="200025"/>
                    </a:cubicBezTo>
                    <a:lnTo>
                      <a:pt x="200025" y="28575"/>
                    </a:lnTo>
                    <a:cubicBezTo>
                      <a:pt x="200025" y="12793"/>
                      <a:pt x="187232" y="0"/>
                      <a:pt x="171450" y="0"/>
                    </a:cubicBezTo>
                    <a:lnTo>
                      <a:pt x="142875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300538" y="2671762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57150" y="0"/>
                    </a:lnTo>
                    <a:cubicBezTo>
                      <a:pt x="72932" y="0"/>
                      <a:pt x="85725" y="12793"/>
                      <a:pt x="85725" y="28575"/>
                    </a:cubicBezTo>
                    <a:cubicBezTo>
                      <a:pt x="85725" y="44357"/>
                      <a:pt x="72932" y="57150"/>
                      <a:pt x="57150" y="57150"/>
                    </a:cubicBezTo>
                    <a:lnTo>
                      <a:pt x="28575" y="57150"/>
                    </a:lnTo>
                    <a:cubicBezTo>
                      <a:pt x="12793" y="57150"/>
                      <a:pt x="0" y="44357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314825" y="282892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4343400" y="280035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244727" y="3258502"/>
              <a:ext cx="3680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7D0DF"/>
                  </a:solidFill>
                  <a:latin typeface="Microsoft YaHei"/>
                  <a:ea typeface="Microsoft YaHei"/>
                  <a:cs typeface="Microsoft YaHei"/>
                </a:rPr>
                <a:t>Audio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237280" y="3258502"/>
              <a:ext cx="3260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7D0DF"/>
                  </a:solidFill>
                  <a:latin typeface="Microsoft YaHei"/>
                  <a:ea typeface="Microsoft YaHei"/>
                  <a:cs typeface="Microsoft YaHei"/>
                </a:rPr>
                <a:t>Text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228365" y="3258502"/>
              <a:ext cx="2869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7D0DF"/>
                  </a:solidFill>
                  <a:latin typeface="Microsoft YaHei"/>
                  <a:ea typeface="Microsoft YaHei"/>
                  <a:cs typeface="Microsoft YaHei"/>
                </a:rPr>
                <a:t>LLM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196715" y="32585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病历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38200" y="3981450"/>
              <a:ext cx="1257300" cy="552450"/>
            </a:xfrm>
            <a:prstGeom prst="roundRect">
              <a:avLst>
                <a:gd name="adj" fmla="val 20690"/>
              </a:avLst>
            </a:prstGeom>
            <a:solidFill>
              <a:srgbClr val="3A203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2286000" y="3981450"/>
              <a:ext cx="1257300" cy="552450"/>
            </a:xfrm>
            <a:prstGeom prst="roundRect">
              <a:avLst>
                <a:gd name="adj" fmla="val 20690"/>
              </a:avLst>
            </a:prstGeom>
            <a:solidFill>
              <a:srgbClr val="3A2030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733800" y="3981450"/>
              <a:ext cx="1257300" cy="552450"/>
            </a:xfrm>
            <a:prstGeom prst="roundRect">
              <a:avLst>
                <a:gd name="adj" fmla="val 20690"/>
              </a:avLst>
            </a:prstGeom>
            <a:solidFill>
              <a:srgbClr val="3A203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137666" y="4194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8795"/>
                  </a:solidFill>
                  <a:latin typeface="Microsoft YaHei"/>
                  <a:ea typeface="Microsoft YaHei"/>
                  <a:cs typeface="Microsoft YaHei"/>
                </a:rPr>
                <a:t>不可解释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585466" y="4194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8795"/>
                  </a:solidFill>
                  <a:latin typeface="Microsoft YaHei"/>
                  <a:ea typeface="Microsoft YaHei"/>
                  <a:cs typeface="Microsoft YaHei"/>
                </a:rPr>
                <a:t>不可追踪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033266" y="4194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8795"/>
                  </a:solidFill>
                  <a:latin typeface="Microsoft YaHei"/>
                  <a:ea typeface="Microsoft YaHei"/>
                  <a:cs typeface="Microsoft YaHei"/>
                </a:rPr>
                <a:t>无法阻断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2485" y="509825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FAFC4"/>
                  </a:solidFill>
                  <a:latin typeface="Microsoft YaHei"/>
                  <a:ea typeface="Microsoft YaHei"/>
                  <a:cs typeface="Microsoft YaHei"/>
                </a:rPr>
                <a:t>输出看似完整，风险仍在链路中。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5619750" y="1619250"/>
            <a:ext cx="6038850" cy="4095750"/>
            <a:chOff x="5619750" y="1619250"/>
            <a:chExt cx="6038850" cy="4095750"/>
          </a:xfrm>
        </p:grpSpPr>
        <p:sp>
          <p:nvSpPr>
            <p:cNvPr id="47" name="Rectangle 47"/>
            <p:cNvSpPr/>
            <p:nvPr/>
          </p:nvSpPr>
          <p:spPr>
            <a:xfrm>
              <a:off x="5619750" y="1619250"/>
              <a:ext cx="6038850" cy="4095750"/>
            </a:xfrm>
            <a:prstGeom prst="roundRect">
              <a:avLst>
                <a:gd name="adj" fmla="val 5116"/>
              </a:avLst>
            </a:prstGeom>
            <a:solidFill>
              <a:srgbClr val="0B2742"/>
            </a:solidFill>
            <a:ln w="19050">
              <a:solidFill>
                <a:srgbClr val="20D9E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918835" y="1935956"/>
              <a:ext cx="15883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75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AFTER · 审核才生效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6229350" y="2800350"/>
              <a:ext cx="4819650" cy="9525"/>
            </a:xfrm>
            <a:custGeom>
              <a:avLst/>
              <a:gdLst/>
              <a:ahLst/>
              <a:cxnLst/>
              <a:rect l="l" t="t" r="r" b="b"/>
              <a:pathLst>
                <a:path w="4819650" h="9525">
                  <a:moveTo>
                    <a:pt x="0" y="0"/>
                  </a:moveTo>
                  <a:lnTo>
                    <a:pt x="4819650" y="0"/>
                  </a:lnTo>
                </a:path>
              </a:pathLst>
            </a:custGeom>
            <a:noFill/>
            <a:ln w="38100">
              <a:solidFill>
                <a:srgbClr val="20D9E8">
                  <a:alpha val="72000"/>
                </a:srgbClr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5905500" y="2476500"/>
              <a:ext cx="647700" cy="647700"/>
            </a:xfrm>
            <a:prstGeom prst="ellipse">
              <a:avLst/>
            </a:prstGeom>
            <a:solidFill>
              <a:srgbClr val="0F3856"/>
            </a:solidFill>
            <a:ln w="19050">
              <a:solidFill>
                <a:srgbClr val="2F7CF4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129338" y="2657475"/>
              <a:ext cx="200025" cy="280988"/>
              <a:chOff x="6129338" y="2657475"/>
              <a:chExt cx="200025" cy="280988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186488" y="2657475"/>
                <a:ext cx="857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57162">
                    <a:moveTo>
                      <a:pt x="0" y="42862"/>
                    </a:moveTo>
                    <a:cubicBezTo>
                      <a:pt x="0" y="19190"/>
                      <a:pt x="19190" y="0"/>
                      <a:pt x="42862" y="0"/>
                    </a:cubicBezTo>
                    <a:cubicBezTo>
                      <a:pt x="66535" y="0"/>
                      <a:pt x="85725" y="19190"/>
                      <a:pt x="85725" y="42862"/>
                    </a:cubicBezTo>
                    <a:lnTo>
                      <a:pt x="85725" y="114300"/>
                    </a:lnTo>
                    <a:cubicBezTo>
                      <a:pt x="85725" y="137972"/>
                      <a:pt x="66535" y="157162"/>
                      <a:pt x="42862" y="157162"/>
                    </a:cubicBezTo>
                    <a:cubicBezTo>
                      <a:pt x="19190" y="157162"/>
                      <a:pt x="0" y="137972"/>
                      <a:pt x="0" y="114300"/>
                    </a:cubicBezTo>
                    <a:lnTo>
                      <a:pt x="0" y="42862"/>
                    </a:lnTo>
                  </a:path>
                </a:pathLst>
              </a:custGeom>
              <a:noFill/>
              <a:ln w="28575">
                <a:solidFill>
                  <a:srgbClr val="8CC0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129338" y="2771775"/>
                <a:ext cx="2000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00012">
                    <a:moveTo>
                      <a:pt x="0" y="0"/>
                    </a:moveTo>
                    <a:cubicBezTo>
                      <a:pt x="0" y="55235"/>
                      <a:pt x="44777" y="100012"/>
                      <a:pt x="100012" y="100012"/>
                    </a:cubicBezTo>
                    <a:cubicBezTo>
                      <a:pt x="155248" y="100012"/>
                      <a:pt x="200025" y="55235"/>
                      <a:pt x="200025" y="0"/>
                    </a:cubicBezTo>
                  </a:path>
                </a:pathLst>
              </a:custGeom>
              <a:noFill/>
              <a:ln w="28575">
                <a:solidFill>
                  <a:srgbClr val="8CC0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172200" y="2928938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8575">
                <a:solidFill>
                  <a:srgbClr val="8CC0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229350" y="2871788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rgbClr val="8CC0FF"/>
                </a:solidFill>
              </a:ln>
            </p:spPr>
          </p:sp>
        </p:grpSp>
        <p:sp>
          <p:nvSpPr>
            <p:cNvPr id="56" name="Ellipse 56"/>
            <p:cNvSpPr/>
            <p:nvPr/>
          </p:nvSpPr>
          <p:spPr>
            <a:xfrm>
              <a:off x="7105650" y="2476500"/>
              <a:ext cx="647700" cy="647700"/>
            </a:xfrm>
            <a:prstGeom prst="ellipse">
              <a:avLst/>
            </a:prstGeom>
            <a:solidFill>
              <a:srgbClr val="0F3856"/>
            </a:solidFill>
            <a:ln w="19050">
              <a:solidFill>
                <a:srgbClr val="2F7CF4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7300598" y="2686050"/>
              <a:ext cx="257489" cy="228600"/>
            </a:xfrm>
            <a:custGeom>
              <a:avLst/>
              <a:gdLst/>
              <a:ahLst/>
              <a:cxnLst/>
              <a:rect l="l" t="t" r="r" b="b"/>
              <a:pathLst>
                <a:path w="257489" h="228600">
                  <a:moveTo>
                    <a:pt x="257489" y="114300"/>
                  </a:moveTo>
                  <a:lnTo>
                    <a:pt x="228914" y="114300"/>
                  </a:lnTo>
                  <a:cubicBezTo>
                    <a:pt x="216141" y="114300"/>
                    <a:pt x="205168" y="102056"/>
                    <a:pt x="203754" y="85725"/>
                  </a:cubicBezTo>
                  <a:cubicBezTo>
                    <a:pt x="199525" y="36433"/>
                    <a:pt x="193053" y="0"/>
                    <a:pt x="164478" y="0"/>
                  </a:cubicBezTo>
                  <a:cubicBezTo>
                    <a:pt x="135903" y="0"/>
                    <a:pt x="128759" y="51178"/>
                    <a:pt x="128759" y="114300"/>
                  </a:cubicBezTo>
                  <a:cubicBezTo>
                    <a:pt x="128759" y="177422"/>
                    <a:pt x="121615" y="228600"/>
                    <a:pt x="93040" y="228600"/>
                  </a:cubicBezTo>
                  <a:cubicBezTo>
                    <a:pt x="64465" y="228600"/>
                    <a:pt x="58007" y="192210"/>
                    <a:pt x="53764" y="142875"/>
                  </a:cubicBezTo>
                  <a:cubicBezTo>
                    <a:pt x="52335" y="126487"/>
                    <a:pt x="41377" y="114300"/>
                    <a:pt x="28575" y="114300"/>
                  </a:cubicBezTo>
                  <a:lnTo>
                    <a:pt x="0" y="114300"/>
                  </a:lnTo>
                </a:path>
              </a:pathLst>
            </a:custGeom>
            <a:noFill/>
            <a:ln w="28575">
              <a:solidFill>
                <a:srgbClr val="8CC0FF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8258175" y="2428875"/>
              <a:ext cx="742950" cy="742950"/>
            </a:xfrm>
            <a:prstGeom prst="ellipse">
              <a:avLst/>
            </a:prstGeom>
            <a:solidFill>
              <a:srgbClr val="073F50"/>
            </a:solidFill>
            <a:ln w="28575">
              <a:solidFill>
                <a:srgbClr val="20D9E8"/>
              </a:solidFill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8457136" y="2650331"/>
              <a:ext cx="325511" cy="300038"/>
              <a:chOff x="8457136" y="2650331"/>
              <a:chExt cx="325511" cy="300038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8457136" y="2650331"/>
                <a:ext cx="325511" cy="297471"/>
              </a:xfrm>
              <a:custGeom>
                <a:avLst/>
                <a:gdLst/>
                <a:ahLst/>
                <a:cxnLst/>
                <a:rect l="l" t="t" r="r" b="b"/>
                <a:pathLst>
                  <a:path w="325511" h="297471">
                    <a:moveTo>
                      <a:pt x="163513" y="297471"/>
                    </a:moveTo>
                    <a:cubicBezTo>
                      <a:pt x="59091" y="265102"/>
                      <a:pt x="0" y="154893"/>
                      <a:pt x="30830" y="50006"/>
                    </a:cubicBezTo>
                    <a:cubicBezTo>
                      <a:pt x="82762" y="52383"/>
                      <a:pt x="133579" y="34447"/>
                      <a:pt x="172514" y="0"/>
                    </a:cubicBezTo>
                    <a:cubicBezTo>
                      <a:pt x="211449" y="34447"/>
                      <a:pt x="262267" y="52383"/>
                      <a:pt x="314198" y="50006"/>
                    </a:cubicBezTo>
                    <a:cubicBezTo>
                      <a:pt x="325511" y="88496"/>
                      <a:pt x="324988" y="129499"/>
                      <a:pt x="312698" y="167688"/>
                    </a:cubicBezTo>
                  </a:path>
                </a:pathLst>
              </a:custGeom>
              <a:noFill/>
              <a:ln w="33338">
                <a:solidFill>
                  <a:srgbClr val="20D9E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679656" y="2883694"/>
                <a:ext cx="10001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66675">
                    <a:moveTo>
                      <a:pt x="0" y="33338"/>
                    </a:moveTo>
                    <a:lnTo>
                      <a:pt x="33338" y="66675"/>
                    </a:lnTo>
                    <a:lnTo>
                      <a:pt x="100012" y="0"/>
                    </a:lnTo>
                  </a:path>
                </a:pathLst>
              </a:custGeom>
              <a:noFill/>
              <a:ln w="33338">
                <a:solidFill>
                  <a:srgbClr val="20D9E8"/>
                </a:solidFill>
              </a:ln>
            </p:spPr>
          </p:sp>
        </p:grpSp>
        <p:sp>
          <p:nvSpPr>
            <p:cNvPr id="62" name="Ellipse 62"/>
            <p:cNvSpPr/>
            <p:nvPr/>
          </p:nvSpPr>
          <p:spPr>
            <a:xfrm>
              <a:off x="9505950" y="2476500"/>
              <a:ext cx="647700" cy="647700"/>
            </a:xfrm>
            <a:prstGeom prst="ellipse">
              <a:avLst/>
            </a:prstGeom>
            <a:solidFill>
              <a:srgbClr val="0F3856"/>
            </a:solidFill>
            <a:ln w="19050">
              <a:solidFill>
                <a:srgbClr val="20D9E8"/>
              </a:solidFill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9701212" y="2671762"/>
              <a:ext cx="257176" cy="257176"/>
              <a:chOff x="9701212" y="2671762"/>
              <a:chExt cx="257176" cy="257176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9829800" y="2814638"/>
                <a:ext cx="100012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14300">
                    <a:moveTo>
                      <a:pt x="50006" y="0"/>
                    </a:moveTo>
                    <a:cubicBezTo>
                      <a:pt x="22389" y="0"/>
                      <a:pt x="0" y="22389"/>
                      <a:pt x="0" y="50006"/>
                    </a:cubicBezTo>
                    <a:lnTo>
                      <a:pt x="0" y="64294"/>
                    </a:lnTo>
                    <a:cubicBezTo>
                      <a:pt x="0" y="91911"/>
                      <a:pt x="22389" y="114300"/>
                      <a:pt x="50006" y="114300"/>
                    </a:cubicBezTo>
                    <a:cubicBezTo>
                      <a:pt x="77624" y="114300"/>
                      <a:pt x="100012" y="91911"/>
                      <a:pt x="100012" y="64294"/>
                    </a:cubicBezTo>
                    <a:lnTo>
                      <a:pt x="100012" y="38576"/>
                    </a:lnTo>
                  </a:path>
                </a:pathLst>
              </a:custGeom>
              <a:noFill/>
              <a:ln w="28575">
                <a:solidFill>
                  <a:srgbClr val="20D9E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9729788" y="2814638"/>
                <a:ext cx="100012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14300">
                    <a:moveTo>
                      <a:pt x="50006" y="0"/>
                    </a:moveTo>
                    <a:cubicBezTo>
                      <a:pt x="77624" y="0"/>
                      <a:pt x="100012" y="22389"/>
                      <a:pt x="100012" y="50006"/>
                    </a:cubicBezTo>
                    <a:lnTo>
                      <a:pt x="100012" y="64294"/>
                    </a:lnTo>
                    <a:cubicBezTo>
                      <a:pt x="100012" y="91911"/>
                      <a:pt x="77624" y="114300"/>
                      <a:pt x="50006" y="114300"/>
                    </a:cubicBezTo>
                    <a:cubicBezTo>
                      <a:pt x="22389" y="114300"/>
                      <a:pt x="0" y="91911"/>
                      <a:pt x="0" y="64294"/>
                    </a:cubicBezTo>
                    <a:lnTo>
                      <a:pt x="0" y="38576"/>
                    </a:lnTo>
                  </a:path>
                </a:pathLst>
              </a:custGeom>
              <a:noFill/>
              <a:ln w="28575">
                <a:solidFill>
                  <a:srgbClr val="20D9E8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9901238" y="2757488"/>
                <a:ext cx="5715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00012">
                    <a:moveTo>
                      <a:pt x="7144" y="100012"/>
                    </a:moveTo>
                    <a:cubicBezTo>
                      <a:pt x="34761" y="100012"/>
                      <a:pt x="57150" y="77624"/>
                      <a:pt x="57150" y="50006"/>
                    </a:cubicBezTo>
                    <a:cubicBezTo>
                      <a:pt x="57150" y="22389"/>
                      <a:pt x="34761" y="0"/>
                      <a:pt x="7144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20D9E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9829800" y="2671762"/>
                <a:ext cx="100012" cy="90011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0011">
                    <a:moveTo>
                      <a:pt x="100012" y="90011"/>
                    </a:moveTo>
                    <a:lnTo>
                      <a:pt x="100012" y="50006"/>
                    </a:lnTo>
                    <a:cubicBezTo>
                      <a:pt x="100012" y="22389"/>
                      <a:pt x="77624" y="0"/>
                      <a:pt x="50006" y="0"/>
                    </a:cubicBezTo>
                    <a:cubicBezTo>
                      <a:pt x="22389" y="0"/>
                      <a:pt x="0" y="22389"/>
                      <a:pt x="0" y="50006"/>
                    </a:cubicBezTo>
                  </a:path>
                </a:pathLst>
              </a:custGeom>
              <a:noFill/>
              <a:ln w="28575">
                <a:solidFill>
                  <a:srgbClr val="20D9E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9701212" y="2757488"/>
                <a:ext cx="5715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00012">
                    <a:moveTo>
                      <a:pt x="50006" y="100012"/>
                    </a:moveTo>
                    <a:cubicBezTo>
                      <a:pt x="22389" y="100012"/>
                      <a:pt x="0" y="77624"/>
                      <a:pt x="0" y="50006"/>
                    </a:cubicBezTo>
                    <a:cubicBezTo>
                      <a:pt x="0" y="22389"/>
                      <a:pt x="22389" y="0"/>
                      <a:pt x="50006" y="0"/>
                    </a:cubicBez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rgbClr val="20D9E8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9729788" y="2671762"/>
                <a:ext cx="100012" cy="192881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92881">
                    <a:moveTo>
                      <a:pt x="0" y="90011"/>
                    </a:moveTo>
                    <a:lnTo>
                      <a:pt x="0" y="50006"/>
                    </a:lnTo>
                    <a:cubicBezTo>
                      <a:pt x="0" y="22389"/>
                      <a:pt x="22389" y="0"/>
                      <a:pt x="50006" y="0"/>
                    </a:cubicBezTo>
                    <a:cubicBezTo>
                      <a:pt x="77624" y="0"/>
                      <a:pt x="100012" y="22389"/>
                      <a:pt x="100012" y="50006"/>
                    </a:cubicBezTo>
                    <a:lnTo>
                      <a:pt x="100012" y="192881"/>
                    </a:lnTo>
                  </a:path>
                </a:pathLst>
              </a:custGeom>
              <a:noFill/>
              <a:ln w="28575">
                <a:solidFill>
                  <a:srgbClr val="20D9E8"/>
                </a:solidFill>
              </a:ln>
            </p:spPr>
          </p:sp>
        </p:grpSp>
        <p:sp>
          <p:nvSpPr>
            <p:cNvPr id="70" name="Ellipse 70"/>
            <p:cNvSpPr/>
            <p:nvPr/>
          </p:nvSpPr>
          <p:spPr>
            <a:xfrm>
              <a:off x="10658475" y="2428875"/>
              <a:ext cx="742950" cy="742950"/>
            </a:xfrm>
            <a:prstGeom prst="ellipse">
              <a:avLst/>
            </a:prstGeom>
            <a:solidFill>
              <a:srgbClr val="0B4A45"/>
            </a:solidFill>
            <a:ln w="28575">
              <a:solidFill>
                <a:srgbClr val="23D7B0"/>
              </a:solidFill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10929938" y="2650331"/>
              <a:ext cx="250030" cy="300038"/>
              <a:chOff x="10929938" y="2650331"/>
              <a:chExt cx="250030" cy="300038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10963275" y="2650331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66675"/>
                    </a:moveTo>
                    <a:cubicBezTo>
                      <a:pt x="0" y="103499"/>
                      <a:pt x="29851" y="133350"/>
                      <a:pt x="66675" y="133350"/>
                    </a:cubicBezTo>
                    <a:cubicBezTo>
                      <a:pt x="103499" y="133350"/>
                      <a:pt x="133350" y="103499"/>
                      <a:pt x="133350" y="66675"/>
                    </a:cubicBezTo>
                    <a:cubicBezTo>
                      <a:pt x="133350" y="29851"/>
                      <a:pt x="103499" y="0"/>
                      <a:pt x="66675" y="0"/>
                    </a:cubicBezTo>
                    <a:cubicBezTo>
                      <a:pt x="29851" y="0"/>
                      <a:pt x="0" y="29851"/>
                      <a:pt x="0" y="66675"/>
                    </a:cubicBezTo>
                  </a:path>
                </a:pathLst>
              </a:custGeom>
              <a:noFill/>
              <a:ln w="33338">
                <a:solidFill>
                  <a:srgbClr val="7AF1D6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10929938" y="2850356"/>
                <a:ext cx="13335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00012">
                    <a:moveTo>
                      <a:pt x="0" y="100012"/>
                    </a:moveTo>
                    <a:lnTo>
                      <a:pt x="0" y="66675"/>
                    </a:lnTo>
                    <a:cubicBezTo>
                      <a:pt x="0" y="29851"/>
                      <a:pt x="29851" y="0"/>
                      <a:pt x="66675" y="0"/>
                    </a:cubicBezTo>
                    <a:lnTo>
                      <a:pt x="133350" y="0"/>
                    </a:lnTo>
                  </a:path>
                </a:pathLst>
              </a:custGeom>
              <a:noFill/>
              <a:ln w="33338">
                <a:solidFill>
                  <a:srgbClr val="7AF1D6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11079956" y="2883694"/>
                <a:ext cx="10001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66675">
                    <a:moveTo>
                      <a:pt x="0" y="33338"/>
                    </a:moveTo>
                    <a:lnTo>
                      <a:pt x="33338" y="66675"/>
                    </a:lnTo>
                    <a:lnTo>
                      <a:pt x="100012" y="0"/>
                    </a:lnTo>
                  </a:path>
                </a:pathLst>
              </a:custGeom>
              <a:noFill/>
              <a:ln w="33338">
                <a:solidFill>
                  <a:srgbClr val="7AF1D6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6045327" y="3258502"/>
              <a:ext cx="3680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7D0DF"/>
                  </a:solidFill>
                  <a:latin typeface="Microsoft YaHei"/>
                  <a:ea typeface="Microsoft YaHei"/>
                  <a:cs typeface="Microsoft YaHei"/>
                </a:rPr>
                <a:t>Audio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300951" y="325850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7D0DF"/>
                  </a:solidFill>
                  <a:latin typeface="Microsoft YaHei"/>
                  <a:ea typeface="Microsoft YaHei"/>
                  <a:cs typeface="Microsoft YaHei"/>
                </a:rPr>
                <a:t>ASR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289412" y="3258502"/>
              <a:ext cx="6804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Role Gate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627908" y="3258502"/>
              <a:ext cx="4037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7D0DF"/>
                  </a:solidFill>
                  <a:latin typeface="Microsoft YaHei"/>
                  <a:ea typeface="Microsoft YaHei"/>
                  <a:cs typeface="Microsoft YaHei"/>
                </a:rPr>
                <a:t>Agent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777415" y="3258502"/>
              <a:ext cx="5050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7AF1D6"/>
                  </a:solidFill>
                  <a:latin typeface="Microsoft YaHei"/>
                  <a:ea typeface="Microsoft YaHei"/>
                  <a:cs typeface="Microsoft YaHei"/>
                </a:rPr>
                <a:t>Doctor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7524750" y="4000500"/>
              <a:ext cx="2667000" cy="685800"/>
            </a:xfrm>
            <a:prstGeom prst="roundRect">
              <a:avLst>
                <a:gd name="adj" fmla="val 50000"/>
              </a:avLst>
            </a:prstGeom>
            <a:solidFill>
              <a:srgbClr val="20D9E8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7900987" y="4207669"/>
              <a:ext cx="241323" cy="286543"/>
              <a:chOff x="7900987" y="4207669"/>
              <a:chExt cx="241323" cy="286543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7931150" y="4207669"/>
                <a:ext cx="120650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20650" h="120650">
                    <a:moveTo>
                      <a:pt x="0" y="60325"/>
                    </a:moveTo>
                    <a:cubicBezTo>
                      <a:pt x="0" y="93641"/>
                      <a:pt x="27008" y="120650"/>
                      <a:pt x="60325" y="120650"/>
                    </a:cubicBezTo>
                    <a:cubicBezTo>
                      <a:pt x="93641" y="120650"/>
                      <a:pt x="120650" y="93641"/>
                      <a:pt x="120650" y="60325"/>
                    </a:cubicBezTo>
                    <a:cubicBezTo>
                      <a:pt x="120650" y="27008"/>
                      <a:pt x="93641" y="0"/>
                      <a:pt x="60325" y="0"/>
                    </a:cubicBezTo>
                    <a:cubicBezTo>
                      <a:pt x="27008" y="0"/>
                      <a:pt x="0" y="27008"/>
                      <a:pt x="0" y="60325"/>
                    </a:cubicBezTo>
                  </a:path>
                </a:pathLst>
              </a:custGeom>
              <a:noFill/>
              <a:ln w="30162">
                <a:solidFill>
                  <a:srgbClr val="071A33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7900987" y="4388643"/>
                <a:ext cx="67865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67865" h="90487">
                    <a:moveTo>
                      <a:pt x="0" y="90487"/>
                    </a:moveTo>
                    <a:lnTo>
                      <a:pt x="0" y="60325"/>
                    </a:lnTo>
                    <a:cubicBezTo>
                      <a:pt x="0" y="27008"/>
                      <a:pt x="27008" y="0"/>
                      <a:pt x="60325" y="0"/>
                    </a:cubicBezTo>
                    <a:lnTo>
                      <a:pt x="67865" y="0"/>
                    </a:lnTo>
                  </a:path>
                </a:pathLst>
              </a:custGeom>
              <a:noFill/>
              <a:ln w="30162">
                <a:solidFill>
                  <a:srgbClr val="071A33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021618" y="4385434"/>
                <a:ext cx="120692" cy="108778"/>
              </a:xfrm>
              <a:custGeom>
                <a:avLst/>
                <a:gdLst/>
                <a:ahLst/>
                <a:cxnLst/>
                <a:rect l="l" t="t" r="r" b="b"/>
                <a:pathLst>
                  <a:path w="120692" h="108778">
                    <a:moveTo>
                      <a:pt x="60344" y="108778"/>
                    </a:moveTo>
                    <a:lnTo>
                      <a:pt x="110866" y="59251"/>
                    </a:lnTo>
                    <a:cubicBezTo>
                      <a:pt x="117125" y="53178"/>
                      <a:pt x="120664" y="44832"/>
                      <a:pt x="120678" y="36110"/>
                    </a:cubicBezTo>
                    <a:cubicBezTo>
                      <a:pt x="120692" y="27388"/>
                      <a:pt x="117181" y="19031"/>
                      <a:pt x="110941" y="12937"/>
                    </a:cubicBezTo>
                    <a:cubicBezTo>
                      <a:pt x="97836" y="121"/>
                      <a:pt x="76906" y="81"/>
                      <a:pt x="63752" y="12847"/>
                    </a:cubicBezTo>
                    <a:lnTo>
                      <a:pt x="60374" y="16164"/>
                    </a:lnTo>
                    <a:lnTo>
                      <a:pt x="57011" y="12847"/>
                    </a:lnTo>
                    <a:cubicBezTo>
                      <a:pt x="43908" y="40"/>
                      <a:pt x="22989" y="0"/>
                      <a:pt x="9837" y="12756"/>
                    </a:cubicBezTo>
                    <a:cubicBezTo>
                      <a:pt x="3575" y="18828"/>
                      <a:pt x="34" y="27172"/>
                      <a:pt x="17" y="35894"/>
                    </a:cubicBezTo>
                    <a:cubicBezTo>
                      <a:pt x="0" y="44616"/>
                      <a:pt x="3509" y="52974"/>
                      <a:pt x="9746" y="59070"/>
                    </a:cubicBezTo>
                    <a:lnTo>
                      <a:pt x="60344" y="108778"/>
                    </a:lnTo>
                  </a:path>
                </a:pathLst>
              </a:custGeom>
              <a:noFill/>
              <a:ln w="30162">
                <a:solidFill>
                  <a:srgbClr val="071A33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8393811" y="4275296"/>
              <a:ext cx="18383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Human-in-the-loop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5918835" y="509825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9C2D8"/>
                  </a:solidFill>
                  <a:latin typeface="Microsoft YaHei"/>
                  <a:ea typeface="Microsoft YaHei"/>
                  <a:cs typeface="Microsoft YaHei"/>
                </a:rPr>
                <a:t>低置信角色先阻断，医生确认后再导出。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528638" y="6379845"/>
            <a:ext cx="11134724" cy="176212"/>
            <a:chOff x="528638" y="6379845"/>
            <a:chExt cx="11134724" cy="176212"/>
          </a:xfrm>
        </p:grpSpPr>
        <p:sp>
          <p:nvSpPr>
            <p:cNvPr id="88" name="TextBox 88"/>
            <p:cNvSpPr txBox="1"/>
            <p:nvPr/>
          </p:nvSpPr>
          <p:spPr>
            <a:xfrm>
              <a:off x="528638" y="6379845"/>
              <a:ext cx="26093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7F96AE"/>
                  </a:solidFill>
                  <a:latin typeface="Microsoft YaHei"/>
                  <a:ea typeface="Microsoft YaHei"/>
                  <a:cs typeface="Microsoft YaHei"/>
                </a:rPr>
                <a:t>PR #47 · Speaker role quality gate · MERGED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227664" y="6379845"/>
              <a:ext cx="4356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03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20446" y="572452"/>
            <a:ext cx="4603933" cy="746379"/>
            <a:chOff x="520446" y="572452"/>
            <a:chExt cx="4603933" cy="746379"/>
          </a:xfrm>
        </p:grpSpPr>
        <p:sp>
          <p:nvSpPr>
            <p:cNvPr id="2" name="TextBox 2"/>
            <p:cNvSpPr txBox="1"/>
            <p:nvPr/>
          </p:nvSpPr>
          <p:spPr>
            <a:xfrm>
              <a:off x="528066" y="572452"/>
              <a:ext cx="16630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04 · 核心技术瓶颈 02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0446" y="820102"/>
              <a:ext cx="4603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从 Demo 链路到可靠工程系统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33400" y="1562100"/>
            <a:ext cx="4095750" cy="4400550"/>
            <a:chOff x="533400" y="1562100"/>
            <a:chExt cx="4095750" cy="4400550"/>
          </a:xfrm>
        </p:grpSpPr>
        <p:sp>
          <p:nvSpPr>
            <p:cNvPr id="5" name="Rectangle 5"/>
            <p:cNvSpPr/>
            <p:nvPr/>
          </p:nvSpPr>
          <p:spPr>
            <a:xfrm>
              <a:off x="533400" y="1562100"/>
              <a:ext cx="4095750" cy="4400550"/>
            </a:xfrm>
            <a:prstGeom prst="roundRect">
              <a:avLst>
                <a:gd name="adj" fmla="val 5116"/>
              </a:avLst>
            </a:prstGeom>
            <a:solidFill>
              <a:srgbClr val="121B2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13435" y="1878806"/>
              <a:ext cx="1052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rgbClr val="FF8795"/>
                  </a:solidFill>
                  <a:latin typeface="Microsoft YaHei"/>
                  <a:ea typeface="Microsoft YaHei"/>
                  <a:cs typeface="Microsoft YaHei"/>
                </a:rPr>
                <a:t>EARLY DEMO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66800" y="2400300"/>
              <a:ext cx="3028950" cy="1695450"/>
            </a:xfrm>
            <a:prstGeom prst="roundRect">
              <a:avLst>
                <a:gd name="adj" fmla="val 10112"/>
              </a:avLst>
            </a:prstGeom>
            <a:solidFill>
              <a:srgbClr val="071A33"/>
            </a:solidFill>
            <a:ln w="19050">
              <a:solidFill>
                <a:srgbClr val="526174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247191" y="2636520"/>
              <a:ext cx="6681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8698AD"/>
                  </a:solidFill>
                  <a:latin typeface="Microsoft YaHei"/>
                  <a:ea typeface="Microsoft YaHei"/>
                  <a:cs typeface="Microsoft YaHei"/>
                </a:rPr>
                <a:t>BLACK BOX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1285875" y="3028950"/>
              <a:ext cx="609600" cy="609600"/>
            </a:xfrm>
            <a:prstGeom prst="ellipse">
              <a:avLst/>
            </a:prstGeom>
            <a:solidFill>
              <a:srgbClr val="182A42"/>
            </a:solidFill>
            <a:ln w="19050">
              <a:solidFill>
                <a:srgbClr val="6C7E9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84828" y="3278981"/>
              <a:ext cx="411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Input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905000" y="33337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28575">
              <a:solidFill>
                <a:srgbClr val="6C7E93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2209800" y="2962275"/>
              <a:ext cx="742950" cy="742950"/>
            </a:xfrm>
            <a:prstGeom prst="ellipse">
              <a:avLst/>
            </a:prstGeom>
            <a:solidFill>
              <a:srgbClr val="3B2635"/>
            </a:solidFill>
            <a:ln w="19050">
              <a:solidFill>
                <a:srgbClr val="FF6B7C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431256" y="3200400"/>
              <a:ext cx="283369" cy="266700"/>
            </a:xfrm>
            <a:custGeom>
              <a:avLst/>
              <a:gdLst/>
              <a:ahLst/>
              <a:cxnLst/>
              <a:rect l="l" t="t" r="r" b="b"/>
              <a:pathLst>
                <a:path w="283369" h="266700">
                  <a:moveTo>
                    <a:pt x="216694" y="233362"/>
                  </a:moveTo>
                  <a:cubicBezTo>
                    <a:pt x="235106" y="233362"/>
                    <a:pt x="250031" y="248288"/>
                    <a:pt x="250031" y="266700"/>
                  </a:cubicBezTo>
                  <a:cubicBezTo>
                    <a:pt x="250031" y="248288"/>
                    <a:pt x="264957" y="233362"/>
                    <a:pt x="283369" y="233362"/>
                  </a:cubicBezTo>
                  <a:cubicBezTo>
                    <a:pt x="264957" y="233362"/>
                    <a:pt x="250031" y="218437"/>
                    <a:pt x="250031" y="200025"/>
                  </a:cubicBezTo>
                  <a:cubicBezTo>
                    <a:pt x="250031" y="218437"/>
                    <a:pt x="235106" y="233362"/>
                    <a:pt x="216694" y="233362"/>
                  </a:cubicBezTo>
                  <a:moveTo>
                    <a:pt x="216694" y="33338"/>
                  </a:moveTo>
                  <a:cubicBezTo>
                    <a:pt x="235106" y="33338"/>
                    <a:pt x="250031" y="48263"/>
                    <a:pt x="250031" y="66675"/>
                  </a:cubicBezTo>
                  <a:cubicBezTo>
                    <a:pt x="250031" y="48263"/>
                    <a:pt x="264957" y="33338"/>
                    <a:pt x="283369" y="33338"/>
                  </a:cubicBezTo>
                  <a:cubicBezTo>
                    <a:pt x="264957" y="33338"/>
                    <a:pt x="250031" y="18412"/>
                    <a:pt x="250031" y="0"/>
                  </a:cubicBezTo>
                  <a:cubicBezTo>
                    <a:pt x="250031" y="18412"/>
                    <a:pt x="235106" y="33338"/>
                    <a:pt x="216694" y="33338"/>
                  </a:cubicBezTo>
                  <a:moveTo>
                    <a:pt x="100012" y="233362"/>
                  </a:moveTo>
                  <a:cubicBezTo>
                    <a:pt x="100012" y="178127"/>
                    <a:pt x="144790" y="133350"/>
                    <a:pt x="200025" y="133350"/>
                  </a:cubicBezTo>
                  <a:cubicBezTo>
                    <a:pt x="144790" y="133350"/>
                    <a:pt x="100012" y="88573"/>
                    <a:pt x="100012" y="33338"/>
                  </a:cubicBezTo>
                  <a:cubicBezTo>
                    <a:pt x="100012" y="88573"/>
                    <a:pt x="55235" y="133350"/>
                    <a:pt x="0" y="133350"/>
                  </a:cubicBezTo>
                  <a:cubicBezTo>
                    <a:pt x="55235" y="133350"/>
                    <a:pt x="100012" y="178127"/>
                    <a:pt x="100012" y="233362"/>
                  </a:cubicBezTo>
                </a:path>
              </a:pathLst>
            </a:custGeom>
            <a:noFill/>
            <a:ln w="33338">
              <a:solidFill>
                <a:srgbClr val="FF8795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2952750" y="333375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rgbClr val="6C7E9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3267075" y="3028950"/>
              <a:ext cx="609600" cy="609600"/>
            </a:xfrm>
            <a:prstGeom prst="ellipse">
              <a:avLst/>
            </a:prstGeom>
            <a:solidFill>
              <a:srgbClr val="182A42"/>
            </a:solidFill>
            <a:ln w="19050">
              <a:solidFill>
                <a:srgbClr val="6C7E9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6498" y="3278981"/>
              <a:ext cx="570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Output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866775" y="4615339"/>
              <a:ext cx="914806" cy="1163764"/>
              <a:chOff x="866775" y="4615339"/>
              <a:chExt cx="914806" cy="1163764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866775" y="4638675"/>
                <a:ext cx="95250" cy="95250"/>
              </a:xfrm>
              <a:prstGeom prst="ellipse">
                <a:avLst/>
              </a:prstGeom>
              <a:solidFill>
                <a:srgbClr val="FF6B7C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79373" y="4615339"/>
                <a:ext cx="70220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状态丢失</a:t>
                </a:r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866775" y="5095875"/>
                <a:ext cx="95250" cy="95250"/>
              </a:xfrm>
              <a:prstGeom prst="ellipse">
                <a:avLst/>
              </a:prstGeom>
              <a:solidFill>
                <a:srgbClr val="FF6B7C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079373" y="5072539"/>
                <a:ext cx="70220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无法恢复</a:t>
                </a:r>
              </a:p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866775" y="5553075"/>
                <a:ext cx="95250" cy="95250"/>
              </a:xfrm>
              <a:prstGeom prst="ellipse">
                <a:avLst/>
              </a:prstGeom>
              <a:solidFill>
                <a:srgbClr val="FF6B7C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079373" y="5529739"/>
                <a:ext cx="70220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不可审计</a:t>
                </a:r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>
            <a:off x="4933950" y="3400425"/>
            <a:ext cx="628650" cy="469582"/>
            <a:chOff x="4933950" y="3400425"/>
            <a:chExt cx="628650" cy="469582"/>
          </a:xfrm>
        </p:grpSpPr>
        <p:sp>
          <p:nvSpPr>
            <p:cNvPr id="25" name="Rectangle 25"/>
            <p:cNvSpPr/>
            <p:nvPr/>
          </p:nvSpPr>
          <p:spPr>
            <a:xfrm>
              <a:off x="4933950" y="3400425"/>
              <a:ext cx="62865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F6B7C"/>
                </a:gs>
                <a:gs pos="100000">
                  <a:srgbClr val="20D9E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971318" y="3693795"/>
              <a:ext cx="5539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66809F"/>
                  </a:solidFill>
                  <a:latin typeface="Microsoft YaHei"/>
                  <a:ea typeface="Microsoft YaHei"/>
                  <a:cs typeface="Microsoft YaHei"/>
                </a:rPr>
                <a:t>REFRAME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810250" y="1428750"/>
            <a:ext cx="5848350" cy="4629150"/>
            <a:chOff x="5810250" y="1428750"/>
            <a:chExt cx="5848350" cy="4629150"/>
          </a:xfrm>
        </p:grpSpPr>
        <p:sp>
          <p:nvSpPr>
            <p:cNvPr id="28" name="Rectangle 28"/>
            <p:cNvSpPr/>
            <p:nvPr/>
          </p:nvSpPr>
          <p:spPr>
            <a:xfrm>
              <a:off x="5810250" y="1428750"/>
              <a:ext cx="5848350" cy="4629150"/>
            </a:xfrm>
            <a:prstGeom prst="roundRect">
              <a:avLst>
                <a:gd name="adj" fmla="val 4527"/>
              </a:avLst>
            </a:prstGeom>
            <a:solidFill>
              <a:srgbClr val="071A3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109335" y="1745456"/>
              <a:ext cx="23035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PRODUCTION ARCHITECTURE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438900" y="2190750"/>
              <a:ext cx="4591050" cy="590550"/>
            </a:xfrm>
            <a:prstGeom prst="roundRect">
              <a:avLst>
                <a:gd name="adj" fmla="val 22581"/>
              </a:avLst>
            </a:prstGeom>
            <a:solidFill>
              <a:srgbClr val="0E3152"/>
            </a:solidFill>
            <a:ln w="19050">
              <a:solidFill>
                <a:srgbClr val="2F7CF4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707981" y="2405063"/>
              <a:ext cx="242888" cy="184944"/>
              <a:chOff x="6707981" y="2405063"/>
              <a:chExt cx="242888" cy="184944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707981" y="2580482"/>
                <a:ext cx="2428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9525">
                    <a:moveTo>
                      <a:pt x="0" y="0"/>
                    </a:moveTo>
                    <a:lnTo>
                      <a:pt x="242888" y="0"/>
                    </a:lnTo>
                  </a:path>
                </a:pathLst>
              </a:custGeom>
              <a:noFill/>
              <a:ln w="26988">
                <a:solidFill>
                  <a:srgbClr val="8CC0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734969" y="2405063"/>
                <a:ext cx="188913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134938">
                    <a:moveTo>
                      <a:pt x="0" y="13494"/>
                    </a:moveTo>
                    <a:cubicBezTo>
                      <a:pt x="0" y="6041"/>
                      <a:pt x="6041" y="0"/>
                      <a:pt x="13494" y="0"/>
                    </a:cubicBezTo>
                    <a:lnTo>
                      <a:pt x="175419" y="0"/>
                    </a:lnTo>
                    <a:cubicBezTo>
                      <a:pt x="182872" y="0"/>
                      <a:pt x="188913" y="6041"/>
                      <a:pt x="188913" y="13494"/>
                    </a:cubicBezTo>
                    <a:lnTo>
                      <a:pt x="188913" y="121444"/>
                    </a:lnTo>
                    <a:cubicBezTo>
                      <a:pt x="188913" y="128896"/>
                      <a:pt x="182872" y="134938"/>
                      <a:pt x="175419" y="134938"/>
                    </a:cubicBezTo>
                    <a:lnTo>
                      <a:pt x="13494" y="134938"/>
                    </a:lnTo>
                    <a:cubicBezTo>
                      <a:pt x="6041" y="134938"/>
                      <a:pt x="0" y="128896"/>
                      <a:pt x="0" y="121444"/>
                    </a:cubicBez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rgbClr val="8CC0F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174992" y="2416492"/>
              <a:ext cx="8592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Frontend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734425" y="27813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28575">
              <a:solidFill>
                <a:srgbClr val="20D9E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38900" y="2971800"/>
              <a:ext cx="4591050" cy="590550"/>
            </a:xfrm>
            <a:prstGeom prst="roundRect">
              <a:avLst>
                <a:gd name="adj" fmla="val 22581"/>
              </a:avLst>
            </a:prstGeom>
            <a:solidFill>
              <a:srgbClr val="0E3152"/>
            </a:solidFill>
            <a:ln w="19050">
              <a:solidFill>
                <a:srgbClr val="20D9E8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6667487" y="3105668"/>
              <a:ext cx="323878" cy="322814"/>
            </a:xfrm>
            <a:custGeom>
              <a:avLst/>
              <a:gdLst/>
              <a:ahLst/>
              <a:cxnLst/>
              <a:rect l="l" t="t" r="r" b="b"/>
              <a:pathLst>
                <a:path w="323878" h="322814">
                  <a:moveTo>
                    <a:pt x="161939" y="4"/>
                  </a:moveTo>
                  <a:cubicBezTo>
                    <a:pt x="72514" y="0"/>
                    <a:pt x="18" y="72255"/>
                    <a:pt x="13" y="161391"/>
                  </a:cubicBezTo>
                  <a:cubicBezTo>
                    <a:pt x="0" y="250539"/>
                    <a:pt x="72502" y="322814"/>
                    <a:pt x="161939" y="322810"/>
                  </a:cubicBezTo>
                  <a:cubicBezTo>
                    <a:pt x="251376" y="322814"/>
                    <a:pt x="323878" y="250539"/>
                    <a:pt x="323864" y="161391"/>
                  </a:cubicBezTo>
                  <a:cubicBezTo>
                    <a:pt x="323860" y="72255"/>
                    <a:pt x="251364" y="0"/>
                    <a:pt x="161939" y="5"/>
                  </a:cubicBezTo>
                  <a:moveTo>
                    <a:pt x="150753" y="73078"/>
                  </a:moveTo>
                  <a:lnTo>
                    <a:pt x="252631" y="73078"/>
                  </a:lnTo>
                  <a:lnTo>
                    <a:pt x="150341" y="144979"/>
                  </a:lnTo>
                  <a:lnTo>
                    <a:pt x="220277" y="144979"/>
                  </a:lnTo>
                  <a:lnTo>
                    <a:pt x="71247" y="249705"/>
                  </a:lnTo>
                  <a:cubicBezTo>
                    <a:pt x="97754" y="190833"/>
                    <a:pt x="124256" y="131957"/>
                    <a:pt x="150753" y="73077"/>
                  </a:cubicBezTo>
                </a:path>
              </a:pathLst>
            </a:custGeom>
            <a:solidFill>
              <a:srgbClr val="20D9E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174992" y="3197542"/>
              <a:ext cx="7229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FastAPI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8734425" y="35623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28575">
              <a:solidFill>
                <a:srgbClr val="20D9E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38900" y="3752850"/>
              <a:ext cx="4591050" cy="590550"/>
            </a:xfrm>
            <a:prstGeom prst="roundRect">
              <a:avLst>
                <a:gd name="adj" fmla="val 22581"/>
              </a:avLst>
            </a:prstGeom>
            <a:solidFill>
              <a:srgbClr val="0B4655"/>
            </a:solidFill>
            <a:ln w="28575">
              <a:solidFill>
                <a:srgbClr val="20D9E8"/>
              </a:solidFill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734969" y="3940175"/>
              <a:ext cx="202407" cy="215901"/>
              <a:chOff x="6734969" y="3940175"/>
              <a:chExt cx="202407" cy="215901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734969" y="410210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7AF1D6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734969" y="3940175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7AF1D6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869907" y="3940175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7AF1D6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761956" y="3994150"/>
                <a:ext cx="95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950">
                    <a:moveTo>
                      <a:pt x="0" y="0"/>
                    </a:moveTo>
                    <a:lnTo>
                      <a:pt x="0" y="107950"/>
                    </a:lnTo>
                  </a:path>
                </a:pathLst>
              </a:custGeom>
              <a:noFill/>
              <a:ln w="26988">
                <a:solidFill>
                  <a:srgbClr val="7AF1D6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788944" y="4034632"/>
                <a:ext cx="107950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94456">
                    <a:moveTo>
                      <a:pt x="0" y="94456"/>
                    </a:moveTo>
                    <a:lnTo>
                      <a:pt x="80963" y="94456"/>
                    </a:lnTo>
                    <a:cubicBezTo>
                      <a:pt x="95868" y="94456"/>
                      <a:pt x="107950" y="82374"/>
                      <a:pt x="107950" y="67469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26988">
                <a:solidFill>
                  <a:srgbClr val="7AF1D6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856413" y="4034632"/>
                <a:ext cx="80963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40481">
                    <a:moveTo>
                      <a:pt x="0" y="40481"/>
                    </a:moveTo>
                    <a:lnTo>
                      <a:pt x="40481" y="0"/>
                    </a:lnTo>
                    <a:lnTo>
                      <a:pt x="80963" y="40481"/>
                    </a:lnTo>
                  </a:path>
                </a:pathLst>
              </a:custGeom>
              <a:noFill/>
              <a:ln w="26988">
                <a:solidFill>
                  <a:srgbClr val="7AF1D6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7174992" y="3978592"/>
              <a:ext cx="19058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Agent Orchestrator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8734425" y="43434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28575">
              <a:solidFill>
                <a:srgbClr val="20D9E8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38900" y="4533900"/>
              <a:ext cx="4591050" cy="590550"/>
            </a:xfrm>
            <a:prstGeom prst="roundRect">
              <a:avLst>
                <a:gd name="adj" fmla="val 22581"/>
              </a:avLst>
            </a:prstGeom>
            <a:solidFill>
              <a:srgbClr val="0E3152"/>
            </a:solidFill>
            <a:ln w="19050">
              <a:solidFill>
                <a:srgbClr val="20D9E8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707981" y="4721225"/>
              <a:ext cx="242888" cy="215900"/>
              <a:chOff x="6707981" y="4721225"/>
              <a:chExt cx="242888" cy="2159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707981" y="4721225"/>
                <a:ext cx="242888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07950">
                    <a:moveTo>
                      <a:pt x="0" y="40481"/>
                    </a:moveTo>
                    <a:cubicBezTo>
                      <a:pt x="0" y="18124"/>
                      <a:pt x="18124" y="0"/>
                      <a:pt x="40481" y="0"/>
                    </a:cubicBezTo>
                    <a:lnTo>
                      <a:pt x="202407" y="0"/>
                    </a:lnTo>
                    <a:cubicBezTo>
                      <a:pt x="224764" y="0"/>
                      <a:pt x="242888" y="18124"/>
                      <a:pt x="242888" y="40481"/>
                    </a:cubicBezTo>
                    <a:lnTo>
                      <a:pt x="242888" y="67469"/>
                    </a:lnTo>
                    <a:cubicBezTo>
                      <a:pt x="242888" y="89826"/>
                      <a:pt x="224764" y="107950"/>
                      <a:pt x="202407" y="107950"/>
                    </a:cubicBezTo>
                    <a:lnTo>
                      <a:pt x="40481" y="107950"/>
                    </a:lnTo>
                    <a:cubicBezTo>
                      <a:pt x="18124" y="107950"/>
                      <a:pt x="0" y="89826"/>
                      <a:pt x="0" y="67469"/>
                    </a:cubicBezTo>
                    <a:lnTo>
                      <a:pt x="0" y="40481"/>
                    </a:lnTo>
                  </a:path>
                </a:pathLst>
              </a:custGeom>
              <a:noFill/>
              <a:ln w="26988">
                <a:solidFill>
                  <a:srgbClr val="20D9E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707981" y="4829175"/>
                <a:ext cx="242888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07950">
                    <a:moveTo>
                      <a:pt x="0" y="40481"/>
                    </a:moveTo>
                    <a:cubicBezTo>
                      <a:pt x="0" y="18124"/>
                      <a:pt x="18124" y="0"/>
                      <a:pt x="40481" y="0"/>
                    </a:cubicBezTo>
                    <a:lnTo>
                      <a:pt x="202407" y="0"/>
                    </a:lnTo>
                    <a:cubicBezTo>
                      <a:pt x="224764" y="0"/>
                      <a:pt x="242888" y="18124"/>
                      <a:pt x="242888" y="40481"/>
                    </a:cubicBezTo>
                    <a:lnTo>
                      <a:pt x="242888" y="67469"/>
                    </a:lnTo>
                    <a:cubicBezTo>
                      <a:pt x="242888" y="89826"/>
                      <a:pt x="224764" y="107950"/>
                      <a:pt x="202407" y="107950"/>
                    </a:cubicBezTo>
                    <a:lnTo>
                      <a:pt x="40481" y="107950"/>
                    </a:lnTo>
                    <a:cubicBezTo>
                      <a:pt x="18124" y="107950"/>
                      <a:pt x="0" y="89826"/>
                      <a:pt x="0" y="67469"/>
                    </a:cubicBezTo>
                    <a:lnTo>
                      <a:pt x="0" y="40481"/>
                    </a:lnTo>
                  </a:path>
                </a:pathLst>
              </a:custGeom>
              <a:noFill/>
              <a:ln w="26988">
                <a:solidFill>
                  <a:srgbClr val="20D9E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761956" y="4775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26988">
                <a:solidFill>
                  <a:srgbClr val="20D9E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761956" y="48831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26988">
                <a:solidFill>
                  <a:srgbClr val="20D9E8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7174992" y="4759642"/>
              <a:ext cx="28237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Services · ASR / LLM / Export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8734425" y="51244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28575">
              <a:solidFill>
                <a:srgbClr val="20D9E8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438900" y="5314950"/>
              <a:ext cx="4591050" cy="514350"/>
            </a:xfrm>
            <a:prstGeom prst="roundRect">
              <a:avLst>
                <a:gd name="adj" fmla="val 25926"/>
              </a:avLst>
            </a:prstGeom>
            <a:solidFill>
              <a:srgbClr val="102E3D"/>
            </a:solidFill>
            <a:ln w="19050">
              <a:solidFill>
                <a:srgbClr val="23D7B0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6684637" y="5404816"/>
              <a:ext cx="309345" cy="329235"/>
            </a:xfrm>
            <a:custGeom>
              <a:avLst/>
              <a:gdLst/>
              <a:ahLst/>
              <a:cxnLst/>
              <a:rect l="l" t="t" r="r" b="b"/>
              <a:pathLst>
                <a:path w="309345" h="329235">
                  <a:moveTo>
                    <a:pt x="275381" y="12414"/>
                  </a:moveTo>
                  <a:cubicBezTo>
                    <a:pt x="261456" y="0"/>
                    <a:pt x="244615" y="4993"/>
                    <a:pt x="227977" y="19755"/>
                  </a:cubicBezTo>
                  <a:cubicBezTo>
                    <a:pt x="225413" y="22052"/>
                    <a:pt x="222950" y="24461"/>
                    <a:pt x="220596" y="26974"/>
                  </a:cubicBezTo>
                  <a:cubicBezTo>
                    <a:pt x="192138" y="57160"/>
                    <a:pt x="165731" y="113064"/>
                    <a:pt x="157526" y="155759"/>
                  </a:cubicBezTo>
                  <a:cubicBezTo>
                    <a:pt x="160724" y="162236"/>
                    <a:pt x="163221" y="170507"/>
                    <a:pt x="164867" y="176823"/>
                  </a:cubicBezTo>
                  <a:cubicBezTo>
                    <a:pt x="165692" y="179964"/>
                    <a:pt x="166430" y="183127"/>
                    <a:pt x="167080" y="186309"/>
                  </a:cubicBezTo>
                  <a:cubicBezTo>
                    <a:pt x="167080" y="186309"/>
                    <a:pt x="166824" y="185351"/>
                    <a:pt x="165785" y="182314"/>
                  </a:cubicBezTo>
                  <a:lnTo>
                    <a:pt x="165110" y="180344"/>
                  </a:lnTo>
                  <a:cubicBezTo>
                    <a:pt x="164971" y="179981"/>
                    <a:pt x="164822" y="179621"/>
                    <a:pt x="164665" y="179265"/>
                  </a:cubicBezTo>
                  <a:cubicBezTo>
                    <a:pt x="162802" y="174947"/>
                    <a:pt x="157675" y="165839"/>
                    <a:pt x="155408" y="161871"/>
                  </a:cubicBezTo>
                  <a:cubicBezTo>
                    <a:pt x="153478" y="167579"/>
                    <a:pt x="151765" y="172909"/>
                    <a:pt x="150334" y="177740"/>
                  </a:cubicBezTo>
                  <a:cubicBezTo>
                    <a:pt x="156865" y="189669"/>
                    <a:pt x="160832" y="210125"/>
                    <a:pt x="160832" y="210125"/>
                  </a:cubicBezTo>
                  <a:cubicBezTo>
                    <a:pt x="160832" y="210125"/>
                    <a:pt x="160495" y="208789"/>
                    <a:pt x="158849" y="204161"/>
                  </a:cubicBezTo>
                  <a:cubicBezTo>
                    <a:pt x="157405" y="200072"/>
                    <a:pt x="150159" y="187375"/>
                    <a:pt x="148432" y="184406"/>
                  </a:cubicBezTo>
                  <a:cubicBezTo>
                    <a:pt x="145503" y="195255"/>
                    <a:pt x="144329" y="202569"/>
                    <a:pt x="145382" y="204350"/>
                  </a:cubicBezTo>
                  <a:cubicBezTo>
                    <a:pt x="147433" y="207804"/>
                    <a:pt x="149376" y="213768"/>
                    <a:pt x="151076" y="220353"/>
                  </a:cubicBezTo>
                  <a:cubicBezTo>
                    <a:pt x="154936" y="235197"/>
                    <a:pt x="157621" y="253278"/>
                    <a:pt x="157621" y="253278"/>
                  </a:cubicBezTo>
                  <a:lnTo>
                    <a:pt x="157850" y="256301"/>
                  </a:lnTo>
                  <a:cubicBezTo>
                    <a:pt x="157343" y="268665"/>
                    <a:pt x="157596" y="281049"/>
                    <a:pt x="158606" y="293382"/>
                  </a:cubicBezTo>
                  <a:cubicBezTo>
                    <a:pt x="159888" y="308846"/>
                    <a:pt x="162290" y="322124"/>
                    <a:pt x="165353" y="329235"/>
                  </a:cubicBezTo>
                  <a:lnTo>
                    <a:pt x="167444" y="328101"/>
                  </a:lnTo>
                  <a:cubicBezTo>
                    <a:pt x="162937" y="314095"/>
                    <a:pt x="161102" y="295730"/>
                    <a:pt x="161912" y="274571"/>
                  </a:cubicBezTo>
                  <a:cubicBezTo>
                    <a:pt x="163126" y="242213"/>
                    <a:pt x="170575" y="203189"/>
                    <a:pt x="184325" y="162519"/>
                  </a:cubicBezTo>
                  <a:cubicBezTo>
                    <a:pt x="207575" y="101122"/>
                    <a:pt x="239825" y="51857"/>
                    <a:pt x="269336" y="28323"/>
                  </a:cubicBezTo>
                  <a:cubicBezTo>
                    <a:pt x="242443" y="52612"/>
                    <a:pt x="206023" y="131281"/>
                    <a:pt x="195120" y="160401"/>
                  </a:cubicBezTo>
                  <a:cubicBezTo>
                    <a:pt x="182922" y="193002"/>
                    <a:pt x="174272" y="223605"/>
                    <a:pt x="169064" y="252927"/>
                  </a:cubicBezTo>
                  <a:cubicBezTo>
                    <a:pt x="178050" y="225441"/>
                    <a:pt x="207130" y="213634"/>
                    <a:pt x="207130" y="213634"/>
                  </a:cubicBezTo>
                  <a:cubicBezTo>
                    <a:pt x="207130" y="213634"/>
                    <a:pt x="221392" y="196038"/>
                    <a:pt x="238057" y="170912"/>
                  </a:cubicBezTo>
                  <a:cubicBezTo>
                    <a:pt x="228072" y="173193"/>
                    <a:pt x="211677" y="177092"/>
                    <a:pt x="206185" y="179400"/>
                  </a:cubicBezTo>
                  <a:cubicBezTo>
                    <a:pt x="198089" y="182787"/>
                    <a:pt x="195903" y="183947"/>
                    <a:pt x="195903" y="183947"/>
                  </a:cubicBezTo>
                  <a:cubicBezTo>
                    <a:pt x="195903" y="183947"/>
                    <a:pt x="222148" y="167971"/>
                    <a:pt x="244656" y="160738"/>
                  </a:cubicBezTo>
                  <a:cubicBezTo>
                    <a:pt x="275610" y="111985"/>
                    <a:pt x="309345" y="42721"/>
                    <a:pt x="275381" y="12414"/>
                  </a:cubicBezTo>
                  <a:moveTo>
                    <a:pt x="24761" y="19741"/>
                  </a:moveTo>
                  <a:cubicBezTo>
                    <a:pt x="11102" y="19793"/>
                    <a:pt x="44" y="30857"/>
                    <a:pt x="0" y="44516"/>
                  </a:cubicBezTo>
                  <a:lnTo>
                    <a:pt x="0" y="268621"/>
                  </a:lnTo>
                  <a:cubicBezTo>
                    <a:pt x="44" y="282275"/>
                    <a:pt x="11107" y="293331"/>
                    <a:pt x="24761" y="293368"/>
                  </a:cubicBezTo>
                  <a:lnTo>
                    <a:pt x="151846" y="293368"/>
                  </a:lnTo>
                  <a:cubicBezTo>
                    <a:pt x="150893" y="281217"/>
                    <a:pt x="150659" y="269020"/>
                    <a:pt x="151144" y="256841"/>
                  </a:cubicBezTo>
                  <a:cubicBezTo>
                    <a:pt x="151063" y="256004"/>
                    <a:pt x="150995" y="254938"/>
                    <a:pt x="150928" y="254142"/>
                  </a:cubicBezTo>
                  <a:cubicBezTo>
                    <a:pt x="149282" y="243356"/>
                    <a:pt x="147152" y="232649"/>
                    <a:pt x="144545" y="222054"/>
                  </a:cubicBezTo>
                  <a:cubicBezTo>
                    <a:pt x="142913" y="215712"/>
                    <a:pt x="140835" y="209936"/>
                    <a:pt x="139566" y="207791"/>
                  </a:cubicBezTo>
                  <a:cubicBezTo>
                    <a:pt x="138001" y="205132"/>
                    <a:pt x="138244" y="203608"/>
                    <a:pt x="138257" y="201961"/>
                  </a:cubicBezTo>
                  <a:cubicBezTo>
                    <a:pt x="138257" y="200342"/>
                    <a:pt x="138460" y="198655"/>
                    <a:pt x="138757" y="196753"/>
                  </a:cubicBezTo>
                  <a:cubicBezTo>
                    <a:pt x="139556" y="191999"/>
                    <a:pt x="140610" y="187292"/>
                    <a:pt x="141914" y="182652"/>
                  </a:cubicBezTo>
                  <a:lnTo>
                    <a:pt x="144842" y="182274"/>
                  </a:lnTo>
                  <a:cubicBezTo>
                    <a:pt x="144613" y="181802"/>
                    <a:pt x="144653" y="181397"/>
                    <a:pt x="144424" y="180965"/>
                  </a:cubicBezTo>
                  <a:lnTo>
                    <a:pt x="143871" y="175824"/>
                  </a:lnTo>
                  <a:cubicBezTo>
                    <a:pt x="145486" y="170421"/>
                    <a:pt x="147205" y="165050"/>
                    <a:pt x="149025" y="159712"/>
                  </a:cubicBezTo>
                  <a:lnTo>
                    <a:pt x="151724" y="159456"/>
                  </a:lnTo>
                  <a:cubicBezTo>
                    <a:pt x="151616" y="159240"/>
                    <a:pt x="151589" y="158943"/>
                    <a:pt x="151481" y="158741"/>
                  </a:cubicBezTo>
                  <a:lnTo>
                    <a:pt x="150901" y="154477"/>
                  </a:lnTo>
                  <a:cubicBezTo>
                    <a:pt x="159402" y="110217"/>
                    <a:pt x="185809" y="54043"/>
                    <a:pt x="215671" y="22359"/>
                  </a:cubicBezTo>
                  <a:cubicBezTo>
                    <a:pt x="216562" y="21428"/>
                    <a:pt x="217466" y="20632"/>
                    <a:pt x="218343" y="19741"/>
                  </a:cubicBezTo>
                  <a:close/>
                </a:path>
              </a:pathLst>
            </a:custGeom>
            <a:solidFill>
              <a:srgbClr val="7AF1D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174992" y="5483542"/>
              <a:ext cx="1301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SQLite + Logs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28638" y="6379845"/>
            <a:ext cx="11134724" cy="176212"/>
            <a:chOff x="528638" y="6379845"/>
            <a:chExt cx="11134724" cy="176212"/>
          </a:xfrm>
        </p:grpSpPr>
        <p:sp>
          <p:nvSpPr>
            <p:cNvPr id="62" name="TextBox 62"/>
            <p:cNvSpPr txBox="1"/>
            <p:nvPr/>
          </p:nvSpPr>
          <p:spPr>
            <a:xfrm>
              <a:off x="528638" y="6379845"/>
              <a:ext cx="35961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7890A8"/>
                  </a:solidFill>
                  <a:latin typeface="Microsoft YaHei"/>
                  <a:ea typeface="Microsoft YaHei"/>
                  <a:cs typeface="Microsoft YaHei"/>
                </a:rPr>
                <a:t>Frontend → FastAPI → Orchestrator → Services → persistence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227664" y="6379845"/>
              <a:ext cx="4356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04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20446" y="572452"/>
            <a:ext cx="6209241" cy="755905"/>
            <a:chOff x="520446" y="572452"/>
            <a:chExt cx="6209241" cy="755905"/>
          </a:xfrm>
        </p:grpSpPr>
        <p:sp>
          <p:nvSpPr>
            <p:cNvPr id="2" name="TextBox 2"/>
            <p:cNvSpPr txBox="1"/>
            <p:nvPr/>
          </p:nvSpPr>
          <p:spPr>
            <a:xfrm>
              <a:off x="528066" y="572452"/>
              <a:ext cx="16356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05 · 最棘手 BUG #1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0446" y="829628"/>
              <a:ext cx="62092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SSE 实时链路的一致性，断点才是考题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33400" y="1619250"/>
            <a:ext cx="8020050" cy="2628900"/>
            <a:chOff x="533400" y="1619250"/>
            <a:chExt cx="8020050" cy="2628900"/>
          </a:xfrm>
        </p:grpSpPr>
        <p:sp>
          <p:nvSpPr>
            <p:cNvPr id="5" name="Rectangle 5"/>
            <p:cNvSpPr/>
            <p:nvPr/>
          </p:nvSpPr>
          <p:spPr>
            <a:xfrm>
              <a:off x="533400" y="1619250"/>
              <a:ext cx="8020050" cy="2628900"/>
            </a:xfrm>
            <a:prstGeom prst="roundRect">
              <a:avLst>
                <a:gd name="adj" fmla="val 7971"/>
              </a:avLst>
            </a:prstGeom>
            <a:solidFill>
              <a:srgbClr val="0C2844"/>
            </a:solidFill>
            <a:ln w="19050">
              <a:solidFill>
                <a:srgbClr val="244B6F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13816" y="1896428"/>
              <a:ext cx="9594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8CC0FF"/>
                  </a:solidFill>
                  <a:latin typeface="Microsoft YaHei"/>
                  <a:ea typeface="Microsoft YaHei"/>
                  <a:cs typeface="Microsoft YaHei"/>
                </a:rPr>
                <a:t>BUG TIMELINE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1181100" y="2952750"/>
              <a:ext cx="6667500" cy="9525"/>
            </a:xfrm>
            <a:custGeom>
              <a:avLst/>
              <a:gdLst/>
              <a:ahLst/>
              <a:cxnLst/>
              <a:rect l="l" t="t" r="r" b="b"/>
              <a:pathLst>
                <a:path w="6667500" h="9525">
                  <a:moveTo>
                    <a:pt x="0" y="0"/>
                  </a:moveTo>
                  <a:lnTo>
                    <a:pt x="6667500" y="0"/>
                  </a:lnTo>
                </a:path>
              </a:pathLst>
            </a:custGeom>
            <a:noFill/>
            <a:ln w="38100">
              <a:solidFill>
                <a:srgbClr val="446B8D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923925" y="2657475"/>
              <a:ext cx="590550" cy="590550"/>
            </a:xfrm>
            <a:prstGeom prst="ellipse">
              <a:avLst/>
            </a:prstGeom>
            <a:solidFill>
              <a:srgbClr val="0E3152"/>
            </a:solidFill>
            <a:ln w="19050">
              <a:solidFill>
                <a:srgbClr val="2F7CF4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1081859" y="2851516"/>
              <a:ext cx="279026" cy="236172"/>
              <a:chOff x="1081859" y="2851516"/>
              <a:chExt cx="279026" cy="23617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81859" y="2851516"/>
                <a:ext cx="279026" cy="182197"/>
              </a:xfrm>
              <a:custGeom>
                <a:avLst/>
                <a:gdLst/>
                <a:ahLst/>
                <a:cxnLst/>
                <a:rect l="l" t="t" r="r" b="b"/>
                <a:pathLst>
                  <a:path w="279026" h="182197">
                    <a:moveTo>
                      <a:pt x="231798" y="182197"/>
                    </a:moveTo>
                    <a:cubicBezTo>
                      <a:pt x="257881" y="182197"/>
                      <a:pt x="279026" y="161052"/>
                      <a:pt x="279026" y="134969"/>
                    </a:cubicBezTo>
                    <a:cubicBezTo>
                      <a:pt x="279026" y="108885"/>
                      <a:pt x="257881" y="87740"/>
                      <a:pt x="231798" y="87740"/>
                    </a:cubicBezTo>
                    <a:lnTo>
                      <a:pt x="218304" y="87740"/>
                    </a:lnTo>
                    <a:cubicBezTo>
                      <a:pt x="226584" y="50851"/>
                      <a:pt x="200070" y="14905"/>
                      <a:pt x="159081" y="7452"/>
                    </a:cubicBezTo>
                    <a:cubicBezTo>
                      <a:pt x="118093" y="0"/>
                      <a:pt x="78153" y="23863"/>
                      <a:pt x="69872" y="60753"/>
                    </a:cubicBezTo>
                    <a:cubicBezTo>
                      <a:pt x="40205" y="59564"/>
                      <a:pt x="13812" y="78641"/>
                      <a:pt x="6906" y="106265"/>
                    </a:cubicBezTo>
                    <a:cubicBezTo>
                      <a:pt x="0" y="133889"/>
                      <a:pt x="14515" y="162322"/>
                      <a:pt x="41535" y="174101"/>
                    </a:cubicBezTo>
                  </a:path>
                </a:pathLst>
              </a:custGeom>
              <a:noFill/>
              <a:ln w="26988">
                <a:solidFill>
                  <a:srgbClr val="8CC0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219200" y="2966244"/>
                <a:ext cx="9525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1444">
                    <a:moveTo>
                      <a:pt x="0" y="0"/>
                    </a:moveTo>
                    <a:lnTo>
                      <a:pt x="0" y="121444"/>
                    </a:lnTo>
                  </a:path>
                </a:pathLst>
              </a:custGeom>
              <a:noFill/>
              <a:ln w="26988">
                <a:solidFill>
                  <a:srgbClr val="8CC0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78719" y="3047207"/>
                <a:ext cx="80963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40481">
                    <a:moveTo>
                      <a:pt x="0" y="0"/>
                    </a:moveTo>
                    <a:lnTo>
                      <a:pt x="40481" y="40481"/>
                    </a:lnTo>
                    <a:lnTo>
                      <a:pt x="80963" y="0"/>
                    </a:lnTo>
                  </a:path>
                </a:pathLst>
              </a:custGeom>
              <a:noFill/>
              <a:ln w="26988">
                <a:solidFill>
                  <a:srgbClr val="8CC0FF"/>
                </a:solidFill>
              </a:ln>
            </p:spPr>
          </p:sp>
        </p:grpSp>
        <p:sp>
          <p:nvSpPr>
            <p:cNvPr id="13" name="Ellipse 13"/>
            <p:cNvSpPr/>
            <p:nvPr/>
          </p:nvSpPr>
          <p:spPr>
            <a:xfrm>
              <a:off x="2543175" y="2657475"/>
              <a:ext cx="590550" cy="590550"/>
            </a:xfrm>
            <a:prstGeom prst="ellipse">
              <a:avLst/>
            </a:prstGeom>
            <a:solidFill>
              <a:srgbClr val="0E3152"/>
            </a:solidFill>
            <a:ln w="19050">
              <a:solidFill>
                <a:srgbClr val="20D9E8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716709" y="2844800"/>
              <a:ext cx="243185" cy="215901"/>
            </a:xfrm>
            <a:custGeom>
              <a:avLst/>
              <a:gdLst/>
              <a:ahLst/>
              <a:cxnLst/>
              <a:rect l="l" t="t" r="r" b="b"/>
              <a:pathLst>
                <a:path w="243185" h="215901">
                  <a:moveTo>
                    <a:pt x="243185" y="107950"/>
                  </a:moveTo>
                  <a:lnTo>
                    <a:pt x="216197" y="107950"/>
                  </a:lnTo>
                  <a:cubicBezTo>
                    <a:pt x="204134" y="107950"/>
                    <a:pt x="193771" y="96386"/>
                    <a:pt x="192435" y="80963"/>
                  </a:cubicBezTo>
                  <a:cubicBezTo>
                    <a:pt x="188441" y="34409"/>
                    <a:pt x="182328" y="0"/>
                    <a:pt x="155340" y="0"/>
                  </a:cubicBezTo>
                  <a:cubicBezTo>
                    <a:pt x="128353" y="0"/>
                    <a:pt x="121606" y="48335"/>
                    <a:pt x="121606" y="107950"/>
                  </a:cubicBezTo>
                  <a:cubicBezTo>
                    <a:pt x="121606" y="167566"/>
                    <a:pt x="114859" y="215901"/>
                    <a:pt x="87872" y="215901"/>
                  </a:cubicBezTo>
                  <a:cubicBezTo>
                    <a:pt x="60884" y="215901"/>
                    <a:pt x="54785" y="181532"/>
                    <a:pt x="50777" y="134938"/>
                  </a:cubicBezTo>
                  <a:cubicBezTo>
                    <a:pt x="49428" y="119460"/>
                    <a:pt x="39078" y="107950"/>
                    <a:pt x="26988" y="107950"/>
                  </a:cubicBezTo>
                  <a:lnTo>
                    <a:pt x="0" y="107950"/>
                  </a:lnTo>
                </a:path>
              </a:pathLst>
            </a:custGeom>
            <a:noFill/>
            <a:ln w="26988">
              <a:solidFill>
                <a:srgbClr val="20D9E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4162425" y="2657475"/>
              <a:ext cx="590550" cy="590550"/>
            </a:xfrm>
            <a:prstGeom prst="ellipse">
              <a:avLst/>
            </a:prstGeom>
            <a:solidFill>
              <a:srgbClr val="4C2737"/>
            </a:solidFill>
            <a:ln w="28575">
              <a:solidFill>
                <a:srgbClr val="FF6B7C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4321614" y="2826823"/>
              <a:ext cx="272162" cy="233823"/>
              <a:chOff x="4321614" y="2826823"/>
              <a:chExt cx="272162" cy="23382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4457700" y="2912269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26988">
                <a:solidFill>
                  <a:srgbClr val="FF8795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4321614" y="2826823"/>
                <a:ext cx="272162" cy="233823"/>
              </a:xfrm>
              <a:custGeom>
                <a:avLst/>
                <a:gdLst/>
                <a:ahLst/>
                <a:cxnLst/>
                <a:rect l="l" t="t" r="r" b="b"/>
                <a:pathLst>
                  <a:path w="272162" h="233823">
                    <a:moveTo>
                      <a:pt x="113997" y="12458"/>
                    </a:moveTo>
                    <a:lnTo>
                      <a:pt x="4616" y="195083"/>
                    </a:lnTo>
                    <a:cubicBezTo>
                      <a:pt x="28" y="203029"/>
                      <a:pt x="0" y="212812"/>
                      <a:pt x="4543" y="220785"/>
                    </a:cubicBezTo>
                    <a:cubicBezTo>
                      <a:pt x="9086" y="228757"/>
                      <a:pt x="17517" y="233720"/>
                      <a:pt x="26692" y="233823"/>
                    </a:cubicBezTo>
                    <a:lnTo>
                      <a:pt x="245480" y="233823"/>
                    </a:lnTo>
                    <a:cubicBezTo>
                      <a:pt x="254651" y="233717"/>
                      <a:pt x="263078" y="228756"/>
                      <a:pt x="267620" y="220788"/>
                    </a:cubicBezTo>
                    <a:cubicBezTo>
                      <a:pt x="272162" y="212820"/>
                      <a:pt x="272138" y="203041"/>
                      <a:pt x="267556" y="195096"/>
                    </a:cubicBezTo>
                    <a:lnTo>
                      <a:pt x="158176" y="12444"/>
                    </a:lnTo>
                    <a:cubicBezTo>
                      <a:pt x="153495" y="4719"/>
                      <a:pt x="145119" y="0"/>
                      <a:pt x="136086" y="0"/>
                    </a:cubicBezTo>
                    <a:cubicBezTo>
                      <a:pt x="127054" y="0"/>
                      <a:pt x="118677" y="4719"/>
                      <a:pt x="113997" y="12444"/>
                    </a:cubicBezTo>
                  </a:path>
                </a:pathLst>
              </a:custGeom>
              <a:noFill/>
              <a:ln w="26988">
                <a:solidFill>
                  <a:srgbClr val="FF8795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457700" y="300672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35" y="0"/>
                    </a:lnTo>
                  </a:path>
                </a:pathLst>
              </a:custGeom>
              <a:noFill/>
              <a:ln w="26988">
                <a:solidFill>
                  <a:srgbClr val="FF8795"/>
                </a:solidFill>
              </a:ln>
            </p:spPr>
          </p:sp>
        </p:grpSp>
        <p:sp>
          <p:nvSpPr>
            <p:cNvPr id="20" name="Ellipse 20"/>
            <p:cNvSpPr/>
            <p:nvPr/>
          </p:nvSpPr>
          <p:spPr>
            <a:xfrm>
              <a:off x="5781675" y="2657475"/>
              <a:ext cx="590550" cy="590550"/>
            </a:xfrm>
            <a:prstGeom prst="ellipse">
              <a:avLst/>
            </a:prstGeom>
            <a:solidFill>
              <a:srgbClr val="0E3152"/>
            </a:solidFill>
            <a:ln w="19050">
              <a:solidFill>
                <a:srgbClr val="20D9E8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5969000" y="2839594"/>
              <a:ext cx="215901" cy="226313"/>
              <a:chOff x="5969000" y="2839594"/>
              <a:chExt cx="215901" cy="22631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5969000" y="2839594"/>
                <a:ext cx="215901" cy="996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99663">
                    <a:moveTo>
                      <a:pt x="215901" y="99663"/>
                    </a:moveTo>
                    <a:cubicBezTo>
                      <a:pt x="209117" y="50849"/>
                      <a:pt x="170506" y="12613"/>
                      <a:pt x="121629" y="6307"/>
                    </a:cubicBezTo>
                    <a:cubicBezTo>
                      <a:pt x="72751" y="0"/>
                      <a:pt x="25699" y="27183"/>
                      <a:pt x="6747" y="72675"/>
                    </a:cubicBezTo>
                    <a:moveTo>
                      <a:pt x="0" y="18700"/>
                    </a:moveTo>
                    <a:lnTo>
                      <a:pt x="0" y="72675"/>
                    </a:lnTo>
                    <a:lnTo>
                      <a:pt x="53975" y="72675"/>
                    </a:lnTo>
                  </a:path>
                </a:pathLst>
              </a:custGeom>
              <a:noFill/>
              <a:ln w="26988">
                <a:solidFill>
                  <a:srgbClr val="20D9E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969000" y="2966244"/>
                <a:ext cx="215901" cy="996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99663">
                    <a:moveTo>
                      <a:pt x="0" y="0"/>
                    </a:moveTo>
                    <a:cubicBezTo>
                      <a:pt x="6784" y="48813"/>
                      <a:pt x="45395" y="87049"/>
                      <a:pt x="94272" y="93356"/>
                    </a:cubicBezTo>
                    <a:cubicBezTo>
                      <a:pt x="143149" y="99663"/>
                      <a:pt x="190201" y="72480"/>
                      <a:pt x="209154" y="26988"/>
                    </a:cubicBezTo>
                    <a:moveTo>
                      <a:pt x="215901" y="80963"/>
                    </a:moveTo>
                    <a:lnTo>
                      <a:pt x="215901" y="26988"/>
                    </a:lnTo>
                    <a:lnTo>
                      <a:pt x="161925" y="26988"/>
                    </a:lnTo>
                  </a:path>
                </a:pathLst>
              </a:custGeom>
              <a:noFill/>
              <a:ln w="26988">
                <a:solidFill>
                  <a:srgbClr val="20D9E8"/>
                </a:solidFill>
              </a:ln>
            </p:spPr>
          </p:sp>
        </p:grpSp>
        <p:sp>
          <p:nvSpPr>
            <p:cNvPr id="24" name="Ellipse 24"/>
            <p:cNvSpPr/>
            <p:nvPr/>
          </p:nvSpPr>
          <p:spPr>
            <a:xfrm>
              <a:off x="7343775" y="2600325"/>
              <a:ext cx="704850" cy="704850"/>
            </a:xfrm>
            <a:prstGeom prst="ellipse">
              <a:avLst/>
            </a:prstGeom>
            <a:solidFill>
              <a:srgbClr val="5A2637"/>
            </a:solidFill>
            <a:ln w="28575">
              <a:solidFill>
                <a:srgbClr val="FF6B7C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546181" y="2836069"/>
              <a:ext cx="300038" cy="250031"/>
              <a:chOff x="7546181" y="2836069"/>
              <a:chExt cx="300038" cy="25003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646194" y="2836069"/>
                <a:ext cx="10001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66675">
                    <a:moveTo>
                      <a:pt x="0" y="66675"/>
                    </a:moveTo>
                    <a:lnTo>
                      <a:pt x="0" y="50006"/>
                    </a:lnTo>
                    <a:cubicBezTo>
                      <a:pt x="0" y="22389"/>
                      <a:pt x="22389" y="0"/>
                      <a:pt x="50006" y="0"/>
                    </a:cubicBezTo>
                    <a:cubicBezTo>
                      <a:pt x="77624" y="0"/>
                      <a:pt x="100012" y="22389"/>
                      <a:pt x="100012" y="50006"/>
                    </a:cubicBezTo>
                    <a:lnTo>
                      <a:pt x="100012" y="66675"/>
                    </a:ln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612856" y="2902744"/>
                <a:ext cx="166688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83356">
                    <a:moveTo>
                      <a:pt x="16669" y="0"/>
                    </a:moveTo>
                    <a:lnTo>
                      <a:pt x="150019" y="0"/>
                    </a:lnTo>
                    <a:cubicBezTo>
                      <a:pt x="159947" y="14878"/>
                      <a:pt x="165703" y="32147"/>
                      <a:pt x="166688" y="50006"/>
                    </a:cubicBezTo>
                    <a:lnTo>
                      <a:pt x="166688" y="100012"/>
                    </a:lnTo>
                    <a:cubicBezTo>
                      <a:pt x="166688" y="146042"/>
                      <a:pt x="129373" y="183356"/>
                      <a:pt x="83344" y="183356"/>
                    </a:cubicBezTo>
                    <a:cubicBezTo>
                      <a:pt x="37314" y="183356"/>
                      <a:pt x="0" y="146042"/>
                      <a:pt x="0" y="100012"/>
                    </a:cubicBezTo>
                    <a:lnTo>
                      <a:pt x="0" y="50006"/>
                    </a:lnTo>
                    <a:cubicBezTo>
                      <a:pt x="985" y="32147"/>
                      <a:pt x="6741" y="14878"/>
                      <a:pt x="16669" y="0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546181" y="2969419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779544" y="2969419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696200" y="2986088"/>
                <a:ext cx="95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2">
                    <a:moveTo>
                      <a:pt x="0" y="100012"/>
                    </a:moveTo>
                    <a:lnTo>
                      <a:pt x="0" y="0"/>
                    </a:ln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562850" y="3036094"/>
                <a:ext cx="55840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5840" h="33338">
                    <a:moveTo>
                      <a:pt x="0" y="33338"/>
                    </a:moveTo>
                    <a:lnTo>
                      <a:pt x="55840" y="0"/>
                    </a:ln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773710" y="3036094"/>
                <a:ext cx="55840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5840" h="33338">
                    <a:moveTo>
                      <a:pt x="55840" y="33338"/>
                    </a:moveTo>
                    <a:lnTo>
                      <a:pt x="0" y="0"/>
                    </a:ln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562850" y="2869406"/>
                <a:ext cx="62508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62508" h="40005">
                    <a:moveTo>
                      <a:pt x="0" y="0"/>
                    </a:moveTo>
                    <a:lnTo>
                      <a:pt x="62508" y="40005"/>
                    </a:ln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767042" y="2869406"/>
                <a:ext cx="62508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62508" h="40005">
                    <a:moveTo>
                      <a:pt x="62508" y="0"/>
                    </a:moveTo>
                    <a:lnTo>
                      <a:pt x="0" y="40005"/>
                    </a:ln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931164" y="34680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5DFEA"/>
                  </a:solidFill>
                  <a:latin typeface="Microsoft YaHei"/>
                  <a:ea typeface="Microsoft YaHei"/>
                  <a:cs typeface="Microsoft YaHei"/>
                </a:rPr>
                <a:t>用户上传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339854" y="3468052"/>
              <a:ext cx="9971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D5DFEA"/>
                  </a:solidFill>
                  <a:latin typeface="Microsoft YaHei"/>
                  <a:ea typeface="Microsoft YaHei"/>
                  <a:cs typeface="Microsoft YaHei"/>
                </a:rPr>
                <a:t>SSE Streaming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876334" y="3468052"/>
              <a:ext cx="1162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8795"/>
                  </a:solidFill>
                  <a:latin typeface="Microsoft YaHei"/>
                  <a:ea typeface="Microsoft YaHei"/>
                  <a:cs typeface="Microsoft YaHei"/>
                </a:rPr>
                <a:t>Network Failure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719572" y="3468052"/>
              <a:ext cx="7147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D5DFEA"/>
                  </a:solidFill>
                  <a:latin typeface="Microsoft YaHei"/>
                  <a:ea typeface="Microsoft YaHei"/>
                  <a:cs typeface="Microsoft YaHei"/>
                </a:rPr>
                <a:t>Reconnect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09590" y="3468052"/>
              <a:ext cx="13732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8795"/>
                  </a:solidFill>
                  <a:latin typeface="Microsoft YaHei"/>
                  <a:ea typeface="Microsoft YaHei"/>
                  <a:cs typeface="Microsoft YaHei"/>
                </a:rPr>
                <a:t>Duplicate boundary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858250" y="1619250"/>
            <a:ext cx="2800350" cy="3981450"/>
            <a:chOff x="8858250" y="1619250"/>
            <a:chExt cx="2800350" cy="3981450"/>
          </a:xfrm>
        </p:grpSpPr>
        <p:sp>
          <p:nvSpPr>
            <p:cNvPr id="41" name="Rectangle 41"/>
            <p:cNvSpPr/>
            <p:nvPr/>
          </p:nvSpPr>
          <p:spPr>
            <a:xfrm>
              <a:off x="8858250" y="1619250"/>
              <a:ext cx="2800350" cy="3981450"/>
            </a:xfrm>
            <a:prstGeom prst="roundRect">
              <a:avLst>
                <a:gd name="adj" fmla="val 7483"/>
              </a:avLst>
            </a:prstGeom>
            <a:solidFill>
              <a:srgbClr val="F7FB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157716" y="1925002"/>
              <a:ext cx="13593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RECONNECT PROOF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147810" y="2400300"/>
              <a:ext cx="73016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501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995535" y="2574131"/>
              <a:ext cx="931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26B83"/>
                  </a:solidFill>
                  <a:latin typeface="Microsoft YaHei"/>
                  <a:ea typeface="Microsoft YaHei"/>
                  <a:cs typeface="Microsoft YaHei"/>
                </a:rPr>
                <a:t>total events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9163050" y="29527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9525">
              <a:solidFill>
                <a:srgbClr val="D9E7F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147810" y="320040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50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805035" y="3374231"/>
              <a:ext cx="6220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26B83"/>
                  </a:solidFill>
                  <a:latin typeface="Microsoft YaHei"/>
                  <a:ea typeface="Microsoft YaHei"/>
                  <a:cs typeface="Microsoft YaHei"/>
                </a:rPr>
                <a:t>resumed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9163050" y="37528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9525">
              <a:solidFill>
                <a:srgbClr val="D9E7F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147810" y="4000500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23A88E"/>
                  </a:solidFill>
                  <a:latin typeface="Microsoft YaHei"/>
                  <a:ea typeface="Microsoft YaHei"/>
                  <a:cs typeface="Microsoft YaHei"/>
                </a:rPr>
                <a:t>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576435" y="4174331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26B83"/>
                  </a:solidFill>
                  <a:latin typeface="Microsoft YaHei"/>
                  <a:ea typeface="Microsoft YaHei"/>
                  <a:cs typeface="Microsoft YaHei"/>
                </a:rPr>
                <a:t>duplicate boundary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9163050" y="4762500"/>
              <a:ext cx="2190750" cy="457200"/>
            </a:xfrm>
            <a:prstGeom prst="roundRect">
              <a:avLst>
                <a:gd name="adj" fmla="val 50000"/>
              </a:avLst>
            </a:prstGeom>
            <a:solidFill>
              <a:srgbClr val="E4F9F3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9346406" y="4898231"/>
              <a:ext cx="185737" cy="185737"/>
              <a:chOff x="9346406" y="4898231"/>
              <a:chExt cx="185737" cy="185737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9346406" y="4898231"/>
                <a:ext cx="18573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85737">
                    <a:moveTo>
                      <a:pt x="0" y="92868"/>
                    </a:moveTo>
                    <a:cubicBezTo>
                      <a:pt x="0" y="144158"/>
                      <a:pt x="41579" y="185737"/>
                      <a:pt x="92868" y="185737"/>
                    </a:cubicBezTo>
                    <a:cubicBezTo>
                      <a:pt x="144158" y="185737"/>
                      <a:pt x="185737" y="144158"/>
                      <a:pt x="185737" y="92868"/>
                    </a:cubicBezTo>
                    <a:cubicBezTo>
                      <a:pt x="185737" y="41579"/>
                      <a:pt x="144158" y="0"/>
                      <a:pt x="92868" y="0"/>
                    </a:cubicBezTo>
                    <a:cubicBezTo>
                      <a:pt x="41579" y="0"/>
                      <a:pt x="0" y="41579"/>
                      <a:pt x="0" y="92868"/>
                    </a:cubicBezTo>
                  </a:path>
                </a:pathLst>
              </a:custGeom>
              <a:noFill/>
              <a:ln w="20637">
                <a:solidFill>
                  <a:srgbClr val="23A88E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9408318" y="4970462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rgbClr val="23A88E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9672066" y="4963478"/>
              <a:ext cx="14535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B5F50"/>
                  </a:solidFill>
                  <a:latin typeface="Microsoft YaHei"/>
                  <a:ea typeface="Microsoft YaHei"/>
                  <a:cs typeface="Microsoft YaHei"/>
                </a:rPr>
                <a:t>连续测试通过 · 无缺块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28066" y="4668202"/>
            <a:ext cx="8025384" cy="799148"/>
            <a:chOff x="528066" y="4668202"/>
            <a:chExt cx="8025384" cy="799148"/>
          </a:xfrm>
        </p:grpSpPr>
        <p:sp>
          <p:nvSpPr>
            <p:cNvPr id="57" name="TextBox 57"/>
            <p:cNvSpPr txBox="1"/>
            <p:nvPr/>
          </p:nvSpPr>
          <p:spPr>
            <a:xfrm>
              <a:off x="528066" y="4668202"/>
              <a:ext cx="2302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FIX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4953000"/>
              <a:ext cx="1485900" cy="514350"/>
            </a:xfrm>
            <a:prstGeom prst="roundRect">
              <a:avLst>
                <a:gd name="adj" fmla="val 22222"/>
              </a:avLst>
            </a:prstGeom>
            <a:solidFill>
              <a:srgbClr val="0E3152"/>
            </a:solidFill>
            <a:ln w="9525">
              <a:solidFill>
                <a:srgbClr val="2F7CF4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2152650" y="4953000"/>
              <a:ext cx="1771650" cy="514350"/>
            </a:xfrm>
            <a:prstGeom prst="roundRect">
              <a:avLst>
                <a:gd name="adj" fmla="val 22222"/>
              </a:avLst>
            </a:prstGeom>
            <a:solidFill>
              <a:srgbClr val="0E3152"/>
            </a:solidFill>
            <a:ln w="9525">
              <a:solidFill>
                <a:srgbClr val="20D9E8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4057650" y="4953000"/>
              <a:ext cx="1752600" cy="514350"/>
            </a:xfrm>
            <a:prstGeom prst="roundRect">
              <a:avLst>
                <a:gd name="adj" fmla="val 22222"/>
              </a:avLst>
            </a:prstGeom>
            <a:solidFill>
              <a:srgbClr val="0E3152"/>
            </a:solidFill>
            <a:ln w="9525">
              <a:solidFill>
                <a:srgbClr val="20D9E8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5943600" y="4953000"/>
              <a:ext cx="2609850" cy="514350"/>
            </a:xfrm>
            <a:prstGeom prst="roundRect">
              <a:avLst>
                <a:gd name="adj" fmla="val 22222"/>
              </a:avLst>
            </a:prstGeom>
            <a:solidFill>
              <a:srgbClr val="0B4655"/>
            </a:solidFill>
            <a:ln w="9525">
              <a:solidFill>
                <a:srgbClr val="23D7B0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42135" y="5155406"/>
              <a:ext cx="668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event_id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475338" y="5155406"/>
              <a:ext cx="11262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Last-Event-ID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469127" y="5155406"/>
              <a:ext cx="9296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append-only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376752" y="5155406"/>
              <a:ext cx="17435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chunk_index + SHA-256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28638" y="6379845"/>
            <a:ext cx="11134724" cy="176212"/>
            <a:chOff x="528638" y="6379845"/>
            <a:chExt cx="11134724" cy="176212"/>
          </a:xfrm>
        </p:grpSpPr>
        <p:sp>
          <p:nvSpPr>
            <p:cNvPr id="67" name="TextBox 67"/>
            <p:cNvSpPr txBox="1"/>
            <p:nvPr/>
          </p:nvSpPr>
          <p:spPr>
            <a:xfrm>
              <a:off x="528638" y="6379845"/>
              <a:ext cx="36072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7F96AE"/>
                  </a:solidFill>
                  <a:latin typeface="Microsoft YaHei"/>
                  <a:ea typeface="Microsoft YaHei"/>
                  <a:cs typeface="Microsoft YaHei"/>
                </a:rPr>
                <a:t>SSE replay validation · recording idempotency in PR #66 / #93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227664" y="6379845"/>
              <a:ext cx="4356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05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20446" y="572452"/>
            <a:ext cx="5175123" cy="755905"/>
            <a:chOff x="520446" y="572452"/>
            <a:chExt cx="5175123" cy="755905"/>
          </a:xfrm>
        </p:grpSpPr>
        <p:sp>
          <p:nvSpPr>
            <p:cNvPr id="2" name="TextBox 2"/>
            <p:cNvSpPr txBox="1"/>
            <p:nvPr/>
          </p:nvSpPr>
          <p:spPr>
            <a:xfrm>
              <a:off x="528066" y="572452"/>
              <a:ext cx="16356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06 · 最棘手 BUG #2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0446" y="8296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医疗审核不是按钮，而是版本控制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33400" y="1657350"/>
            <a:ext cx="11125200" cy="1485900"/>
            <a:chOff x="533400" y="1657350"/>
            <a:chExt cx="11125200" cy="1485900"/>
          </a:xfrm>
        </p:grpSpPr>
        <p:sp>
          <p:nvSpPr>
            <p:cNvPr id="5" name="Rectangle 5"/>
            <p:cNvSpPr/>
            <p:nvPr/>
          </p:nvSpPr>
          <p:spPr>
            <a:xfrm>
              <a:off x="533400" y="1657350"/>
              <a:ext cx="11125200" cy="1485900"/>
            </a:xfrm>
            <a:prstGeom prst="roundRect">
              <a:avLst>
                <a:gd name="adj" fmla="val 12821"/>
              </a:avLst>
            </a:prstGeom>
            <a:solidFill>
              <a:srgbClr val="FFF4F5"/>
            </a:solidFill>
            <a:ln w="19050">
              <a:solidFill>
                <a:srgbClr val="FFC8C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533400" y="1657350"/>
              <a:ext cx="1581150" cy="1485900"/>
            </a:xfrm>
            <a:prstGeom prst="roundRect">
              <a:avLst>
                <a:gd name="adj" fmla="val 12821"/>
              </a:avLst>
            </a:prstGeom>
            <a:solidFill>
              <a:srgbClr val="5A2637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14197" y="1952149"/>
              <a:ext cx="8954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FB7C0"/>
                  </a:solidFill>
                  <a:latin typeface="Microsoft YaHei"/>
                  <a:ea typeface="Microsoft YaHei"/>
                  <a:cs typeface="Microsoft YaHei"/>
                </a:rPr>
                <a:t>WRONG FLOW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10768" y="22793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批准后仍可改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3816" y="26298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1C9D0"/>
                  </a:solidFill>
                  <a:latin typeface="Microsoft YaHei"/>
                  <a:ea typeface="Microsoft YaHei"/>
                  <a:cs typeface="Microsoft YaHei"/>
                </a:rPr>
                <a:t>授权语义漂移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2724150" y="2400300"/>
              <a:ext cx="8210550" cy="9525"/>
            </a:xfrm>
            <a:custGeom>
              <a:avLst/>
              <a:gdLst/>
              <a:ahLst/>
              <a:cxnLst/>
              <a:rect l="l" t="t" r="r" b="b"/>
              <a:pathLst>
                <a:path w="8210550" h="9525">
                  <a:moveTo>
                    <a:pt x="0" y="0"/>
                  </a:moveTo>
                  <a:lnTo>
                    <a:pt x="8210550" y="0"/>
                  </a:lnTo>
                </a:path>
              </a:pathLst>
            </a:custGeom>
            <a:noFill/>
            <a:ln w="28575">
              <a:solidFill>
                <a:srgbClr val="E9A8B1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2705100" y="2057400"/>
              <a:ext cx="685800" cy="6858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E9A8B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943332" y="232791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V1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4876800" y="2057400"/>
              <a:ext cx="685800" cy="6858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E9A8B1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108575" y="2320925"/>
              <a:ext cx="238125" cy="158750"/>
            </a:xfrm>
            <a:custGeom>
              <a:avLst/>
              <a:gdLst/>
              <a:ahLst/>
              <a:cxnLst/>
              <a:rect l="l" t="t" r="r" b="b"/>
              <a:pathLst>
                <a:path w="238125" h="158750">
                  <a:moveTo>
                    <a:pt x="0" y="79375"/>
                  </a:moveTo>
                  <a:lnTo>
                    <a:pt x="79375" y="158750"/>
                  </a:lnTo>
                  <a:lnTo>
                    <a:pt x="238125" y="0"/>
                  </a:lnTo>
                </a:path>
              </a:pathLst>
            </a:custGeom>
            <a:noFill/>
            <a:ln w="31750">
              <a:solidFill>
                <a:srgbClr val="23A88E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7048500" y="2057400"/>
              <a:ext cx="685800" cy="6858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FF6B7C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280275" y="2257425"/>
              <a:ext cx="222250" cy="285751"/>
              <a:chOff x="7280275" y="2257425"/>
              <a:chExt cx="222250" cy="28575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423150" y="2257425"/>
                <a:ext cx="7937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79375">
                    <a:moveTo>
                      <a:pt x="0" y="0"/>
                    </a:moveTo>
                    <a:lnTo>
                      <a:pt x="0" y="63500"/>
                    </a:lnTo>
                    <a:cubicBezTo>
                      <a:pt x="0" y="72268"/>
                      <a:pt x="7107" y="79375"/>
                      <a:pt x="15875" y="79375"/>
                    </a:cubicBezTo>
                    <a:lnTo>
                      <a:pt x="79375" y="79375"/>
                    </a:lnTo>
                  </a:path>
                </a:pathLst>
              </a:custGeom>
              <a:noFill/>
              <a:ln w="31750">
                <a:solidFill>
                  <a:srgbClr val="FF6B7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280275" y="2257425"/>
                <a:ext cx="222250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85751">
                    <a:moveTo>
                      <a:pt x="190500" y="285751"/>
                    </a:moveTo>
                    <a:lnTo>
                      <a:pt x="31750" y="285751"/>
                    </a:lnTo>
                    <a:cubicBezTo>
                      <a:pt x="14215" y="285751"/>
                      <a:pt x="0" y="271536"/>
                      <a:pt x="0" y="254001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142875" y="0"/>
                    </a:lnTo>
                    <a:lnTo>
                      <a:pt x="222250" y="79375"/>
                    </a:lnTo>
                    <a:lnTo>
                      <a:pt x="222250" y="254001"/>
                    </a:lnTo>
                    <a:cubicBezTo>
                      <a:pt x="222250" y="271536"/>
                      <a:pt x="208035" y="285751"/>
                      <a:pt x="190500" y="285751"/>
                    </a:cubicBezTo>
                  </a:path>
                </a:pathLst>
              </a:custGeom>
              <a:noFill/>
              <a:ln w="31750">
                <a:solidFill>
                  <a:srgbClr val="FF6B7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343775" y="2352675"/>
                <a:ext cx="15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9525">
                    <a:moveTo>
                      <a:pt x="0" y="0"/>
                    </a:moveTo>
                    <a:lnTo>
                      <a:pt x="15875" y="0"/>
                    </a:lnTo>
                  </a:path>
                </a:pathLst>
              </a:custGeom>
              <a:noFill/>
              <a:ln w="31750">
                <a:solidFill>
                  <a:srgbClr val="FF6B7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343775" y="2416175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rgbClr val="FF6B7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343775" y="2479676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rgbClr val="FF6B7C"/>
                </a:solidFill>
              </a:ln>
            </p:spPr>
          </p:sp>
        </p:grpSp>
        <p:sp>
          <p:nvSpPr>
            <p:cNvPr id="22" name="Ellipse 22"/>
            <p:cNvSpPr/>
            <p:nvPr/>
          </p:nvSpPr>
          <p:spPr>
            <a:xfrm>
              <a:off x="9677400" y="1981200"/>
              <a:ext cx="838200" cy="838200"/>
            </a:xfrm>
            <a:prstGeom prst="ellipse">
              <a:avLst/>
            </a:prstGeom>
            <a:solidFill>
              <a:srgbClr val="FF6B7C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9912384" y="2229929"/>
              <a:ext cx="368219" cy="316349"/>
              <a:chOff x="9912384" y="2229929"/>
              <a:chExt cx="368219" cy="316349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10096500" y="2345532"/>
                <a:ext cx="9525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3025">
                    <a:moveTo>
                      <a:pt x="0" y="0"/>
                    </a:moveTo>
                    <a:lnTo>
                      <a:pt x="0" y="73025"/>
                    </a:lnTo>
                  </a:path>
                </a:pathLst>
              </a:custGeom>
              <a:noFill/>
              <a:ln w="36513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912384" y="2229929"/>
                <a:ext cx="368219" cy="316349"/>
              </a:xfrm>
              <a:custGeom>
                <a:avLst/>
                <a:gdLst/>
                <a:ahLst/>
                <a:cxnLst/>
                <a:rect l="l" t="t" r="r" b="b"/>
                <a:pathLst>
                  <a:path w="368219" h="316349">
                    <a:moveTo>
                      <a:pt x="154231" y="16855"/>
                    </a:moveTo>
                    <a:lnTo>
                      <a:pt x="6246" y="263935"/>
                    </a:lnTo>
                    <a:cubicBezTo>
                      <a:pt x="38" y="274686"/>
                      <a:pt x="0" y="287923"/>
                      <a:pt x="6146" y="298708"/>
                    </a:cubicBezTo>
                    <a:cubicBezTo>
                      <a:pt x="12292" y="309494"/>
                      <a:pt x="23700" y="316209"/>
                      <a:pt x="36113" y="316349"/>
                    </a:cubicBezTo>
                    <a:lnTo>
                      <a:pt x="332120" y="316349"/>
                    </a:lnTo>
                    <a:cubicBezTo>
                      <a:pt x="344528" y="316206"/>
                      <a:pt x="355929" y="309493"/>
                      <a:pt x="362074" y="298713"/>
                    </a:cubicBezTo>
                    <a:cubicBezTo>
                      <a:pt x="368219" y="287933"/>
                      <a:pt x="368186" y="274703"/>
                      <a:pt x="361988" y="263953"/>
                    </a:cubicBezTo>
                    <a:lnTo>
                      <a:pt x="214002" y="16836"/>
                    </a:lnTo>
                    <a:cubicBezTo>
                      <a:pt x="207670" y="6384"/>
                      <a:pt x="196337" y="0"/>
                      <a:pt x="184117" y="0"/>
                    </a:cubicBezTo>
                    <a:cubicBezTo>
                      <a:pt x="171896" y="0"/>
                      <a:pt x="160564" y="6384"/>
                      <a:pt x="154231" y="16836"/>
                    </a:cubicBezTo>
                  </a:path>
                </a:pathLst>
              </a:custGeom>
              <a:noFill/>
              <a:ln w="36513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0096500" y="247332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83" y="0"/>
                    </a:lnTo>
                  </a:path>
                </a:pathLst>
              </a:custGeom>
              <a:noFill/>
              <a:ln w="36513">
                <a:solidFill>
                  <a:srgbClr val="FFFF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2728003" y="2857024"/>
              <a:ext cx="6399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77394A"/>
                  </a:solidFill>
                  <a:latin typeface="Microsoft YaHei"/>
                  <a:ea typeface="Microsoft YaHei"/>
                  <a:cs typeface="Microsoft YaHei"/>
                </a:rPr>
                <a:t>Record V1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22453" y="2857024"/>
              <a:ext cx="5944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77394A"/>
                  </a:solidFill>
                  <a:latin typeface="Microsoft YaHei"/>
                  <a:ea typeface="Microsoft YaHei"/>
                  <a:cs typeface="Microsoft YaHei"/>
                </a:rPr>
                <a:t>Approved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14082" y="2857024"/>
              <a:ext cx="5546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77394A"/>
                  </a:solidFill>
                  <a:latin typeface="Microsoft YaHei"/>
                  <a:ea typeface="Microsoft YaHei"/>
                  <a:cs typeface="Microsoft YaHei"/>
                </a:rPr>
                <a:t>Modified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55558" y="2857024"/>
              <a:ext cx="12818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B02A3D"/>
                  </a:solidFill>
                  <a:latin typeface="Microsoft YaHei"/>
                  <a:ea typeface="Microsoft YaHei"/>
                  <a:cs typeface="Microsoft YaHei"/>
                </a:rPr>
                <a:t>Old approval valid?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33400" y="3448050"/>
            <a:ext cx="11125200" cy="2133600"/>
            <a:chOff x="533400" y="3448050"/>
            <a:chExt cx="11125200" cy="2133600"/>
          </a:xfrm>
        </p:grpSpPr>
        <p:sp>
          <p:nvSpPr>
            <p:cNvPr id="32" name="Rectangle 32"/>
            <p:cNvSpPr/>
            <p:nvPr/>
          </p:nvSpPr>
          <p:spPr>
            <a:xfrm>
              <a:off x="533400" y="3448050"/>
              <a:ext cx="11125200" cy="2133600"/>
            </a:xfrm>
            <a:prstGeom prst="roundRect">
              <a:avLst>
                <a:gd name="adj" fmla="val 8929"/>
              </a:avLst>
            </a:prstGeom>
            <a:solidFill>
              <a:srgbClr val="071A3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14197" y="3752374"/>
              <a:ext cx="26498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CORRECT FLOW · REVISION BINDING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1143000" y="4629150"/>
              <a:ext cx="9867900" cy="9525"/>
            </a:xfrm>
            <a:custGeom>
              <a:avLst/>
              <a:gdLst/>
              <a:ahLst/>
              <a:cxnLst/>
              <a:rect l="l" t="t" r="r" b="b"/>
              <a:pathLst>
                <a:path w="9867900" h="9525">
                  <a:moveTo>
                    <a:pt x="0" y="0"/>
                  </a:moveTo>
                  <a:lnTo>
                    <a:pt x="9867900" y="0"/>
                  </a:lnTo>
                </a:path>
              </a:pathLst>
            </a:custGeom>
            <a:noFill/>
            <a:ln w="38100">
              <a:solidFill>
                <a:srgbClr val="20D9E8">
                  <a:alpha val="60000"/>
                </a:srgbClr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923925" y="4295775"/>
              <a:ext cx="666750" cy="666750"/>
            </a:xfrm>
            <a:prstGeom prst="ellipse">
              <a:avLst/>
            </a:prstGeom>
            <a:solidFill>
              <a:srgbClr val="0E3152"/>
            </a:solidFill>
            <a:ln w="19050">
              <a:solidFill>
                <a:srgbClr val="2F7CF4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52632" y="456628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V1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2867025" y="4295775"/>
              <a:ext cx="666750" cy="666750"/>
            </a:xfrm>
            <a:prstGeom prst="ellipse">
              <a:avLst/>
            </a:prstGeom>
            <a:solidFill>
              <a:srgbClr val="0E3152"/>
            </a:solidFill>
            <a:ln w="19050">
              <a:solidFill>
                <a:srgbClr val="23D7B0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3094831" y="4553744"/>
              <a:ext cx="226218" cy="150812"/>
            </a:xfrm>
            <a:custGeom>
              <a:avLst/>
              <a:gdLst/>
              <a:ahLst/>
              <a:cxnLst/>
              <a:rect l="l" t="t" r="r" b="b"/>
              <a:pathLst>
                <a:path w="226218" h="150812">
                  <a:moveTo>
                    <a:pt x="0" y="75406"/>
                  </a:moveTo>
                  <a:lnTo>
                    <a:pt x="75406" y="150812"/>
                  </a:lnTo>
                  <a:lnTo>
                    <a:pt x="226218" y="0"/>
                  </a:lnTo>
                </a:path>
              </a:pathLst>
            </a:custGeom>
            <a:noFill/>
            <a:ln w="30162">
              <a:solidFill>
                <a:srgbClr val="7AF1D6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4772025" y="4257675"/>
              <a:ext cx="742950" cy="742950"/>
            </a:xfrm>
            <a:prstGeom prst="ellipse">
              <a:avLst/>
            </a:prstGeom>
            <a:solidFill>
              <a:srgbClr val="0B4655"/>
            </a:solidFill>
            <a:ln w="28575">
              <a:solidFill>
                <a:srgbClr val="20D9E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038832" y="456628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V2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753225" y="4295775"/>
              <a:ext cx="666750" cy="666750"/>
            </a:xfrm>
            <a:prstGeom prst="ellipse">
              <a:avLst/>
            </a:prstGeom>
            <a:solidFill>
              <a:srgbClr val="4C2737"/>
            </a:solidFill>
            <a:ln w="19050">
              <a:solidFill>
                <a:srgbClr val="FF6B7C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996112" y="4538662"/>
              <a:ext cx="180975" cy="180975"/>
              <a:chOff x="6996112" y="4538662"/>
              <a:chExt cx="180975" cy="18097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996112" y="4538662"/>
                <a:ext cx="180975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180975">
                    <a:moveTo>
                      <a:pt x="180975" y="0"/>
                    </a:moveTo>
                    <a:lnTo>
                      <a:pt x="0" y="180975"/>
                    </a:lnTo>
                  </a:path>
                </a:pathLst>
              </a:custGeom>
              <a:noFill/>
              <a:ln w="30162">
                <a:solidFill>
                  <a:srgbClr val="FF8795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996112" y="4538662"/>
                <a:ext cx="180975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180975">
                    <a:moveTo>
                      <a:pt x="0" y="0"/>
                    </a:moveTo>
                    <a:lnTo>
                      <a:pt x="180975" y="180975"/>
                    </a:lnTo>
                  </a:path>
                </a:pathLst>
              </a:custGeom>
              <a:noFill/>
              <a:ln w="30162">
                <a:solidFill>
                  <a:srgbClr val="FF8795"/>
                </a:solidFill>
              </a:ln>
            </p:spPr>
          </p:sp>
        </p:grpSp>
        <p:sp>
          <p:nvSpPr>
            <p:cNvPr id="45" name="Ellipse 45"/>
            <p:cNvSpPr/>
            <p:nvPr/>
          </p:nvSpPr>
          <p:spPr>
            <a:xfrm>
              <a:off x="8696325" y="4295775"/>
              <a:ext cx="666750" cy="666750"/>
            </a:xfrm>
            <a:prstGeom prst="ellipse">
              <a:avLst/>
            </a:prstGeom>
            <a:solidFill>
              <a:srgbClr val="0E3152"/>
            </a:solidFill>
            <a:ln w="19050">
              <a:solidFill>
                <a:srgbClr val="20D9E8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8939212" y="4493419"/>
              <a:ext cx="226218" cy="271462"/>
              <a:chOff x="8939212" y="4493419"/>
              <a:chExt cx="226218" cy="271462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8969375" y="4493419"/>
                <a:ext cx="120650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20650" h="120650">
                    <a:moveTo>
                      <a:pt x="0" y="60325"/>
                    </a:moveTo>
                    <a:cubicBezTo>
                      <a:pt x="0" y="93641"/>
                      <a:pt x="27008" y="120650"/>
                      <a:pt x="60325" y="120650"/>
                    </a:cubicBezTo>
                    <a:cubicBezTo>
                      <a:pt x="93641" y="120650"/>
                      <a:pt x="120650" y="93641"/>
                      <a:pt x="120650" y="60325"/>
                    </a:cubicBezTo>
                    <a:cubicBezTo>
                      <a:pt x="120650" y="27008"/>
                      <a:pt x="93641" y="0"/>
                      <a:pt x="60325" y="0"/>
                    </a:cubicBezTo>
                    <a:cubicBezTo>
                      <a:pt x="27008" y="0"/>
                      <a:pt x="0" y="27008"/>
                      <a:pt x="0" y="60325"/>
                    </a:cubicBezTo>
                  </a:path>
                </a:pathLst>
              </a:custGeom>
              <a:noFill/>
              <a:ln w="30162">
                <a:solidFill>
                  <a:srgbClr val="20D9E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939212" y="4674393"/>
                <a:ext cx="120650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120650" h="90487">
                    <a:moveTo>
                      <a:pt x="0" y="90487"/>
                    </a:moveTo>
                    <a:lnTo>
                      <a:pt x="0" y="60325"/>
                    </a:lnTo>
                    <a:cubicBezTo>
                      <a:pt x="0" y="27008"/>
                      <a:pt x="27008" y="0"/>
                      <a:pt x="60325" y="0"/>
                    </a:cubicBezTo>
                    <a:lnTo>
                      <a:pt x="120650" y="0"/>
                    </a:lnTo>
                  </a:path>
                </a:pathLst>
              </a:custGeom>
              <a:noFill/>
              <a:ln w="30162">
                <a:solidFill>
                  <a:srgbClr val="20D9E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9074943" y="4704556"/>
                <a:ext cx="904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60325">
                    <a:moveTo>
                      <a:pt x="0" y="30162"/>
                    </a:moveTo>
                    <a:lnTo>
                      <a:pt x="30162" y="60325"/>
                    </a:ln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rgbClr val="20D9E8"/>
                </a:solidFill>
              </a:ln>
            </p:spPr>
          </p:sp>
        </p:grpSp>
        <p:sp>
          <p:nvSpPr>
            <p:cNvPr id="50" name="Ellipse 50"/>
            <p:cNvSpPr/>
            <p:nvPr/>
          </p:nvSpPr>
          <p:spPr>
            <a:xfrm>
              <a:off x="10639425" y="4295775"/>
              <a:ext cx="666750" cy="666750"/>
            </a:xfrm>
            <a:prstGeom prst="ellipse">
              <a:avLst/>
            </a:prstGeom>
            <a:solidFill>
              <a:srgbClr val="0B4A45"/>
            </a:solidFill>
            <a:ln w="28575">
              <a:solidFill>
                <a:srgbClr val="23D7B0"/>
              </a:solidFill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10852150" y="4493419"/>
              <a:ext cx="271462" cy="271462"/>
              <a:chOff x="10852150" y="4493419"/>
              <a:chExt cx="271462" cy="271462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10852150" y="4493419"/>
                <a:ext cx="241299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241299" h="271462">
                    <a:moveTo>
                      <a:pt x="120650" y="271462"/>
                    </a:moveTo>
                    <a:lnTo>
                      <a:pt x="0" y="203596"/>
                    </a:lnTo>
                    <a:lnTo>
                      <a:pt x="0" y="67865"/>
                    </a:lnTo>
                    <a:lnTo>
                      <a:pt x="120650" y="0"/>
                    </a:lnTo>
                    <a:lnTo>
                      <a:pt x="241299" y="67865"/>
                    </a:lnTo>
                    <a:lnTo>
                      <a:pt x="241299" y="135731"/>
                    </a:lnTo>
                  </a:path>
                </a:pathLst>
              </a:custGeom>
              <a:noFill/>
              <a:ln w="30162">
                <a:solidFill>
                  <a:srgbClr val="7AF1D6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0972800" y="4561284"/>
                <a:ext cx="120650" cy="67865"/>
              </a:xfrm>
              <a:custGeom>
                <a:avLst/>
                <a:gdLst/>
                <a:ahLst/>
                <a:cxnLst/>
                <a:rect l="l" t="t" r="r" b="b"/>
                <a:pathLst>
                  <a:path w="120650" h="67865">
                    <a:moveTo>
                      <a:pt x="0" y="67865"/>
                    </a:moveTo>
                    <a:lnTo>
                      <a:pt x="120650" y="0"/>
                    </a:lnTo>
                  </a:path>
                </a:pathLst>
              </a:custGeom>
              <a:noFill/>
              <a:ln w="30162">
                <a:solidFill>
                  <a:srgbClr val="7AF1D6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0972800" y="4629150"/>
                <a:ext cx="9525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5731">
                    <a:moveTo>
                      <a:pt x="0" y="0"/>
                    </a:moveTo>
                    <a:lnTo>
                      <a:pt x="0" y="135731"/>
                    </a:lnTo>
                  </a:path>
                </a:pathLst>
              </a:custGeom>
              <a:noFill/>
              <a:ln w="30162">
                <a:solidFill>
                  <a:srgbClr val="7AF1D6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0852150" y="4561284"/>
                <a:ext cx="120650" cy="67865"/>
              </a:xfrm>
              <a:custGeom>
                <a:avLst/>
                <a:gdLst/>
                <a:ahLst/>
                <a:cxnLst/>
                <a:rect l="l" t="t" r="r" b="b"/>
                <a:pathLst>
                  <a:path w="120650" h="67865">
                    <a:moveTo>
                      <a:pt x="120650" y="67865"/>
                    </a:moveTo>
                    <a:lnTo>
                      <a:pt x="0" y="0"/>
                    </a:lnTo>
                  </a:path>
                </a:pathLst>
              </a:custGeom>
              <a:noFill/>
              <a:ln w="30162">
                <a:solidFill>
                  <a:srgbClr val="7AF1D6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1018043" y="4719637"/>
                <a:ext cx="1055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569" h="9525">
                    <a:moveTo>
                      <a:pt x="0" y="0"/>
                    </a:moveTo>
                    <a:lnTo>
                      <a:pt x="105569" y="0"/>
                    </a:lnTo>
                  </a:path>
                </a:pathLst>
              </a:custGeom>
              <a:noFill/>
              <a:ln w="30162">
                <a:solidFill>
                  <a:srgbClr val="7AF1D6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1078368" y="4674393"/>
                <a:ext cx="45244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45244" h="90487">
                    <a:moveTo>
                      <a:pt x="0" y="0"/>
                    </a:moveTo>
                    <a:lnTo>
                      <a:pt x="45244" y="45244"/>
                    </a:lnTo>
                    <a:lnTo>
                      <a:pt x="0" y="90487"/>
                    </a:lnTo>
                  </a:path>
                </a:pathLst>
              </a:custGeom>
              <a:noFill/>
              <a:ln w="30162">
                <a:solidFill>
                  <a:srgbClr val="7AF1D6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937303" y="5133499"/>
              <a:ext cx="6399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3D1DF"/>
                  </a:solidFill>
                  <a:latin typeface="Microsoft YaHei"/>
                  <a:ea typeface="Microsoft YaHei"/>
                  <a:cs typeface="Microsoft YaHei"/>
                </a:rPr>
                <a:t>Record V1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903153" y="5133499"/>
              <a:ext cx="5944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3D1DF"/>
                  </a:solidFill>
                  <a:latin typeface="Microsoft YaHei"/>
                  <a:ea typeface="Microsoft YaHei"/>
                  <a:cs typeface="Microsoft YaHei"/>
                </a:rPr>
                <a:t>Approved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617677" y="5133499"/>
              <a:ext cx="10516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New revision V2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556746" y="5133499"/>
              <a:ext cx="10597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8795"/>
                  </a:solidFill>
                  <a:latin typeface="Microsoft YaHei"/>
                  <a:ea typeface="Microsoft YaHei"/>
                  <a:cs typeface="Microsoft YaHei"/>
                </a:rPr>
                <a:t>Approval invalid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699237" y="5133499"/>
              <a:ext cx="6609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3D1DF"/>
                  </a:solidFill>
                  <a:latin typeface="Microsoft YaHei"/>
                  <a:ea typeface="Microsoft YaHei"/>
                  <a:cs typeface="Microsoft YaHei"/>
                </a:rPr>
                <a:t>Re-review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737126" y="5133499"/>
              <a:ext cx="4713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7AF1D6"/>
                  </a:solidFill>
                  <a:latin typeface="Microsoft YaHei"/>
                  <a:ea typeface="Microsoft YaHei"/>
                  <a:cs typeface="Microsoft YaHei"/>
                </a:rPr>
                <a:t>Export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33400" y="5810250"/>
            <a:ext cx="6838950" cy="361950"/>
            <a:chOff x="533400" y="5810250"/>
            <a:chExt cx="6838950" cy="361950"/>
          </a:xfrm>
        </p:grpSpPr>
        <p:sp>
          <p:nvSpPr>
            <p:cNvPr id="65" name="Rectangle 65"/>
            <p:cNvSpPr/>
            <p:nvPr/>
          </p:nvSpPr>
          <p:spPr>
            <a:xfrm>
              <a:off x="533400" y="5810250"/>
              <a:ext cx="2190750" cy="361950"/>
            </a:xfrm>
            <a:prstGeom prst="roundRect">
              <a:avLst>
                <a:gd name="adj" fmla="val 50000"/>
              </a:avLst>
            </a:prstGeom>
            <a:solidFill>
              <a:srgbClr val="EAF4FF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2857500" y="5810250"/>
              <a:ext cx="2190750" cy="361950"/>
            </a:xfrm>
            <a:prstGeom prst="roundRect">
              <a:avLst>
                <a:gd name="adj" fmla="val 50000"/>
              </a:avLst>
            </a:prstGeom>
            <a:solidFill>
              <a:srgbClr val="E8FBFD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5181600" y="5810250"/>
              <a:ext cx="2190750" cy="361950"/>
            </a:xfrm>
            <a:prstGeom prst="roundRect">
              <a:avLst>
                <a:gd name="adj" fmla="val 50000"/>
              </a:avLst>
            </a:prstGeom>
            <a:solidFill>
              <a:srgbClr val="E4F9F3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51981" y="5943124"/>
              <a:ext cx="13535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current_revision_id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255302" y="5943124"/>
              <a:ext cx="13951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AAFC0"/>
                  </a:solidFill>
                  <a:latin typeface="Microsoft YaHei"/>
                  <a:ea typeface="Microsoft YaHei"/>
                  <a:cs typeface="Microsoft YaHei"/>
                </a:rPr>
                <a:t>approval.revision_id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752557" y="5943124"/>
              <a:ext cx="10488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3A88E"/>
                  </a:solidFill>
                  <a:latin typeface="Microsoft YaHei"/>
                  <a:ea typeface="Microsoft YaHei"/>
                  <a:cs typeface="Microsoft YaHei"/>
                </a:rPr>
                <a:t>active approval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28638" y="6398895"/>
            <a:ext cx="11134724" cy="176212"/>
            <a:chOff x="528638" y="6398895"/>
            <a:chExt cx="11134724" cy="176212"/>
          </a:xfrm>
        </p:grpSpPr>
        <p:sp>
          <p:nvSpPr>
            <p:cNvPr id="72" name="TextBox 72"/>
            <p:cNvSpPr txBox="1"/>
            <p:nvPr/>
          </p:nvSpPr>
          <p:spPr>
            <a:xfrm>
              <a:off x="528638" y="6398895"/>
              <a:ext cx="41928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7890A8"/>
                  </a:solidFill>
                  <a:latin typeface="Microsoft YaHei"/>
                  <a:ea typeface="Microsoft YaHei"/>
                  <a:cs typeface="Microsoft YaHei"/>
                </a:rPr>
                <a:t>PR #64 · revision-bound approval · #94 adds restart persistence proof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227664" y="6398895"/>
              <a:ext cx="4356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06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20446" y="572452"/>
            <a:ext cx="6204966" cy="755905"/>
            <a:chOff x="520446" y="572452"/>
            <a:chExt cx="6204966" cy="755905"/>
          </a:xfrm>
        </p:grpSpPr>
        <p:sp>
          <p:nvSpPr>
            <p:cNvPr id="2" name="TextBox 2"/>
            <p:cNvSpPr txBox="1"/>
            <p:nvPr/>
          </p:nvSpPr>
          <p:spPr>
            <a:xfrm>
              <a:off x="528066" y="572452"/>
              <a:ext cx="12331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07 · 重构与遗憾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0446" y="8296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如果重来，先造可信边界，再造漂亮页面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3400" y="1638300"/>
            <a:ext cx="3390900" cy="4095750"/>
            <a:chOff x="533400" y="1638300"/>
            <a:chExt cx="3390900" cy="4095750"/>
          </a:xfrm>
        </p:grpSpPr>
        <p:sp>
          <p:nvSpPr>
            <p:cNvPr id="5" name="Rectangle 5"/>
            <p:cNvSpPr/>
            <p:nvPr/>
          </p:nvSpPr>
          <p:spPr>
            <a:xfrm>
              <a:off x="533400" y="1638300"/>
              <a:ext cx="3390900" cy="4095750"/>
            </a:xfrm>
            <a:prstGeom prst="roundRect">
              <a:avLst>
                <a:gd name="adj" fmla="val 6742"/>
              </a:avLst>
            </a:prstGeom>
            <a:solidFill>
              <a:srgbClr val="071A3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14197" y="199024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8CC0FF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7" name="Ellipse 7"/>
            <p:cNvSpPr/>
            <p:nvPr/>
          </p:nvSpPr>
          <p:spPr>
            <a:xfrm>
              <a:off x="647700" y="2419350"/>
              <a:ext cx="838200" cy="838200"/>
            </a:xfrm>
            <a:prstGeom prst="ellipse">
              <a:avLst/>
            </a:prstGeom>
            <a:solidFill>
              <a:srgbClr val="0E3152"/>
            </a:solidFill>
            <a:ln w="19050">
              <a:solidFill>
                <a:srgbClr val="2F7CF4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901700" y="2652713"/>
              <a:ext cx="330201" cy="371475"/>
              <a:chOff x="901700" y="2652713"/>
              <a:chExt cx="330201" cy="37147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901700" y="2652713"/>
                <a:ext cx="330201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330201" h="123825">
                    <a:moveTo>
                      <a:pt x="0" y="61913"/>
                    </a:moveTo>
                    <a:cubicBezTo>
                      <a:pt x="0" y="96106"/>
                      <a:pt x="73918" y="123825"/>
                      <a:pt x="165100" y="123825"/>
                    </a:cubicBezTo>
                    <a:cubicBezTo>
                      <a:pt x="256283" y="123825"/>
                      <a:pt x="330201" y="96106"/>
                      <a:pt x="330201" y="61913"/>
                    </a:cubicBezTo>
                    <a:cubicBezTo>
                      <a:pt x="330201" y="27719"/>
                      <a:pt x="256283" y="0"/>
                      <a:pt x="165100" y="0"/>
                    </a:cubicBezTo>
                    <a:cubicBezTo>
                      <a:pt x="73918" y="0"/>
                      <a:pt x="0" y="27719"/>
                      <a:pt x="0" y="61913"/>
                    </a:cubicBezTo>
                  </a:path>
                </a:pathLst>
              </a:custGeom>
              <a:noFill/>
              <a:ln w="41275">
                <a:solidFill>
                  <a:srgbClr val="8CC0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01700" y="2714625"/>
                <a:ext cx="330201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330201" h="185738">
                    <a:moveTo>
                      <a:pt x="0" y="0"/>
                    </a:moveTo>
                    <a:lnTo>
                      <a:pt x="0" y="123825"/>
                    </a:lnTo>
                    <a:cubicBezTo>
                      <a:pt x="0" y="158019"/>
                      <a:pt x="73918" y="185738"/>
                      <a:pt x="165100" y="185738"/>
                    </a:cubicBezTo>
                    <a:cubicBezTo>
                      <a:pt x="256283" y="185738"/>
                      <a:pt x="330201" y="158019"/>
                      <a:pt x="330201" y="123825"/>
                    </a:cubicBezTo>
                    <a:lnTo>
                      <a:pt x="330201" y="0"/>
                    </a:lnTo>
                  </a:path>
                </a:pathLst>
              </a:custGeom>
              <a:noFill/>
              <a:ln w="41275">
                <a:solidFill>
                  <a:srgbClr val="8CC0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01700" y="2838450"/>
                <a:ext cx="330201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330201" h="185738">
                    <a:moveTo>
                      <a:pt x="0" y="0"/>
                    </a:moveTo>
                    <a:lnTo>
                      <a:pt x="0" y="123825"/>
                    </a:lnTo>
                    <a:cubicBezTo>
                      <a:pt x="0" y="158019"/>
                      <a:pt x="73918" y="185738"/>
                      <a:pt x="165100" y="185738"/>
                    </a:cubicBezTo>
                    <a:cubicBezTo>
                      <a:pt x="256283" y="185738"/>
                      <a:pt x="330201" y="158019"/>
                      <a:pt x="330201" y="123825"/>
                    </a:cubicBezTo>
                    <a:lnTo>
                      <a:pt x="330201" y="0"/>
                    </a:lnTo>
                  </a:path>
                </a:pathLst>
              </a:custGeom>
              <a:noFill/>
              <a:ln w="41275">
                <a:solidFill>
                  <a:srgbClr val="8CC0FF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808863" y="3496151"/>
              <a:ext cx="176580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Domain First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19150" y="39624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11530" y="43529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业务模型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2292" y="47310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9C7D6"/>
                  </a:solidFill>
                  <a:latin typeface="Microsoft YaHei"/>
                  <a:ea typeface="Microsoft YaHei"/>
                  <a:cs typeface="Microsoft YaHei"/>
                </a:rPr>
                <a:t>应早于页面开发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4197" y="5209699"/>
              <a:ext cx="15204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790A8"/>
                  </a:solidFill>
                  <a:latin typeface="Microsoft YaHei"/>
                  <a:ea typeface="Microsoft YaHei"/>
                  <a:cs typeface="Microsoft YaHei"/>
                </a:rPr>
                <a:t>状态 · 版本 · 审批 · 导出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400550" y="1638300"/>
            <a:ext cx="3390900" cy="4095750"/>
            <a:chOff x="4400550" y="1638300"/>
            <a:chExt cx="3390900" cy="4095750"/>
          </a:xfrm>
        </p:grpSpPr>
        <p:sp>
          <p:nvSpPr>
            <p:cNvPr id="18" name="Rectangle 18"/>
            <p:cNvSpPr/>
            <p:nvPr/>
          </p:nvSpPr>
          <p:spPr>
            <a:xfrm>
              <a:off x="4400550" y="1638300"/>
              <a:ext cx="3390900" cy="4095750"/>
            </a:xfrm>
            <a:prstGeom prst="roundRect">
              <a:avLst>
                <a:gd name="adj" fmla="val 6742"/>
              </a:avLst>
            </a:prstGeom>
            <a:solidFill>
              <a:srgbClr val="E8FBFD"/>
            </a:solidFill>
            <a:ln w="19050">
              <a:solidFill>
                <a:srgbClr val="9DEAF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681347" y="199024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0AAFC0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4514850" y="2419350"/>
              <a:ext cx="838200" cy="838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0D9E8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4768847" y="2663267"/>
              <a:ext cx="340256" cy="350324"/>
              <a:chOff x="4768847" y="2663267"/>
              <a:chExt cx="340256" cy="350324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4872038" y="2776538"/>
                <a:ext cx="1238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23825">
                    <a:moveTo>
                      <a:pt x="0" y="123825"/>
                    </a:moveTo>
                    <a:lnTo>
                      <a:pt x="123825" y="0"/>
                    </a:lnTo>
                  </a:path>
                </a:pathLst>
              </a:custGeom>
              <a:noFill/>
              <a:ln w="41275">
                <a:solidFill>
                  <a:srgbClr val="0AAFC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913313" y="2663267"/>
                <a:ext cx="195790" cy="195821"/>
              </a:xfrm>
              <a:custGeom>
                <a:avLst/>
                <a:gdLst/>
                <a:ahLst/>
                <a:cxnLst/>
                <a:rect l="l" t="t" r="r" b="b"/>
                <a:pathLst>
                  <a:path w="195790" h="195821">
                    <a:moveTo>
                      <a:pt x="0" y="51359"/>
                    </a:moveTo>
                    <a:lnTo>
                      <a:pt x="9555" y="40297"/>
                    </a:lnTo>
                    <a:cubicBezTo>
                      <a:pt x="49858" y="0"/>
                      <a:pt x="115197" y="5"/>
                      <a:pt x="155493" y="40307"/>
                    </a:cubicBezTo>
                    <a:cubicBezTo>
                      <a:pt x="195790" y="80610"/>
                      <a:pt x="195786" y="145949"/>
                      <a:pt x="155483" y="186246"/>
                    </a:cubicBezTo>
                    <a:lnTo>
                      <a:pt x="144463" y="195821"/>
                    </a:lnTo>
                  </a:path>
                </a:pathLst>
              </a:custGeom>
              <a:noFill/>
              <a:ln w="41275">
                <a:solidFill>
                  <a:srgbClr val="0AAFC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768847" y="2817813"/>
                <a:ext cx="185741" cy="195778"/>
              </a:xfrm>
              <a:custGeom>
                <a:avLst/>
                <a:gdLst/>
                <a:ahLst/>
                <a:cxnLst/>
                <a:rect l="l" t="t" r="r" b="b"/>
                <a:pathLst>
                  <a:path w="185741" h="195778">
                    <a:moveTo>
                      <a:pt x="185741" y="144463"/>
                    </a:moveTo>
                    <a:lnTo>
                      <a:pt x="177548" y="155483"/>
                    </a:lnTo>
                    <a:cubicBezTo>
                      <a:pt x="136799" y="195778"/>
                      <a:pt x="71212" y="195778"/>
                      <a:pt x="30464" y="155483"/>
                    </a:cubicBezTo>
                    <a:cubicBezTo>
                      <a:pt x="10970" y="136208"/>
                      <a:pt x="0" y="109934"/>
                      <a:pt x="0" y="82519"/>
                    </a:cubicBezTo>
                    <a:cubicBezTo>
                      <a:pt x="0" y="55105"/>
                      <a:pt x="10970" y="28830"/>
                      <a:pt x="30464" y="9555"/>
                    </a:cubicBezTo>
                    <a:lnTo>
                      <a:pt x="41278" y="0"/>
                    </a:lnTo>
                  </a:path>
                </a:pathLst>
              </a:custGeom>
              <a:noFill/>
              <a:ln w="41275">
                <a:solidFill>
                  <a:srgbClr val="0AAFC0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4676013" y="3496151"/>
              <a:ext cx="2094285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Evidence Layer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686300" y="39624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20D9E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78680" y="4352925"/>
              <a:ext cx="6995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AI 结果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79442" y="47310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5637E"/>
                  </a:solidFill>
                  <a:latin typeface="Microsoft YaHei"/>
                  <a:ea typeface="Microsoft YaHei"/>
                  <a:cs typeface="Microsoft YaHei"/>
                </a:rPr>
                <a:t>必须可追溯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81347" y="5209699"/>
              <a:ext cx="15204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6809F"/>
                  </a:solidFill>
                  <a:latin typeface="Microsoft YaHei"/>
                  <a:ea typeface="Microsoft YaHei"/>
                  <a:cs typeface="Microsoft YaHei"/>
                </a:rPr>
                <a:t>输入 · 证据 · 决策 · 责任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267700" y="1638300"/>
            <a:ext cx="3390900" cy="4095750"/>
            <a:chOff x="8267700" y="1638300"/>
            <a:chExt cx="3390900" cy="4095750"/>
          </a:xfrm>
        </p:grpSpPr>
        <p:sp>
          <p:nvSpPr>
            <p:cNvPr id="31" name="Rectangle 31"/>
            <p:cNvSpPr/>
            <p:nvPr/>
          </p:nvSpPr>
          <p:spPr>
            <a:xfrm>
              <a:off x="8267700" y="1638300"/>
              <a:ext cx="3390900" cy="4095750"/>
            </a:xfrm>
            <a:prstGeom prst="roundRect">
              <a:avLst>
                <a:gd name="adj" fmla="val 6742"/>
              </a:avLst>
            </a:prstGeom>
            <a:solidFill>
              <a:srgbClr val="FFFFFF"/>
            </a:solidFill>
            <a:ln w="19050">
              <a:solidFill>
                <a:srgbClr val="D9E7F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548497" y="199024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23A88E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8382000" y="2419350"/>
              <a:ext cx="838200" cy="838200"/>
            </a:xfrm>
            <a:prstGeom prst="ellipse">
              <a:avLst/>
            </a:prstGeom>
            <a:solidFill>
              <a:srgbClr val="E4F9F3"/>
            </a:solidFill>
            <a:ln w="19050">
              <a:solidFill>
                <a:srgbClr val="23D7B0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8580317" y="2643187"/>
              <a:ext cx="212966" cy="314324"/>
              <a:chOff x="8580317" y="2643187"/>
              <a:chExt cx="212966" cy="314324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634412" y="2643187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0"/>
                    </a:move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rgbClr val="23A88E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651875" y="2747962"/>
                <a:ext cx="69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9525">
                    <a:moveTo>
                      <a:pt x="0" y="0"/>
                    </a:move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rgbClr val="23A88E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580317" y="2643187"/>
                <a:ext cx="212966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212966" h="314324">
                    <a:moveTo>
                      <a:pt x="71558" y="0"/>
                    </a:moveTo>
                    <a:lnTo>
                      <a:pt x="71558" y="104775"/>
                    </a:lnTo>
                    <a:lnTo>
                      <a:pt x="1708" y="296862"/>
                    </a:lnTo>
                    <a:cubicBezTo>
                      <a:pt x="0" y="300298"/>
                      <a:pt x="5" y="304337"/>
                      <a:pt x="1721" y="307770"/>
                    </a:cubicBezTo>
                    <a:cubicBezTo>
                      <a:pt x="3437" y="311202"/>
                      <a:pt x="6665" y="313629"/>
                      <a:pt x="10439" y="314324"/>
                    </a:cubicBezTo>
                    <a:lnTo>
                      <a:pt x="202527" y="314324"/>
                    </a:lnTo>
                    <a:cubicBezTo>
                      <a:pt x="206300" y="313629"/>
                      <a:pt x="209529" y="311202"/>
                      <a:pt x="211245" y="307770"/>
                    </a:cubicBezTo>
                    <a:cubicBezTo>
                      <a:pt x="212961" y="304337"/>
                      <a:pt x="212966" y="300298"/>
                      <a:pt x="211258" y="296862"/>
                    </a:cubicBezTo>
                    <a:lnTo>
                      <a:pt x="141408" y="104775"/>
                    </a:lnTo>
                    <a:lnTo>
                      <a:pt x="141408" y="0"/>
                    </a:lnTo>
                  </a:path>
                </a:pathLst>
              </a:custGeom>
              <a:noFill/>
              <a:ln w="34925">
                <a:solidFill>
                  <a:srgbClr val="23A88E"/>
                </a:solidFill>
              </a:ln>
            </p:spPr>
          </p:sp>
        </p:grpSp>
        <p:grpSp>
          <p:nvGrpSpPr>
            <p:cNvPr id="43" name="Group 43"/>
            <p:cNvGrpSpPr/>
            <p:nvPr/>
          </p:nvGrpSpPr>
          <p:grpSpPr>
            <a:xfrm>
              <a:off x="8872537" y="2643187"/>
              <a:ext cx="314324" cy="323850"/>
              <a:chOff x="8872537" y="2643187"/>
              <a:chExt cx="314324" cy="32385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872537" y="2957512"/>
                <a:ext cx="31432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9525">
                    <a:moveTo>
                      <a:pt x="0" y="0"/>
                    </a:moveTo>
                    <a:lnTo>
                      <a:pt x="314324" y="0"/>
                    </a:lnTo>
                  </a:path>
                </a:pathLst>
              </a:custGeom>
              <a:noFill/>
              <a:ln w="34925">
                <a:solidFill>
                  <a:srgbClr val="2F7CF4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907462" y="2643187"/>
                <a:ext cx="244475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314324">
                    <a:moveTo>
                      <a:pt x="0" y="314324"/>
                    </a:moveTo>
                    <a:lnTo>
                      <a:pt x="0" y="34925"/>
                    </a:lnTo>
                    <a:cubicBezTo>
                      <a:pt x="0" y="15636"/>
                      <a:pt x="15636" y="0"/>
                      <a:pt x="34925" y="0"/>
                    </a:cubicBezTo>
                    <a:lnTo>
                      <a:pt x="209550" y="0"/>
                    </a:lnTo>
                    <a:cubicBezTo>
                      <a:pt x="228838" y="0"/>
                      <a:pt x="244475" y="15636"/>
                      <a:pt x="244475" y="34925"/>
                    </a:cubicBezTo>
                    <a:lnTo>
                      <a:pt x="244475" y="314324"/>
                    </a:lnTo>
                  </a:path>
                </a:pathLst>
              </a:custGeom>
              <a:noFill/>
              <a:ln w="34925">
                <a:solidFill>
                  <a:srgbClr val="2F7CF4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977312" y="2852737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104775"/>
                    </a:moveTo>
                    <a:lnTo>
                      <a:pt x="0" y="34925"/>
                    </a:lnTo>
                    <a:cubicBezTo>
                      <a:pt x="0" y="15636"/>
                      <a:pt x="15636" y="0"/>
                      <a:pt x="34925" y="0"/>
                    </a:cubicBezTo>
                    <a:lnTo>
                      <a:pt x="69850" y="0"/>
                    </a:lnTo>
                    <a:cubicBezTo>
                      <a:pt x="89138" y="0"/>
                      <a:pt x="104775" y="15636"/>
                      <a:pt x="104775" y="34925"/>
                    </a:cubicBezTo>
                    <a:lnTo>
                      <a:pt x="104775" y="104775"/>
                    </a:lnTo>
                  </a:path>
                </a:pathLst>
              </a:custGeom>
              <a:noFill/>
              <a:ln w="34925">
                <a:solidFill>
                  <a:srgbClr val="2F7CF4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994775" y="2747962"/>
                <a:ext cx="69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9525">
                    <a:moveTo>
                      <a:pt x="0" y="0"/>
                    </a:move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rgbClr val="2F7CF4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029700" y="2713037"/>
                <a:ext cx="95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9850">
                    <a:moveTo>
                      <a:pt x="0" y="0"/>
                    </a:moveTo>
                    <a:lnTo>
                      <a:pt x="0" y="69850"/>
                    </a:lnTo>
                  </a:path>
                </a:pathLst>
              </a:custGeom>
              <a:noFill/>
              <a:ln w="34925">
                <a:solidFill>
                  <a:srgbClr val="2F7CF4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8543163" y="3496151"/>
              <a:ext cx="215523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Demo ≠ Product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553450" y="3962400"/>
              <a:ext cx="5334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7CF4"/>
                </a:gs>
                <a:gs pos="100000">
                  <a:srgbClr val="20D9E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545830" y="43529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演示路径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546592" y="47310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5637E"/>
                  </a:solidFill>
                  <a:latin typeface="Microsoft YaHei"/>
                  <a:ea typeface="Microsoft YaHei"/>
                  <a:cs typeface="Microsoft YaHei"/>
                </a:rPr>
                <a:t>与生产路径分离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548497" y="5209699"/>
              <a:ext cx="20141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6809F"/>
                  </a:solidFill>
                  <a:latin typeface="Microsoft YaHei"/>
                  <a:ea typeface="Microsoft YaHei"/>
                  <a:cs typeface="Microsoft YaHei"/>
                </a:rPr>
                <a:t>Mock · Offline · Pilot · Clinical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28638" y="6398895"/>
            <a:ext cx="11134724" cy="176212"/>
            <a:chOff x="528638" y="6398895"/>
            <a:chExt cx="11134724" cy="176212"/>
          </a:xfrm>
        </p:grpSpPr>
        <p:sp>
          <p:nvSpPr>
            <p:cNvPr id="50" name="TextBox 50"/>
            <p:cNvSpPr txBox="1"/>
            <p:nvPr/>
          </p:nvSpPr>
          <p:spPr>
            <a:xfrm>
              <a:off x="528638" y="6398895"/>
              <a:ext cx="30120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7890A8"/>
                  </a:solidFill>
                  <a:latin typeface="Microsoft YaHei"/>
                  <a:ea typeface="Microsoft YaHei"/>
                  <a:cs typeface="Microsoft YaHei"/>
                </a:rPr>
                <a:t>Three design corrections that change delivery risk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27664" y="6398895"/>
              <a:ext cx="4356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07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20446" y="471204"/>
            <a:ext cx="5861685" cy="876203"/>
            <a:chOff x="520446" y="471204"/>
            <a:chExt cx="5861685" cy="876203"/>
          </a:xfrm>
        </p:grpSpPr>
        <p:sp>
          <p:nvSpPr>
            <p:cNvPr id="2" name="Freeform 2"/>
            <p:cNvSpPr/>
            <p:nvPr/>
          </p:nvSpPr>
          <p:spPr>
            <a:xfrm>
              <a:off x="533400" y="471204"/>
              <a:ext cx="361949" cy="354378"/>
            </a:xfrm>
            <a:custGeom>
              <a:avLst/>
              <a:gdLst/>
              <a:ahLst/>
              <a:cxnLst/>
              <a:rect l="l" t="t" r="r" b="b"/>
              <a:pathLst>
                <a:path w="361949" h="354378">
                  <a:moveTo>
                    <a:pt x="180975" y="0"/>
                  </a:moveTo>
                  <a:cubicBezTo>
                    <a:pt x="80986" y="0"/>
                    <a:pt x="0" y="81031"/>
                    <a:pt x="0" y="180975"/>
                  </a:cubicBezTo>
                  <a:cubicBezTo>
                    <a:pt x="0" y="260950"/>
                    <a:pt x="51849" y="328771"/>
                    <a:pt x="123741" y="352674"/>
                  </a:cubicBezTo>
                  <a:cubicBezTo>
                    <a:pt x="132790" y="354378"/>
                    <a:pt x="136108" y="348783"/>
                    <a:pt x="136108" y="343972"/>
                  </a:cubicBezTo>
                  <a:cubicBezTo>
                    <a:pt x="136108" y="339674"/>
                    <a:pt x="135957" y="328288"/>
                    <a:pt x="135882" y="313207"/>
                  </a:cubicBezTo>
                  <a:cubicBezTo>
                    <a:pt x="85541" y="324126"/>
                    <a:pt x="74923" y="288926"/>
                    <a:pt x="74923" y="288926"/>
                  </a:cubicBezTo>
                  <a:cubicBezTo>
                    <a:pt x="66689" y="268038"/>
                    <a:pt x="54790" y="262458"/>
                    <a:pt x="54790" y="262458"/>
                  </a:cubicBezTo>
                  <a:cubicBezTo>
                    <a:pt x="38397" y="251238"/>
                    <a:pt x="56057" y="251464"/>
                    <a:pt x="56057" y="251464"/>
                  </a:cubicBezTo>
                  <a:cubicBezTo>
                    <a:pt x="74230" y="252731"/>
                    <a:pt x="83776" y="270105"/>
                    <a:pt x="83776" y="270105"/>
                  </a:cubicBezTo>
                  <a:cubicBezTo>
                    <a:pt x="99913" y="297779"/>
                    <a:pt x="126139" y="289786"/>
                    <a:pt x="136485" y="285156"/>
                  </a:cubicBezTo>
                  <a:cubicBezTo>
                    <a:pt x="138114" y="273453"/>
                    <a:pt x="142774" y="265475"/>
                    <a:pt x="147947" y="260950"/>
                  </a:cubicBezTo>
                  <a:cubicBezTo>
                    <a:pt x="107755" y="256426"/>
                    <a:pt x="65513" y="240862"/>
                    <a:pt x="65513" y="171519"/>
                  </a:cubicBezTo>
                  <a:cubicBezTo>
                    <a:pt x="65513" y="151762"/>
                    <a:pt x="72526" y="135625"/>
                    <a:pt x="84138" y="122957"/>
                  </a:cubicBezTo>
                  <a:cubicBezTo>
                    <a:pt x="82102" y="118388"/>
                    <a:pt x="75994" y="99988"/>
                    <a:pt x="85722" y="75059"/>
                  </a:cubicBezTo>
                  <a:cubicBezTo>
                    <a:pt x="85722" y="75059"/>
                    <a:pt x="100878" y="70203"/>
                    <a:pt x="135490" y="93609"/>
                  </a:cubicBezTo>
                  <a:cubicBezTo>
                    <a:pt x="149968" y="89582"/>
                    <a:pt x="165350" y="87592"/>
                    <a:pt x="180733" y="87501"/>
                  </a:cubicBezTo>
                  <a:cubicBezTo>
                    <a:pt x="196116" y="87592"/>
                    <a:pt x="211499" y="89582"/>
                    <a:pt x="225977" y="93609"/>
                  </a:cubicBezTo>
                  <a:cubicBezTo>
                    <a:pt x="260362" y="70203"/>
                    <a:pt x="275519" y="75059"/>
                    <a:pt x="275519" y="75059"/>
                  </a:cubicBezTo>
                  <a:cubicBezTo>
                    <a:pt x="285246" y="99988"/>
                    <a:pt x="279138" y="118388"/>
                    <a:pt x="277329" y="122957"/>
                  </a:cubicBezTo>
                  <a:cubicBezTo>
                    <a:pt x="288866" y="135625"/>
                    <a:pt x="295878" y="151762"/>
                    <a:pt x="295878" y="171519"/>
                  </a:cubicBezTo>
                  <a:cubicBezTo>
                    <a:pt x="295878" y="241043"/>
                    <a:pt x="253576" y="256351"/>
                    <a:pt x="213309" y="260800"/>
                  </a:cubicBezTo>
                  <a:cubicBezTo>
                    <a:pt x="219643" y="266229"/>
                    <a:pt x="225525" y="277329"/>
                    <a:pt x="225525" y="294280"/>
                  </a:cubicBezTo>
                  <a:cubicBezTo>
                    <a:pt x="225525" y="318500"/>
                    <a:pt x="225298" y="337955"/>
                    <a:pt x="225298" y="343837"/>
                  </a:cubicBezTo>
                  <a:cubicBezTo>
                    <a:pt x="225298" y="348587"/>
                    <a:pt x="228465" y="354243"/>
                    <a:pt x="237740" y="352433"/>
                  </a:cubicBezTo>
                  <a:cubicBezTo>
                    <a:pt x="310145" y="328695"/>
                    <a:pt x="361949" y="260830"/>
                    <a:pt x="361949" y="180975"/>
                  </a:cubicBezTo>
                  <a:cubicBezTo>
                    <a:pt x="361949" y="81031"/>
                    <a:pt x="280918" y="0"/>
                    <a:pt x="18097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042416" y="572452"/>
              <a:ext cx="13946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08 · 工程交付证明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84867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把可信能力拆成可审阅、可回归的增量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1543050"/>
            <a:ext cx="5276850" cy="1524000"/>
            <a:chOff x="533400" y="1543050"/>
            <a:chExt cx="5276850" cy="1524000"/>
          </a:xfrm>
        </p:grpSpPr>
        <p:sp>
          <p:nvSpPr>
            <p:cNvPr id="6" name="Rectangle 6"/>
            <p:cNvSpPr/>
            <p:nvPr/>
          </p:nvSpPr>
          <p:spPr>
            <a:xfrm>
              <a:off x="533400" y="1543050"/>
              <a:ext cx="5276850" cy="1524000"/>
            </a:xfrm>
            <a:prstGeom prst="roundRect">
              <a:avLst>
                <a:gd name="adj" fmla="val 12500"/>
              </a:avLst>
            </a:prstGeom>
            <a:solidFill>
              <a:srgbClr val="0E3152"/>
            </a:solidFill>
            <a:ln w="19050">
              <a:solidFill>
                <a:srgbClr val="2F7CF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89813" y="1762601"/>
              <a:ext cx="94073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PR #47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495800" y="1714500"/>
              <a:ext cx="1028700" cy="304800"/>
            </a:xfrm>
            <a:prstGeom prst="roundRect">
              <a:avLst>
                <a:gd name="adj" fmla="val 50000"/>
              </a:avLst>
            </a:prstGeom>
            <a:solidFill>
              <a:srgbClr val="E4F9F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770158" y="1826895"/>
              <a:ext cx="4799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68A73"/>
                  </a:solidFill>
                  <a:latin typeface="Microsoft YaHei"/>
                  <a:ea typeface="Microsoft YaHei"/>
                  <a:cs typeface="Microsoft YaHei"/>
                </a:rPr>
                <a:t>MERGED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828921" y="2319337"/>
              <a:ext cx="341011" cy="314325"/>
              <a:chOff x="828921" y="2319337"/>
              <a:chExt cx="341011" cy="31432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28921" y="2319337"/>
                <a:ext cx="341011" cy="311635"/>
              </a:xfrm>
              <a:custGeom>
                <a:avLst/>
                <a:gdLst/>
                <a:ahLst/>
                <a:cxnLst/>
                <a:rect l="l" t="t" r="r" b="b"/>
                <a:pathLst>
                  <a:path w="341011" h="311635">
                    <a:moveTo>
                      <a:pt x="171299" y="311635"/>
                    </a:moveTo>
                    <a:cubicBezTo>
                      <a:pt x="61905" y="277725"/>
                      <a:pt x="0" y="162269"/>
                      <a:pt x="32298" y="52387"/>
                    </a:cubicBezTo>
                    <a:cubicBezTo>
                      <a:pt x="86703" y="54877"/>
                      <a:pt x="139939" y="36088"/>
                      <a:pt x="180729" y="0"/>
                    </a:cubicBezTo>
                    <a:cubicBezTo>
                      <a:pt x="221518" y="36088"/>
                      <a:pt x="274755" y="54877"/>
                      <a:pt x="329160" y="52387"/>
                    </a:cubicBezTo>
                    <a:cubicBezTo>
                      <a:pt x="341011" y="92710"/>
                      <a:pt x="340463" y="135665"/>
                      <a:pt x="327588" y="175672"/>
                    </a:cubicBezTo>
                  </a:path>
                </a:pathLst>
              </a:custGeom>
              <a:noFill/>
              <a:ln w="34925">
                <a:solidFill>
                  <a:srgbClr val="8CC0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62037" y="2563812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34925"/>
                    </a:moveTo>
                    <a:lnTo>
                      <a:pt x="34925" y="69850"/>
                    </a:ln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rgbClr val="8CC0FF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382649" y="2401729"/>
              <a:ext cx="15151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Security Gate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32835" y="245030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A9BCD0"/>
                  </a:solidFill>
                  <a:latin typeface="Microsoft YaHei"/>
                  <a:ea typeface="Microsoft YaHei"/>
                  <a:cs typeface="Microsoft YaHei"/>
                </a:rPr>
                <a:t>183 passed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96000" y="1543050"/>
            <a:ext cx="5562600" cy="1524000"/>
            <a:chOff x="6096000" y="1543050"/>
            <a:chExt cx="5562600" cy="1524000"/>
          </a:xfrm>
        </p:grpSpPr>
        <p:sp>
          <p:nvSpPr>
            <p:cNvPr id="16" name="Rectangle 16"/>
            <p:cNvSpPr/>
            <p:nvPr/>
          </p:nvSpPr>
          <p:spPr>
            <a:xfrm>
              <a:off x="6096000" y="1543050"/>
              <a:ext cx="5562600" cy="1524000"/>
            </a:xfrm>
            <a:prstGeom prst="roundRect">
              <a:avLst>
                <a:gd name="adj" fmla="val 12500"/>
              </a:avLst>
            </a:prstGeom>
            <a:solidFill>
              <a:srgbClr val="0E3152"/>
            </a:solidFill>
            <a:ln w="19050">
              <a:solidFill>
                <a:srgbClr val="20D9E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52413" y="1762601"/>
              <a:ext cx="94073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PR #51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344150" y="1714500"/>
              <a:ext cx="1028700" cy="304800"/>
            </a:xfrm>
            <a:prstGeom prst="roundRect">
              <a:avLst>
                <a:gd name="adj" fmla="val 50000"/>
              </a:avLst>
            </a:prstGeom>
            <a:solidFill>
              <a:srgbClr val="E4F9F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618508" y="1826895"/>
              <a:ext cx="4799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68A73"/>
                  </a:solidFill>
                  <a:latin typeface="Microsoft YaHei"/>
                  <a:ea typeface="Microsoft YaHei"/>
                  <a:cs typeface="Microsoft YaHei"/>
                </a:rPr>
                <a:t>MERGED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6450012" y="2319337"/>
              <a:ext cx="244475" cy="314324"/>
              <a:chOff x="6450012" y="2319337"/>
              <a:chExt cx="244475" cy="314324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6450012" y="2319337"/>
                <a:ext cx="244475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314324">
                    <a:moveTo>
                      <a:pt x="0" y="34925"/>
                    </a:moveTo>
                    <a:cubicBezTo>
                      <a:pt x="0" y="15636"/>
                      <a:pt x="15636" y="0"/>
                      <a:pt x="34925" y="0"/>
                    </a:cubicBezTo>
                    <a:lnTo>
                      <a:pt x="209550" y="0"/>
                    </a:lnTo>
                    <a:cubicBezTo>
                      <a:pt x="228838" y="0"/>
                      <a:pt x="244475" y="15636"/>
                      <a:pt x="244475" y="34925"/>
                    </a:cubicBezTo>
                    <a:lnTo>
                      <a:pt x="244475" y="279399"/>
                    </a:lnTo>
                    <a:cubicBezTo>
                      <a:pt x="244475" y="298688"/>
                      <a:pt x="228838" y="314324"/>
                      <a:pt x="209550" y="314324"/>
                    </a:cubicBezTo>
                    <a:lnTo>
                      <a:pt x="34925" y="314324"/>
                    </a:lnTo>
                    <a:cubicBezTo>
                      <a:pt x="15636" y="314324"/>
                      <a:pt x="0" y="298688"/>
                      <a:pt x="0" y="279399"/>
                    </a:cubicBezTo>
                    <a:lnTo>
                      <a:pt x="0" y="34925"/>
                    </a:lnTo>
                  </a:path>
                </a:pathLst>
              </a:custGeom>
              <a:noFill/>
              <a:ln w="34925">
                <a:solidFill>
                  <a:srgbClr val="20D9E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519862" y="2389187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0"/>
                    </a:move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rgbClr val="20D9E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519862" y="2459037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0"/>
                    </a:move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rgbClr val="20D9E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519862" y="2528887"/>
                <a:ext cx="69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9525">
                    <a:moveTo>
                      <a:pt x="0" y="0"/>
                    </a:move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rgbClr val="20D9E8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6945249" y="2401729"/>
              <a:ext cx="207312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Evaluation Dataset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690735" y="245030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A9BCD0"/>
                  </a:solidFill>
                  <a:latin typeface="Microsoft YaHei"/>
                  <a:ea typeface="Microsoft YaHei"/>
                  <a:cs typeface="Microsoft YaHei"/>
                </a:rPr>
                <a:t>201 passed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33400" y="3257550"/>
            <a:ext cx="5276850" cy="1524000"/>
            <a:chOff x="533400" y="3257550"/>
            <a:chExt cx="5276850" cy="1524000"/>
          </a:xfrm>
        </p:grpSpPr>
        <p:sp>
          <p:nvSpPr>
            <p:cNvPr id="28" name="Rectangle 28"/>
            <p:cNvSpPr/>
            <p:nvPr/>
          </p:nvSpPr>
          <p:spPr>
            <a:xfrm>
              <a:off x="533400" y="3257550"/>
              <a:ext cx="5276850" cy="1524000"/>
            </a:xfrm>
            <a:prstGeom prst="roundRect">
              <a:avLst>
                <a:gd name="adj" fmla="val 12500"/>
              </a:avLst>
            </a:prstGeom>
            <a:solidFill>
              <a:srgbClr val="0E3152"/>
            </a:solidFill>
            <a:ln w="19050">
              <a:solidFill>
                <a:srgbClr val="20D9E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89813" y="3477101"/>
              <a:ext cx="94073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PR #53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495800" y="3429000"/>
              <a:ext cx="1028700" cy="304800"/>
            </a:xfrm>
            <a:prstGeom prst="roundRect">
              <a:avLst>
                <a:gd name="adj" fmla="val 50000"/>
              </a:avLst>
            </a:prstGeom>
            <a:solidFill>
              <a:srgbClr val="E4F9F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770158" y="3541395"/>
              <a:ext cx="4799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68A73"/>
                  </a:solidFill>
                  <a:latin typeface="Microsoft YaHei"/>
                  <a:ea typeface="Microsoft YaHei"/>
                  <a:cs typeface="Microsoft YaHei"/>
                </a:rPr>
                <a:t>MERGED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887412" y="4068762"/>
              <a:ext cx="244475" cy="244475"/>
            </a:xfrm>
            <a:custGeom>
              <a:avLst/>
              <a:gdLst/>
              <a:ahLst/>
              <a:cxnLst/>
              <a:rect l="l" t="t" r="r" b="b"/>
              <a:pathLst>
                <a:path w="244475" h="244475">
                  <a:moveTo>
                    <a:pt x="0" y="122237"/>
                  </a:moveTo>
                  <a:cubicBezTo>
                    <a:pt x="0" y="189747"/>
                    <a:pt x="54727" y="244475"/>
                    <a:pt x="122237" y="244475"/>
                  </a:cubicBezTo>
                  <a:cubicBezTo>
                    <a:pt x="189747" y="244475"/>
                    <a:pt x="244475" y="189747"/>
                    <a:pt x="244475" y="122237"/>
                  </a:cubicBezTo>
                  <a:cubicBezTo>
                    <a:pt x="244475" y="54727"/>
                    <a:pt x="189747" y="0"/>
                    <a:pt x="122237" y="0"/>
                  </a:cubicBezTo>
                  <a:cubicBezTo>
                    <a:pt x="54727" y="0"/>
                    <a:pt x="0" y="54727"/>
                    <a:pt x="0" y="122237"/>
                  </a:cubicBezTo>
                </a:path>
              </a:pathLst>
            </a:custGeom>
            <a:noFill/>
            <a:ln w="34925">
              <a:solidFill>
                <a:srgbClr val="20D9E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382649" y="4116229"/>
              <a:ext cx="15747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Recording MVP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632835" y="416480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A9BCD0"/>
                  </a:solidFill>
                  <a:latin typeface="Microsoft YaHei"/>
                  <a:ea typeface="Microsoft YaHei"/>
                  <a:cs typeface="Microsoft YaHei"/>
                </a:rPr>
                <a:t>204 passed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96000" y="3257550"/>
            <a:ext cx="5562600" cy="1524000"/>
            <a:chOff x="6096000" y="3257550"/>
            <a:chExt cx="5562600" cy="1524000"/>
          </a:xfrm>
        </p:grpSpPr>
        <p:sp>
          <p:nvSpPr>
            <p:cNvPr id="36" name="Rectangle 36"/>
            <p:cNvSpPr/>
            <p:nvPr/>
          </p:nvSpPr>
          <p:spPr>
            <a:xfrm>
              <a:off x="6096000" y="3257550"/>
              <a:ext cx="5562600" cy="1524000"/>
            </a:xfrm>
            <a:prstGeom prst="roundRect">
              <a:avLst>
                <a:gd name="adj" fmla="val 12500"/>
              </a:avLst>
            </a:prstGeom>
            <a:solidFill>
              <a:srgbClr val="0B4655"/>
            </a:solidFill>
            <a:ln w="28575">
              <a:solidFill>
                <a:srgbClr val="23D7B0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52413" y="3477101"/>
              <a:ext cx="94073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PR #96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0115550" y="3429000"/>
              <a:ext cx="1257300" cy="304800"/>
            </a:xfrm>
            <a:prstGeom prst="roundRect">
              <a:avLst>
                <a:gd name="adj" fmla="val 50000"/>
              </a:avLst>
            </a:prstGeom>
            <a:solidFill>
              <a:srgbClr val="FFF1D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316025" y="3541395"/>
              <a:ext cx="8563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A76500"/>
                  </a:solidFill>
                  <a:latin typeface="Microsoft YaHei"/>
                  <a:ea typeface="Microsoft YaHei"/>
                  <a:cs typeface="Microsoft YaHei"/>
                </a:rPr>
                <a:t>DRAFT · OPEN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6432550" y="4068762"/>
              <a:ext cx="279400" cy="244475"/>
              <a:chOff x="6432550" y="4068762"/>
              <a:chExt cx="279400" cy="24447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537325" y="4068762"/>
                <a:ext cx="174625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244475">
                    <a:moveTo>
                      <a:pt x="0" y="34925"/>
                    </a:moveTo>
                    <a:cubicBezTo>
                      <a:pt x="0" y="15636"/>
                      <a:pt x="15636" y="0"/>
                      <a:pt x="34925" y="0"/>
                    </a:cubicBezTo>
                    <a:lnTo>
                      <a:pt x="139700" y="0"/>
                    </a:lnTo>
                    <a:cubicBezTo>
                      <a:pt x="158988" y="0"/>
                      <a:pt x="174625" y="15636"/>
                      <a:pt x="174625" y="34925"/>
                    </a:cubicBezTo>
                    <a:lnTo>
                      <a:pt x="174625" y="209550"/>
                    </a:lnTo>
                    <a:cubicBezTo>
                      <a:pt x="174625" y="228838"/>
                      <a:pt x="158988" y="244475"/>
                      <a:pt x="139700" y="244475"/>
                    </a:cubicBezTo>
                    <a:lnTo>
                      <a:pt x="34925" y="244475"/>
                    </a:lnTo>
                    <a:cubicBezTo>
                      <a:pt x="15636" y="244475"/>
                      <a:pt x="0" y="228838"/>
                      <a:pt x="0" y="209550"/>
                    </a:cubicBezTo>
                    <a:lnTo>
                      <a:pt x="0" y="34925"/>
                    </a:lnTo>
                  </a:path>
                </a:pathLst>
              </a:custGeom>
              <a:noFill/>
              <a:ln w="34925">
                <a:solidFill>
                  <a:srgbClr val="7AF1D6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484937" y="4103687"/>
                <a:ext cx="9525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25">
                    <a:moveTo>
                      <a:pt x="0" y="0"/>
                    </a:moveTo>
                    <a:lnTo>
                      <a:pt x="0" y="174625"/>
                    </a:lnTo>
                  </a:path>
                </a:pathLst>
              </a:custGeom>
              <a:noFill/>
              <a:ln w="34925">
                <a:solidFill>
                  <a:srgbClr val="7AF1D6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432550" y="4121150"/>
                <a:ext cx="9525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9700">
                    <a:moveTo>
                      <a:pt x="0" y="0"/>
                    </a:moveTo>
                    <a:lnTo>
                      <a:pt x="0" y="139700"/>
                    </a:lnTo>
                  </a:path>
                </a:pathLst>
              </a:custGeom>
              <a:noFill/>
              <a:ln w="34925">
                <a:solidFill>
                  <a:srgbClr val="7AF1D6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945249" y="4116229"/>
              <a:ext cx="97676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Pilot RC2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947785" y="4164806"/>
              <a:ext cx="17687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7AF1D6"/>
                  </a:solidFill>
                  <a:latin typeface="Microsoft YaHei"/>
                  <a:ea typeface="Microsoft YaHei"/>
                  <a:cs typeface="Microsoft YaHei"/>
                </a:rPr>
                <a:t>330 passed · candidate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42950" y="5210175"/>
            <a:ext cx="9023162" cy="352425"/>
            <a:chOff x="742950" y="5210175"/>
            <a:chExt cx="9023162" cy="352425"/>
          </a:xfrm>
        </p:grpSpPr>
        <p:sp>
          <p:nvSpPr>
            <p:cNvPr id="47" name="Line 47"/>
            <p:cNvSpPr/>
            <p:nvPr/>
          </p:nvSpPr>
          <p:spPr>
            <a:xfrm>
              <a:off x="742950" y="5305425"/>
              <a:ext cx="8515350" cy="9525"/>
            </a:xfrm>
            <a:custGeom>
              <a:avLst/>
              <a:gdLst/>
              <a:ahLst/>
              <a:cxnLst/>
              <a:rect l="l" t="t" r="r" b="b"/>
              <a:pathLst>
                <a:path w="8515350" h="9525">
                  <a:moveTo>
                    <a:pt x="0" y="0"/>
                  </a:moveTo>
                  <a:lnTo>
                    <a:pt x="8515350" y="0"/>
                  </a:lnTo>
                </a:path>
              </a:pathLst>
            </a:custGeom>
            <a:noFill/>
            <a:ln w="28575">
              <a:solidFill>
                <a:srgbClr val="2F7CF4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6667500" y="5305425"/>
              <a:ext cx="9525" cy="257175"/>
            </a:xfrm>
            <a:custGeom>
              <a:avLst/>
              <a:gdLst/>
              <a:ahLst/>
              <a:cxnLst/>
              <a:rect l="l" t="t" r="r" b="b"/>
              <a:pathLst>
                <a:path w="9525" h="257175">
                  <a:moveTo>
                    <a:pt x="0" y="0"/>
                  </a:moveTo>
                  <a:lnTo>
                    <a:pt x="0" y="257175"/>
                  </a:lnTo>
                </a:path>
              </a:pathLst>
            </a:custGeom>
            <a:noFill/>
            <a:ln w="28575">
              <a:solidFill>
                <a:srgbClr val="20D9E8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981075" y="5219700"/>
              <a:ext cx="171450" cy="171450"/>
            </a:xfrm>
            <a:prstGeom prst="ellipse">
              <a:avLst/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233297" y="5247799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D0DDE9"/>
                  </a:solidFill>
                  <a:latin typeface="Microsoft YaHei"/>
                  <a:ea typeface="Microsoft YaHei"/>
                  <a:cs typeface="Microsoft YaHei"/>
                </a:rPr>
                <a:t>#82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2276475" y="5219700"/>
              <a:ext cx="171450" cy="171450"/>
            </a:xfrm>
            <a:prstGeom prst="ellipse">
              <a:avLst/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528697" y="5247799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D0DDE9"/>
                  </a:solidFill>
                  <a:latin typeface="Microsoft YaHei"/>
                  <a:ea typeface="Microsoft YaHei"/>
                  <a:cs typeface="Microsoft YaHei"/>
                </a:rPr>
                <a:t>#83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3571875" y="5219700"/>
              <a:ext cx="171450" cy="171450"/>
            </a:xfrm>
            <a:prstGeom prst="ellipse">
              <a:avLst/>
            </a:prstGeom>
            <a:solidFill>
              <a:srgbClr val="20D9E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824097" y="5247799"/>
              <a:ext cx="13357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D0DDE9"/>
                  </a:solidFill>
                  <a:latin typeface="Microsoft YaHei"/>
                  <a:ea typeface="Microsoft YaHei"/>
                  <a:cs typeface="Microsoft YaHei"/>
                </a:rPr>
                <a:t>#92 / #93 / #94 / #95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572250" y="5210175"/>
              <a:ext cx="190500" cy="190500"/>
            </a:xfrm>
            <a:prstGeom prst="ellipse">
              <a:avLst/>
            </a:prstGeom>
            <a:solidFill>
              <a:srgbClr val="23D7B0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833997" y="5247799"/>
              <a:ext cx="536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7AF1D6"/>
                  </a:solidFill>
                  <a:latin typeface="Microsoft YaHei"/>
                  <a:ea typeface="Microsoft YaHei"/>
                  <a:cs typeface="Microsoft YaHei"/>
                </a:rPr>
                <a:t>#96 RC2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8791575" y="5219700"/>
              <a:ext cx="171450" cy="171450"/>
            </a:xfrm>
            <a:prstGeom prst="ellipse">
              <a:avLst/>
            </a:prstGeom>
            <a:solidFill>
              <a:srgbClr val="20D9E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043797" y="5247799"/>
              <a:ext cx="7223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D0DDE9"/>
                  </a:solidFill>
                  <a:latin typeface="Microsoft YaHei"/>
                  <a:ea typeface="Microsoft YaHei"/>
                  <a:cs typeface="Microsoft YaHei"/>
                </a:rPr>
                <a:t>#98 UI pass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533400" y="5810250"/>
            <a:ext cx="9925050" cy="381000"/>
            <a:chOff x="533400" y="5810250"/>
            <a:chExt cx="9925050" cy="381000"/>
          </a:xfrm>
        </p:grpSpPr>
        <p:sp>
          <p:nvSpPr>
            <p:cNvPr id="60" name="Rectangle 60"/>
            <p:cNvSpPr/>
            <p:nvPr/>
          </p:nvSpPr>
          <p:spPr>
            <a:xfrm>
              <a:off x="533400" y="5810250"/>
              <a:ext cx="2381250" cy="381000"/>
            </a:xfrm>
            <a:prstGeom prst="roundRect">
              <a:avLst>
                <a:gd name="adj" fmla="val 50000"/>
              </a:avLst>
            </a:prstGeom>
            <a:solidFill>
              <a:srgbClr val="0E3152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3048000" y="5810250"/>
              <a:ext cx="2381250" cy="381000"/>
            </a:xfrm>
            <a:prstGeom prst="roundRect">
              <a:avLst>
                <a:gd name="adj" fmla="val 50000"/>
              </a:avLst>
            </a:prstGeom>
            <a:solidFill>
              <a:srgbClr val="0E3152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562600" y="5810250"/>
              <a:ext cx="2381250" cy="381000"/>
            </a:xfrm>
            <a:prstGeom prst="roundRect">
              <a:avLst>
                <a:gd name="adj" fmla="val 50000"/>
              </a:avLst>
            </a:prstGeom>
            <a:solidFill>
              <a:srgbClr val="0E3152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8077200" y="5810250"/>
              <a:ext cx="2381250" cy="381000"/>
            </a:xfrm>
            <a:prstGeom prst="roundRect">
              <a:avLst>
                <a:gd name="adj" fmla="val 50000"/>
              </a:avLst>
            </a:prstGeom>
            <a:solidFill>
              <a:srgbClr val="0E3152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3425" y="5915025"/>
              <a:ext cx="171450" cy="171450"/>
              <a:chOff x="733425" y="5915025"/>
              <a:chExt cx="171450" cy="17145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3425" y="59150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23D7B0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90575" y="598170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23D7B0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61847" y="5962174"/>
              <a:ext cx="9747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main CI passed</a:t>
              </a:r>
            </a:p>
          </p:txBody>
        </p:sp>
        <p:grpSp>
          <p:nvGrpSpPr>
            <p:cNvPr id="72" name="Group 72"/>
            <p:cNvGrpSpPr/>
            <p:nvPr/>
          </p:nvGrpSpPr>
          <p:grpSpPr>
            <a:xfrm>
              <a:off x="3267075" y="5915025"/>
              <a:ext cx="133350" cy="171450"/>
              <a:chOff x="3267075" y="5915025"/>
              <a:chExt cx="133350" cy="17145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3267075" y="5934075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38100" y="0"/>
                    </a:move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  <a:lnTo>
                      <a:pt x="0" y="133350"/>
                    </a:lnTo>
                    <a:cubicBezTo>
                      <a:pt x="0" y="143871"/>
                      <a:pt x="8529" y="152400"/>
                      <a:pt x="19050" y="152400"/>
                    </a:cubicBezTo>
                    <a:lnTo>
                      <a:pt x="114300" y="152400"/>
                    </a:lnTo>
                    <a:cubicBezTo>
                      <a:pt x="124821" y="152400"/>
                      <a:pt x="133350" y="143871"/>
                      <a:pt x="133350" y="133350"/>
                    </a:cubicBezTo>
                    <a:lnTo>
                      <a:pt x="133350" y="19050"/>
                    </a:lnTo>
                    <a:cubicBezTo>
                      <a:pt x="133350" y="8529"/>
                      <a:pt x="124821" y="0"/>
                      <a:pt x="114300" y="0"/>
                    </a:cubicBez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20D9E8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3305175" y="591502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38100" y="0"/>
                    </a:lnTo>
                    <a:cubicBezTo>
                      <a:pt x="48621" y="0"/>
                      <a:pt x="57150" y="8529"/>
                      <a:pt x="57150" y="19050"/>
                    </a:cubicBezTo>
                    <a:cubicBezTo>
                      <a:pt x="57150" y="29571"/>
                      <a:pt x="48621" y="38100"/>
                      <a:pt x="38100" y="38100"/>
                    </a:cubicBezTo>
                    <a:lnTo>
                      <a:pt x="19050" y="38100"/>
                    </a:lnTo>
                    <a:cubicBezTo>
                      <a:pt x="8529" y="38100"/>
                      <a:pt x="0" y="29571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20D9E8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3314700" y="601980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20D9E8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3333750" y="600075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20D9E8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3576447" y="5962174"/>
              <a:ext cx="13324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330 · RC2 candidate</a:t>
              </a:r>
            </a:p>
          </p:txBody>
        </p:sp>
        <p:grpSp>
          <p:nvGrpSpPr>
            <p:cNvPr id="76" name="Group 76"/>
            <p:cNvGrpSpPr/>
            <p:nvPr/>
          </p:nvGrpSpPr>
          <p:grpSpPr>
            <a:xfrm>
              <a:off x="5762338" y="5929884"/>
              <a:ext cx="174863" cy="156591"/>
              <a:chOff x="5762338" y="5929884"/>
              <a:chExt cx="174863" cy="156591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5762338" y="5929884"/>
                <a:ext cx="174863" cy="156591"/>
              </a:xfrm>
              <a:custGeom>
                <a:avLst/>
                <a:gdLst/>
                <a:ahLst/>
                <a:cxnLst/>
                <a:rect l="l" t="t" r="r" b="b"/>
                <a:pathLst>
                  <a:path w="174863" h="156591">
                    <a:moveTo>
                      <a:pt x="157450" y="85839"/>
                    </a:moveTo>
                    <a:lnTo>
                      <a:pt x="86012" y="156591"/>
                    </a:lnTo>
                    <a:lnTo>
                      <a:pt x="58428" y="129273"/>
                    </a:lnTo>
                    <a:moveTo>
                      <a:pt x="163" y="52083"/>
                    </a:moveTo>
                    <a:cubicBezTo>
                      <a:pt x="0" y="31476"/>
                      <a:pt x="13109" y="13102"/>
                      <a:pt x="32647" y="6551"/>
                    </a:cubicBezTo>
                    <a:cubicBezTo>
                      <a:pt x="52185" y="0"/>
                      <a:pt x="73720" y="6758"/>
                      <a:pt x="86012" y="23298"/>
                    </a:cubicBezTo>
                    <a:cubicBezTo>
                      <a:pt x="96749" y="9018"/>
                      <a:pt x="114576" y="1949"/>
                      <a:pt x="132182" y="4990"/>
                    </a:cubicBezTo>
                    <a:cubicBezTo>
                      <a:pt x="149788" y="8030"/>
                      <a:pt x="164211" y="20668"/>
                      <a:pt x="169537" y="37723"/>
                    </a:cubicBezTo>
                    <a:cubicBezTo>
                      <a:pt x="174863" y="54777"/>
                      <a:pt x="170196" y="73377"/>
                      <a:pt x="157450" y="85897"/>
                    </a:cubicBezTo>
                  </a:path>
                </a:pathLst>
              </a:custGeom>
              <a:noFill/>
              <a:ln w="19050">
                <a:solidFill>
                  <a:srgbClr val="20D9E8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5762625" y="5981700"/>
                <a:ext cx="952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57150">
                    <a:moveTo>
                      <a:pt x="0" y="28575"/>
                    </a:moveTo>
                    <a:lnTo>
                      <a:pt x="19050" y="28575"/>
                    </a:lnTo>
                    <a:lnTo>
                      <a:pt x="38100" y="57150"/>
                    </a:lnTo>
                    <a:lnTo>
                      <a:pt x="57150" y="0"/>
                    </a:lnTo>
                    <a:lnTo>
                      <a:pt x="66675" y="28575"/>
                    </a:lnTo>
                    <a:lnTo>
                      <a:pt x="95250" y="28575"/>
                    </a:lnTo>
                  </a:path>
                </a:pathLst>
              </a:custGeom>
              <a:noFill/>
              <a:ln w="19050">
                <a:solidFill>
                  <a:srgbClr val="20D9E8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6091047" y="5962174"/>
              <a:ext cx="4670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/ready</a:t>
              </a:r>
            </a:p>
          </p:txBody>
        </p:sp>
        <p:sp>
          <p:nvSpPr>
            <p:cNvPr id="78" name="Freeform 78"/>
            <p:cNvSpPr/>
            <p:nvPr/>
          </p:nvSpPr>
          <p:spPr>
            <a:xfrm>
              <a:off x="8248483" y="5918730"/>
              <a:ext cx="228767" cy="164068"/>
            </a:xfrm>
            <a:custGeom>
              <a:avLst/>
              <a:gdLst/>
              <a:ahLst/>
              <a:cxnLst/>
              <a:rect l="l" t="t" r="r" b="b"/>
              <a:pathLst>
                <a:path w="228767" h="164068">
                  <a:moveTo>
                    <a:pt x="133355" y="73238"/>
                  </a:moveTo>
                  <a:lnTo>
                    <a:pt x="153538" y="73238"/>
                  </a:lnTo>
                  <a:cubicBezTo>
                    <a:pt x="154513" y="73238"/>
                    <a:pt x="155305" y="72450"/>
                    <a:pt x="155310" y="71476"/>
                  </a:cubicBezTo>
                  <a:lnTo>
                    <a:pt x="155310" y="53502"/>
                  </a:lnTo>
                  <a:cubicBezTo>
                    <a:pt x="155310" y="52523"/>
                    <a:pt x="154517" y="51730"/>
                    <a:pt x="153538" y="51730"/>
                  </a:cubicBezTo>
                  <a:lnTo>
                    <a:pt x="133355" y="51730"/>
                  </a:lnTo>
                  <a:cubicBezTo>
                    <a:pt x="132888" y="51730"/>
                    <a:pt x="132439" y="51916"/>
                    <a:pt x="132109" y="52246"/>
                  </a:cubicBezTo>
                  <a:cubicBezTo>
                    <a:pt x="131778" y="52577"/>
                    <a:pt x="131593" y="53025"/>
                    <a:pt x="131593" y="53492"/>
                  </a:cubicBezTo>
                  <a:lnTo>
                    <a:pt x="131593" y="71476"/>
                  </a:lnTo>
                  <a:cubicBezTo>
                    <a:pt x="131593" y="72447"/>
                    <a:pt x="132383" y="73238"/>
                    <a:pt x="133355" y="73238"/>
                  </a:cubicBezTo>
                  <a:moveTo>
                    <a:pt x="105218" y="21517"/>
                  </a:moveTo>
                  <a:lnTo>
                    <a:pt x="125392" y="21517"/>
                  </a:lnTo>
                  <a:cubicBezTo>
                    <a:pt x="126370" y="21517"/>
                    <a:pt x="127164" y="20724"/>
                    <a:pt x="127164" y="19745"/>
                  </a:cubicBezTo>
                  <a:lnTo>
                    <a:pt x="127164" y="1762"/>
                  </a:lnTo>
                  <a:cubicBezTo>
                    <a:pt x="127158" y="787"/>
                    <a:pt x="126367" y="0"/>
                    <a:pt x="125392" y="0"/>
                  </a:cubicBezTo>
                  <a:lnTo>
                    <a:pt x="105218" y="0"/>
                  </a:lnTo>
                  <a:cubicBezTo>
                    <a:pt x="104751" y="0"/>
                    <a:pt x="104303" y="186"/>
                    <a:pt x="103972" y="516"/>
                  </a:cubicBezTo>
                  <a:cubicBezTo>
                    <a:pt x="103642" y="847"/>
                    <a:pt x="103456" y="1295"/>
                    <a:pt x="103456" y="1762"/>
                  </a:cubicBezTo>
                  <a:lnTo>
                    <a:pt x="103456" y="19745"/>
                  </a:lnTo>
                  <a:cubicBezTo>
                    <a:pt x="103456" y="20717"/>
                    <a:pt x="104237" y="21507"/>
                    <a:pt x="105218" y="21507"/>
                  </a:cubicBezTo>
                  <a:moveTo>
                    <a:pt x="105218" y="47377"/>
                  </a:moveTo>
                  <a:lnTo>
                    <a:pt x="125392" y="47377"/>
                  </a:lnTo>
                  <a:cubicBezTo>
                    <a:pt x="126368" y="47372"/>
                    <a:pt x="127158" y="46582"/>
                    <a:pt x="127164" y="45606"/>
                  </a:cubicBezTo>
                  <a:lnTo>
                    <a:pt x="127164" y="27632"/>
                  </a:lnTo>
                  <a:cubicBezTo>
                    <a:pt x="127158" y="26657"/>
                    <a:pt x="126367" y="25870"/>
                    <a:pt x="125392" y="25870"/>
                  </a:cubicBezTo>
                  <a:lnTo>
                    <a:pt x="105218" y="25870"/>
                  </a:lnTo>
                  <a:cubicBezTo>
                    <a:pt x="104751" y="25870"/>
                    <a:pt x="104303" y="26056"/>
                    <a:pt x="103972" y="26386"/>
                  </a:cubicBezTo>
                  <a:cubicBezTo>
                    <a:pt x="103642" y="26716"/>
                    <a:pt x="103456" y="27165"/>
                    <a:pt x="103456" y="27632"/>
                  </a:cubicBezTo>
                  <a:lnTo>
                    <a:pt x="103456" y="45606"/>
                  </a:lnTo>
                  <a:cubicBezTo>
                    <a:pt x="103456" y="46577"/>
                    <a:pt x="104237" y="47368"/>
                    <a:pt x="105218" y="47377"/>
                  </a:cubicBezTo>
                  <a:moveTo>
                    <a:pt x="77310" y="47377"/>
                  </a:moveTo>
                  <a:lnTo>
                    <a:pt x="97503" y="47377"/>
                  </a:lnTo>
                  <a:cubicBezTo>
                    <a:pt x="98474" y="47367"/>
                    <a:pt x="99255" y="46577"/>
                    <a:pt x="99255" y="45606"/>
                  </a:cubicBezTo>
                  <a:lnTo>
                    <a:pt x="99255" y="27632"/>
                  </a:lnTo>
                  <a:cubicBezTo>
                    <a:pt x="99255" y="27165"/>
                    <a:pt x="99070" y="26716"/>
                    <a:pt x="98739" y="26386"/>
                  </a:cubicBezTo>
                  <a:cubicBezTo>
                    <a:pt x="98409" y="26056"/>
                    <a:pt x="97961" y="25870"/>
                    <a:pt x="97493" y="25870"/>
                  </a:cubicBezTo>
                  <a:lnTo>
                    <a:pt x="77319" y="25870"/>
                  </a:lnTo>
                  <a:cubicBezTo>
                    <a:pt x="76346" y="25870"/>
                    <a:pt x="75557" y="26659"/>
                    <a:pt x="75557" y="27632"/>
                  </a:cubicBezTo>
                  <a:lnTo>
                    <a:pt x="75557" y="45606"/>
                  </a:lnTo>
                  <a:cubicBezTo>
                    <a:pt x="75557" y="46577"/>
                    <a:pt x="76348" y="47368"/>
                    <a:pt x="77319" y="47377"/>
                  </a:cubicBezTo>
                  <a:moveTo>
                    <a:pt x="49087" y="47377"/>
                  </a:moveTo>
                  <a:lnTo>
                    <a:pt x="69271" y="47377"/>
                  </a:lnTo>
                  <a:cubicBezTo>
                    <a:pt x="70245" y="47372"/>
                    <a:pt x="71033" y="46580"/>
                    <a:pt x="71033" y="45606"/>
                  </a:cubicBezTo>
                  <a:lnTo>
                    <a:pt x="71033" y="27632"/>
                  </a:lnTo>
                  <a:cubicBezTo>
                    <a:pt x="71033" y="26659"/>
                    <a:pt x="70244" y="25870"/>
                    <a:pt x="69271" y="25870"/>
                  </a:cubicBezTo>
                  <a:lnTo>
                    <a:pt x="49087" y="25870"/>
                  </a:lnTo>
                  <a:cubicBezTo>
                    <a:pt x="48113" y="25870"/>
                    <a:pt x="47321" y="26657"/>
                    <a:pt x="47316" y="27632"/>
                  </a:cubicBezTo>
                  <a:lnTo>
                    <a:pt x="47316" y="45606"/>
                  </a:lnTo>
                  <a:cubicBezTo>
                    <a:pt x="47316" y="46577"/>
                    <a:pt x="48116" y="47368"/>
                    <a:pt x="49087" y="47377"/>
                  </a:cubicBezTo>
                  <a:moveTo>
                    <a:pt x="105218" y="73238"/>
                  </a:moveTo>
                  <a:lnTo>
                    <a:pt x="125392" y="73238"/>
                  </a:lnTo>
                  <a:cubicBezTo>
                    <a:pt x="126367" y="73238"/>
                    <a:pt x="127158" y="72450"/>
                    <a:pt x="127164" y="71476"/>
                  </a:cubicBezTo>
                  <a:lnTo>
                    <a:pt x="127164" y="53502"/>
                  </a:lnTo>
                  <a:cubicBezTo>
                    <a:pt x="127164" y="52523"/>
                    <a:pt x="126370" y="51730"/>
                    <a:pt x="125392" y="51730"/>
                  </a:cubicBezTo>
                  <a:lnTo>
                    <a:pt x="105218" y="51730"/>
                  </a:lnTo>
                  <a:cubicBezTo>
                    <a:pt x="104751" y="51730"/>
                    <a:pt x="104303" y="51916"/>
                    <a:pt x="103972" y="52246"/>
                  </a:cubicBezTo>
                  <a:cubicBezTo>
                    <a:pt x="103642" y="52577"/>
                    <a:pt x="103456" y="53025"/>
                    <a:pt x="103456" y="53492"/>
                  </a:cubicBezTo>
                  <a:lnTo>
                    <a:pt x="103456" y="71476"/>
                  </a:lnTo>
                  <a:cubicBezTo>
                    <a:pt x="103456" y="72447"/>
                    <a:pt x="104237" y="73238"/>
                    <a:pt x="105218" y="73238"/>
                  </a:cubicBezTo>
                  <a:moveTo>
                    <a:pt x="77310" y="73238"/>
                  </a:moveTo>
                  <a:lnTo>
                    <a:pt x="97503" y="73238"/>
                  </a:lnTo>
                  <a:cubicBezTo>
                    <a:pt x="98472" y="73232"/>
                    <a:pt x="99255" y="72445"/>
                    <a:pt x="99255" y="71476"/>
                  </a:cubicBezTo>
                  <a:lnTo>
                    <a:pt x="99255" y="53502"/>
                  </a:lnTo>
                  <a:cubicBezTo>
                    <a:pt x="99258" y="53035"/>
                    <a:pt x="99075" y="52585"/>
                    <a:pt x="98746" y="52253"/>
                  </a:cubicBezTo>
                  <a:cubicBezTo>
                    <a:pt x="98417" y="51921"/>
                    <a:pt x="97970" y="51733"/>
                    <a:pt x="97503" y="51730"/>
                  </a:cubicBezTo>
                  <a:lnTo>
                    <a:pt x="77310" y="51730"/>
                  </a:lnTo>
                  <a:cubicBezTo>
                    <a:pt x="76340" y="51736"/>
                    <a:pt x="75557" y="52523"/>
                    <a:pt x="75557" y="53492"/>
                  </a:cubicBezTo>
                  <a:lnTo>
                    <a:pt x="75557" y="71476"/>
                  </a:lnTo>
                  <a:cubicBezTo>
                    <a:pt x="75557" y="72447"/>
                    <a:pt x="76348" y="73238"/>
                    <a:pt x="77319" y="73238"/>
                  </a:cubicBezTo>
                  <a:moveTo>
                    <a:pt x="49087" y="73238"/>
                  </a:moveTo>
                  <a:lnTo>
                    <a:pt x="69271" y="73238"/>
                  </a:lnTo>
                  <a:cubicBezTo>
                    <a:pt x="69738" y="73238"/>
                    <a:pt x="70186" y="73052"/>
                    <a:pt x="70517" y="72722"/>
                  </a:cubicBezTo>
                  <a:cubicBezTo>
                    <a:pt x="70847" y="72391"/>
                    <a:pt x="71033" y="71943"/>
                    <a:pt x="71033" y="71476"/>
                  </a:cubicBezTo>
                  <a:lnTo>
                    <a:pt x="71033" y="53502"/>
                  </a:lnTo>
                  <a:cubicBezTo>
                    <a:pt x="71035" y="53035"/>
                    <a:pt x="70852" y="52585"/>
                    <a:pt x="70523" y="52253"/>
                  </a:cubicBezTo>
                  <a:cubicBezTo>
                    <a:pt x="70195" y="51921"/>
                    <a:pt x="69748" y="51733"/>
                    <a:pt x="69280" y="51730"/>
                  </a:cubicBezTo>
                  <a:lnTo>
                    <a:pt x="49087" y="51730"/>
                  </a:lnTo>
                  <a:cubicBezTo>
                    <a:pt x="48109" y="51730"/>
                    <a:pt x="47316" y="52523"/>
                    <a:pt x="47316" y="53502"/>
                  </a:cubicBezTo>
                  <a:lnTo>
                    <a:pt x="47316" y="71476"/>
                  </a:lnTo>
                  <a:cubicBezTo>
                    <a:pt x="47316" y="72447"/>
                    <a:pt x="48116" y="73238"/>
                    <a:pt x="49087" y="73238"/>
                  </a:cubicBezTo>
                  <a:moveTo>
                    <a:pt x="21274" y="73238"/>
                  </a:moveTo>
                  <a:lnTo>
                    <a:pt x="41467" y="73238"/>
                  </a:lnTo>
                  <a:cubicBezTo>
                    <a:pt x="42437" y="73232"/>
                    <a:pt x="43220" y="72445"/>
                    <a:pt x="43220" y="71476"/>
                  </a:cubicBezTo>
                  <a:lnTo>
                    <a:pt x="43220" y="53502"/>
                  </a:lnTo>
                  <a:cubicBezTo>
                    <a:pt x="43222" y="53035"/>
                    <a:pt x="43039" y="52585"/>
                    <a:pt x="42710" y="52253"/>
                  </a:cubicBezTo>
                  <a:cubicBezTo>
                    <a:pt x="42382" y="51921"/>
                    <a:pt x="41935" y="51733"/>
                    <a:pt x="41467" y="51730"/>
                  </a:cubicBezTo>
                  <a:lnTo>
                    <a:pt x="21274" y="51730"/>
                  </a:lnTo>
                  <a:cubicBezTo>
                    <a:pt x="20305" y="51736"/>
                    <a:pt x="19522" y="52523"/>
                    <a:pt x="19522" y="53492"/>
                  </a:cubicBezTo>
                  <a:lnTo>
                    <a:pt x="19522" y="71476"/>
                  </a:lnTo>
                  <a:cubicBezTo>
                    <a:pt x="19522" y="72447"/>
                    <a:pt x="20303" y="73238"/>
                    <a:pt x="21284" y="73238"/>
                  </a:cubicBezTo>
                  <a:moveTo>
                    <a:pt x="226509" y="61922"/>
                  </a:moveTo>
                  <a:cubicBezTo>
                    <a:pt x="225890" y="61436"/>
                    <a:pt x="220109" y="57064"/>
                    <a:pt x="207898" y="57064"/>
                  </a:cubicBezTo>
                  <a:cubicBezTo>
                    <a:pt x="204678" y="57074"/>
                    <a:pt x="201459" y="57350"/>
                    <a:pt x="198277" y="57893"/>
                  </a:cubicBezTo>
                  <a:cubicBezTo>
                    <a:pt x="195915" y="41700"/>
                    <a:pt x="182533" y="33795"/>
                    <a:pt x="181932" y="33452"/>
                  </a:cubicBezTo>
                  <a:lnTo>
                    <a:pt x="178656" y="31556"/>
                  </a:lnTo>
                  <a:lnTo>
                    <a:pt x="176503" y="34671"/>
                  </a:lnTo>
                  <a:cubicBezTo>
                    <a:pt x="173798" y="38843"/>
                    <a:pt x="171836" y="43453"/>
                    <a:pt x="170674" y="48292"/>
                  </a:cubicBezTo>
                  <a:cubicBezTo>
                    <a:pt x="168483" y="57531"/>
                    <a:pt x="169817" y="66218"/>
                    <a:pt x="174512" y="73638"/>
                  </a:cubicBezTo>
                  <a:cubicBezTo>
                    <a:pt x="168845" y="76800"/>
                    <a:pt x="159749" y="77572"/>
                    <a:pt x="157901" y="77638"/>
                  </a:cubicBezTo>
                  <a:lnTo>
                    <a:pt x="7320" y="77638"/>
                  </a:lnTo>
                  <a:cubicBezTo>
                    <a:pt x="3384" y="77643"/>
                    <a:pt x="192" y="80827"/>
                    <a:pt x="176" y="84763"/>
                  </a:cubicBezTo>
                  <a:cubicBezTo>
                    <a:pt x="0" y="97954"/>
                    <a:pt x="2234" y="111065"/>
                    <a:pt x="6768" y="123454"/>
                  </a:cubicBezTo>
                  <a:cubicBezTo>
                    <a:pt x="11959" y="137055"/>
                    <a:pt x="19674" y="147076"/>
                    <a:pt x="29723" y="153210"/>
                  </a:cubicBezTo>
                  <a:cubicBezTo>
                    <a:pt x="40962" y="160096"/>
                    <a:pt x="59250" y="164040"/>
                    <a:pt x="79967" y="164040"/>
                  </a:cubicBezTo>
                  <a:cubicBezTo>
                    <a:pt x="89330" y="164068"/>
                    <a:pt x="98665" y="163220"/>
                    <a:pt x="107876" y="161506"/>
                  </a:cubicBezTo>
                  <a:cubicBezTo>
                    <a:pt x="120666" y="159156"/>
                    <a:pt x="132974" y="154685"/>
                    <a:pt x="144290" y="148276"/>
                  </a:cubicBezTo>
                  <a:cubicBezTo>
                    <a:pt x="153624" y="142875"/>
                    <a:pt x="162006" y="136007"/>
                    <a:pt x="169150" y="127930"/>
                  </a:cubicBezTo>
                  <a:cubicBezTo>
                    <a:pt x="181075" y="114424"/>
                    <a:pt x="188181" y="99384"/>
                    <a:pt x="193467" y="86020"/>
                  </a:cubicBezTo>
                  <a:lnTo>
                    <a:pt x="195572" y="86020"/>
                  </a:lnTo>
                  <a:cubicBezTo>
                    <a:pt x="208641" y="86020"/>
                    <a:pt x="216670" y="80791"/>
                    <a:pt x="221099" y="76410"/>
                  </a:cubicBezTo>
                  <a:cubicBezTo>
                    <a:pt x="224042" y="73619"/>
                    <a:pt x="226338" y="70218"/>
                    <a:pt x="227833" y="66446"/>
                  </a:cubicBezTo>
                  <a:lnTo>
                    <a:pt x="228767" y="63703"/>
                  </a:lnTo>
                  <a:close/>
                </a:path>
              </a:pathLst>
            </a:custGeom>
            <a:solidFill>
              <a:srgbClr val="8CC0FF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605647" y="5962174"/>
              <a:ext cx="8940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Docker ready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28638" y="6398895"/>
            <a:ext cx="11134724" cy="176212"/>
            <a:chOff x="528638" y="6398895"/>
            <a:chExt cx="11134724" cy="176212"/>
          </a:xfrm>
        </p:grpSpPr>
        <p:sp>
          <p:nvSpPr>
            <p:cNvPr id="81" name="TextBox 81"/>
            <p:cNvSpPr txBox="1"/>
            <p:nvPr/>
          </p:nvSpPr>
          <p:spPr>
            <a:xfrm>
              <a:off x="528638" y="6398895"/>
              <a:ext cx="32241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7F96AE"/>
                  </a:solidFill>
                  <a:latin typeface="Microsoft YaHei"/>
                  <a:ea typeface="Microsoft YaHei"/>
                  <a:cs typeface="Microsoft YaHei"/>
                </a:rPr>
                <a:t>Merged evidence separated from open pilot candidates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227664" y="6398895"/>
              <a:ext cx="4356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08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20446" y="572452"/>
            <a:ext cx="5175123" cy="755905"/>
            <a:chOff x="520446" y="572452"/>
            <a:chExt cx="5175123" cy="755905"/>
          </a:xfrm>
        </p:grpSpPr>
        <p:sp>
          <p:nvSpPr>
            <p:cNvPr id="2" name="TextBox 2"/>
            <p:cNvSpPr txBox="1"/>
            <p:nvPr/>
          </p:nvSpPr>
          <p:spPr>
            <a:xfrm>
              <a:off x="528066" y="572452"/>
              <a:ext cx="12331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09 · 产品化路线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0446" y="8296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从可演示，到可试点，再到可集成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33400" y="2000250"/>
            <a:ext cx="11125200" cy="3638550"/>
            <a:chOff x="533400" y="2000250"/>
            <a:chExt cx="11125200" cy="3638550"/>
          </a:xfrm>
        </p:grpSpPr>
        <p:sp>
          <p:nvSpPr>
            <p:cNvPr id="5" name="Rectangle 5"/>
            <p:cNvSpPr/>
            <p:nvPr/>
          </p:nvSpPr>
          <p:spPr>
            <a:xfrm>
              <a:off x="990600" y="2266950"/>
              <a:ext cx="9886950" cy="762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7CF4"/>
                </a:gs>
                <a:gs pos="65000">
                  <a:srgbClr val="20D9E8"/>
                </a:gs>
                <a:gs pos="100000">
                  <a:srgbClr val="23D7B0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276350" y="2000250"/>
              <a:ext cx="609600" cy="609600"/>
            </a:xfrm>
            <a:prstGeom prst="ellipse">
              <a:avLst/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4286250" y="2000250"/>
              <a:ext cx="609600" cy="609600"/>
            </a:xfrm>
            <a:prstGeom prst="ellipse">
              <a:avLst/>
            </a:prstGeom>
            <a:solidFill>
              <a:srgbClr val="0AAFC0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7296150" y="2000250"/>
              <a:ext cx="609600" cy="609600"/>
            </a:xfrm>
            <a:prstGeom prst="ellipse">
              <a:avLst/>
            </a:prstGeom>
            <a:solidFill>
              <a:srgbClr val="20BFAF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306050" y="2000250"/>
              <a:ext cx="609600" cy="609600"/>
            </a:xfrm>
            <a:prstGeom prst="ellipse">
              <a:avLst/>
            </a:prstGeom>
            <a:solidFill>
              <a:srgbClr val="23A88E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484347" y="2162175"/>
              <a:ext cx="193606" cy="285751"/>
              <a:chOff x="1484347" y="2162175"/>
              <a:chExt cx="193606" cy="28575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533525" y="2162175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549400" y="2257425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484347" y="2162175"/>
                <a:ext cx="193606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193606" h="285751">
                    <a:moveTo>
                      <a:pt x="65053" y="0"/>
                    </a:moveTo>
                    <a:lnTo>
                      <a:pt x="65053" y="95250"/>
                    </a:lnTo>
                    <a:lnTo>
                      <a:pt x="1553" y="269876"/>
                    </a:lnTo>
                    <a:cubicBezTo>
                      <a:pt x="0" y="272999"/>
                      <a:pt x="4" y="276671"/>
                      <a:pt x="1564" y="279792"/>
                    </a:cubicBezTo>
                    <a:cubicBezTo>
                      <a:pt x="3125" y="282912"/>
                      <a:pt x="6060" y="285118"/>
                      <a:pt x="9490" y="285751"/>
                    </a:cubicBezTo>
                    <a:lnTo>
                      <a:pt x="184116" y="285751"/>
                    </a:lnTo>
                    <a:cubicBezTo>
                      <a:pt x="187547" y="285118"/>
                      <a:pt x="190481" y="282912"/>
                      <a:pt x="192042" y="279792"/>
                    </a:cubicBezTo>
                    <a:cubicBezTo>
                      <a:pt x="193602" y="276671"/>
                      <a:pt x="193606" y="272999"/>
                      <a:pt x="192053" y="269876"/>
                    </a:cubicBezTo>
                    <a:lnTo>
                      <a:pt x="128553" y="95250"/>
                    </a:lnTo>
                    <a:lnTo>
                      <a:pt x="128553" y="0"/>
                    </a:ln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</p:grpSp>
        <p:sp>
          <p:nvSpPr>
            <p:cNvPr id="14" name="Freeform 14"/>
            <p:cNvSpPr/>
            <p:nvPr/>
          </p:nvSpPr>
          <p:spPr>
            <a:xfrm>
              <a:off x="4479925" y="2193925"/>
              <a:ext cx="222250" cy="222250"/>
            </a:xfrm>
            <a:custGeom>
              <a:avLst/>
              <a:gdLst/>
              <a:ahLst/>
              <a:cxnLst/>
              <a:rect l="l" t="t" r="r" b="b"/>
              <a:pathLst>
                <a:path w="222250" h="222250">
                  <a:moveTo>
                    <a:pt x="0" y="111125"/>
                  </a:moveTo>
                  <a:cubicBezTo>
                    <a:pt x="0" y="172498"/>
                    <a:pt x="49752" y="222250"/>
                    <a:pt x="111125" y="222250"/>
                  </a:cubicBezTo>
                  <a:cubicBezTo>
                    <a:pt x="172498" y="222250"/>
                    <a:pt x="222250" y="172498"/>
                    <a:pt x="222250" y="111125"/>
                  </a:cubicBezTo>
                  <a:cubicBezTo>
                    <a:pt x="222250" y="49752"/>
                    <a:pt x="172498" y="0"/>
                    <a:pt x="111125" y="0"/>
                  </a:cubicBezTo>
                  <a:cubicBezTo>
                    <a:pt x="49752" y="0"/>
                    <a:pt x="0" y="49752"/>
                    <a:pt x="0" y="111125"/>
                  </a:cubicBezTo>
                </a:path>
              </a:pathLst>
            </a:custGeom>
            <a:noFill/>
            <a:ln w="31750">
              <a:solidFill>
                <a:srgbClr val="FFFFFF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458075" y="2162175"/>
              <a:ext cx="301626" cy="285750"/>
              <a:chOff x="7458075" y="2162175"/>
              <a:chExt cx="301626" cy="28575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458075" y="2178050"/>
                <a:ext cx="174625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174625">
                    <a:moveTo>
                      <a:pt x="47625" y="0"/>
                    </a:moveTo>
                    <a:lnTo>
                      <a:pt x="31750" y="0"/>
                    </a:lnTo>
                    <a:cubicBezTo>
                      <a:pt x="14215" y="0"/>
                      <a:pt x="0" y="14215"/>
                      <a:pt x="0" y="31750"/>
                    </a:cubicBezTo>
                    <a:lnTo>
                      <a:pt x="0" y="87313"/>
                    </a:lnTo>
                    <a:cubicBezTo>
                      <a:pt x="0" y="135534"/>
                      <a:pt x="39091" y="174625"/>
                      <a:pt x="87313" y="174625"/>
                    </a:cubicBezTo>
                    <a:cubicBezTo>
                      <a:pt x="135534" y="174625"/>
                      <a:pt x="174625" y="135534"/>
                      <a:pt x="174625" y="87313"/>
                    </a:cubicBezTo>
                    <a:lnTo>
                      <a:pt x="174625" y="31750"/>
                    </a:lnTo>
                    <a:cubicBezTo>
                      <a:pt x="174625" y="14215"/>
                      <a:pt x="160410" y="0"/>
                      <a:pt x="142875" y="0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537450" y="2305050"/>
                <a:ext cx="1905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42875">
                    <a:moveTo>
                      <a:pt x="0" y="47625"/>
                    </a:moveTo>
                    <a:cubicBezTo>
                      <a:pt x="0" y="100230"/>
                      <a:pt x="42645" y="142875"/>
                      <a:pt x="95250" y="142875"/>
                    </a:cubicBezTo>
                    <a:cubicBezTo>
                      <a:pt x="147855" y="142875"/>
                      <a:pt x="190500" y="100230"/>
                      <a:pt x="190500" y="47625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585075" y="2162175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505700" y="2162175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696201" y="22415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10467975" y="2162175"/>
              <a:ext cx="285751" cy="295276"/>
              <a:chOff x="10467975" y="2162175"/>
              <a:chExt cx="285751" cy="29527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10467975" y="2447926"/>
                <a:ext cx="28575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9525">
                    <a:moveTo>
                      <a:pt x="0" y="0"/>
                    </a:moveTo>
                    <a:lnTo>
                      <a:pt x="285751" y="0"/>
                    </a:ln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0499725" y="2162175"/>
                <a:ext cx="222250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85751">
                    <a:moveTo>
                      <a:pt x="0" y="285751"/>
                    </a:move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190500" y="0"/>
                    </a:lnTo>
                    <a:cubicBezTo>
                      <a:pt x="208035" y="0"/>
                      <a:pt x="222250" y="14215"/>
                      <a:pt x="222250" y="31750"/>
                    </a:cubicBezTo>
                    <a:lnTo>
                      <a:pt x="222250" y="285751"/>
                    </a:ln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0563225" y="23526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95250"/>
                    </a:move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63500" y="0"/>
                    </a:lnTo>
                    <a:cubicBezTo>
                      <a:pt x="81035" y="0"/>
                      <a:pt x="95250" y="14215"/>
                      <a:pt x="95250" y="31750"/>
                    </a:cubicBezTo>
                    <a:lnTo>
                      <a:pt x="95250" y="95250"/>
                    </a:ln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0579100" y="2257425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0610850" y="2225675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31750">
                <a:solidFill>
                  <a:srgbClr val="FFFFFF"/>
                </a:solidFill>
              </a:ln>
            </p:spPr>
          </p:sp>
        </p:grpSp>
        <p:sp>
          <p:nvSpPr>
            <p:cNvPr id="27" name="Rectangle 27"/>
            <p:cNvSpPr/>
            <p:nvPr/>
          </p:nvSpPr>
          <p:spPr>
            <a:xfrm>
              <a:off x="533400" y="2914650"/>
              <a:ext cx="2476500" cy="2724150"/>
            </a:xfrm>
            <a:prstGeom prst="roundRect">
              <a:avLst>
                <a:gd name="adj" fmla="val 7692"/>
              </a:avLst>
            </a:prstGeom>
            <a:solidFill>
              <a:srgbClr val="071A33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200400" y="2914650"/>
              <a:ext cx="2476500" cy="2724150"/>
            </a:xfrm>
            <a:prstGeom prst="roundRect">
              <a:avLst>
                <a:gd name="adj" fmla="val 7692"/>
              </a:avLst>
            </a:prstGeom>
            <a:solidFill>
              <a:srgbClr val="E8FBFD"/>
            </a:solidFill>
            <a:ln w="19050">
              <a:solidFill>
                <a:srgbClr val="9DEAF1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867400" y="2914650"/>
              <a:ext cx="2476500" cy="272415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9050">
              <a:solidFill>
                <a:srgbClr val="BEEADF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534400" y="2914650"/>
              <a:ext cx="3124200" cy="2724150"/>
            </a:xfrm>
            <a:prstGeom prst="roundRect">
              <a:avLst>
                <a:gd name="adj" fmla="val 6993"/>
              </a:avLst>
            </a:prstGeom>
            <a:solidFill>
              <a:srgbClr val="FFFFFF"/>
            </a:solidFill>
            <a:ln w="19050">
              <a:solidFill>
                <a:srgbClr val="D9E7F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90956" y="3177540"/>
              <a:ext cx="5156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POC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000250" y="3105150"/>
              <a:ext cx="742950" cy="285750"/>
            </a:xfrm>
            <a:prstGeom prst="roundRect">
              <a:avLst>
                <a:gd name="adj" fmla="val 50000"/>
              </a:avLst>
            </a:prstGeom>
            <a:solidFill>
              <a:srgbClr val="E4F9F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073038" y="3216116"/>
              <a:ext cx="5973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168A73"/>
                  </a:solidFill>
                  <a:latin typeface="Microsoft YaHei"/>
                  <a:ea typeface="Microsoft YaHei"/>
                  <a:cs typeface="Microsoft YaHei"/>
                </a:rPr>
                <a:t>COMPLETE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4385" y="37266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8CC0FF"/>
                  </a:solidFill>
                  <a:latin typeface="Microsoft YaHei"/>
                  <a:ea typeface="Microsoft YaHei"/>
                  <a:cs typeface="Microsoft YaHei"/>
                </a:rPr>
                <a:t>目标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3242" y="40262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可信审核闭环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4385" y="45077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8CC0FF"/>
                  </a:solidFill>
                  <a:latin typeface="Microsoft YaHei"/>
                  <a:ea typeface="Microsoft YaHei"/>
                  <a:cs typeface="Microsoft YaHei"/>
                </a:rPr>
                <a:t>验收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4385" y="48315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6D2DF"/>
                  </a:solidFill>
                  <a:latin typeface="Microsoft YaHei"/>
                  <a:ea typeface="Microsoft YaHei"/>
                  <a:cs typeface="Microsoft YaHei"/>
                </a:rPr>
                <a:t>角色门禁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4385" y="50982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6D2DF"/>
                  </a:solidFill>
                  <a:latin typeface="Microsoft YaHei"/>
                  <a:ea typeface="Microsoft YaHei"/>
                  <a:cs typeface="Microsoft YaHei"/>
                </a:rPr>
                <a:t>未审核不可导出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457956" y="3177540"/>
              <a:ext cx="597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Pilot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648200" y="3105150"/>
              <a:ext cx="762000" cy="285750"/>
            </a:xfrm>
            <a:prstGeom prst="roundRect">
              <a:avLst>
                <a:gd name="adj" fmla="val 50000"/>
              </a:avLst>
            </a:prstGeom>
            <a:solidFill>
              <a:srgbClr val="FFF1D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736636" y="3216116"/>
              <a:ext cx="58512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A76500"/>
                  </a:solidFill>
                  <a:latin typeface="Microsoft YaHei"/>
                  <a:ea typeface="Microsoft YaHei"/>
                  <a:cs typeface="Microsoft YaHei"/>
                </a:rPr>
                <a:t>CANDIDATE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461385" y="37266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AAFC0"/>
                  </a:solidFill>
                  <a:latin typeface="Microsoft YaHei"/>
                  <a:ea typeface="Microsoft YaHei"/>
                  <a:cs typeface="Microsoft YaHei"/>
                </a:rPr>
                <a:t>目标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460242" y="4026218"/>
              <a:ext cx="14769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RC2 + 长录音 QA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461385" y="45077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AAFC0"/>
                  </a:solidFill>
                  <a:latin typeface="Microsoft YaHei"/>
                  <a:ea typeface="Microsoft YaHei"/>
                  <a:cs typeface="Microsoft YaHei"/>
                </a:rPr>
                <a:t>验收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461385" y="4831556"/>
              <a:ext cx="4574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45637E"/>
                  </a:solidFill>
                  <a:latin typeface="Microsoft YaHei"/>
                  <a:ea typeface="Microsoft YaHei"/>
                  <a:cs typeface="Microsoft YaHei"/>
                </a:rPr>
                <a:t>P0 = 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461385" y="5098256"/>
              <a:ext cx="8708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5637E"/>
                  </a:solidFill>
                  <a:latin typeface="Microsoft YaHei"/>
                  <a:ea typeface="Microsoft YaHei"/>
                  <a:cs typeface="Microsoft YaHei"/>
                </a:rPr>
                <a:t>不可恢复 = 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26861" y="3103721"/>
              <a:ext cx="904456" cy="4977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-US" sz="142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Clinical</a:t>
              </a:r>
              <a:br/>
              <a:r>
                <a:rPr lang="en-US" sz="142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Assistant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334250" y="3105150"/>
              <a:ext cx="742950" cy="285750"/>
            </a:xfrm>
            <a:prstGeom prst="roundRect">
              <a:avLst>
                <a:gd name="adj" fmla="val 50000"/>
              </a:avLst>
            </a:prstGeom>
            <a:solidFill>
              <a:srgbClr val="EAF4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566247" y="3216116"/>
              <a:ext cx="2789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NEXT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128385" y="37266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3A88E"/>
                  </a:solidFill>
                  <a:latin typeface="Microsoft YaHei"/>
                  <a:ea typeface="Microsoft YaHei"/>
                  <a:cs typeface="Microsoft YaHei"/>
                </a:rPr>
                <a:t>目标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127242" y="40262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字段级临床评估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128385" y="45077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3A88E"/>
                  </a:solidFill>
                  <a:latin typeface="Microsoft YaHei"/>
                  <a:ea typeface="Microsoft YaHei"/>
                  <a:cs typeface="Microsoft YaHei"/>
                </a:rPr>
                <a:t>验收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128385" y="4831556"/>
              <a:ext cx="1007110" cy="486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120" dirty="0">
                  <a:solidFill>
                    <a:srgbClr val="45637E"/>
                  </a:solidFill>
                  <a:latin typeface="Microsoft YaHei"/>
                  <a:ea typeface="Microsoft YaHei"/>
                  <a:cs typeface="Microsoft YaHei"/>
                </a:rPr>
                <a:t>字段准确 ≥ 80%</a:t>
              </a:r>
              <a:br/>
              <a:r>
                <a:rPr lang="zh-CN" sz="1120" dirty="0">
                  <a:solidFill>
                    <a:srgbClr val="45637E"/>
                  </a:solidFill>
                  <a:latin typeface="Microsoft YaHei"/>
                  <a:ea typeface="Microsoft YaHei"/>
                  <a:cs typeface="Microsoft YaHei"/>
                </a:rPr>
                <a:t>完整性 ≥ 90%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794242" y="3226118"/>
              <a:ext cx="18853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Hospital Integration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629900" y="3105150"/>
              <a:ext cx="762000" cy="285750"/>
            </a:xfrm>
            <a:prstGeom prst="roundRect">
              <a:avLst>
                <a:gd name="adj" fmla="val 50000"/>
              </a:avLst>
            </a:prstGeom>
            <a:solidFill>
              <a:srgbClr val="EEF2F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804064" y="3216116"/>
              <a:ext cx="41367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526B83"/>
                  </a:solidFill>
                  <a:latin typeface="Microsoft YaHei"/>
                  <a:ea typeface="Microsoft YaHei"/>
                  <a:cs typeface="Microsoft YaHei"/>
                </a:rPr>
                <a:t>FUTURE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795385" y="37266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目标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794242" y="4026218"/>
              <a:ext cx="15057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SSO · HIS / EMR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795385" y="45077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验收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795385" y="4831556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5637E"/>
                  </a:solidFill>
                  <a:latin typeface="Microsoft YaHei"/>
                  <a:ea typeface="Microsoft YaHei"/>
                  <a:cs typeface="Microsoft YaHei"/>
                </a:rPr>
                <a:t>接口契约 + 审计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795385" y="5098256"/>
              <a:ext cx="787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5637E"/>
                  </a:solidFill>
                  <a:latin typeface="Microsoft YaHei"/>
                  <a:ea typeface="Microsoft YaHei"/>
                  <a:cs typeface="Microsoft YaHei"/>
                </a:rPr>
                <a:t>留痕 + 回滚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28638" y="6398895"/>
            <a:ext cx="11134724" cy="176212"/>
            <a:chOff x="528638" y="6398895"/>
            <a:chExt cx="11134724" cy="176212"/>
          </a:xfrm>
        </p:grpSpPr>
        <p:sp>
          <p:nvSpPr>
            <p:cNvPr id="63" name="TextBox 63"/>
            <p:cNvSpPr txBox="1"/>
            <p:nvPr/>
          </p:nvSpPr>
          <p:spPr>
            <a:xfrm>
              <a:off x="528638" y="6398895"/>
              <a:ext cx="37997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7890A8"/>
                  </a:solidFill>
                  <a:latin typeface="Microsoft YaHei"/>
                  <a:ea typeface="Microsoft YaHei"/>
                  <a:cs typeface="Microsoft YaHei"/>
                </a:rPr>
                <a:t>Targets are acceptance gates, not production-readiness claims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227664" y="6398895"/>
              <a:ext cx="4356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09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676" r="0" b="67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A33">
                  <a:alpha val="97000"/>
                </a:srgbClr>
              </a:gs>
              <a:gs pos="54000">
                <a:srgbClr val="071A33">
                  <a:alpha val="84000"/>
                </a:srgbClr>
              </a:gs>
              <a:gs pos="100000">
                <a:srgbClr val="071A33">
                  <a:alpha val="3200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0550" y="519321"/>
            <a:ext cx="1975817" cy="486138"/>
            <a:chOff x="590550" y="519321"/>
            <a:chExt cx="1975817" cy="486138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0550" y="519321"/>
              <a:ext cx="476250" cy="466308"/>
            </a:xfrm>
            <a:prstGeom prst="rect">
              <a:avLst/>
            </a:prstGeom>
          </p:spPr>
        </p:pic>
        <p:sp>
          <p:nvSpPr>
            <p:cNvPr id="5" name="TextBox 5"/>
            <p:cNvSpPr txBox="1"/>
            <p:nvPr/>
          </p:nvSpPr>
          <p:spPr>
            <a:xfrm>
              <a:off x="1210056" y="653415"/>
              <a:ext cx="1356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MediListen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3786" y="2400300"/>
            <a:ext cx="3143250" cy="1717929"/>
            <a:chOff x="573786" y="2400300"/>
            <a:chExt cx="3143250" cy="1717929"/>
          </a:xfrm>
        </p:grpSpPr>
        <p:sp>
          <p:nvSpPr>
            <p:cNvPr id="7" name="Rectangle 7"/>
            <p:cNvSpPr/>
            <p:nvPr/>
          </p:nvSpPr>
          <p:spPr>
            <a:xfrm>
              <a:off x="590550" y="2400300"/>
              <a:ext cx="819150" cy="47625"/>
            </a:xfrm>
            <a:prstGeom prst="roundRect">
              <a:avLst>
                <a:gd name="adj" fmla="val 40000"/>
              </a:avLst>
            </a:prstGeom>
            <a:gradFill>
              <a:gsLst>
                <a:gs pos="0">
                  <a:srgbClr val="20D9E8"/>
                </a:gs>
                <a:gs pos="100000">
                  <a:srgbClr val="2F7CF4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73786" y="2863215"/>
              <a:ext cx="31432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让医生把注意力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73786" y="3472815"/>
              <a:ext cx="22547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还给</a:t>
              </a:r>
              <a:r>
                <a:rPr lang="zh-CN" sz="33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患者</a:t>
              </a:r>
              <a:r>
                <a:rPr lang="zh-CN" sz="33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23875" y="5201602"/>
            <a:ext cx="5381625" cy="437198"/>
            <a:chOff x="523875" y="5201602"/>
            <a:chExt cx="5381625" cy="437198"/>
          </a:xfrm>
        </p:grpSpPr>
        <p:sp>
          <p:nvSpPr>
            <p:cNvPr id="11" name="TextBox 11"/>
            <p:cNvSpPr txBox="1"/>
            <p:nvPr/>
          </p:nvSpPr>
          <p:spPr>
            <a:xfrm>
              <a:off x="585216" y="5201602"/>
              <a:ext cx="34583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8CC0FF"/>
                  </a:solidFill>
                  <a:latin typeface="Microsoft YaHei"/>
                  <a:ea typeface="Microsoft YaHei"/>
                  <a:cs typeface="Microsoft YaHei"/>
                </a:rPr>
                <a:t>LISTEN · TRANSCRIBE · GENERATE · REVIEW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590550" y="5562600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19050">
              <a:solidFill>
                <a:srgbClr val="20D9E8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523875" y="5495925"/>
              <a:ext cx="133350" cy="133350"/>
            </a:xfrm>
            <a:prstGeom prst="ellipse">
              <a:avLst/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753100" y="5486400"/>
              <a:ext cx="152400" cy="152400"/>
            </a:xfrm>
            <a:prstGeom prst="ellipse">
              <a:avLst/>
            </a:prstGeom>
            <a:solidFill>
              <a:srgbClr val="23D7B0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edilisten_poc_review">
  <a:themeElements>
    <a:clrScheme name="medilisten_poc_review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listen_poc_review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edilisten_poc_re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edilisten_poc_review">
  <a:themeElements>
    <a:clrScheme name="medilisten_poc_review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listen_poc_review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edilisten_poc_re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2026-09-06T14:14:23Z</dcterms:created>
  <dcterms:modified xsi:type="dcterms:W3CDTF">2026-09-06T14:14:23Z</dcterms:modified>
  <cp:category/>
  <cp:contentStatus/>
</cp:coreProperties>
</file>