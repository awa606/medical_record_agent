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初我们希望证明AI能生成病历，POC让我们认识到，更重要的是让医生知道这些信息从哪里来、哪些内容需要确认，以及确认后的内容能否可靠交付。接下来沿着生成能力、风险控制、可信交付三个认知阶段，复盘团队为什么改变设计，以及哪些结论仍需验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次大模型调用可以整理文本，但它不能独自保证说话人归属正确、故障后的任务状态一致，也不能代表医生批准某份病历。医疗场景需要把生成建议和确认交付分开，输入先经过理解与风险判断，输出再经过医生审核。POC因此补上了生成链之外的控制环节，这证明团队开始管理责任边界，不表示系统已经获得临床有效性验证。实现依据：https://github.com/awa606/medical_record_agent/pull/47 和 https://github.com/awa606/medical_record_agent/pull/64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早期链路隐含了一个假设：只要文字转写正确，后面的病历就会可靠，但患者陈述如果被归为医生判断，字没有错，信息含义却已经改变。我们因此把问题拆成谁在说、信息属于谁、谁来确认，而不是只继续调整生成模型。角色质量门禁在生成前处理低置信度、角色未映射和混合角色等风险，存在疑点时要求人工确认，这是责任控制而非准确率证明。代价是部分输入需要暂停，选择这一代价，是因为生成后的语言润色无法补回错误的信息归属。实现依据：https://github.com/awa606/medical_record_agent/blob/690b72cef39a038bbd9edd561dbe72dc4c92a24d/app/services/asr/role_quality.py 和 https://github.com/awa606/medical_record_agent/pull/47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演示链路只能说明成功路径可以跑通，断连后如果页面和后台各自判断进度，团队就难以解释任务到底停在哪里。工程化设计把任务状态、事件日志和分片记录纳入处理过程，并让恢复后的内容仍然经过版本审核。这里讨论的恢复范围是已有事件和录音分片的续传，不承诺任意进程重启、服务故障或数据丢失后都可以自动恢复。我们接受记录状态和保存过程带来的实现成本，已知的断线脚本结果只能支持对应场景，更广的持久化及真实环境恢复仍需要验证。实现依据：https://github.com/awa606/medical_record_agent/pull/66 和 https://github.com/awa606/medical_record_agent/pull/64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日志记录的实际现象是前端已经显示失败，后台任务却仍在处理，这会让医生无法判断应该继续等待还是重新录音。恢复时如果前后端没有共同的可重放边界，就可能重复显示已处理事件，这里说的是工程风险，不是已确认发生的临床事故。修复以稳定事件编号、追加日志、断点恢复和去重对齐两端状态，同时原始日志中的逐事件人工延迟也说明根因不能简单归结为没有事件编号。脚本复验包含501个总事件、断点后的50个尾部事件和0个重复边界，只证明该脚本场景通过，不能外推为所有真实网络条件都已验证。现象依据：https://github.com/awa606/medical_record_agent/blob/690b72cef39a038bbd9edd561dbe72dc4c92a24d/logs/debug/2026-07-11_speaker_role_sse_stability.md ，复验依据：https://github.com/awa606/medical_record_agent/blob/690b72cef39a038bbd9edd561dbe72dc4c92a24d/data/asr_eval/reports/v0_8_11_sse_reconnect/sse_reconnect_report.json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如果系统只保存一个已审核状态，内容修改后仍然沿用旧批准，就可能导出医生没有确认过的内容。实际实现把审批绑定到revision_id，新修订使旧活动审批失效，导出只接受当前修订的有效审批。这个设计增加了一次必要复核，因为医生确认的是具体内容，不是对未来改动的无限授权。我们在这里陈述的是已经核实的版本绑定和导出约束，不把它扩大为未经验证的所有并发情形都已解决。实现依据：https://github.com/awa606/medical_record_agent/pull/64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要求每次录音都确认全部角色，是一种容易想到的安全方案，但它也会把确认成本加到每一次问诊，这里比较的是设计代价，不是已完成的用户耗时实验。现有处理按风险分流，质量达标且角色完整时可以继续，低置信度和未映射等疑点则按说话人聚合确认。自动继续只代表可以进入后续整理，不代表病历已经批准，两条路径最终仍须医生审核。我们选择减少不必要的角色确认，但不降低门禁要求，自动通过覆盖率、漏拦风险和医生操作负担仍需在真实场景中共同验证。实现依据：https://github.com/awa606/medical_record_agent/blob/690b72cef39a038bbd9edd561dbe72dc4c92a24d/static/doctor.js#L3974 和 https://github.com/awa606/medical_record_agent/blob/690b72cef39a038bbd9edd561dbe72dc4c92a24d/static/doctor.js#L1736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工作台使用的是演示数据，展示POC里转写证据、病历字段与医生确认如何放在同一个核对过程，而不是临床效果证明。我们希望把问诊后的重新整理转变为对AI草稿的核对确认，让医生保留医疗内容判断，而不是让医生从空白页面重新组织信息。这是待验证的工作流价值假设，不能据此宣称医生已经节省时间或愿意持续使用。后续需要比较审核耗时、修订负担和持续使用意愿，判断整理成本是否真正减少，而不是转移成更多核对成本。工作流依据：https://github.com/awa606/medical_record_agent/blob/690b72cef39a038bbd9edd561dbe72dc4c92a24d/docs/doctor_workbench_acceptance_v1_0.md ，截图复用自原有MediListen演示PPT。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一阶段需要用实验回答三个未知，而不是继续累加功能。真实环境用噪声和长录音回放并注入断连，检查记录完整性与恢复边界，任意重启后的持久化恢复不能视作已经通过。医学泛化按不同问诊场景分层开展字段级盲测，并对照原始证据分别统计错误，检查信息是否准确、有依据，医院集成则先在接口沙箱验证权限、审计和失败后的回退。实验与验收门槛需要结合试点场景明确，结果决定能否扩大使用范围，不把待验证方向写成现有成果。方向依据：https://github.com/awa606/medical_record_agent/issues/89 和 https://github.com/awa606/medical_record_agent/pull/96 ，相关候选工作不能作为已完成的临床验证。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AI负责整理信息，医生保留医疗内容的判断与确认，是我们持续验证的产品分工。团队仍然承担系统可靠性、证据可追溯和风险阻断的工程责任，医生审核并不替代这些责任。</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edilisten_poc_review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edilisten_poc_review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image" Target="../media/image_7b871dd8aaf945b5.png" />
  <Relationship Id="rId3" Type="http://schemas.openxmlformats.org/officeDocument/2006/relationships/image" Target="../media/image_2cbe01264aa76b50.png" />
        <Relationship Id="rId4"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
    <Relationship Id="rId3" Type="http://schemas.openxmlformats.org/officeDocument/2006/relationships/image" Target="../media/image_18d4961b916f0d1f.png" />    <Relationship Id="rId4"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image" Target="../media/image_18d4961b916f0d1f.png" />
  <Relationship Id="rId3" Type="http://schemas.openxmlformats.org/officeDocument/2006/relationships/image" Target="../media/image_2cbe01264aa76b50.png" />
        <Relationship Id="rId4"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071A33"/>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25280" r="0" b="25281"/>
          <a:stretch>
            <a:fillRect/>
          </a:stretch>
        </p:blipFill>
        <p:spPr>
          <a:xfrm>
            <a:off x="0" y="0"/>
            <a:ext cx="12192000" cy="6858000"/>
          </a:xfrm>
          <a:prstGeom prst="rect">
            <a:avLst/>
          </a:prstGeom>
        </p:spPr>
      </p:pic>
      <p:sp>
        <p:nvSpPr>
          <p:cNvPr id="3" name="Rectangle 3"/>
          <p:cNvSpPr/>
          <p:nvPr/>
        </p:nvSpPr>
        <p:spPr>
          <a:xfrm>
            <a:off x="0" y="0"/>
            <a:ext cx="12192000" cy="781050"/>
          </a:xfrm>
          <a:prstGeom prst="rect">
            <a:avLst/>
          </a:prstGeom>
          <a:solidFill>
            <a:srgbClr val="071A33"/>
          </a:solidFill>
          <a:ln>
            <a:noFill/>
          </a:ln>
        </p:spPr>
      </p:sp>
      <p:sp>
        <p:nvSpPr>
          <p:cNvPr id="4" name="Rectangle 4"/>
          <p:cNvSpPr/>
          <p:nvPr/>
        </p:nvSpPr>
        <p:spPr>
          <a:xfrm>
            <a:off x="0" y="0"/>
            <a:ext cx="12192000" cy="6858000"/>
          </a:xfrm>
          <a:prstGeom prst="rect">
            <a:avLst/>
          </a:prstGeom>
          <a:gradFill>
            <a:gsLst>
              <a:gs pos="0">
                <a:srgbClr val="071A33">
                  <a:alpha val="98000"/>
                </a:srgbClr>
              </a:gs>
              <a:gs pos="48000">
                <a:srgbClr val="071A33">
                  <a:alpha val="94000"/>
                </a:srgbClr>
              </a:gs>
              <a:gs pos="78000">
                <a:srgbClr val="071A33">
                  <a:alpha val="42000"/>
                </a:srgbClr>
              </a:gs>
              <a:gs pos="100000">
                <a:srgbClr val="071A33">
                  <a:alpha val="10000"/>
                </a:srgbClr>
              </a:gs>
            </a:gsLst>
            <a:lin ang="0" scaled="1"/>
          </a:gradFill>
          <a:ln>
            <a:noFill/>
          </a:ln>
        </p:spPr>
      </p:sp>
      <p:grpSp>
        <p:nvGrpSpPr>
          <p:cNvPr id="7" name="Group 7"/>
          <p:cNvGrpSpPr/>
          <p:nvPr/>
        </p:nvGrpSpPr>
        <p:grpSpPr>
          <a:xfrm>
            <a:off x="590550" y="462568"/>
            <a:ext cx="2165663" cy="520888"/>
            <a:chOff x="590550" y="462568"/>
            <a:chExt cx="2165663" cy="520888"/>
          </a:xfrm>
        </p:grpSpPr>
        <p:pic>
          <p:nvPicPr>
            <p:cNvPr id="5" name="Image 5"/>
            <p:cNvPicPr>
              <a:picLocks noChangeAspect="1"/>
            </p:cNvPicPr>
            <p:nvPr/>
          </p:nvPicPr>
          <p:blipFill>
            <a:blip r:embed="rId3"/>
            <a:stretch>
              <a:fillRect/>
            </a:stretch>
          </p:blipFill>
          <p:spPr>
            <a:xfrm>
              <a:off x="590550" y="462568"/>
              <a:ext cx="514350" cy="503613"/>
            </a:xfrm>
            <a:prstGeom prst="rect">
              <a:avLst/>
            </a:prstGeom>
          </p:spPr>
        </p:pic>
        <p:sp>
          <p:nvSpPr>
            <p:cNvPr id="6" name="TextBox 6"/>
            <p:cNvSpPr txBox="1"/>
            <p:nvPr/>
          </p:nvSpPr>
          <p:spPr>
            <a:xfrm>
              <a:off x="1247775" y="616744"/>
              <a:ext cx="1508438" cy="366712"/>
            </a:xfrm>
            <a:prstGeom prst="rect">
              <a:avLst/>
            </a:prstGeom>
            <a:noFill/>
            <a:ln>
              <a:noFill/>
            </a:ln>
          </p:spPr>
          <p:txBody>
            <a:bodyPr wrap="none" lIns="0" tIns="0" rIns="0" bIns="0" anchor="t" anchorCtr="0">
              <a:spAutoFit/>
            </a:bodyPr>
            <a:lstStyle/>
            <a:p>
              <a:pPr algn="l"/>
              <a:r>
                <a:rPr lang="en-US" sz="1880" b="1" spc="75" dirty="0">
                  <a:solidFill>
                    <a:srgbClr val="FFFFFF"/>
                  </a:solidFill>
                  <a:latin typeface="Microsoft YaHei"/>
                  <a:ea typeface="Microsoft YaHei"/>
                  <a:cs typeface="Microsoft YaHei"/>
                </a:rPr>
                <a:t>MediListen</a:t>
              </a:r>
            </a:p>
          </p:txBody>
        </p:sp>
      </p:grpSp>
      <p:grpSp>
        <p:nvGrpSpPr>
          <p:cNvPr id="13" name="Group 13"/>
          <p:cNvGrpSpPr/>
          <p:nvPr/>
        </p:nvGrpSpPr>
        <p:grpSpPr>
          <a:xfrm>
            <a:off x="559308" y="1684020"/>
            <a:ext cx="4103248" cy="2483739"/>
            <a:chOff x="559308" y="1684020"/>
            <a:chExt cx="4103248" cy="2483739"/>
          </a:xfrm>
        </p:grpSpPr>
        <p:sp>
          <p:nvSpPr>
            <p:cNvPr id="8" name="TextBox 8"/>
            <p:cNvSpPr txBox="1"/>
            <p:nvPr/>
          </p:nvSpPr>
          <p:spPr>
            <a:xfrm>
              <a:off x="571500" y="1684020"/>
              <a:ext cx="2937150"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icrosoft YaHei"/>
                  <a:ea typeface="Microsoft YaHei"/>
                  <a:cs typeface="Microsoft YaHei"/>
                </a:rPr>
                <a:t>MediListen</a:t>
              </a:r>
            </a:p>
          </p:txBody>
        </p:sp>
        <p:sp>
          <p:nvSpPr>
            <p:cNvPr id="9" name="Rectangle 9"/>
            <p:cNvSpPr/>
            <p:nvPr/>
          </p:nvSpPr>
          <p:spPr>
            <a:xfrm>
              <a:off x="590550" y="2343150"/>
              <a:ext cx="781050" cy="38100"/>
            </a:xfrm>
            <a:prstGeom prst="roundRect">
              <a:avLst>
                <a:gd name="adj" fmla="val 50000"/>
              </a:avLst>
            </a:prstGeom>
            <a:gradFill>
              <a:gsLst>
                <a:gs pos="0">
                  <a:srgbClr val="20D9E8"/>
                </a:gs>
                <a:gs pos="100000">
                  <a:srgbClr val="2F7CF4"/>
                </a:gs>
              </a:gsLst>
              <a:lin ang="0" scaled="1"/>
            </a:gradFill>
            <a:ln>
              <a:noFill/>
            </a:ln>
          </p:spPr>
        </p:sp>
        <p:sp>
          <p:nvSpPr>
            <p:cNvPr id="10" name="TextBox 10"/>
            <p:cNvSpPr txBox="1"/>
            <p:nvPr/>
          </p:nvSpPr>
          <p:spPr>
            <a:xfrm>
              <a:off x="578358" y="2636520"/>
              <a:ext cx="4084198" cy="469392"/>
            </a:xfrm>
            <a:prstGeom prst="rect">
              <a:avLst/>
            </a:prstGeom>
            <a:noFill/>
            <a:ln>
              <a:noFill/>
            </a:ln>
          </p:spPr>
          <p:txBody>
            <a:bodyPr wrap="none" lIns="0" tIns="0" rIns="0" bIns="0" anchor="t" anchorCtr="0">
              <a:spAutoFit/>
            </a:bodyPr>
            <a:lstStyle/>
            <a:p>
              <a:pPr algn="l"/>
              <a:r>
                <a:rPr lang="zh-CN" sz="2400" b="1" dirty="0">
                  <a:solidFill>
                    <a:srgbClr val="F7FBFF"/>
                  </a:solidFill>
                  <a:latin typeface="Microsoft YaHei"/>
                  <a:ea typeface="Microsoft YaHei"/>
                  <a:cs typeface="Microsoft YaHei"/>
                </a:rPr>
                <a:t>AI生成式电子病历辅助系统</a:t>
              </a:r>
            </a:p>
          </p:txBody>
        </p:sp>
        <p:sp>
          <p:nvSpPr>
            <p:cNvPr id="17" name="TextBox 17"/>
            <p:cNvSpPr txBox="1"/>
            <p:nvPr/>
          </p:nvSpPr>
          <p:spPr>
            <a:xfrm>
              <a:off x="559308" y="3255645"/>
              <a:ext cx="3742822" cy="469392"/>
            </a:xfrm>
            <a:prstGeom prst="rect">
              <a:avLst/>
            </a:prstGeom>
            <a:noFill/>
            <a:ln>
              <a:noFill/>
            </a:ln>
          </p:spPr>
          <p:txBody>
            <a:bodyPr wrap="none" lIns="0" tIns="0" rIns="0" bIns="0" anchor="t" anchorCtr="0">
              <a:spAutoFit/>
            </a:bodyPr>
            <a:lstStyle/>
            <a:p>
              <a:pPr algn="l"/>
              <a:r>
                <a:rPr lang="zh-CN" sz="2400" b="1" dirty="0">
                  <a:solidFill>
                    <a:srgbClr val="20D9E8"/>
                  </a:solidFill>
                  <a:latin typeface="Microsoft YaHei"/>
                  <a:ea typeface="Microsoft YaHei"/>
                  <a:cs typeface="Microsoft YaHei"/>
                </a:rPr>
                <a:t>从AI生成到可信病历闭环</a:t>
              </a:r>
            </a:p>
          </p:txBody>
        </p:sp>
        <p:sp>
          <p:nvSpPr>
            <p:cNvPr id="29" name="TextBox 18"/>
            <p:cNvSpPr txBox="1"/>
            <p:nvPr/>
          </p:nvSpPr>
          <p:spPr>
            <a:xfrm>
              <a:off x="571881" y="3815715"/>
              <a:ext cx="2028139" cy="352044"/>
            </a:xfrm>
            <a:prstGeom prst="rect">
              <a:avLst/>
            </a:prstGeom>
            <a:noFill/>
            <a:ln>
              <a:noFill/>
            </a:ln>
          </p:spPr>
          <p:txBody>
            <a:bodyPr wrap="none" lIns="0" tIns="0" rIns="0" bIns="0" anchor="t" anchorCtr="0">
              <a:spAutoFit/>
            </a:bodyPr>
            <a:lstStyle/>
            <a:p>
              <a:pPr algn="l"/>
              <a:r>
                <a:rPr lang="zh-CN" sz="1800" dirty="0">
                  <a:solidFill>
                    <a:srgbClr val="B8C6D9"/>
                  </a:solidFill>
                  <a:latin typeface="Microsoft YaHei"/>
                  <a:ea typeface="Microsoft YaHei"/>
                  <a:cs typeface="Microsoft YaHei"/>
                </a:rPr>
                <a:t>POC阶段工程复盘</a:t>
              </a:r>
            </a:p>
          </p:txBody>
        </p:sp>
      </p:grpSp>
      <p:grpSp>
        <p:nvGrpSpPr>
          <p:cNvPr id="27" name="Group 27"/>
          <p:cNvGrpSpPr/>
          <p:nvPr/>
        </p:nvGrpSpPr>
        <p:grpSpPr>
          <a:xfrm>
            <a:off x="8991600" y="5848350"/>
            <a:ext cx="1200150" cy="447675"/>
            <a:chOff x="8991600" y="5848350"/>
            <a:chExt cx="1200150" cy="447675"/>
          </a:xfrm>
        </p:grpSpPr>
        <p:sp>
          <p:nvSpPr>
            <p:cNvPr id="20" name="Rectangle 20"/>
            <p:cNvSpPr/>
            <p:nvPr/>
          </p:nvSpPr>
          <p:spPr>
            <a:xfrm>
              <a:off x="8991600" y="6029325"/>
              <a:ext cx="114300" cy="85725"/>
            </a:xfrm>
            <a:prstGeom prst="roundRect">
              <a:avLst>
                <a:gd name="adj" fmla="val 44444"/>
              </a:avLst>
            </a:prstGeom>
            <a:solidFill>
              <a:srgbClr val="20D9E8">
                <a:alpha val="55000"/>
              </a:srgbClr>
            </a:solidFill>
            <a:ln>
              <a:noFill/>
            </a:ln>
          </p:spPr>
        </p:sp>
        <p:sp>
          <p:nvSpPr>
            <p:cNvPr id="21" name="Rectangle 21"/>
            <p:cNvSpPr/>
            <p:nvPr/>
          </p:nvSpPr>
          <p:spPr>
            <a:xfrm>
              <a:off x="9172575" y="5943600"/>
              <a:ext cx="114300" cy="257175"/>
            </a:xfrm>
            <a:prstGeom prst="roundRect">
              <a:avLst>
                <a:gd name="adj" fmla="val 33333"/>
              </a:avLst>
            </a:prstGeom>
            <a:solidFill>
              <a:srgbClr val="20D9E8">
                <a:alpha val="70000"/>
              </a:srgbClr>
            </a:solidFill>
            <a:ln>
              <a:noFill/>
            </a:ln>
          </p:spPr>
        </p:sp>
        <p:sp>
          <p:nvSpPr>
            <p:cNvPr id="22" name="Rectangle 22"/>
            <p:cNvSpPr/>
            <p:nvPr/>
          </p:nvSpPr>
          <p:spPr>
            <a:xfrm>
              <a:off x="9353550" y="5848350"/>
              <a:ext cx="114300" cy="447675"/>
            </a:xfrm>
            <a:prstGeom prst="roundRect">
              <a:avLst>
                <a:gd name="adj" fmla="val 33333"/>
              </a:avLst>
            </a:prstGeom>
            <a:solidFill>
              <a:srgbClr val="20D9E8"/>
            </a:solidFill>
            <a:ln>
              <a:noFill/>
            </a:ln>
          </p:spPr>
        </p:sp>
        <p:sp>
          <p:nvSpPr>
            <p:cNvPr id="23" name="Rectangle 23"/>
            <p:cNvSpPr/>
            <p:nvPr/>
          </p:nvSpPr>
          <p:spPr>
            <a:xfrm>
              <a:off x="9534525" y="5991225"/>
              <a:ext cx="114300" cy="161925"/>
            </a:xfrm>
            <a:prstGeom prst="roundRect">
              <a:avLst>
                <a:gd name="adj" fmla="val 33333"/>
              </a:avLst>
            </a:prstGeom>
            <a:solidFill>
              <a:srgbClr val="2F7CF4"/>
            </a:solidFill>
            <a:ln>
              <a:noFill/>
            </a:ln>
          </p:spPr>
        </p:sp>
        <p:sp>
          <p:nvSpPr>
            <p:cNvPr id="24" name="Rectangle 24"/>
            <p:cNvSpPr/>
            <p:nvPr/>
          </p:nvSpPr>
          <p:spPr>
            <a:xfrm>
              <a:off x="9715500" y="5895975"/>
              <a:ext cx="114300" cy="352425"/>
            </a:xfrm>
            <a:prstGeom prst="roundRect">
              <a:avLst>
                <a:gd name="adj" fmla="val 33333"/>
              </a:avLst>
            </a:prstGeom>
            <a:solidFill>
              <a:srgbClr val="20D9E8"/>
            </a:solidFill>
            <a:ln>
              <a:noFill/>
            </a:ln>
          </p:spPr>
        </p:sp>
        <p:sp>
          <p:nvSpPr>
            <p:cNvPr id="25" name="Rectangle 25"/>
            <p:cNvSpPr/>
            <p:nvPr/>
          </p:nvSpPr>
          <p:spPr>
            <a:xfrm>
              <a:off x="9896475" y="5962650"/>
              <a:ext cx="114300" cy="219075"/>
            </a:xfrm>
            <a:prstGeom prst="roundRect">
              <a:avLst>
                <a:gd name="adj" fmla="val 33333"/>
              </a:avLst>
            </a:prstGeom>
            <a:solidFill>
              <a:srgbClr val="2F7CF4"/>
            </a:solidFill>
            <a:ln>
              <a:noFill/>
            </a:ln>
          </p:spPr>
        </p:sp>
        <p:sp>
          <p:nvSpPr>
            <p:cNvPr id="26" name="Rectangle 26"/>
            <p:cNvSpPr/>
            <p:nvPr/>
          </p:nvSpPr>
          <p:spPr>
            <a:xfrm>
              <a:off x="10077450" y="6019800"/>
              <a:ext cx="114300" cy="104775"/>
            </a:xfrm>
            <a:prstGeom prst="roundRect">
              <a:avLst>
                <a:gd name="adj" fmla="val 36364"/>
              </a:avLst>
            </a:prstGeom>
            <a:solidFill>
              <a:srgbClr val="20D9E8">
                <a:alpha val="65000"/>
              </a:srgbClr>
            </a:solidFill>
            <a:ln>
              <a:noFill/>
            </a:ln>
          </p:spPr>
        </p:sp>
      </p:grpSp>
      <p:grpSp>
        <p:nvGrpSpPr>
          <p:cNvPr id="28" name="Group 28"/>
          <p:cNvGrpSpPr/>
          <p:nvPr/>
        </p:nvGrpSpPr>
        <p:grpSpPr>
          <a:xfrm>
            <a:off x="633400" y="5486400"/>
            <a:ext cx="4600600" cy="653701"/>
            <a:chOff x="633400" y="5486400"/>
            <a:chExt cx="4600600" cy="653701"/>
          </a:xfrm>
        </p:grpSpPr>
        <p:sp>
          <p:nvSpPr>
            <p:cNvPr id="19" name="Line 19"/>
            <p:cNvSpPr/>
            <p:nvPr/>
          </p:nvSpPr>
          <p:spPr>
            <a:xfrm>
              <a:off x="1219200" y="5562600"/>
              <a:ext cx="1562100" cy="1"/>
            </a:xfrm>
            <a:prstGeom prst="line">
              <a:avLst/>
            </a:prstGeom>
            <a:noFill/>
            <a:ln w="19050">
              <a:solidFill>
                <a:srgbClr val="20D9E8"/>
              </a:solidFill>
              <a:tailEnd type="arrow" w="med" len="med"/>
            </a:ln>
          </p:spPr>
        </p:sp>
        <p:sp>
          <p:nvSpPr>
            <p:cNvPr id="30" name="Line 20"/>
            <p:cNvSpPr/>
            <p:nvPr/>
          </p:nvSpPr>
          <p:spPr>
            <a:xfrm>
              <a:off x="3086100" y="5562600"/>
              <a:ext cx="1562100" cy="1"/>
            </a:xfrm>
            <a:prstGeom prst="line">
              <a:avLst/>
            </a:prstGeom>
            <a:noFill/>
            <a:ln w="19050">
              <a:solidFill>
                <a:srgbClr val="20D9E8"/>
              </a:solidFill>
              <a:tailEnd type="arrow" w="med" len="med"/>
            </a:ln>
          </p:spPr>
        </p:sp>
        <p:sp>
          <p:nvSpPr>
            <p:cNvPr id="31" name="Ellipse 21"/>
            <p:cNvSpPr/>
            <p:nvPr/>
          </p:nvSpPr>
          <p:spPr>
            <a:xfrm>
              <a:off x="990600" y="5486400"/>
              <a:ext cx="152400" cy="152400"/>
            </a:xfrm>
            <a:prstGeom prst="ellipse">
              <a:avLst/>
            </a:prstGeom>
            <a:solidFill>
              <a:srgbClr val="2F7CF4"/>
            </a:solidFill>
            <a:ln>
              <a:noFill/>
            </a:ln>
          </p:spPr>
        </p:sp>
        <p:sp>
          <p:nvSpPr>
            <p:cNvPr id="32" name="TextBox 22"/>
            <p:cNvSpPr txBox="1"/>
            <p:nvPr/>
          </p:nvSpPr>
          <p:spPr>
            <a:xfrm>
              <a:off x="6334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生成能力</a:t>
              </a:r>
            </a:p>
          </p:txBody>
        </p:sp>
        <p:sp>
          <p:nvSpPr>
            <p:cNvPr id="33" name="Ellipse 23"/>
            <p:cNvSpPr/>
            <p:nvPr/>
          </p:nvSpPr>
          <p:spPr>
            <a:xfrm>
              <a:off x="2857500" y="5486400"/>
              <a:ext cx="152400" cy="152400"/>
            </a:xfrm>
            <a:prstGeom prst="ellipse">
              <a:avLst/>
            </a:prstGeom>
            <a:solidFill>
              <a:srgbClr val="20D9E8"/>
            </a:solidFill>
            <a:ln>
              <a:noFill/>
            </a:ln>
          </p:spPr>
        </p:sp>
        <p:sp>
          <p:nvSpPr>
            <p:cNvPr id="34" name="TextBox 24"/>
            <p:cNvSpPr txBox="1"/>
            <p:nvPr/>
          </p:nvSpPr>
          <p:spPr>
            <a:xfrm>
              <a:off x="25003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风险控制</a:t>
              </a:r>
            </a:p>
          </p:txBody>
        </p:sp>
        <p:sp>
          <p:nvSpPr>
            <p:cNvPr id="35" name="Ellipse 25"/>
            <p:cNvSpPr/>
            <p:nvPr/>
          </p:nvSpPr>
          <p:spPr>
            <a:xfrm>
              <a:off x="4724400" y="5486400"/>
              <a:ext cx="152400" cy="152400"/>
            </a:xfrm>
            <a:prstGeom prst="ellipse">
              <a:avLst/>
            </a:prstGeom>
            <a:solidFill>
              <a:srgbClr val="23D7B0"/>
            </a:solidFill>
            <a:ln>
              <a:noFill/>
            </a:ln>
          </p:spPr>
        </p:sp>
        <p:sp>
          <p:nvSpPr>
            <p:cNvPr id="36" name="TextBox 26"/>
            <p:cNvSpPr txBox="1"/>
            <p:nvPr/>
          </p:nvSpPr>
          <p:spPr>
            <a:xfrm>
              <a:off x="4367200" y="5832062"/>
              <a:ext cx="866800" cy="308039"/>
            </a:xfrm>
            <a:prstGeom prst="rect">
              <a:avLst/>
            </a:prstGeom>
            <a:noFill/>
            <a:ln>
              <a:noFill/>
            </a:ln>
          </p:spPr>
          <p:txBody>
            <a:bodyPr wrap="none" lIns="0" tIns="0" rIns="0" bIns="0" anchor="t" anchorCtr="0">
              <a:spAutoFit/>
            </a:bodyPr>
            <a:lstStyle/>
            <a:p>
              <a:pPr algn="ctr"/>
              <a:r>
                <a:rPr lang="zh-CN" sz="1580" b="1" dirty="0">
                  <a:solidFill>
                    <a:srgbClr val="F7FBFF"/>
                  </a:solidFill>
                  <a:latin typeface="Microsoft YaHei"/>
                  <a:ea typeface="Microsoft YaHei"/>
                  <a:cs typeface="Microsoft YaHei"/>
                </a:rPr>
                <a:t>可信交付</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77" name="Group 77"/>
          <p:cNvGrpSpPr/>
          <p:nvPr/>
        </p:nvGrpSpPr>
        <p:grpSpPr>
          <a:xfrm>
            <a:off x="11227664" y="6398895"/>
            <a:ext cx="435698" cy="176212"/>
            <a:chOff x="11227664" y="6398895"/>
            <a:chExt cx="435698" cy="176212"/>
          </a:xfrm>
        </p:grpSpPr>
        <p:sp>
          <p:nvSpPr>
            <p:cNvPr id="76" name="TextBox 76"/>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02 / 10</a:t>
              </a:r>
            </a:p>
          </p:txBody>
        </p:sp>
      </p:grpSp>
      <p:grpSp>
        <p:nvGrpSpPr>
          <p:cNvPr id="4" name="Group 4"/>
          <p:cNvGrpSpPr/>
          <p:nvPr/>
        </p:nvGrpSpPr>
        <p:grpSpPr>
          <a:xfrm>
            <a:off x="518922" y="759142"/>
            <a:ext cx="6934962" cy="557403"/>
            <a:chOff x="518922" y="759142"/>
            <a:chExt cx="6934962" cy="557403"/>
          </a:xfrm>
        </p:grpSpPr>
        <p:sp>
          <p:nvSpPr>
            <p:cNvPr id="3" name="TextBox 3"/>
            <p:cNvSpPr txBox="1"/>
            <p:nvPr/>
          </p:nvSpPr>
          <p:spPr>
            <a:xfrm>
              <a:off x="518922" y="759142"/>
              <a:ext cx="6934962" cy="557403"/>
            </a:xfrm>
            <a:prstGeom prst="rect">
              <a:avLst/>
            </a:prstGeom>
            <a:noFill/>
            <a:ln>
              <a:noFill/>
            </a:ln>
          </p:spPr>
          <p:txBody>
            <a:bodyPr wrap="none" lIns="0" tIns="0" rIns="0" bIns="0" anchor="t" anchorCtr="0">
              <a:spAutoFit/>
            </a:bodyPr>
            <a:lstStyle/>
            <a:p>
              <a:pPr algn="l"/>
              <a:r>
                <a:rPr lang="zh-CN" sz="2850" b="1" dirty="0">
                  <a:solidFill>
                    <a:srgbClr val="071A33"/>
                  </a:solidFill>
                  <a:latin typeface="Microsoft YaHei"/>
                  <a:ea typeface="Microsoft YaHei"/>
                  <a:cs typeface="Microsoft YaHei"/>
                </a:rPr>
                <a:t>医疗场景最大的挑战不是生成，而是责任</a:t>
              </a:r>
            </a:p>
          </p:txBody>
        </p:sp>
      </p:grpSp>
      <p:grpSp>
        <p:nvGrpSpPr>
          <p:cNvPr id="25" name="Group 25"/>
          <p:cNvGrpSpPr/>
          <p:nvPr/>
        </p:nvGrpSpPr>
        <p:grpSpPr>
          <a:xfrm>
            <a:off x="2001470" y="1954816"/>
            <a:ext cx="8371255" cy="3548825"/>
            <a:chOff x="2001470" y="1954816"/>
            <a:chExt cx="8371255" cy="3548825"/>
          </a:xfrm>
        </p:grpSpPr>
        <p:sp>
          <p:nvSpPr>
            <p:cNvPr id="5" name="TextBox 5"/>
            <p:cNvSpPr txBox="1"/>
            <p:nvPr/>
          </p:nvSpPr>
          <p:spPr>
            <a:xfrm>
              <a:off x="2001470" y="1954816"/>
              <a:ext cx="1426311"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普通AI链路</a:t>
              </a:r>
            </a:p>
          </p:txBody>
        </p:sp>
        <p:sp>
          <p:nvSpPr>
            <p:cNvPr id="6" name="TextBox 6"/>
            <p:cNvSpPr txBox="1"/>
            <p:nvPr/>
          </p:nvSpPr>
          <p:spPr>
            <a:xfrm>
              <a:off x="8621058" y="1954816"/>
              <a:ext cx="1522133" cy="396050"/>
            </a:xfrm>
            <a:prstGeom prst="rect">
              <a:avLst/>
            </a:prstGeom>
            <a:noFill/>
            <a:ln>
              <a:noFill/>
            </a:ln>
          </p:spPr>
          <p:txBody>
            <a:bodyPr wrap="none" lIns="0" tIns="0" rIns="0" bIns="0" anchor="t" anchorCtr="0">
              <a:spAutoFit/>
            </a:bodyPr>
            <a:lstStyle/>
            <a:p>
              <a:pPr algn="ctr"/>
              <a:r>
                <a:rPr lang="en-US" sz="2020" b="1" dirty="0">
                  <a:solidFill>
                    <a:srgbClr val="2F7CF4"/>
                  </a:solidFill>
                  <a:latin typeface="Microsoft YaHei"/>
                  <a:ea typeface="Microsoft YaHei"/>
                  <a:cs typeface="Microsoft YaHei"/>
                </a:rPr>
                <a:t>MediListen</a:t>
              </a:r>
            </a:p>
          </p:txBody>
        </p:sp>
        <p:sp>
          <p:nvSpPr>
            <p:cNvPr id="7" name="Line 7"/>
            <p:cNvSpPr/>
            <p:nvPr/>
          </p:nvSpPr>
          <p:spPr>
            <a:xfrm>
              <a:off x="2714625" y="3124200"/>
              <a:ext cx="1" cy="523875"/>
            </a:xfrm>
            <a:prstGeom prst="line">
              <a:avLst/>
            </a:prstGeom>
            <a:noFill/>
            <a:ln w="19050">
              <a:solidFill>
                <a:srgbClr val="5B718A"/>
              </a:solidFill>
              <a:tailEnd type="arrow" w="med" len="med"/>
            </a:ln>
          </p:spPr>
        </p:sp>
        <p:sp>
          <p:nvSpPr>
            <p:cNvPr id="8" name="Line 8"/>
            <p:cNvSpPr/>
            <p:nvPr/>
          </p:nvSpPr>
          <p:spPr>
            <a:xfrm>
              <a:off x="2714625" y="4114800"/>
              <a:ext cx="1" cy="523875"/>
            </a:xfrm>
            <a:prstGeom prst="line">
              <a:avLst/>
            </a:prstGeom>
            <a:noFill/>
            <a:ln w="19050">
              <a:solidFill>
                <a:srgbClr val="5B718A"/>
              </a:solidFill>
              <a:tailEnd type="arrow" w="med" len="med"/>
            </a:ln>
          </p:spPr>
        </p:sp>
        <p:sp>
          <p:nvSpPr>
            <p:cNvPr id="9" name="TextBox 9"/>
            <p:cNvSpPr txBox="1"/>
            <p:nvPr/>
          </p:nvSpPr>
          <p:spPr>
            <a:xfrm>
              <a:off x="2400300" y="27593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输入</a:t>
              </a:r>
            </a:p>
          </p:txBody>
        </p:sp>
        <p:sp>
          <p:nvSpPr>
            <p:cNvPr id="10" name="TextBox 10"/>
            <p:cNvSpPr txBox="1"/>
            <p:nvPr/>
          </p:nvSpPr>
          <p:spPr>
            <a:xfrm>
              <a:off x="2400300" y="37499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生成</a:t>
              </a:r>
            </a:p>
          </p:txBody>
        </p:sp>
        <p:sp>
          <p:nvSpPr>
            <p:cNvPr id="11" name="TextBox 11"/>
            <p:cNvSpPr txBox="1"/>
            <p:nvPr/>
          </p:nvSpPr>
          <p:spPr>
            <a:xfrm>
              <a:off x="2400300" y="4740592"/>
              <a:ext cx="628650" cy="440055"/>
            </a:xfrm>
            <a:prstGeom prst="rect">
              <a:avLst/>
            </a:prstGeom>
            <a:noFill/>
            <a:ln>
              <a:noFill/>
            </a:ln>
          </p:spPr>
          <p:txBody>
            <a:bodyPr wrap="none" lIns="0" tIns="0" rIns="0" bIns="0" anchor="t" anchorCtr="0">
              <a:spAutoFit/>
            </a:bodyPr>
            <a:lstStyle/>
            <a:p>
              <a:pPr algn="ctr"/>
              <a:r>
                <a:rPr lang="zh-CN" sz="2250" b="1" dirty="0">
                  <a:solidFill>
                    <a:srgbClr val="5B718A"/>
                  </a:solidFill>
                  <a:latin typeface="Microsoft YaHei"/>
                  <a:ea typeface="Microsoft YaHei"/>
                  <a:cs typeface="Microsoft YaHei"/>
                </a:rPr>
                <a:t>输出</a:t>
              </a:r>
            </a:p>
          </p:txBody>
        </p:sp>
        <p:sp>
          <p:nvSpPr>
            <p:cNvPr id="12" name="Line 12"/>
            <p:cNvSpPr/>
            <p:nvPr/>
          </p:nvSpPr>
          <p:spPr>
            <a:xfrm>
              <a:off x="9382125" y="2905125"/>
              <a:ext cx="1" cy="171450"/>
            </a:xfrm>
            <a:prstGeom prst="line">
              <a:avLst/>
            </a:prstGeom>
            <a:noFill/>
            <a:ln w="19050">
              <a:solidFill>
                <a:srgbClr val="2F7CF4"/>
              </a:solidFill>
              <a:tailEnd type="arrow" w="med" len="med"/>
            </a:ln>
          </p:spPr>
        </p:sp>
        <p:sp>
          <p:nvSpPr>
            <p:cNvPr id="13" name="Line 13"/>
            <p:cNvSpPr/>
            <p:nvPr/>
          </p:nvSpPr>
          <p:spPr>
            <a:xfrm>
              <a:off x="9382125" y="3543300"/>
              <a:ext cx="1" cy="171450"/>
            </a:xfrm>
            <a:prstGeom prst="line">
              <a:avLst/>
            </a:prstGeom>
            <a:noFill/>
            <a:ln w="19050">
              <a:solidFill>
                <a:srgbClr val="2F7CF4"/>
              </a:solidFill>
              <a:tailEnd type="arrow" w="med" len="med"/>
            </a:ln>
          </p:spPr>
        </p:sp>
        <p:sp>
          <p:nvSpPr>
            <p:cNvPr id="14" name="Line 14"/>
            <p:cNvSpPr/>
            <p:nvPr/>
          </p:nvSpPr>
          <p:spPr>
            <a:xfrm>
              <a:off x="9382125" y="4181475"/>
              <a:ext cx="1" cy="171450"/>
            </a:xfrm>
            <a:prstGeom prst="line">
              <a:avLst/>
            </a:prstGeom>
            <a:noFill/>
            <a:ln w="19050">
              <a:solidFill>
                <a:srgbClr val="2F7CF4"/>
              </a:solidFill>
              <a:tailEnd type="arrow" w="med" len="med"/>
            </a:ln>
          </p:spPr>
        </p:sp>
        <p:sp>
          <p:nvSpPr>
            <p:cNvPr id="15" name="Line 15"/>
            <p:cNvSpPr/>
            <p:nvPr/>
          </p:nvSpPr>
          <p:spPr>
            <a:xfrm>
              <a:off x="9382125" y="4819650"/>
              <a:ext cx="1" cy="171450"/>
            </a:xfrm>
            <a:prstGeom prst="line">
              <a:avLst/>
            </a:prstGeom>
            <a:noFill/>
            <a:ln w="19050">
              <a:solidFill>
                <a:srgbClr val="2F7CF4"/>
              </a:solidFill>
              <a:tailEnd type="arrow" w="med" len="med"/>
            </a:ln>
          </p:spPr>
        </p:sp>
        <p:sp>
          <p:nvSpPr>
            <p:cNvPr id="16" name="TextBox 16"/>
            <p:cNvSpPr txBox="1"/>
            <p:nvPr/>
          </p:nvSpPr>
          <p:spPr>
            <a:xfrm>
              <a:off x="9099906" y="2554891"/>
              <a:ext cx="564439"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输入</a:t>
              </a:r>
            </a:p>
          </p:txBody>
        </p:sp>
        <p:sp>
          <p:nvSpPr>
            <p:cNvPr id="17" name="TextBox 17"/>
            <p:cNvSpPr txBox="1"/>
            <p:nvPr/>
          </p:nvSpPr>
          <p:spPr>
            <a:xfrm>
              <a:off x="9099906" y="3193066"/>
              <a:ext cx="564439"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理解</a:t>
              </a:r>
            </a:p>
          </p:txBody>
        </p:sp>
        <p:sp>
          <p:nvSpPr>
            <p:cNvPr id="18" name="TextBox 18"/>
            <p:cNvSpPr txBox="1"/>
            <p:nvPr/>
          </p:nvSpPr>
          <p:spPr>
            <a:xfrm>
              <a:off x="8827973" y="3831241"/>
              <a:ext cx="1108304" cy="396050"/>
            </a:xfrm>
            <a:prstGeom prst="rect">
              <a:avLst/>
            </a:prstGeom>
            <a:noFill/>
            <a:ln>
              <a:noFill/>
            </a:ln>
          </p:spPr>
          <p:txBody>
            <a:bodyPr wrap="none" lIns="0" tIns="0" rIns="0" bIns="0" anchor="t" anchorCtr="0">
              <a:spAutoFit/>
            </a:bodyPr>
            <a:lstStyle/>
            <a:p>
              <a:pPr algn="ctr"/>
              <a:r>
                <a:rPr lang="zh-CN" sz="2020" b="1" dirty="0">
                  <a:solidFill>
                    <a:srgbClr val="071A33"/>
                  </a:solidFill>
                  <a:latin typeface="Microsoft YaHei"/>
                  <a:ea typeface="Microsoft YaHei"/>
                  <a:cs typeface="Microsoft YaHei"/>
                </a:rPr>
                <a:t>风险控制</a:t>
              </a:r>
            </a:p>
          </p:txBody>
        </p:sp>
        <p:sp>
          <p:nvSpPr>
            <p:cNvPr id="19" name="TextBox 19"/>
            <p:cNvSpPr txBox="1"/>
            <p:nvPr/>
          </p:nvSpPr>
          <p:spPr>
            <a:xfrm>
              <a:off x="8827973" y="4469416"/>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医生审核</a:t>
              </a:r>
            </a:p>
          </p:txBody>
        </p:sp>
        <p:sp>
          <p:nvSpPr>
            <p:cNvPr id="20" name="TextBox 20"/>
            <p:cNvSpPr txBox="1"/>
            <p:nvPr/>
          </p:nvSpPr>
          <p:spPr>
            <a:xfrm>
              <a:off x="8827973" y="5107591"/>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责任交付</a:t>
              </a:r>
            </a:p>
          </p:txBody>
        </p:sp>
        <p:sp>
          <p:nvSpPr>
            <p:cNvPr id="21" name="Line 21"/>
            <p:cNvSpPr/>
            <p:nvPr/>
          </p:nvSpPr>
          <p:spPr>
            <a:xfrm>
              <a:off x="5524500" y="2533650"/>
              <a:ext cx="9525" cy="2705100"/>
            </a:xfrm>
            <a:custGeom>
              <a:avLst/>
              <a:gdLst/>
              <a:ahLst/>
              <a:cxnLst/>
              <a:rect l="l" t="t" r="r" b="b"/>
              <a:pathLst>
                <a:path w="9525" h="2705100">
                  <a:moveTo>
                    <a:pt x="0" y="0"/>
                  </a:moveTo>
                  <a:lnTo>
                    <a:pt x="0" y="2705100"/>
                  </a:lnTo>
                </a:path>
              </a:pathLst>
            </a:custGeom>
            <a:noFill/>
            <a:ln w="9525">
              <a:solidFill>
                <a:srgbClr val="D9E8F5"/>
              </a:solidFill>
            </a:ln>
          </p:spPr>
        </p:sp>
        <p:sp>
          <p:nvSpPr>
            <p:cNvPr id="22" name="TextBox 22"/>
            <p:cNvSpPr txBox="1"/>
            <p:nvPr/>
          </p:nvSpPr>
          <p:spPr>
            <a:xfrm>
              <a:off x="5943219" y="3215068"/>
              <a:ext cx="762762" cy="728091"/>
            </a:xfrm>
            <a:prstGeom prst="rect">
              <a:avLst/>
            </a:prstGeom>
            <a:noFill/>
            <a:ln>
              <a:noFill/>
            </a:ln>
          </p:spPr>
          <p:txBody>
            <a:bodyPr wrap="none" lIns="0" tIns="0" rIns="0" bIns="0" anchor="t" anchorCtr="0">
              <a:spAutoFit/>
            </a:bodyPr>
            <a:lstStyle/>
            <a:p>
              <a:pPr algn="ctr">
                <a:lnSpc>
                  <a:spcPts val="2730"/>
                </a:lnSpc>
              </a:pPr>
              <a:r>
                <a:rPr lang="zh-CN" sz="1950" b="1" dirty="0">
                  <a:solidFill>
                    <a:srgbClr val="FF6381"/>
                  </a:solidFill>
                  <a:latin typeface="Microsoft YaHei"/>
                  <a:ea typeface="Microsoft YaHei"/>
                  <a:cs typeface="Microsoft YaHei"/>
                </a:rPr>
                <a:t>归属？</a:t>
              </a:r>
              <a:br/>
              <a:r>
                <a:rPr lang="zh-CN" sz="1950" b="1" dirty="0">
                  <a:solidFill>
                    <a:srgbClr val="FF6381"/>
                  </a:solidFill>
                  <a:latin typeface="Microsoft YaHei"/>
                  <a:ea typeface="Microsoft YaHei"/>
                  <a:cs typeface="Microsoft YaHei"/>
                </a:rPr>
                <a:t>审核？</a:t>
              </a:r>
            </a:p>
          </p:txBody>
        </p:sp>
        <p:sp>
          <p:nvSpPr>
            <p:cNvPr id="23" name="Line 23"/>
            <p:cNvSpPr/>
            <p:nvPr/>
          </p:nvSpPr>
          <p:spPr>
            <a:xfrm>
              <a:off x="3771900" y="3895725"/>
              <a:ext cx="1076325" cy="1"/>
            </a:xfrm>
            <a:prstGeom prst="line">
              <a:avLst/>
            </a:prstGeom>
            <a:noFill/>
            <a:ln w="19050">
              <a:solidFill>
                <a:srgbClr val="FF6381"/>
              </a:solidFill>
              <a:tailEnd type="arrow" w="med" len="med"/>
            </a:ln>
          </p:spPr>
        </p:sp>
        <p:sp>
          <p:nvSpPr>
            <p:cNvPr id="24" name="Rectangle 24"/>
            <p:cNvSpPr/>
            <p:nvPr/>
          </p:nvSpPr>
          <p:spPr>
            <a:xfrm>
              <a:off x="8391525" y="4391025"/>
              <a:ext cx="1981200" cy="419100"/>
            </a:xfrm>
            <a:prstGeom prst="roundRect">
              <a:avLst>
                <a:gd name="adj" fmla="val 18182"/>
              </a:avLst>
            </a:prstGeom>
            <a:noFill/>
            <a:ln w="17145">
              <a:solidFill>
                <a:srgbClr val="23D7B0"/>
              </a:solidFill>
            </a:ln>
          </p:spPr>
        </p:sp>
      </p:grpSp>
      <p:grpSp>
        <p:nvGrpSpPr>
          <p:cNvPr id="28" name="Group 28"/>
          <p:cNvGrpSpPr/>
          <p:nvPr/>
        </p:nvGrpSpPr>
        <p:grpSpPr>
          <a:xfrm>
            <a:off x="533400" y="5743575"/>
            <a:ext cx="11125200" cy="579501"/>
            <a:chOff x="533400" y="5743575"/>
            <a:chExt cx="11125200" cy="579501"/>
          </a:xfrm>
        </p:grpSpPr>
        <p:sp>
          <p:nvSpPr>
            <p:cNvPr id="26" name="Line 26"/>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7" name="TextBox 27"/>
            <p:cNvSpPr txBox="1"/>
            <p:nvPr/>
          </p:nvSpPr>
          <p:spPr>
            <a:xfrm>
              <a:off x="3116961" y="5912358"/>
              <a:ext cx="5958078" cy="410718"/>
            </a:xfrm>
            <a:prstGeom prst="rect">
              <a:avLst/>
            </a:prstGeom>
            <a:noFill/>
            <a:ln>
              <a:noFill/>
            </a:ln>
          </p:spPr>
          <p:txBody>
            <a:bodyPr wrap="none" lIns="0" tIns="0" rIns="0" bIns="0" anchor="t" anchorCtr="0">
              <a:spAutoFit/>
            </a:bodyPr>
            <a:lstStyle/>
            <a:p>
              <a:pPr algn="ctr"/>
              <a:r>
                <a:rPr lang="zh-CN" sz="2100" b="1" dirty="0">
                  <a:solidFill>
                    <a:srgbClr val="071A33"/>
                  </a:solidFill>
                  <a:latin typeface="Microsoft YaHei"/>
                  <a:ea typeface="Microsoft YaHei"/>
                  <a:cs typeface="Microsoft YaHei"/>
                </a:rPr>
                <a:t>生成正确之外，还要确认信息归属与审核状态。</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p="http://schemas.openxmlformats.org/presentationml/2006/main" xmlns:p14="http://schemas.microsoft.com/office/powerpoint/2010/main">
  <p:cSld>
    <p:bg>
      <p:bgPr>
        <a:solidFill>
          <a:srgbClr val="071A33"/>
        </a:solidFill>
        <a:effectLst/>
      </p:bgPr>
    </p:bg>
    <p:spTree>
      <p:nvGrpSpPr>
        <p:cNvPr id="1" name=""/>
        <p:cNvGrpSpPr/>
        <p:nvPr/>
      </p:nvGrpSpPr>
      <p:grpSpPr>
        <a:xfrm>
          <a:off x="0" y="0"/>
          <a:ext cx="0" cy="0"/>
          <a:chOff x="0" y="0"/>
          <a:chExt cx="0" cy="0"/>
        </a:xfrm>
      </p:grpSpPr>
      <p:grpSp>
        <p:nvGrpSpPr>
          <p:cNvPr id="90" name="Group 90"/>
          <p:cNvGrpSpPr/>
          <p:nvPr/>
        </p:nvGrpSpPr>
        <p:grpSpPr>
          <a:xfrm>
            <a:off x="11227664" y="6379845"/>
            <a:ext cx="435698" cy="176212"/>
            <a:chOff x="11227664" y="6379845"/>
            <a:chExt cx="435698" cy="176212"/>
          </a:xfrm>
        </p:grpSpPr>
        <p:sp>
          <p:nvSpPr>
            <p:cNvPr id="89" name="TextBox 89"/>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03 / 10</a:t>
              </a:r>
            </a:p>
          </p:txBody>
        </p:sp>
      </p:grpSp>
      <p:grpSp>
        <p:nvGrpSpPr>
          <p:cNvPr id="4" name="Group 4"/>
          <p:cNvGrpSpPr/>
          <p:nvPr/>
        </p:nvGrpSpPr>
        <p:grpSpPr>
          <a:xfrm>
            <a:off x="519684" y="775335"/>
            <a:ext cx="7296912" cy="528066"/>
            <a:chOff x="519684" y="775335"/>
            <a:chExt cx="7296912" cy="528066"/>
          </a:xfrm>
        </p:grpSpPr>
        <p:sp>
          <p:nvSpPr>
            <p:cNvPr id="3" name="TextBox 3"/>
            <p:cNvSpPr txBox="1"/>
            <p:nvPr/>
          </p:nvSpPr>
          <p:spPr>
            <a:xfrm>
              <a:off x="519684" y="775335"/>
              <a:ext cx="7296912" cy="528066"/>
            </a:xfrm>
            <a:prstGeom prst="rect">
              <a:avLst/>
            </a:prstGeom>
            <a:noFill/>
            <a:ln>
              <a:noFill/>
            </a:ln>
          </p:spPr>
          <p:txBody>
            <a:bodyPr wrap="none" lIns="0" tIns="0" rIns="0" bIns="0" anchor="t" anchorCtr="0">
              <a:spAutoFit/>
            </a:bodyPr>
            <a:lstStyle/>
            <a:p>
              <a:pPr algn="l"/>
              <a:r>
                <a:rPr lang="zh-CN" sz="2700" b="1" dirty="0">
                  <a:solidFill>
                    <a:srgbClr val="F7FBFF"/>
                  </a:solidFill>
                  <a:latin typeface="Microsoft YaHei"/>
                  <a:ea typeface="Microsoft YaHei"/>
                  <a:cs typeface="Microsoft YaHei"/>
                </a:rPr>
                <a:t>角色质量门禁控制的是责任，不只是模型表现</a:t>
              </a:r>
            </a:p>
          </p:txBody>
        </p:sp>
      </p:grpSp>
      <p:grpSp>
        <p:nvGrpSpPr>
          <p:cNvPr id="23" name="Group 23"/>
          <p:cNvGrpSpPr/>
          <p:nvPr/>
        </p:nvGrpSpPr>
        <p:grpSpPr>
          <a:xfrm>
            <a:off x="1473708" y="1997964"/>
            <a:ext cx="9310116" cy="3389947"/>
            <a:chOff x="1473708" y="1997964"/>
            <a:chExt cx="9310116" cy="3389947"/>
          </a:xfrm>
        </p:grpSpPr>
        <p:sp>
          <p:nvSpPr>
            <p:cNvPr id="5" name="Line 5"/>
            <p:cNvSpPr/>
            <p:nvPr/>
          </p:nvSpPr>
          <p:spPr>
            <a:xfrm>
              <a:off x="4000500" y="2009775"/>
              <a:ext cx="9525" cy="3371850"/>
            </a:xfrm>
            <a:custGeom>
              <a:avLst/>
              <a:gdLst/>
              <a:ahLst/>
              <a:cxnLst/>
              <a:rect l="l" t="t" r="r" b="b"/>
              <a:pathLst>
                <a:path w="9525" h="3371850">
                  <a:moveTo>
                    <a:pt x="0" y="0"/>
                  </a:moveTo>
                  <a:lnTo>
                    <a:pt x="0" y="3371850"/>
                  </a:lnTo>
                </a:path>
              </a:pathLst>
            </a:custGeom>
            <a:noFill/>
            <a:ln w="9525">
              <a:solidFill>
                <a:srgbClr val="244663"/>
              </a:solidFill>
            </a:ln>
          </p:spPr>
        </p:sp>
        <p:sp>
          <p:nvSpPr>
            <p:cNvPr id="6" name="Line 6"/>
            <p:cNvSpPr/>
            <p:nvPr/>
          </p:nvSpPr>
          <p:spPr>
            <a:xfrm>
              <a:off x="8115300" y="2009775"/>
              <a:ext cx="9525" cy="3371850"/>
            </a:xfrm>
            <a:custGeom>
              <a:avLst/>
              <a:gdLst/>
              <a:ahLst/>
              <a:cxnLst/>
              <a:rect l="l" t="t" r="r" b="b"/>
              <a:pathLst>
                <a:path w="9525" h="3371850">
                  <a:moveTo>
                    <a:pt x="0" y="0"/>
                  </a:moveTo>
                  <a:lnTo>
                    <a:pt x="0" y="3371850"/>
                  </a:lnTo>
                </a:path>
              </a:pathLst>
            </a:custGeom>
            <a:noFill/>
            <a:ln w="9525">
              <a:solidFill>
                <a:srgbClr val="244663"/>
              </a:solidFill>
            </a:ln>
          </p:spPr>
        </p:sp>
        <p:sp>
          <p:nvSpPr>
            <p:cNvPr id="7" name="TextBox 7"/>
            <p:cNvSpPr txBox="1"/>
            <p:nvPr/>
          </p:nvSpPr>
          <p:spPr>
            <a:xfrm>
              <a:off x="1716024" y="1997964"/>
              <a:ext cx="987552" cy="352044"/>
            </a:xfrm>
            <a:prstGeom prst="rect">
              <a:avLst/>
            </a:prstGeom>
            <a:noFill/>
            <a:ln>
              <a:noFill/>
            </a:ln>
          </p:spPr>
          <p:txBody>
            <a:bodyPr wrap="none" lIns="0" tIns="0" rIns="0" bIns="0" anchor="t" anchorCtr="0">
              <a:spAutoFit/>
            </a:bodyPr>
            <a:lstStyle/>
            <a:p>
              <a:pPr algn="ctr"/>
              <a:r>
                <a:rPr lang="zh-CN" sz="1800" b="1" dirty="0">
                  <a:solidFill>
                    <a:srgbClr val="B8C6D9"/>
                  </a:solidFill>
                  <a:latin typeface="Microsoft YaHei"/>
                  <a:ea typeface="Microsoft YaHei"/>
                  <a:cs typeface="Microsoft YaHei"/>
                </a:rPr>
                <a:t>原始假设</a:t>
              </a:r>
            </a:p>
          </p:txBody>
        </p:sp>
        <p:sp>
          <p:nvSpPr>
            <p:cNvPr id="8" name="TextBox 8"/>
            <p:cNvSpPr txBox="1"/>
            <p:nvPr/>
          </p:nvSpPr>
          <p:spPr>
            <a:xfrm>
              <a:off x="1608709" y="2807875"/>
              <a:ext cx="1202182" cy="1281494"/>
            </a:xfrm>
            <a:prstGeom prst="rect">
              <a:avLst/>
            </a:prstGeom>
            <a:noFill/>
            <a:ln>
              <a:noFill/>
            </a:ln>
          </p:spPr>
          <p:txBody>
            <a:bodyPr wrap="none" lIns="0" tIns="0" rIns="0" bIns="0" anchor="t" anchorCtr="0">
              <a:spAutoFit/>
            </a:bodyPr>
            <a:lstStyle/>
            <a:p>
              <a:pPr algn="ctr">
                <a:lnSpc>
                  <a:spcPts val="3255"/>
                </a:lnSpc>
              </a:pPr>
              <a:r>
                <a:rPr lang="zh-CN" sz="2320" b="1" dirty="0">
                  <a:solidFill>
                    <a:srgbClr val="F7FBFF"/>
                  </a:solidFill>
                  <a:latin typeface="Microsoft YaHei"/>
                  <a:ea typeface="Microsoft YaHei"/>
                  <a:cs typeface="Microsoft YaHei"/>
                </a:rPr>
                <a:t>文本正确</a:t>
              </a:r>
              <a:br/>
              <a:r>
                <a:rPr lang="zh-CN" sz="2320" b="1" dirty="0">
                  <a:solidFill>
                    <a:srgbClr val="F7FBFF"/>
                  </a:solidFill>
                  <a:latin typeface="Microsoft YaHei"/>
                  <a:ea typeface="Microsoft YaHei"/>
                  <a:cs typeface="Microsoft YaHei"/>
                </a:rPr>
                <a:t>＝</a:t>
              </a:r>
              <a:br/>
              <a:r>
                <a:rPr lang="zh-CN" sz="2320" b="1" dirty="0">
                  <a:solidFill>
                    <a:srgbClr val="F7FBFF"/>
                  </a:solidFill>
                  <a:latin typeface="Microsoft YaHei"/>
                  <a:ea typeface="Microsoft YaHei"/>
                  <a:cs typeface="Microsoft YaHei"/>
                </a:rPr>
                <a:t>病历可靠</a:t>
              </a:r>
            </a:p>
          </p:txBody>
        </p:sp>
        <p:sp>
          <p:nvSpPr>
            <p:cNvPr id="9" name="TextBox 9"/>
            <p:cNvSpPr txBox="1"/>
            <p:nvPr/>
          </p:nvSpPr>
          <p:spPr>
            <a:xfrm>
              <a:off x="1473708" y="4903089"/>
              <a:ext cx="1472184" cy="352044"/>
            </a:xfrm>
            <a:prstGeom prst="rect">
              <a:avLst/>
            </a:prstGeom>
            <a:noFill/>
            <a:ln>
              <a:noFill/>
            </a:ln>
          </p:spPr>
          <p:txBody>
            <a:bodyPr wrap="none" lIns="0" tIns="0" rIns="0" bIns="0" anchor="t" anchorCtr="0">
              <a:spAutoFit/>
            </a:bodyPr>
            <a:lstStyle/>
            <a:p>
              <a:pPr algn="ctr"/>
              <a:r>
                <a:rPr lang="zh-CN" sz="1800" b="1" dirty="0">
                  <a:solidFill>
                    <a:srgbClr val="FF6381"/>
                  </a:solidFill>
                  <a:latin typeface="Microsoft YaHei"/>
                  <a:ea typeface="Microsoft YaHei"/>
                  <a:cs typeface="Microsoft YaHei"/>
                </a:rPr>
                <a:t>忽略信息归属</a:t>
              </a:r>
            </a:p>
          </p:txBody>
        </p:sp>
        <p:sp>
          <p:nvSpPr>
            <p:cNvPr id="10" name="TextBox 10"/>
            <p:cNvSpPr txBox="1"/>
            <p:nvPr/>
          </p:nvSpPr>
          <p:spPr>
            <a:xfrm>
              <a:off x="5564124" y="1997964"/>
              <a:ext cx="987552" cy="352044"/>
            </a:xfrm>
            <a:prstGeom prst="rect">
              <a:avLst/>
            </a:prstGeom>
            <a:noFill/>
            <a:ln>
              <a:noFill/>
            </a:ln>
          </p:spPr>
          <p:txBody>
            <a:bodyPr wrap="none" lIns="0" tIns="0" rIns="0" bIns="0" anchor="t" anchorCtr="0">
              <a:spAutoFit/>
            </a:bodyPr>
            <a:lstStyle/>
            <a:p>
              <a:pPr algn="ctr"/>
              <a:r>
                <a:rPr lang="zh-CN" sz="1800" b="1" dirty="0">
                  <a:solidFill>
                    <a:srgbClr val="FF6381"/>
                  </a:solidFill>
                  <a:latin typeface="Microsoft YaHei"/>
                  <a:ea typeface="Microsoft YaHei"/>
                  <a:cs typeface="Microsoft YaHei"/>
                </a:rPr>
                <a:t>真实问题</a:t>
              </a:r>
            </a:p>
          </p:txBody>
        </p:sp>
        <p:sp>
          <p:nvSpPr>
            <p:cNvPr id="11" name="Line 11"/>
            <p:cNvSpPr/>
            <p:nvPr/>
          </p:nvSpPr>
          <p:spPr>
            <a:xfrm>
              <a:off x="6057900" y="3076575"/>
              <a:ext cx="1" cy="257175"/>
            </a:xfrm>
            <a:prstGeom prst="line">
              <a:avLst/>
            </a:prstGeom>
            <a:noFill/>
            <a:ln w="19050">
              <a:solidFill>
                <a:srgbClr val="FF6381"/>
              </a:solidFill>
              <a:tailEnd type="arrow" w="med" len="med"/>
            </a:ln>
          </p:spPr>
        </p:sp>
        <p:sp>
          <p:nvSpPr>
            <p:cNvPr id="12" name="Line 12"/>
            <p:cNvSpPr/>
            <p:nvPr/>
          </p:nvSpPr>
          <p:spPr>
            <a:xfrm>
              <a:off x="6057900" y="3800475"/>
              <a:ext cx="1" cy="257175"/>
            </a:xfrm>
            <a:prstGeom prst="line">
              <a:avLst/>
            </a:prstGeom>
            <a:noFill/>
            <a:ln w="19050">
              <a:solidFill>
                <a:srgbClr val="FF6381"/>
              </a:solidFill>
              <a:tailEnd type="arrow" w="med" len="med"/>
            </a:ln>
          </p:spPr>
        </p:sp>
        <p:sp>
          <p:nvSpPr>
            <p:cNvPr id="13" name="TextBox 13"/>
            <p:cNvSpPr txBox="1"/>
            <p:nvPr/>
          </p:nvSpPr>
          <p:spPr>
            <a:xfrm>
              <a:off x="5459908" y="2716625"/>
              <a:ext cx="1195984"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谁说的？</a:t>
              </a:r>
            </a:p>
          </p:txBody>
        </p:sp>
        <p:sp>
          <p:nvSpPr>
            <p:cNvPr id="14" name="TextBox 14"/>
            <p:cNvSpPr txBox="1"/>
            <p:nvPr/>
          </p:nvSpPr>
          <p:spPr>
            <a:xfrm>
              <a:off x="5459908" y="3440525"/>
              <a:ext cx="1195984"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属于谁？</a:t>
              </a:r>
            </a:p>
          </p:txBody>
        </p:sp>
        <p:sp>
          <p:nvSpPr>
            <p:cNvPr id="15" name="TextBox 15"/>
            <p:cNvSpPr txBox="1"/>
            <p:nvPr/>
          </p:nvSpPr>
          <p:spPr>
            <a:xfrm>
              <a:off x="5313172" y="4164425"/>
              <a:ext cx="1489456"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责任是谁？</a:t>
              </a:r>
            </a:p>
          </p:txBody>
        </p:sp>
        <p:sp>
          <p:nvSpPr>
            <p:cNvPr id="16" name="TextBox 16"/>
            <p:cNvSpPr txBox="1"/>
            <p:nvPr/>
          </p:nvSpPr>
          <p:spPr>
            <a:xfrm>
              <a:off x="4938903" y="5065204"/>
              <a:ext cx="2237994" cy="322707"/>
            </a:xfrm>
            <a:prstGeom prst="rect">
              <a:avLst/>
            </a:prstGeom>
            <a:noFill/>
            <a:ln>
              <a:noFill/>
            </a:ln>
          </p:spPr>
          <p:txBody>
            <a:bodyPr wrap="none" lIns="0" tIns="0" rIns="0" bIns="0" anchor="t" anchorCtr="0">
              <a:spAutoFit/>
            </a:bodyPr>
            <a:lstStyle/>
            <a:p>
              <a:pPr algn="ctr"/>
              <a:r>
                <a:rPr lang="zh-CN" sz="1650" dirty="0">
                  <a:solidFill>
                    <a:srgbClr val="B8C6D9"/>
                  </a:solidFill>
                  <a:latin typeface="Microsoft YaHei"/>
                  <a:ea typeface="Microsoft YaHei"/>
                  <a:cs typeface="Microsoft YaHei"/>
                </a:rPr>
                <a:t>患者陈述误作医生判断</a:t>
              </a:r>
            </a:p>
          </p:txBody>
        </p:sp>
        <p:sp>
          <p:nvSpPr>
            <p:cNvPr id="17" name="TextBox 17"/>
            <p:cNvSpPr txBox="1"/>
            <p:nvPr/>
          </p:nvSpPr>
          <p:spPr>
            <a:xfrm>
              <a:off x="9431274" y="1997964"/>
              <a:ext cx="987552" cy="352044"/>
            </a:xfrm>
            <a:prstGeom prst="rect">
              <a:avLst/>
            </a:prstGeom>
            <a:noFill/>
            <a:ln>
              <a:noFill/>
            </a:ln>
          </p:spPr>
          <p:txBody>
            <a:bodyPr wrap="none" lIns="0" tIns="0" rIns="0" bIns="0" anchor="t" anchorCtr="0">
              <a:spAutoFit/>
            </a:bodyPr>
            <a:lstStyle/>
            <a:p>
              <a:pPr algn="ctr"/>
              <a:r>
                <a:rPr lang="zh-CN" sz="1800" b="1" dirty="0">
                  <a:solidFill>
                    <a:srgbClr val="20D9E8"/>
                  </a:solidFill>
                  <a:latin typeface="Microsoft YaHei"/>
                  <a:ea typeface="Microsoft YaHei"/>
                  <a:cs typeface="Microsoft YaHei"/>
                </a:rPr>
                <a:t>设计改变</a:t>
              </a:r>
            </a:p>
          </p:txBody>
        </p:sp>
        <p:sp>
          <p:nvSpPr>
            <p:cNvPr id="18" name="Line 18"/>
            <p:cNvSpPr/>
            <p:nvPr/>
          </p:nvSpPr>
          <p:spPr>
            <a:xfrm>
              <a:off x="9925050" y="3105150"/>
              <a:ext cx="1" cy="552450"/>
            </a:xfrm>
            <a:prstGeom prst="line">
              <a:avLst/>
            </a:prstGeom>
            <a:noFill/>
            <a:ln w="19050">
              <a:solidFill>
                <a:srgbClr val="20D9E8"/>
              </a:solidFill>
              <a:tailEnd type="arrow" w="med" len="med"/>
            </a:ln>
          </p:spPr>
        </p:sp>
        <p:sp>
          <p:nvSpPr>
            <p:cNvPr id="19" name="Line 19"/>
            <p:cNvSpPr/>
            <p:nvPr/>
          </p:nvSpPr>
          <p:spPr>
            <a:xfrm>
              <a:off x="9925050" y="4124325"/>
              <a:ext cx="1" cy="552450"/>
            </a:xfrm>
            <a:prstGeom prst="line">
              <a:avLst/>
            </a:prstGeom>
            <a:noFill/>
            <a:ln w="19050">
              <a:solidFill>
                <a:srgbClr val="20D9E8"/>
              </a:solidFill>
              <a:tailEnd type="arrow" w="med" len="med"/>
            </a:ln>
          </p:spPr>
        </p:sp>
        <p:sp>
          <p:nvSpPr>
            <p:cNvPr id="20" name="TextBox 20"/>
            <p:cNvSpPr txBox="1"/>
            <p:nvPr/>
          </p:nvSpPr>
          <p:spPr>
            <a:xfrm>
              <a:off x="9066276" y="2750058"/>
              <a:ext cx="1717548"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角色质量门禁</a:t>
              </a:r>
            </a:p>
          </p:txBody>
        </p:sp>
        <p:sp>
          <p:nvSpPr>
            <p:cNvPr id="21" name="TextBox 21"/>
            <p:cNvSpPr txBox="1"/>
            <p:nvPr/>
          </p:nvSpPr>
          <p:spPr>
            <a:xfrm>
              <a:off x="9348978" y="3769233"/>
              <a:ext cx="1152144"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疑点阻断</a:t>
              </a:r>
            </a:p>
          </p:txBody>
        </p:sp>
        <p:sp>
          <p:nvSpPr>
            <p:cNvPr id="22" name="TextBox 22"/>
            <p:cNvSpPr txBox="1"/>
            <p:nvPr/>
          </p:nvSpPr>
          <p:spPr>
            <a:xfrm>
              <a:off x="9348978" y="4788408"/>
              <a:ext cx="1152144" cy="410718"/>
            </a:xfrm>
            <a:prstGeom prst="rect">
              <a:avLst/>
            </a:prstGeom>
            <a:noFill/>
            <a:ln>
              <a:noFill/>
            </a:ln>
          </p:spPr>
          <p:txBody>
            <a:bodyPr wrap="none" lIns="0" tIns="0" rIns="0" bIns="0" anchor="t" anchorCtr="0">
              <a:spAutoFit/>
            </a:bodyPr>
            <a:lstStyle/>
            <a:p>
              <a:pPr algn="ctr"/>
              <a:r>
                <a:rPr lang="zh-CN" sz="2100" b="1" dirty="0">
                  <a:solidFill>
                    <a:srgbClr val="F7FBFF"/>
                  </a:solidFill>
                  <a:latin typeface="Microsoft YaHei"/>
                  <a:ea typeface="Microsoft YaHei"/>
                  <a:cs typeface="Microsoft YaHei"/>
                </a:rPr>
                <a:t>人工确认</a:t>
              </a:r>
            </a:p>
          </p:txBody>
        </p:sp>
      </p:grpSp>
      <p:grpSp>
        <p:nvGrpSpPr>
          <p:cNvPr id="26" name="Group 26"/>
          <p:cNvGrpSpPr/>
          <p:nvPr/>
        </p:nvGrpSpPr>
        <p:grpSpPr>
          <a:xfrm>
            <a:off x="533400" y="5743575"/>
            <a:ext cx="11125200" cy="579501"/>
            <a:chOff x="533400" y="5743575"/>
            <a:chExt cx="11125200" cy="579501"/>
          </a:xfrm>
        </p:grpSpPr>
        <p:sp>
          <p:nvSpPr>
            <p:cNvPr id="24" name="Line 24"/>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25" name="TextBox 25"/>
            <p:cNvSpPr txBox="1"/>
            <p:nvPr/>
          </p:nvSpPr>
          <p:spPr>
            <a:xfrm>
              <a:off x="3541014" y="5912358"/>
              <a:ext cx="5109972"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高风险错误应在进入生成链之前被拦截。</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64" name="Group 64"/>
          <p:cNvGrpSpPr/>
          <p:nvPr/>
        </p:nvGrpSpPr>
        <p:grpSpPr>
          <a:xfrm>
            <a:off x="11227664" y="6379845"/>
            <a:ext cx="435698" cy="176212"/>
            <a:chOff x="11227664" y="6379845"/>
            <a:chExt cx="435698" cy="176212"/>
          </a:xfrm>
        </p:grpSpPr>
        <p:sp>
          <p:nvSpPr>
            <p:cNvPr id="63" name="TextBox 63"/>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04 / 10</a:t>
              </a:r>
            </a:p>
          </p:txBody>
        </p:sp>
      </p:grpSp>
      <p:grpSp>
        <p:nvGrpSpPr>
          <p:cNvPr id="4" name="Group 4"/>
          <p:cNvGrpSpPr/>
          <p:nvPr/>
        </p:nvGrpSpPr>
        <p:grpSpPr>
          <a:xfrm>
            <a:off x="518922" y="759142"/>
            <a:ext cx="6551295" cy="557403"/>
            <a:chOff x="518922" y="759142"/>
            <a:chExt cx="6551295" cy="557403"/>
          </a:xfrm>
        </p:grpSpPr>
        <p:sp>
          <p:nvSpPr>
            <p:cNvPr id="3" name="TextBox 3"/>
            <p:cNvSpPr txBox="1"/>
            <p:nvPr/>
          </p:nvSpPr>
          <p:spPr>
            <a:xfrm>
              <a:off x="518922" y="759142"/>
              <a:ext cx="6551295" cy="557403"/>
            </a:xfrm>
            <a:prstGeom prst="rect">
              <a:avLst/>
            </a:prstGeom>
            <a:noFill/>
            <a:ln>
              <a:noFill/>
            </a:ln>
          </p:spPr>
          <p:txBody>
            <a:bodyPr wrap="none" lIns="0" tIns="0" rIns="0" bIns="0" anchor="t" anchorCtr="0">
              <a:spAutoFit/>
            </a:bodyPr>
            <a:lstStyle/>
            <a:p>
              <a:pPr algn="l"/>
              <a:r>
                <a:rPr lang="zh-CN" sz="2850" b="1" dirty="0">
                  <a:solidFill>
                    <a:srgbClr val="071A33"/>
                  </a:solidFill>
                  <a:latin typeface="Microsoft YaHei"/>
                  <a:ea typeface="Microsoft YaHei"/>
                  <a:cs typeface="Microsoft YaHei"/>
                </a:rPr>
                <a:t>可靠系统必须同时设计成功与失败路径</a:t>
              </a:r>
            </a:p>
          </p:txBody>
        </p:sp>
      </p:grpSp>
      <p:grpSp>
        <p:nvGrpSpPr>
          <p:cNvPr id="28" name="Group 28"/>
          <p:cNvGrpSpPr/>
          <p:nvPr/>
        </p:nvGrpSpPr>
        <p:grpSpPr>
          <a:xfrm>
            <a:off x="533400" y="1974056"/>
            <a:ext cx="10661142" cy="3426619"/>
            <a:chOff x="533400" y="1974056"/>
            <a:chExt cx="10661142" cy="3426619"/>
          </a:xfrm>
        </p:grpSpPr>
        <p:sp>
          <p:nvSpPr>
            <p:cNvPr id="5" name="Rectangle 5"/>
            <p:cNvSpPr/>
            <p:nvPr/>
          </p:nvSpPr>
          <p:spPr>
            <a:xfrm>
              <a:off x="533400" y="2057400"/>
              <a:ext cx="3867150" cy="3343275"/>
            </a:xfrm>
            <a:prstGeom prst="roundRect">
              <a:avLst>
                <a:gd name="adj" fmla="val 3704"/>
              </a:avLst>
            </a:prstGeom>
            <a:solidFill>
              <a:srgbClr val="071A33"/>
            </a:solidFill>
            <a:ln>
              <a:noFill/>
            </a:ln>
          </p:spPr>
        </p:sp>
        <p:sp>
          <p:nvSpPr>
            <p:cNvPr id="6" name="TextBox 6"/>
            <p:cNvSpPr txBox="1"/>
            <p:nvPr/>
          </p:nvSpPr>
          <p:spPr>
            <a:xfrm>
              <a:off x="1538288" y="2293048"/>
              <a:ext cx="1857375" cy="381381"/>
            </a:xfrm>
            <a:prstGeom prst="rect">
              <a:avLst/>
            </a:prstGeom>
            <a:noFill/>
            <a:ln>
              <a:noFill/>
            </a:ln>
          </p:spPr>
          <p:txBody>
            <a:bodyPr wrap="none" lIns="0" tIns="0" rIns="0" bIns="0" anchor="t" anchorCtr="0">
              <a:spAutoFit/>
            </a:bodyPr>
            <a:lstStyle/>
            <a:p>
              <a:pPr algn="ctr"/>
              <a:r>
                <a:rPr lang="zh-CN" sz="1950" b="1" dirty="0">
                  <a:solidFill>
                    <a:srgbClr val="F7FBFF"/>
                  </a:solidFill>
                  <a:latin typeface="Microsoft YaHei"/>
                  <a:ea typeface="Microsoft YaHei"/>
                  <a:cs typeface="Microsoft YaHei"/>
                </a:rPr>
                <a:t>演示：成功路径</a:t>
              </a:r>
            </a:p>
          </p:txBody>
        </p:sp>
        <p:sp>
          <p:nvSpPr>
            <p:cNvPr id="7" name="Line 7"/>
            <p:cNvSpPr/>
            <p:nvPr/>
          </p:nvSpPr>
          <p:spPr>
            <a:xfrm>
              <a:off x="1533525" y="3209925"/>
              <a:ext cx="514350" cy="1"/>
            </a:xfrm>
            <a:prstGeom prst="line">
              <a:avLst/>
            </a:prstGeom>
            <a:noFill/>
            <a:ln w="19050">
              <a:solidFill>
                <a:srgbClr val="20D9E8"/>
              </a:solidFill>
              <a:tailEnd type="arrow" w="med" len="med"/>
            </a:ln>
          </p:spPr>
        </p:sp>
        <p:sp>
          <p:nvSpPr>
            <p:cNvPr id="8" name="Line 8"/>
            <p:cNvSpPr/>
            <p:nvPr/>
          </p:nvSpPr>
          <p:spPr>
            <a:xfrm>
              <a:off x="2838450" y="3209925"/>
              <a:ext cx="523875" cy="1"/>
            </a:xfrm>
            <a:prstGeom prst="line">
              <a:avLst/>
            </a:prstGeom>
            <a:noFill/>
            <a:ln w="19050">
              <a:solidFill>
                <a:srgbClr val="20D9E8"/>
              </a:solidFill>
              <a:tailEnd type="arrow" w="med" len="med"/>
            </a:ln>
          </p:spPr>
        </p:sp>
        <p:sp>
          <p:nvSpPr>
            <p:cNvPr id="9" name="TextBox 9"/>
            <p:cNvSpPr txBox="1"/>
            <p:nvPr/>
          </p:nvSpPr>
          <p:spPr>
            <a:xfrm>
              <a:off x="838479" y="3069050"/>
              <a:ext cx="609041" cy="425386"/>
            </a:xfrm>
            <a:prstGeom prst="rect">
              <a:avLst/>
            </a:prstGeom>
            <a:noFill/>
            <a:ln>
              <a:noFill/>
            </a:ln>
          </p:spPr>
          <p:txBody>
            <a:bodyPr wrap="none" lIns="0" tIns="0" rIns="0" bIns="0" anchor="t" anchorCtr="0">
              <a:spAutoFit/>
            </a:bodyPr>
            <a:lstStyle/>
            <a:p>
              <a:pPr algn="ctr"/>
              <a:r>
                <a:rPr lang="zh-CN" sz="2180" b="1" dirty="0">
                  <a:solidFill>
                    <a:srgbClr val="F7FBFF"/>
                  </a:solidFill>
                  <a:latin typeface="Microsoft YaHei"/>
                  <a:ea typeface="Microsoft YaHei"/>
                  <a:cs typeface="Microsoft YaHei"/>
                </a:rPr>
                <a:t>输入</a:t>
              </a:r>
            </a:p>
          </p:txBody>
        </p:sp>
        <p:sp>
          <p:nvSpPr>
            <p:cNvPr id="10" name="TextBox 10"/>
            <p:cNvSpPr txBox="1"/>
            <p:nvPr/>
          </p:nvSpPr>
          <p:spPr>
            <a:xfrm>
              <a:off x="2308026" y="3069050"/>
              <a:ext cx="298847" cy="425386"/>
            </a:xfrm>
            <a:prstGeom prst="rect">
              <a:avLst/>
            </a:prstGeom>
            <a:noFill/>
            <a:ln>
              <a:noFill/>
            </a:ln>
          </p:spPr>
          <p:txBody>
            <a:bodyPr wrap="none" lIns="0" tIns="0" rIns="0" bIns="0" anchor="t" anchorCtr="0">
              <a:spAutoFit/>
            </a:bodyPr>
            <a:lstStyle/>
            <a:p>
              <a:pPr algn="ctr"/>
              <a:r>
                <a:rPr lang="en-US" sz="2180" b="1" dirty="0">
                  <a:solidFill>
                    <a:srgbClr val="F7FBFF"/>
                  </a:solidFill>
                  <a:latin typeface="Microsoft YaHei"/>
                  <a:ea typeface="Microsoft YaHei"/>
                  <a:cs typeface="Microsoft YaHei"/>
                </a:rPr>
                <a:t>AI</a:t>
              </a:r>
            </a:p>
          </p:txBody>
        </p:sp>
        <p:sp>
          <p:nvSpPr>
            <p:cNvPr id="11" name="TextBox 11"/>
            <p:cNvSpPr txBox="1"/>
            <p:nvPr/>
          </p:nvSpPr>
          <p:spPr>
            <a:xfrm>
              <a:off x="3476904" y="3069050"/>
              <a:ext cx="609041" cy="425386"/>
            </a:xfrm>
            <a:prstGeom prst="rect">
              <a:avLst/>
            </a:prstGeom>
            <a:noFill/>
            <a:ln>
              <a:noFill/>
            </a:ln>
          </p:spPr>
          <p:txBody>
            <a:bodyPr wrap="none" lIns="0" tIns="0" rIns="0" bIns="0" anchor="t" anchorCtr="0">
              <a:spAutoFit/>
            </a:bodyPr>
            <a:lstStyle/>
            <a:p>
              <a:pPr algn="ctr"/>
              <a:r>
                <a:rPr lang="zh-CN" sz="2180" b="1" dirty="0">
                  <a:solidFill>
                    <a:srgbClr val="F7FBFF"/>
                  </a:solidFill>
                  <a:latin typeface="Microsoft YaHei"/>
                  <a:ea typeface="Microsoft YaHei"/>
                  <a:cs typeface="Microsoft YaHei"/>
                </a:rPr>
                <a:t>结果</a:t>
              </a:r>
            </a:p>
          </p:txBody>
        </p:sp>
        <p:sp>
          <p:nvSpPr>
            <p:cNvPr id="12" name="Line 12"/>
            <p:cNvSpPr/>
            <p:nvPr/>
          </p:nvSpPr>
          <p:spPr>
            <a:xfrm>
              <a:off x="914400" y="3838575"/>
              <a:ext cx="3105150" cy="9525"/>
            </a:xfrm>
            <a:custGeom>
              <a:avLst/>
              <a:gdLst/>
              <a:ahLst/>
              <a:cxnLst/>
              <a:rect l="l" t="t" r="r" b="b"/>
              <a:pathLst>
                <a:path w="3105150" h="9525">
                  <a:moveTo>
                    <a:pt x="0" y="0"/>
                  </a:moveTo>
                  <a:lnTo>
                    <a:pt x="3105150" y="0"/>
                  </a:lnTo>
                </a:path>
              </a:pathLst>
            </a:custGeom>
            <a:noFill/>
            <a:ln w="9525">
              <a:solidFill>
                <a:srgbClr val="244663"/>
              </a:solidFill>
            </a:ln>
          </p:spPr>
        </p:sp>
        <p:sp>
          <p:nvSpPr>
            <p:cNvPr id="13" name="TextBox 13"/>
            <p:cNvSpPr txBox="1"/>
            <p:nvPr/>
          </p:nvSpPr>
          <p:spPr>
            <a:xfrm>
              <a:off x="1430528" y="4260818"/>
              <a:ext cx="2072894" cy="756094"/>
            </a:xfrm>
            <a:prstGeom prst="rect">
              <a:avLst/>
            </a:prstGeom>
            <a:noFill/>
            <a:ln>
              <a:noFill/>
            </a:ln>
          </p:spPr>
          <p:txBody>
            <a:bodyPr wrap="none" lIns="0" tIns="0" rIns="0" bIns="0" anchor="t" anchorCtr="0">
              <a:spAutoFit/>
            </a:bodyPr>
            <a:lstStyle/>
            <a:p>
              <a:pPr algn="ctr">
                <a:lnSpc>
                  <a:spcPts val="2835"/>
                </a:lnSpc>
              </a:pPr>
              <a:r>
                <a:rPr lang="zh-CN" sz="2020" dirty="0">
                  <a:solidFill>
                    <a:srgbClr val="B8C6D9"/>
                  </a:solidFill>
                  <a:latin typeface="Microsoft YaHei"/>
                  <a:ea typeface="Microsoft YaHei"/>
                  <a:cs typeface="Microsoft YaHei"/>
                </a:rPr>
                <a:t>一次跑通</a:t>
              </a:r>
              <a:br/>
              <a:r>
                <a:rPr lang="zh-CN" sz="2020" dirty="0">
                  <a:solidFill>
                    <a:srgbClr val="B8C6D9"/>
                  </a:solidFill>
                  <a:latin typeface="Microsoft YaHei"/>
                  <a:ea typeface="Microsoft YaHei"/>
                  <a:cs typeface="Microsoft YaHei"/>
                </a:rPr>
                <a:t>不能解释中途失败</a:t>
              </a:r>
            </a:p>
          </p:txBody>
        </p:sp>
        <p:sp>
          <p:nvSpPr>
            <p:cNvPr id="14" name="TextBox 14"/>
            <p:cNvSpPr txBox="1"/>
            <p:nvPr/>
          </p:nvSpPr>
          <p:spPr>
            <a:xfrm>
              <a:off x="7211822" y="1974056"/>
              <a:ext cx="2549906" cy="366712"/>
            </a:xfrm>
            <a:prstGeom prst="rect">
              <a:avLst/>
            </a:prstGeom>
            <a:noFill/>
            <a:ln>
              <a:noFill/>
            </a:ln>
          </p:spPr>
          <p:txBody>
            <a:bodyPr wrap="none" lIns="0" tIns="0" rIns="0" bIns="0" anchor="t" anchorCtr="0">
              <a:spAutoFit/>
            </a:bodyPr>
            <a:lstStyle/>
            <a:p>
              <a:pPr algn="ctr"/>
              <a:r>
                <a:rPr lang="zh-CN" sz="1880" b="1" dirty="0">
                  <a:solidFill>
                    <a:srgbClr val="2F7CF4"/>
                  </a:solidFill>
                  <a:latin typeface="Microsoft YaHei"/>
                  <a:ea typeface="Microsoft YaHei"/>
                  <a:cs typeface="Microsoft YaHei"/>
                </a:rPr>
                <a:t>工程化：设计故障回路</a:t>
              </a:r>
            </a:p>
          </p:txBody>
        </p:sp>
        <p:sp>
          <p:nvSpPr>
            <p:cNvPr id="15" name="TextBox 15"/>
            <p:cNvSpPr txBox="1"/>
            <p:nvPr/>
          </p:nvSpPr>
          <p:spPr>
            <a:xfrm>
              <a:off x="6120994" y="2792825"/>
              <a:ext cx="902513"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处理中</a:t>
              </a:r>
            </a:p>
          </p:txBody>
        </p:sp>
        <p:sp>
          <p:nvSpPr>
            <p:cNvPr id="16" name="TextBox 16"/>
            <p:cNvSpPr txBox="1"/>
            <p:nvPr/>
          </p:nvSpPr>
          <p:spPr>
            <a:xfrm>
              <a:off x="9835744" y="2792825"/>
              <a:ext cx="902513"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待审核</a:t>
              </a:r>
            </a:p>
          </p:txBody>
        </p:sp>
        <p:sp>
          <p:nvSpPr>
            <p:cNvPr id="17" name="Line 17"/>
            <p:cNvSpPr/>
            <p:nvPr/>
          </p:nvSpPr>
          <p:spPr>
            <a:xfrm>
              <a:off x="7277100" y="2933700"/>
              <a:ext cx="2257425" cy="1"/>
            </a:xfrm>
            <a:prstGeom prst="line">
              <a:avLst/>
            </a:prstGeom>
            <a:noFill/>
            <a:ln w="23812">
              <a:solidFill>
                <a:srgbClr val="2F7CF4"/>
              </a:solidFill>
              <a:tailEnd type="arrow" w="med" len="med"/>
            </a:ln>
          </p:spPr>
        </p:sp>
        <p:sp>
          <p:nvSpPr>
            <p:cNvPr id="18" name="Line 18"/>
            <p:cNvSpPr/>
            <p:nvPr/>
          </p:nvSpPr>
          <p:spPr>
            <a:xfrm>
              <a:off x="6572250" y="3190875"/>
              <a:ext cx="1" cy="514350"/>
            </a:xfrm>
            <a:prstGeom prst="line">
              <a:avLst/>
            </a:prstGeom>
            <a:noFill/>
            <a:ln w="23812">
              <a:solidFill>
                <a:srgbClr val="FF6381"/>
              </a:solidFill>
              <a:tailEnd type="arrow" w="med" len="med"/>
            </a:ln>
          </p:spPr>
        </p:sp>
        <p:sp>
          <p:nvSpPr>
            <p:cNvPr id="19" name="TextBox 19"/>
            <p:cNvSpPr txBox="1"/>
            <p:nvPr/>
          </p:nvSpPr>
          <p:spPr>
            <a:xfrm>
              <a:off x="6278880" y="3854958"/>
              <a:ext cx="586740"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断连</a:t>
              </a:r>
            </a:p>
          </p:txBody>
        </p:sp>
        <p:sp>
          <p:nvSpPr>
            <p:cNvPr id="20" name="Line 20"/>
            <p:cNvSpPr/>
            <p:nvPr/>
          </p:nvSpPr>
          <p:spPr>
            <a:xfrm>
              <a:off x="7153275" y="3990975"/>
              <a:ext cx="1628775" cy="1"/>
            </a:xfrm>
            <a:prstGeom prst="line">
              <a:avLst/>
            </a:prstGeom>
            <a:noFill/>
            <a:ln w="23812">
              <a:solidFill>
                <a:srgbClr val="FF6381"/>
              </a:solidFill>
              <a:tailEnd type="arrow" w="med" len="med"/>
            </a:ln>
          </p:spPr>
        </p:sp>
        <p:sp>
          <p:nvSpPr>
            <p:cNvPr id="21" name="TextBox 21"/>
            <p:cNvSpPr txBox="1"/>
            <p:nvPr/>
          </p:nvSpPr>
          <p:spPr>
            <a:xfrm>
              <a:off x="9074658" y="3864673"/>
              <a:ext cx="2119884" cy="381381"/>
            </a:xfrm>
            <a:prstGeom prst="rect">
              <a:avLst/>
            </a:prstGeom>
            <a:noFill/>
            <a:ln>
              <a:noFill/>
            </a:ln>
          </p:spPr>
          <p:txBody>
            <a:bodyPr wrap="none" lIns="0" tIns="0" rIns="0" bIns="0" anchor="t" anchorCtr="0">
              <a:spAutoFit/>
            </a:bodyPr>
            <a:lstStyle/>
            <a:p>
              <a:pPr algn="ctr"/>
              <a:r>
                <a:rPr lang="zh-CN" sz="1950" b="1" dirty="0">
                  <a:solidFill>
                    <a:srgbClr val="2F7CF4"/>
                  </a:solidFill>
                  <a:latin typeface="Microsoft YaHei"/>
                  <a:ea typeface="Microsoft YaHei"/>
                  <a:cs typeface="Microsoft YaHei"/>
                </a:rPr>
                <a:t>任务与日志仍保留</a:t>
              </a:r>
            </a:p>
          </p:txBody>
        </p:sp>
        <p:sp>
          <p:nvSpPr>
            <p:cNvPr id="22" name="Line 22"/>
            <p:cNvSpPr/>
            <p:nvPr/>
          </p:nvSpPr>
          <p:spPr>
            <a:xfrm>
              <a:off x="10134600" y="4238625"/>
              <a:ext cx="1" cy="400050"/>
            </a:xfrm>
            <a:prstGeom prst="line">
              <a:avLst/>
            </a:prstGeom>
            <a:noFill/>
            <a:ln w="23812">
              <a:solidFill>
                <a:srgbClr val="2F7CF4"/>
              </a:solidFill>
              <a:tailEnd type="arrow" w="med" len="med"/>
            </a:ln>
          </p:spPr>
        </p:sp>
        <p:sp>
          <p:nvSpPr>
            <p:cNvPr id="23" name="TextBox 23"/>
            <p:cNvSpPr txBox="1"/>
            <p:nvPr/>
          </p:nvSpPr>
          <p:spPr>
            <a:xfrm>
              <a:off x="9337167" y="4826698"/>
              <a:ext cx="1594866" cy="381381"/>
            </a:xfrm>
            <a:prstGeom prst="rect">
              <a:avLst/>
            </a:prstGeom>
            <a:noFill/>
            <a:ln>
              <a:noFill/>
            </a:ln>
          </p:spPr>
          <p:txBody>
            <a:bodyPr wrap="none" lIns="0" tIns="0" rIns="0" bIns="0" anchor="t" anchorCtr="0">
              <a:spAutoFit/>
            </a:bodyPr>
            <a:lstStyle/>
            <a:p>
              <a:pPr algn="ctr"/>
              <a:r>
                <a:rPr lang="zh-CN" sz="1950" b="1" dirty="0">
                  <a:solidFill>
                    <a:srgbClr val="2F7CF4"/>
                  </a:solidFill>
                  <a:latin typeface="Microsoft YaHei"/>
                  <a:ea typeface="Microsoft YaHei"/>
                  <a:cs typeface="Microsoft YaHei"/>
                </a:rPr>
                <a:t>恢复事件接收</a:t>
              </a:r>
            </a:p>
          </p:txBody>
        </p:sp>
        <p:sp>
          <p:nvSpPr>
            <p:cNvPr id="24" name="Line 24"/>
            <p:cNvSpPr/>
            <p:nvPr/>
          </p:nvSpPr>
          <p:spPr>
            <a:xfrm>
              <a:off x="5143500" y="4953000"/>
              <a:ext cx="3848100" cy="9525"/>
            </a:xfrm>
            <a:custGeom>
              <a:avLst/>
              <a:gdLst/>
              <a:ahLst/>
              <a:cxnLst/>
              <a:rect l="l" t="t" r="r" b="b"/>
              <a:pathLst>
                <a:path w="3848100" h="9525">
                  <a:moveTo>
                    <a:pt x="3848100" y="0"/>
                  </a:moveTo>
                  <a:lnTo>
                    <a:pt x="0" y="0"/>
                  </a:lnTo>
                </a:path>
              </a:pathLst>
            </a:custGeom>
            <a:noFill/>
            <a:ln w="19050">
              <a:solidFill>
                <a:srgbClr val="2F7CF4"/>
              </a:solidFill>
            </a:ln>
          </p:spPr>
        </p:sp>
        <p:sp>
          <p:nvSpPr>
            <p:cNvPr id="25" name="Line 25"/>
            <p:cNvSpPr/>
            <p:nvPr/>
          </p:nvSpPr>
          <p:spPr>
            <a:xfrm>
              <a:off x="5143500" y="2933700"/>
              <a:ext cx="9525" cy="2019300"/>
            </a:xfrm>
            <a:custGeom>
              <a:avLst/>
              <a:gdLst/>
              <a:ahLst/>
              <a:cxnLst/>
              <a:rect l="l" t="t" r="r" b="b"/>
              <a:pathLst>
                <a:path w="9525" h="2019300">
                  <a:moveTo>
                    <a:pt x="0" y="2019300"/>
                  </a:moveTo>
                  <a:lnTo>
                    <a:pt x="0" y="0"/>
                  </a:lnTo>
                </a:path>
              </a:pathLst>
            </a:custGeom>
            <a:noFill/>
            <a:ln w="19050">
              <a:solidFill>
                <a:srgbClr val="2F7CF4"/>
              </a:solidFill>
            </a:ln>
          </p:spPr>
        </p:sp>
        <p:sp>
          <p:nvSpPr>
            <p:cNvPr id="26" name="Line 26"/>
            <p:cNvSpPr/>
            <p:nvPr/>
          </p:nvSpPr>
          <p:spPr>
            <a:xfrm>
              <a:off x="5143500" y="2933700"/>
              <a:ext cx="647700" cy="1"/>
            </a:xfrm>
            <a:prstGeom prst="line">
              <a:avLst/>
            </a:prstGeom>
            <a:noFill/>
            <a:ln w="19050">
              <a:solidFill>
                <a:srgbClr val="2F7CF4"/>
              </a:solidFill>
              <a:tailEnd type="arrow" w="med" len="med"/>
            </a:ln>
          </p:spPr>
        </p:sp>
        <p:sp>
          <p:nvSpPr>
            <p:cNvPr id="27" name="TextBox 27"/>
            <p:cNvSpPr txBox="1"/>
            <p:nvPr/>
          </p:nvSpPr>
          <p:spPr>
            <a:xfrm>
              <a:off x="6440500" y="4584287"/>
              <a:ext cx="1292200" cy="308039"/>
            </a:xfrm>
            <a:prstGeom prst="rect">
              <a:avLst/>
            </a:prstGeom>
            <a:noFill/>
            <a:ln>
              <a:noFill/>
            </a:ln>
          </p:spPr>
          <p:txBody>
            <a:bodyPr wrap="none" lIns="0" tIns="0" rIns="0" bIns="0" anchor="t" anchorCtr="0">
              <a:spAutoFit/>
            </a:bodyPr>
            <a:lstStyle/>
            <a:p>
              <a:pPr algn="ctr"/>
              <a:r>
                <a:rPr lang="zh-CN" sz="1580" dirty="0">
                  <a:solidFill>
                    <a:srgbClr val="5B718A"/>
                  </a:solidFill>
                  <a:latin typeface="Microsoft YaHei"/>
                  <a:ea typeface="Microsoft YaHei"/>
                  <a:cs typeface="Microsoft YaHei"/>
                </a:rPr>
                <a:t>续接同一任务</a:t>
              </a:r>
            </a:p>
          </p:txBody>
        </p:sp>
      </p:grpSp>
      <p:grpSp>
        <p:nvGrpSpPr>
          <p:cNvPr id="31" name="Group 31"/>
          <p:cNvGrpSpPr/>
          <p:nvPr/>
        </p:nvGrpSpPr>
        <p:grpSpPr>
          <a:xfrm>
            <a:off x="533400" y="5743575"/>
            <a:ext cx="11125200" cy="589311"/>
            <a:chOff x="533400" y="5743575"/>
            <a:chExt cx="11125200" cy="589311"/>
          </a:xfrm>
        </p:grpSpPr>
        <p:sp>
          <p:nvSpPr>
            <p:cNvPr id="29" name="Line 29"/>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30" name="TextBox 30"/>
            <p:cNvSpPr txBox="1"/>
            <p:nvPr/>
          </p:nvSpPr>
          <p:spPr>
            <a:xfrm>
              <a:off x="3737178" y="5907500"/>
              <a:ext cx="4717644" cy="425386"/>
            </a:xfrm>
            <a:prstGeom prst="rect">
              <a:avLst/>
            </a:prstGeom>
            <a:noFill/>
            <a:ln>
              <a:noFill/>
            </a:ln>
          </p:spPr>
          <p:txBody>
            <a:bodyPr wrap="none" lIns="0" tIns="0" rIns="0" bIns="0" anchor="t" anchorCtr="0">
              <a:spAutoFit/>
            </a:bodyPr>
            <a:lstStyle/>
            <a:p>
              <a:pPr algn="ctr"/>
              <a:r>
                <a:rPr lang="zh-CN" sz="2180" b="1" dirty="0">
                  <a:solidFill>
                    <a:srgbClr val="071A33"/>
                  </a:solidFill>
                  <a:latin typeface="Microsoft YaHei"/>
                  <a:ea typeface="Microsoft YaHei"/>
                  <a:cs typeface="Microsoft YaHei"/>
                </a:rPr>
                <a:t>失败后的定位与恢复必须先被设计。</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p="http://schemas.openxmlformats.org/presentationml/2006/main" xmlns:p14="http://schemas.microsoft.com/office/powerpoint/2010/main">
  <p:cSld>
    <p:bg>
      <p:bgPr>
        <a:solidFill>
          <a:srgbClr val="071A33"/>
        </a:solidFill>
        <a:effectLst/>
      </p:bgPr>
    </p:bg>
    <p:spTree>
      <p:nvGrpSpPr>
        <p:cNvPr id="1" name=""/>
        <p:cNvGrpSpPr/>
        <p:nvPr/>
      </p:nvGrpSpPr>
      <p:grpSpPr>
        <a:xfrm>
          <a:off x="0" y="0"/>
          <a:ext cx="0" cy="0"/>
          <a:chOff x="0" y="0"/>
          <a:chExt cx="0" cy="0"/>
        </a:xfrm>
      </p:grpSpPr>
      <p:grpSp>
        <p:nvGrpSpPr>
          <p:cNvPr id="69" name="Group 69"/>
          <p:cNvGrpSpPr/>
          <p:nvPr/>
        </p:nvGrpSpPr>
        <p:grpSpPr>
          <a:xfrm>
            <a:off x="11227664" y="6379845"/>
            <a:ext cx="435698" cy="176212"/>
            <a:chOff x="11227664" y="6379845"/>
            <a:chExt cx="435698" cy="176212"/>
          </a:xfrm>
        </p:grpSpPr>
        <p:sp>
          <p:nvSpPr>
            <p:cNvPr id="68" name="TextBox 68"/>
            <p:cNvSpPr txBox="1"/>
            <p:nvPr/>
          </p:nvSpPr>
          <p:spPr>
            <a:xfrm>
              <a:off x="11227664" y="637984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05 / 10</a:t>
              </a:r>
            </a:p>
          </p:txBody>
        </p:sp>
      </p:grpSp>
      <p:grpSp>
        <p:nvGrpSpPr>
          <p:cNvPr id="4" name="Group 4"/>
          <p:cNvGrpSpPr/>
          <p:nvPr/>
        </p:nvGrpSpPr>
        <p:grpSpPr>
          <a:xfrm>
            <a:off x="519684" y="775335"/>
            <a:ext cx="7296912" cy="528066"/>
            <a:chOff x="519684" y="775335"/>
            <a:chExt cx="7296912" cy="528066"/>
          </a:xfrm>
        </p:grpSpPr>
        <p:sp>
          <p:nvSpPr>
            <p:cNvPr id="3" name="TextBox 3"/>
            <p:cNvSpPr txBox="1"/>
            <p:nvPr/>
          </p:nvSpPr>
          <p:spPr>
            <a:xfrm>
              <a:off x="519684" y="775335"/>
              <a:ext cx="7296912" cy="528066"/>
            </a:xfrm>
            <a:prstGeom prst="rect">
              <a:avLst/>
            </a:prstGeom>
            <a:noFill/>
            <a:ln>
              <a:noFill/>
            </a:ln>
          </p:spPr>
          <p:txBody>
            <a:bodyPr wrap="none" lIns="0" tIns="0" rIns="0" bIns="0" anchor="t" anchorCtr="0">
              <a:spAutoFit/>
            </a:bodyPr>
            <a:lstStyle/>
            <a:p>
              <a:pPr algn="l"/>
              <a:r>
                <a:rPr lang="zh-CN" sz="2700" b="1" dirty="0">
                  <a:solidFill>
                    <a:srgbClr val="F7FBFF"/>
                  </a:solidFill>
                  <a:latin typeface="Microsoft YaHei"/>
                  <a:ea typeface="Microsoft YaHei"/>
                  <a:cs typeface="Microsoft YaHei"/>
                </a:rPr>
                <a:t>实时链路失去一致性，医生就无法判断下一步</a:t>
              </a:r>
            </a:p>
          </p:txBody>
        </p:sp>
      </p:grpSp>
      <p:grpSp>
        <p:nvGrpSpPr>
          <p:cNvPr id="28" name="Group 28"/>
          <p:cNvGrpSpPr/>
          <p:nvPr/>
        </p:nvGrpSpPr>
        <p:grpSpPr>
          <a:xfrm>
            <a:off x="1276071" y="1874330"/>
            <a:ext cx="9499371" cy="3808285"/>
            <a:chOff x="1276071" y="1874330"/>
            <a:chExt cx="9499371" cy="3808285"/>
          </a:xfrm>
        </p:grpSpPr>
        <p:sp>
          <p:nvSpPr>
            <p:cNvPr id="5" name="TextBox 5"/>
            <p:cNvSpPr txBox="1"/>
            <p:nvPr/>
          </p:nvSpPr>
          <p:spPr>
            <a:xfrm>
              <a:off x="1903286" y="1874330"/>
              <a:ext cx="1127379" cy="322707"/>
            </a:xfrm>
            <a:prstGeom prst="rect">
              <a:avLst/>
            </a:prstGeom>
            <a:noFill/>
            <a:ln>
              <a:noFill/>
            </a:ln>
          </p:spPr>
          <p:txBody>
            <a:bodyPr wrap="none" lIns="0" tIns="0" rIns="0" bIns="0" anchor="t" anchorCtr="0">
              <a:spAutoFit/>
            </a:bodyPr>
            <a:lstStyle/>
            <a:p>
              <a:pPr algn="ctr"/>
              <a:r>
                <a:rPr lang="zh-CN" sz="1650" b="1" dirty="0">
                  <a:solidFill>
                    <a:srgbClr val="B8C6D9"/>
                  </a:solidFill>
                  <a:latin typeface="Microsoft YaHei"/>
                  <a:ea typeface="Microsoft YaHei"/>
                  <a:cs typeface="Microsoft YaHei"/>
                </a:rPr>
                <a:t>已记录现象</a:t>
              </a:r>
            </a:p>
          </p:txBody>
        </p:sp>
        <p:sp>
          <p:nvSpPr>
            <p:cNvPr id="6" name="TextBox 6"/>
            <p:cNvSpPr txBox="1"/>
            <p:nvPr/>
          </p:nvSpPr>
          <p:spPr>
            <a:xfrm>
              <a:off x="1276071" y="2792635"/>
              <a:ext cx="648259" cy="454724"/>
            </a:xfrm>
            <a:prstGeom prst="rect">
              <a:avLst/>
            </a:prstGeom>
            <a:noFill/>
            <a:ln>
              <a:noFill/>
            </a:ln>
          </p:spPr>
          <p:txBody>
            <a:bodyPr wrap="none" lIns="0" tIns="0" rIns="0" bIns="0" anchor="t" anchorCtr="0">
              <a:spAutoFit/>
            </a:bodyPr>
            <a:lstStyle/>
            <a:p>
              <a:pPr algn="ctr"/>
              <a:r>
                <a:rPr lang="zh-CN" sz="2320" b="1" dirty="0">
                  <a:solidFill>
                    <a:srgbClr val="FF6381"/>
                  </a:solidFill>
                  <a:latin typeface="Microsoft YaHei"/>
                  <a:ea typeface="Microsoft YaHei"/>
                  <a:cs typeface="Microsoft YaHei"/>
                </a:rPr>
                <a:t>断网</a:t>
              </a:r>
            </a:p>
          </p:txBody>
        </p:sp>
        <p:sp>
          <p:nvSpPr>
            <p:cNvPr id="7" name="Line 7"/>
            <p:cNvSpPr/>
            <p:nvPr/>
          </p:nvSpPr>
          <p:spPr>
            <a:xfrm>
              <a:off x="2209800" y="2943225"/>
              <a:ext cx="1104900" cy="9525"/>
            </a:xfrm>
            <a:custGeom>
              <a:avLst/>
              <a:gdLst/>
              <a:ahLst/>
              <a:cxnLst/>
              <a:rect l="l" t="t" r="r" b="b"/>
              <a:pathLst>
                <a:path w="1104900" h="9525">
                  <a:moveTo>
                    <a:pt x="0" y="0"/>
                  </a:moveTo>
                  <a:lnTo>
                    <a:pt x="1104900" y="0"/>
                  </a:lnTo>
                </a:path>
              </a:pathLst>
            </a:custGeom>
            <a:noFill/>
            <a:ln w="23812">
              <a:solidFill>
                <a:srgbClr val="FF6381"/>
              </a:solidFill>
            </a:ln>
          </p:spPr>
        </p:sp>
        <p:sp>
          <p:nvSpPr>
            <p:cNvPr id="8" name="Line 8"/>
            <p:cNvSpPr/>
            <p:nvPr/>
          </p:nvSpPr>
          <p:spPr>
            <a:xfrm>
              <a:off x="3314700" y="2505075"/>
              <a:ext cx="9525" cy="438150"/>
            </a:xfrm>
            <a:custGeom>
              <a:avLst/>
              <a:gdLst/>
              <a:ahLst/>
              <a:cxnLst/>
              <a:rect l="l" t="t" r="r" b="b"/>
              <a:pathLst>
                <a:path w="9525" h="438150">
                  <a:moveTo>
                    <a:pt x="0" y="438150"/>
                  </a:moveTo>
                  <a:lnTo>
                    <a:pt x="0" y="0"/>
                  </a:lnTo>
                </a:path>
              </a:pathLst>
            </a:custGeom>
            <a:noFill/>
            <a:ln w="23812">
              <a:solidFill>
                <a:srgbClr val="FF6381"/>
              </a:solidFill>
            </a:ln>
          </p:spPr>
        </p:sp>
        <p:sp>
          <p:nvSpPr>
            <p:cNvPr id="9" name="Line 9"/>
            <p:cNvSpPr/>
            <p:nvPr/>
          </p:nvSpPr>
          <p:spPr>
            <a:xfrm>
              <a:off x="3314700" y="2505075"/>
              <a:ext cx="1123950" cy="1"/>
            </a:xfrm>
            <a:prstGeom prst="line">
              <a:avLst/>
            </a:prstGeom>
            <a:noFill/>
            <a:ln w="23812">
              <a:solidFill>
                <a:srgbClr val="FF6381"/>
              </a:solidFill>
              <a:tailEnd type="arrow" w="med" len="med"/>
            </a:ln>
          </p:spPr>
        </p:sp>
        <p:sp>
          <p:nvSpPr>
            <p:cNvPr id="10" name="Line 10"/>
            <p:cNvSpPr/>
            <p:nvPr/>
          </p:nvSpPr>
          <p:spPr>
            <a:xfrm>
              <a:off x="3314700" y="2943225"/>
              <a:ext cx="9525" cy="438150"/>
            </a:xfrm>
            <a:custGeom>
              <a:avLst/>
              <a:gdLst/>
              <a:ahLst/>
              <a:cxnLst/>
              <a:rect l="l" t="t" r="r" b="b"/>
              <a:pathLst>
                <a:path w="9525" h="438150">
                  <a:moveTo>
                    <a:pt x="0" y="0"/>
                  </a:moveTo>
                  <a:lnTo>
                    <a:pt x="0" y="438150"/>
                  </a:lnTo>
                </a:path>
              </a:pathLst>
            </a:custGeom>
            <a:noFill/>
            <a:ln w="23812">
              <a:solidFill>
                <a:srgbClr val="20D9E8"/>
              </a:solidFill>
            </a:ln>
          </p:spPr>
        </p:sp>
        <p:sp>
          <p:nvSpPr>
            <p:cNvPr id="11" name="Line 11"/>
            <p:cNvSpPr/>
            <p:nvPr/>
          </p:nvSpPr>
          <p:spPr>
            <a:xfrm>
              <a:off x="3314700" y="3381375"/>
              <a:ext cx="1123950" cy="1"/>
            </a:xfrm>
            <a:prstGeom prst="line">
              <a:avLst/>
            </a:prstGeom>
            <a:noFill/>
            <a:ln w="23812">
              <a:solidFill>
                <a:srgbClr val="20D9E8"/>
              </a:solidFill>
              <a:tailEnd type="arrow" w="med" len="med"/>
            </a:ln>
          </p:spPr>
        </p:sp>
        <p:sp>
          <p:nvSpPr>
            <p:cNvPr id="12" name="TextBox 12"/>
            <p:cNvSpPr txBox="1"/>
            <p:nvPr/>
          </p:nvSpPr>
          <p:spPr>
            <a:xfrm>
              <a:off x="4875022" y="2364200"/>
              <a:ext cx="1489456" cy="425386"/>
            </a:xfrm>
            <a:prstGeom prst="rect">
              <a:avLst/>
            </a:prstGeom>
            <a:noFill/>
            <a:ln>
              <a:noFill/>
            </a:ln>
          </p:spPr>
          <p:txBody>
            <a:bodyPr wrap="none" lIns="0" tIns="0" rIns="0" bIns="0" anchor="t" anchorCtr="0">
              <a:spAutoFit/>
            </a:bodyPr>
            <a:lstStyle/>
            <a:p>
              <a:pPr algn="ctr"/>
              <a:r>
                <a:rPr lang="zh-CN" sz="2180" b="1" dirty="0">
                  <a:solidFill>
                    <a:srgbClr val="FF6381"/>
                  </a:solidFill>
                  <a:latin typeface="Microsoft YaHei"/>
                  <a:ea typeface="Microsoft YaHei"/>
                  <a:cs typeface="Microsoft YaHei"/>
                </a:rPr>
                <a:t>前端报失败</a:t>
              </a:r>
            </a:p>
          </p:txBody>
        </p:sp>
        <p:sp>
          <p:nvSpPr>
            <p:cNvPr id="13" name="TextBox 13"/>
            <p:cNvSpPr txBox="1"/>
            <p:nvPr/>
          </p:nvSpPr>
          <p:spPr>
            <a:xfrm>
              <a:off x="5021758" y="3240500"/>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后台继续</a:t>
              </a:r>
            </a:p>
          </p:txBody>
        </p:sp>
        <p:sp>
          <p:nvSpPr>
            <p:cNvPr id="14" name="Line 14"/>
            <p:cNvSpPr/>
            <p:nvPr/>
          </p:nvSpPr>
          <p:spPr>
            <a:xfrm>
              <a:off x="6715125" y="2505075"/>
              <a:ext cx="904875" cy="9525"/>
            </a:xfrm>
            <a:custGeom>
              <a:avLst/>
              <a:gdLst/>
              <a:ahLst/>
              <a:cxnLst/>
              <a:rect l="l" t="t" r="r" b="b"/>
              <a:pathLst>
                <a:path w="904875" h="9525">
                  <a:moveTo>
                    <a:pt x="0" y="0"/>
                  </a:moveTo>
                  <a:lnTo>
                    <a:pt x="904875" y="0"/>
                  </a:lnTo>
                </a:path>
              </a:pathLst>
            </a:custGeom>
            <a:noFill/>
            <a:ln w="23812">
              <a:solidFill>
                <a:srgbClr val="FF6381"/>
              </a:solidFill>
            </a:ln>
          </p:spPr>
        </p:sp>
        <p:sp>
          <p:nvSpPr>
            <p:cNvPr id="15" name="Line 15"/>
            <p:cNvSpPr/>
            <p:nvPr/>
          </p:nvSpPr>
          <p:spPr>
            <a:xfrm>
              <a:off x="7620000" y="2505075"/>
              <a:ext cx="9525" cy="438150"/>
            </a:xfrm>
            <a:custGeom>
              <a:avLst/>
              <a:gdLst/>
              <a:ahLst/>
              <a:cxnLst/>
              <a:rect l="l" t="t" r="r" b="b"/>
              <a:pathLst>
                <a:path w="9525" h="438150">
                  <a:moveTo>
                    <a:pt x="0" y="0"/>
                  </a:moveTo>
                  <a:lnTo>
                    <a:pt x="0" y="438150"/>
                  </a:lnTo>
                </a:path>
              </a:pathLst>
            </a:custGeom>
            <a:noFill/>
            <a:ln w="23812">
              <a:solidFill>
                <a:srgbClr val="FF6381"/>
              </a:solidFill>
            </a:ln>
          </p:spPr>
        </p:sp>
        <p:sp>
          <p:nvSpPr>
            <p:cNvPr id="16" name="Line 16"/>
            <p:cNvSpPr/>
            <p:nvPr/>
          </p:nvSpPr>
          <p:spPr>
            <a:xfrm>
              <a:off x="7620000" y="2943225"/>
              <a:ext cx="1085850" cy="1"/>
            </a:xfrm>
            <a:prstGeom prst="line">
              <a:avLst/>
            </a:prstGeom>
            <a:noFill/>
            <a:ln w="23812">
              <a:solidFill>
                <a:srgbClr val="FF6381"/>
              </a:solidFill>
              <a:tailEnd type="arrow" w="med" len="med"/>
            </a:ln>
          </p:spPr>
        </p:sp>
        <p:sp>
          <p:nvSpPr>
            <p:cNvPr id="17" name="Line 17"/>
            <p:cNvSpPr/>
            <p:nvPr/>
          </p:nvSpPr>
          <p:spPr>
            <a:xfrm>
              <a:off x="6715125" y="3381375"/>
              <a:ext cx="904875" cy="9525"/>
            </a:xfrm>
            <a:custGeom>
              <a:avLst/>
              <a:gdLst/>
              <a:ahLst/>
              <a:cxnLst/>
              <a:rect l="l" t="t" r="r" b="b"/>
              <a:pathLst>
                <a:path w="904875" h="9525">
                  <a:moveTo>
                    <a:pt x="0" y="0"/>
                  </a:moveTo>
                  <a:lnTo>
                    <a:pt x="904875" y="0"/>
                  </a:lnTo>
                </a:path>
              </a:pathLst>
            </a:custGeom>
            <a:noFill/>
            <a:ln w="23812">
              <a:solidFill>
                <a:srgbClr val="20D9E8"/>
              </a:solidFill>
            </a:ln>
          </p:spPr>
        </p:sp>
        <p:sp>
          <p:nvSpPr>
            <p:cNvPr id="18" name="Line 18"/>
            <p:cNvSpPr/>
            <p:nvPr/>
          </p:nvSpPr>
          <p:spPr>
            <a:xfrm>
              <a:off x="7620000" y="2943225"/>
              <a:ext cx="9525" cy="438150"/>
            </a:xfrm>
            <a:custGeom>
              <a:avLst/>
              <a:gdLst/>
              <a:ahLst/>
              <a:cxnLst/>
              <a:rect l="l" t="t" r="r" b="b"/>
              <a:pathLst>
                <a:path w="9525" h="438150">
                  <a:moveTo>
                    <a:pt x="0" y="438150"/>
                  </a:moveTo>
                  <a:lnTo>
                    <a:pt x="0" y="0"/>
                  </a:lnTo>
                </a:path>
              </a:pathLst>
            </a:custGeom>
            <a:noFill/>
            <a:ln w="23812">
              <a:solidFill>
                <a:srgbClr val="20D9E8"/>
              </a:solidFill>
            </a:ln>
          </p:spPr>
        </p:sp>
        <p:sp>
          <p:nvSpPr>
            <p:cNvPr id="19" name="TextBox 19"/>
            <p:cNvSpPr txBox="1"/>
            <p:nvPr/>
          </p:nvSpPr>
          <p:spPr>
            <a:xfrm>
              <a:off x="9531858" y="2574417"/>
              <a:ext cx="1243584" cy="896112"/>
            </a:xfrm>
            <a:prstGeom prst="rect">
              <a:avLst/>
            </a:prstGeom>
            <a:noFill/>
            <a:ln>
              <a:noFill/>
            </a:ln>
          </p:spPr>
          <p:txBody>
            <a:bodyPr wrap="none" lIns="0" tIns="0" rIns="0" bIns="0" anchor="t" anchorCtr="0">
              <a:spAutoFit/>
            </a:bodyPr>
            <a:lstStyle/>
            <a:p>
              <a:pPr algn="ctr">
                <a:lnSpc>
                  <a:spcPts val="3360"/>
                </a:lnSpc>
              </a:pPr>
              <a:r>
                <a:rPr lang="zh-CN" sz="2400" b="1" dirty="0">
                  <a:solidFill>
                    <a:srgbClr val="F7FBFF"/>
                  </a:solidFill>
                  <a:latin typeface="Microsoft YaHei"/>
                  <a:ea typeface="Microsoft YaHei"/>
                  <a:cs typeface="Microsoft YaHei"/>
                </a:rPr>
                <a:t>是否需要</a:t>
              </a:r>
              <a:br/>
              <a:r>
                <a:rPr lang="zh-CN" sz="2400" b="1" dirty="0">
                  <a:solidFill>
                    <a:srgbClr val="F7FBFF"/>
                  </a:solidFill>
                  <a:latin typeface="Microsoft YaHei"/>
                  <a:ea typeface="Microsoft YaHei"/>
                  <a:cs typeface="Microsoft YaHei"/>
                </a:rPr>
                <a:t>重录？</a:t>
              </a:r>
            </a:p>
          </p:txBody>
        </p:sp>
        <p:sp>
          <p:nvSpPr>
            <p:cNvPr id="20" name="TextBox 20"/>
            <p:cNvSpPr txBox="1"/>
            <p:nvPr/>
          </p:nvSpPr>
          <p:spPr>
            <a:xfrm>
              <a:off x="8636051" y="3727037"/>
              <a:ext cx="1930298" cy="308039"/>
            </a:xfrm>
            <a:prstGeom prst="rect">
              <a:avLst/>
            </a:prstGeom>
            <a:noFill/>
            <a:ln>
              <a:noFill/>
            </a:ln>
          </p:spPr>
          <p:txBody>
            <a:bodyPr wrap="none" lIns="0" tIns="0" rIns="0" bIns="0" anchor="t" anchorCtr="0">
              <a:spAutoFit/>
            </a:bodyPr>
            <a:lstStyle/>
            <a:p>
              <a:pPr algn="ctr"/>
              <a:r>
                <a:rPr lang="zh-CN" sz="1580" b="1" dirty="0">
                  <a:solidFill>
                    <a:srgbClr val="FF6381"/>
                  </a:solidFill>
                  <a:latin typeface="Microsoft YaHei"/>
                  <a:ea typeface="Microsoft YaHei"/>
                  <a:cs typeface="Microsoft YaHei"/>
                </a:rPr>
                <a:t>重连风险：重复显示</a:t>
              </a:r>
            </a:p>
          </p:txBody>
        </p:sp>
        <p:sp>
          <p:nvSpPr>
            <p:cNvPr id="21" name="TextBox 21"/>
            <p:cNvSpPr txBox="1"/>
            <p:nvPr/>
          </p:nvSpPr>
          <p:spPr>
            <a:xfrm>
              <a:off x="4182186" y="4174141"/>
              <a:ext cx="3827628" cy="396050"/>
            </a:xfrm>
            <a:prstGeom prst="rect">
              <a:avLst/>
            </a:prstGeom>
            <a:noFill/>
            <a:ln>
              <a:noFill/>
            </a:ln>
          </p:spPr>
          <p:txBody>
            <a:bodyPr wrap="none" lIns="0" tIns="0" rIns="0" bIns="0" anchor="t" anchorCtr="0">
              <a:spAutoFit/>
            </a:bodyPr>
            <a:lstStyle/>
            <a:p>
              <a:pPr algn="ctr"/>
              <a:r>
                <a:rPr lang="zh-CN" sz="2020" b="1" dirty="0">
                  <a:solidFill>
                    <a:srgbClr val="F7FBFF"/>
                  </a:solidFill>
                  <a:latin typeface="Microsoft YaHei"/>
                  <a:ea typeface="Microsoft YaHei"/>
                  <a:cs typeface="Microsoft YaHei"/>
                </a:rPr>
                <a:t>根因：前后端缺少可靠恢复边界</a:t>
              </a:r>
            </a:p>
          </p:txBody>
        </p:sp>
        <p:sp>
          <p:nvSpPr>
            <p:cNvPr id="22" name="Line 22"/>
            <p:cNvSpPr/>
            <p:nvPr/>
          </p:nvSpPr>
          <p:spPr>
            <a:xfrm>
              <a:off x="3171825" y="4972050"/>
              <a:ext cx="1533525" cy="1"/>
            </a:xfrm>
            <a:prstGeom prst="line">
              <a:avLst/>
            </a:prstGeom>
            <a:noFill/>
            <a:ln w="19050">
              <a:solidFill>
                <a:srgbClr val="20D9E8"/>
              </a:solidFill>
              <a:tailEnd type="arrow" w="med" len="med"/>
            </a:ln>
          </p:spPr>
        </p:sp>
        <p:sp>
          <p:nvSpPr>
            <p:cNvPr id="23" name="Line 23"/>
            <p:cNvSpPr/>
            <p:nvPr/>
          </p:nvSpPr>
          <p:spPr>
            <a:xfrm>
              <a:off x="7458075" y="4972050"/>
              <a:ext cx="1533525" cy="1"/>
            </a:xfrm>
            <a:prstGeom prst="line">
              <a:avLst/>
            </a:prstGeom>
            <a:noFill/>
            <a:ln w="19050">
              <a:solidFill>
                <a:srgbClr val="20D9E8"/>
              </a:solidFill>
              <a:tailEnd type="arrow" w="med" len="med"/>
            </a:ln>
          </p:spPr>
        </p:sp>
        <p:sp>
          <p:nvSpPr>
            <p:cNvPr id="24" name="TextBox 24"/>
            <p:cNvSpPr txBox="1"/>
            <p:nvPr/>
          </p:nvSpPr>
          <p:spPr>
            <a:xfrm>
              <a:off x="1573708" y="4831175"/>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事件编号</a:t>
              </a:r>
            </a:p>
          </p:txBody>
        </p:sp>
        <p:sp>
          <p:nvSpPr>
            <p:cNvPr id="25" name="TextBox 25"/>
            <p:cNvSpPr txBox="1"/>
            <p:nvPr/>
          </p:nvSpPr>
          <p:spPr>
            <a:xfrm>
              <a:off x="5498008" y="4831175"/>
              <a:ext cx="1195984"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断点续接</a:t>
              </a:r>
            </a:p>
          </p:txBody>
        </p:sp>
        <p:sp>
          <p:nvSpPr>
            <p:cNvPr id="26" name="TextBox 26"/>
            <p:cNvSpPr txBox="1"/>
            <p:nvPr/>
          </p:nvSpPr>
          <p:spPr>
            <a:xfrm>
              <a:off x="9772929" y="4831175"/>
              <a:ext cx="609041" cy="425386"/>
            </a:xfrm>
            <a:prstGeom prst="rect">
              <a:avLst/>
            </a:prstGeom>
            <a:noFill/>
            <a:ln>
              <a:noFill/>
            </a:ln>
          </p:spPr>
          <p:txBody>
            <a:bodyPr wrap="none" lIns="0" tIns="0" rIns="0" bIns="0" anchor="t" anchorCtr="0">
              <a:spAutoFit/>
            </a:bodyPr>
            <a:lstStyle/>
            <a:p>
              <a:pPr algn="ctr"/>
              <a:r>
                <a:rPr lang="zh-CN" sz="2180" b="1" dirty="0">
                  <a:solidFill>
                    <a:srgbClr val="20D9E8"/>
                  </a:solidFill>
                  <a:latin typeface="Microsoft YaHei"/>
                  <a:ea typeface="Microsoft YaHei"/>
                  <a:cs typeface="Microsoft YaHei"/>
                </a:rPr>
                <a:t>去重</a:t>
              </a:r>
            </a:p>
          </p:txBody>
        </p:sp>
        <p:sp>
          <p:nvSpPr>
            <p:cNvPr id="27" name="TextBox 27"/>
            <p:cNvSpPr txBox="1"/>
            <p:nvPr/>
          </p:nvSpPr>
          <p:spPr>
            <a:xfrm>
              <a:off x="4371975" y="5389245"/>
              <a:ext cx="3448050" cy="293370"/>
            </a:xfrm>
            <a:prstGeom prst="rect">
              <a:avLst/>
            </a:prstGeom>
            <a:noFill/>
            <a:ln>
              <a:noFill/>
            </a:ln>
          </p:spPr>
          <p:txBody>
            <a:bodyPr wrap="none" lIns="0" tIns="0" rIns="0" bIns="0" anchor="t" anchorCtr="0">
              <a:spAutoFit/>
            </a:bodyPr>
            <a:lstStyle/>
            <a:p>
              <a:pPr algn="ctr"/>
              <a:r>
                <a:rPr lang="zh-CN" sz="1500" dirty="0">
                  <a:solidFill>
                    <a:srgbClr val="B8C6D9"/>
                  </a:solidFill>
                  <a:latin typeface="Microsoft YaHei"/>
                  <a:ea typeface="Microsoft YaHei"/>
                  <a:cs typeface="Microsoft YaHei"/>
                </a:rPr>
                <a:t>断点续传脚本复验通过，真实网络待测</a:t>
              </a:r>
            </a:p>
          </p:txBody>
        </p:sp>
      </p:grpSp>
      <p:grpSp>
        <p:nvGrpSpPr>
          <p:cNvPr id="31" name="Group 31"/>
          <p:cNvGrpSpPr/>
          <p:nvPr/>
        </p:nvGrpSpPr>
        <p:grpSpPr>
          <a:xfrm>
            <a:off x="533400" y="5743575"/>
            <a:ext cx="11125200" cy="599122"/>
            <a:chOff x="533400" y="5743575"/>
            <a:chExt cx="11125200" cy="599122"/>
          </a:xfrm>
        </p:grpSpPr>
        <p:sp>
          <p:nvSpPr>
            <p:cNvPr id="29" name="Line 29"/>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30" name="TextBox 30"/>
            <p:cNvSpPr txBox="1"/>
            <p:nvPr/>
          </p:nvSpPr>
          <p:spPr>
            <a:xfrm>
              <a:off x="4267200" y="5902642"/>
              <a:ext cx="3657600" cy="440055"/>
            </a:xfrm>
            <a:prstGeom prst="rect">
              <a:avLst/>
            </a:prstGeom>
            <a:noFill/>
            <a:ln>
              <a:noFill/>
            </a:ln>
          </p:spPr>
          <p:txBody>
            <a:bodyPr wrap="none" lIns="0" tIns="0" rIns="0" bIns="0" anchor="t" anchorCtr="0">
              <a:spAutoFit/>
            </a:bodyPr>
            <a:lstStyle/>
            <a:p>
              <a:pPr algn="ctr"/>
              <a:r>
                <a:rPr lang="zh-CN" sz="2250" b="1" dirty="0">
                  <a:solidFill>
                    <a:srgbClr val="20D9E8"/>
                  </a:solidFill>
                  <a:latin typeface="Microsoft YaHei"/>
                  <a:ea typeface="Microsoft YaHei"/>
                  <a:cs typeface="Microsoft YaHei"/>
                </a:rPr>
                <a:t>实时性建立在一致性之上。</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74" name="Group 74"/>
          <p:cNvGrpSpPr/>
          <p:nvPr/>
        </p:nvGrpSpPr>
        <p:grpSpPr>
          <a:xfrm>
            <a:off x="11227664" y="6398895"/>
            <a:ext cx="435698" cy="176212"/>
            <a:chOff x="11227664" y="6398895"/>
            <a:chExt cx="435698" cy="176212"/>
          </a:xfrm>
        </p:grpSpPr>
        <p:sp>
          <p:nvSpPr>
            <p:cNvPr id="73" name="TextBox 73"/>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06 / 10</a:t>
              </a:r>
            </a:p>
          </p:txBody>
        </p:sp>
      </p:grpSp>
      <p:grpSp>
        <p:nvGrpSpPr>
          <p:cNvPr id="4" name="Group 4"/>
          <p:cNvGrpSpPr/>
          <p:nvPr/>
        </p:nvGrpSpPr>
        <p:grpSpPr>
          <a:xfrm>
            <a:off x="519303" y="767239"/>
            <a:ext cx="7138822" cy="542734"/>
            <a:chOff x="519303" y="767239"/>
            <a:chExt cx="7138822" cy="542734"/>
          </a:xfrm>
        </p:grpSpPr>
        <p:sp>
          <p:nvSpPr>
            <p:cNvPr id="3" name="TextBox 3"/>
            <p:cNvSpPr txBox="1"/>
            <p:nvPr/>
          </p:nvSpPr>
          <p:spPr>
            <a:xfrm>
              <a:off x="519303" y="767239"/>
              <a:ext cx="7138822" cy="542734"/>
            </a:xfrm>
            <a:prstGeom prst="rect">
              <a:avLst/>
            </a:prstGeom>
            <a:noFill/>
            <a:ln>
              <a:noFill/>
            </a:ln>
          </p:spPr>
          <p:txBody>
            <a:bodyPr wrap="none" lIns="0" tIns="0" rIns="0" bIns="0" anchor="t" anchorCtr="0">
              <a:spAutoFit/>
            </a:bodyPr>
            <a:lstStyle/>
            <a:p>
              <a:pPr algn="l"/>
              <a:r>
                <a:rPr lang="zh-CN" sz="2780" b="1" dirty="0">
                  <a:solidFill>
                    <a:srgbClr val="071A33"/>
                  </a:solidFill>
                  <a:latin typeface="Microsoft YaHei"/>
                  <a:ea typeface="Microsoft YaHei"/>
                  <a:cs typeface="Microsoft YaHei"/>
                </a:rPr>
                <a:t>审核不是按钮，而是对具体内容的责任绑定</a:t>
              </a:r>
            </a:p>
          </p:txBody>
        </p:sp>
      </p:grpSp>
      <p:grpSp>
        <p:nvGrpSpPr>
          <p:cNvPr id="26" name="Group 26"/>
          <p:cNvGrpSpPr/>
          <p:nvPr/>
        </p:nvGrpSpPr>
        <p:grpSpPr>
          <a:xfrm>
            <a:off x="533400" y="1997583"/>
            <a:ext cx="11125200" cy="3505104"/>
            <a:chOff x="533400" y="1997583"/>
            <a:chExt cx="11125200" cy="3505104"/>
          </a:xfrm>
        </p:grpSpPr>
        <p:sp>
          <p:nvSpPr>
            <p:cNvPr id="5" name="TextBox 5"/>
            <p:cNvSpPr txBox="1"/>
            <p:nvPr/>
          </p:nvSpPr>
          <p:spPr>
            <a:xfrm>
              <a:off x="4783843" y="1997583"/>
              <a:ext cx="2624315" cy="410718"/>
            </a:xfrm>
            <a:prstGeom prst="rect">
              <a:avLst/>
            </a:prstGeom>
            <a:noFill/>
            <a:ln>
              <a:noFill/>
            </a:ln>
          </p:spPr>
          <p:txBody>
            <a:bodyPr wrap="none" lIns="0" tIns="0" rIns="0" bIns="0" anchor="t" anchorCtr="0">
              <a:spAutoFit/>
            </a:bodyPr>
            <a:lstStyle/>
            <a:p>
              <a:pPr algn="ctr"/>
              <a:r>
                <a:rPr lang="zh-CN" sz="2100" b="1" dirty="0">
                  <a:solidFill>
                    <a:srgbClr val="FF6381"/>
                  </a:solidFill>
                  <a:latin typeface="Microsoft YaHei"/>
                  <a:ea typeface="Microsoft YaHei"/>
                  <a:cs typeface="Microsoft YaHei"/>
                </a:rPr>
                <a:t>审核状态 ≠ 内容状态</a:t>
              </a:r>
            </a:p>
          </p:txBody>
        </p:sp>
        <p:sp>
          <p:nvSpPr>
            <p:cNvPr id="6" name="Line 6"/>
            <p:cNvSpPr/>
            <p:nvPr/>
          </p:nvSpPr>
          <p:spPr>
            <a:xfrm>
              <a:off x="3457575" y="2847975"/>
              <a:ext cx="1676400" cy="1"/>
            </a:xfrm>
            <a:prstGeom prst="line">
              <a:avLst/>
            </a:prstGeom>
            <a:noFill/>
            <a:ln w="23812">
              <a:solidFill>
                <a:srgbClr val="FF6381"/>
              </a:solidFill>
              <a:tailEnd type="arrow" w="med" len="med"/>
            </a:ln>
          </p:spPr>
        </p:sp>
        <p:sp>
          <p:nvSpPr>
            <p:cNvPr id="7" name="Line 7"/>
            <p:cNvSpPr/>
            <p:nvPr/>
          </p:nvSpPr>
          <p:spPr>
            <a:xfrm>
              <a:off x="7229475" y="2847975"/>
              <a:ext cx="1676400" cy="1"/>
            </a:xfrm>
            <a:prstGeom prst="line">
              <a:avLst/>
            </a:prstGeom>
            <a:noFill/>
            <a:ln w="23812">
              <a:solidFill>
                <a:srgbClr val="FF6381"/>
              </a:solidFill>
              <a:tailEnd type="arrow" w="med" len="med"/>
            </a:ln>
          </p:spPr>
        </p:sp>
        <p:sp>
          <p:nvSpPr>
            <p:cNvPr id="8" name="Ellipse 8"/>
            <p:cNvSpPr/>
            <p:nvPr/>
          </p:nvSpPr>
          <p:spPr>
            <a:xfrm>
              <a:off x="2286000" y="2781300"/>
              <a:ext cx="133350" cy="133350"/>
            </a:xfrm>
            <a:prstGeom prst="ellipse">
              <a:avLst/>
            </a:prstGeom>
            <a:solidFill>
              <a:srgbClr val="FF6381"/>
            </a:solidFill>
            <a:ln>
              <a:noFill/>
            </a:ln>
          </p:spPr>
        </p:sp>
        <p:sp>
          <p:nvSpPr>
            <p:cNvPr id="9" name="TextBox 9"/>
            <p:cNvSpPr txBox="1"/>
            <p:nvPr/>
          </p:nvSpPr>
          <p:spPr>
            <a:xfrm>
              <a:off x="1798523" y="3183541"/>
              <a:ext cx="1108304"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审核通过</a:t>
              </a:r>
            </a:p>
          </p:txBody>
        </p:sp>
        <p:sp>
          <p:nvSpPr>
            <p:cNvPr id="10" name="Ellipse 10"/>
            <p:cNvSpPr/>
            <p:nvPr/>
          </p:nvSpPr>
          <p:spPr>
            <a:xfrm>
              <a:off x="6096000" y="2781300"/>
              <a:ext cx="133350" cy="133350"/>
            </a:xfrm>
            <a:prstGeom prst="ellipse">
              <a:avLst/>
            </a:prstGeom>
            <a:solidFill>
              <a:srgbClr val="FF6381"/>
            </a:solidFill>
            <a:ln>
              <a:noFill/>
            </a:ln>
          </p:spPr>
        </p:sp>
        <p:sp>
          <p:nvSpPr>
            <p:cNvPr id="11" name="TextBox 11"/>
            <p:cNvSpPr txBox="1"/>
            <p:nvPr/>
          </p:nvSpPr>
          <p:spPr>
            <a:xfrm>
              <a:off x="5608523" y="3183541"/>
              <a:ext cx="1108304"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修改内容</a:t>
              </a:r>
            </a:p>
          </p:txBody>
        </p:sp>
        <p:sp>
          <p:nvSpPr>
            <p:cNvPr id="12" name="Ellipse 12"/>
            <p:cNvSpPr/>
            <p:nvPr/>
          </p:nvSpPr>
          <p:spPr>
            <a:xfrm>
              <a:off x="9906000" y="2781300"/>
              <a:ext cx="133350" cy="133350"/>
            </a:xfrm>
            <a:prstGeom prst="ellipse">
              <a:avLst/>
            </a:prstGeom>
            <a:solidFill>
              <a:srgbClr val="FF6381"/>
            </a:solidFill>
            <a:ln>
              <a:noFill/>
            </a:ln>
          </p:spPr>
        </p:sp>
        <p:sp>
          <p:nvSpPr>
            <p:cNvPr id="13" name="TextBox 13"/>
            <p:cNvSpPr txBox="1"/>
            <p:nvPr/>
          </p:nvSpPr>
          <p:spPr>
            <a:xfrm>
              <a:off x="9010625" y="3183541"/>
              <a:ext cx="1924101"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旧审核继续有效</a:t>
              </a:r>
            </a:p>
          </p:txBody>
        </p:sp>
        <p:sp>
          <p:nvSpPr>
            <p:cNvPr id="14" name="Line 14"/>
            <p:cNvSpPr/>
            <p:nvPr/>
          </p:nvSpPr>
          <p:spPr>
            <a:xfrm>
              <a:off x="533400" y="3886200"/>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15" name="Line 15"/>
            <p:cNvSpPr/>
            <p:nvPr/>
          </p:nvSpPr>
          <p:spPr>
            <a:xfrm>
              <a:off x="2333625" y="4429125"/>
              <a:ext cx="2162175" cy="1"/>
            </a:xfrm>
            <a:prstGeom prst="line">
              <a:avLst/>
            </a:prstGeom>
            <a:noFill/>
            <a:ln w="23812">
              <a:solidFill>
                <a:srgbClr val="2F7CF4"/>
              </a:solidFill>
              <a:tailEnd type="arrow" w="med" len="med"/>
            </a:ln>
          </p:spPr>
        </p:sp>
        <p:sp>
          <p:nvSpPr>
            <p:cNvPr id="16" name="Line 16"/>
            <p:cNvSpPr/>
            <p:nvPr/>
          </p:nvSpPr>
          <p:spPr>
            <a:xfrm>
              <a:off x="5162550" y="4429125"/>
              <a:ext cx="2162175" cy="1"/>
            </a:xfrm>
            <a:prstGeom prst="line">
              <a:avLst/>
            </a:prstGeom>
            <a:noFill/>
            <a:ln w="23812">
              <a:solidFill>
                <a:srgbClr val="2F7CF4"/>
              </a:solidFill>
              <a:tailEnd type="arrow" w="med" len="med"/>
            </a:ln>
          </p:spPr>
        </p:sp>
        <p:sp>
          <p:nvSpPr>
            <p:cNvPr id="17" name="Line 17"/>
            <p:cNvSpPr/>
            <p:nvPr/>
          </p:nvSpPr>
          <p:spPr>
            <a:xfrm>
              <a:off x="7991475" y="4429125"/>
              <a:ext cx="2162175" cy="1"/>
            </a:xfrm>
            <a:prstGeom prst="line">
              <a:avLst/>
            </a:prstGeom>
            <a:noFill/>
            <a:ln w="23812">
              <a:solidFill>
                <a:srgbClr val="2F7CF4"/>
              </a:solidFill>
              <a:tailEnd type="arrow" w="med" len="med"/>
            </a:ln>
          </p:spPr>
        </p:sp>
        <p:sp>
          <p:nvSpPr>
            <p:cNvPr id="18" name="Ellipse 18"/>
            <p:cNvSpPr/>
            <p:nvPr/>
          </p:nvSpPr>
          <p:spPr>
            <a:xfrm>
              <a:off x="1914525" y="4343400"/>
              <a:ext cx="171450" cy="171450"/>
            </a:xfrm>
            <a:prstGeom prst="ellipse">
              <a:avLst/>
            </a:prstGeom>
            <a:solidFill>
              <a:srgbClr val="2F7CF4"/>
            </a:solidFill>
            <a:ln>
              <a:noFill/>
            </a:ln>
          </p:spPr>
        </p:sp>
        <p:sp>
          <p:nvSpPr>
            <p:cNvPr id="19" name="TextBox 19"/>
            <p:cNvSpPr txBox="1"/>
            <p:nvPr/>
          </p:nvSpPr>
          <p:spPr>
            <a:xfrm>
              <a:off x="1174166" y="4926616"/>
              <a:ext cx="1652168"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审核绑定版本</a:t>
              </a:r>
            </a:p>
          </p:txBody>
        </p:sp>
        <p:sp>
          <p:nvSpPr>
            <p:cNvPr id="20" name="Ellipse 20"/>
            <p:cNvSpPr/>
            <p:nvPr/>
          </p:nvSpPr>
          <p:spPr>
            <a:xfrm>
              <a:off x="4743450" y="4343400"/>
              <a:ext cx="171450" cy="171450"/>
            </a:xfrm>
            <a:prstGeom prst="ellipse">
              <a:avLst/>
            </a:prstGeom>
            <a:solidFill>
              <a:srgbClr val="FF6381"/>
            </a:solidFill>
            <a:ln>
              <a:noFill/>
            </a:ln>
          </p:spPr>
        </p:sp>
        <p:sp>
          <p:nvSpPr>
            <p:cNvPr id="21" name="TextBox 21"/>
            <p:cNvSpPr txBox="1"/>
            <p:nvPr/>
          </p:nvSpPr>
          <p:spPr>
            <a:xfrm>
              <a:off x="4177538" y="4746593"/>
              <a:ext cx="130327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FF6381"/>
                  </a:solidFill>
                  <a:latin typeface="Microsoft YaHei"/>
                  <a:ea typeface="Microsoft YaHei"/>
                  <a:cs typeface="Microsoft YaHei"/>
                </a:rPr>
                <a:t>修改使</a:t>
              </a:r>
              <a:br/>
              <a:r>
                <a:rPr lang="zh-CN" sz="2020" b="1" dirty="0">
                  <a:solidFill>
                    <a:srgbClr val="FF6381"/>
                  </a:solidFill>
                  <a:latin typeface="Microsoft YaHei"/>
                  <a:ea typeface="Microsoft YaHei"/>
                  <a:cs typeface="Microsoft YaHei"/>
                </a:rPr>
                <a:t>旧审批失效</a:t>
              </a:r>
            </a:p>
          </p:txBody>
        </p:sp>
        <p:sp>
          <p:nvSpPr>
            <p:cNvPr id="22" name="Ellipse 22"/>
            <p:cNvSpPr/>
            <p:nvPr/>
          </p:nvSpPr>
          <p:spPr>
            <a:xfrm>
              <a:off x="7572375" y="4343400"/>
              <a:ext cx="171450" cy="171450"/>
            </a:xfrm>
            <a:prstGeom prst="ellipse">
              <a:avLst/>
            </a:prstGeom>
            <a:solidFill>
              <a:srgbClr val="2F7CF4"/>
            </a:solidFill>
            <a:ln>
              <a:noFill/>
            </a:ln>
          </p:spPr>
        </p:sp>
        <p:sp>
          <p:nvSpPr>
            <p:cNvPr id="23" name="TextBox 23"/>
            <p:cNvSpPr txBox="1"/>
            <p:nvPr/>
          </p:nvSpPr>
          <p:spPr>
            <a:xfrm>
              <a:off x="7103948" y="4926616"/>
              <a:ext cx="1108304" cy="396050"/>
            </a:xfrm>
            <a:prstGeom prst="rect">
              <a:avLst/>
            </a:prstGeom>
            <a:noFill/>
            <a:ln>
              <a:noFill/>
            </a:ln>
          </p:spPr>
          <p:txBody>
            <a:bodyPr wrap="none" lIns="0" tIns="0" rIns="0" bIns="0" anchor="t" anchorCtr="0">
              <a:spAutoFit/>
            </a:bodyPr>
            <a:lstStyle/>
            <a:p>
              <a:pPr algn="ctr"/>
              <a:r>
                <a:rPr lang="zh-CN" sz="2020" b="1" dirty="0">
                  <a:solidFill>
                    <a:srgbClr val="2F7CF4"/>
                  </a:solidFill>
                  <a:latin typeface="Microsoft YaHei"/>
                  <a:ea typeface="Microsoft YaHei"/>
                  <a:cs typeface="Microsoft YaHei"/>
                </a:rPr>
                <a:t>重新审核</a:t>
              </a:r>
            </a:p>
          </p:txBody>
        </p:sp>
        <p:sp>
          <p:nvSpPr>
            <p:cNvPr id="24" name="Ellipse 24"/>
            <p:cNvSpPr/>
            <p:nvPr/>
          </p:nvSpPr>
          <p:spPr>
            <a:xfrm>
              <a:off x="10401300" y="4343400"/>
              <a:ext cx="171450" cy="171450"/>
            </a:xfrm>
            <a:prstGeom prst="ellipse">
              <a:avLst/>
            </a:prstGeom>
            <a:solidFill>
              <a:srgbClr val="087E6C"/>
            </a:solidFill>
            <a:ln>
              <a:noFill/>
            </a:ln>
          </p:spPr>
        </p:sp>
        <p:sp>
          <p:nvSpPr>
            <p:cNvPr id="25" name="TextBox 25"/>
            <p:cNvSpPr txBox="1"/>
            <p:nvPr/>
          </p:nvSpPr>
          <p:spPr>
            <a:xfrm>
              <a:off x="9932873" y="4926616"/>
              <a:ext cx="1108304" cy="396050"/>
            </a:xfrm>
            <a:prstGeom prst="rect">
              <a:avLst/>
            </a:prstGeom>
            <a:noFill/>
            <a:ln>
              <a:noFill/>
            </a:ln>
          </p:spPr>
          <p:txBody>
            <a:bodyPr wrap="none" lIns="0" tIns="0" rIns="0" bIns="0" anchor="t" anchorCtr="0">
              <a:spAutoFit/>
            </a:bodyPr>
            <a:lstStyle/>
            <a:p>
              <a:pPr algn="ctr"/>
              <a:r>
                <a:rPr lang="zh-CN" sz="2020" b="1" dirty="0">
                  <a:solidFill>
                    <a:srgbClr val="087E6C"/>
                  </a:solidFill>
                  <a:latin typeface="Microsoft YaHei"/>
                  <a:ea typeface="Microsoft YaHei"/>
                  <a:cs typeface="Microsoft YaHei"/>
                </a:rPr>
                <a:t>允许导出</a:t>
              </a:r>
            </a:p>
          </p:txBody>
        </p:sp>
      </p:grpSp>
      <p:grpSp>
        <p:nvGrpSpPr>
          <p:cNvPr id="29" name="Group 29"/>
          <p:cNvGrpSpPr/>
          <p:nvPr/>
        </p:nvGrpSpPr>
        <p:grpSpPr>
          <a:xfrm>
            <a:off x="533400" y="5743575"/>
            <a:ext cx="11125200" cy="599122"/>
            <a:chOff x="533400" y="5743575"/>
            <a:chExt cx="11125200" cy="599122"/>
          </a:xfrm>
        </p:grpSpPr>
        <p:sp>
          <p:nvSpPr>
            <p:cNvPr id="27" name="Line 27"/>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8" name="TextBox 28"/>
            <p:cNvSpPr txBox="1"/>
            <p:nvPr/>
          </p:nvSpPr>
          <p:spPr>
            <a:xfrm>
              <a:off x="4115752" y="5902642"/>
              <a:ext cx="3960495" cy="440055"/>
            </a:xfrm>
            <a:prstGeom prst="rect">
              <a:avLst/>
            </a:prstGeom>
            <a:noFill/>
            <a:ln>
              <a:noFill/>
            </a:ln>
          </p:spPr>
          <p:txBody>
            <a:bodyPr wrap="none" lIns="0" tIns="0" rIns="0" bIns="0" anchor="t" anchorCtr="0">
              <a:spAutoFit/>
            </a:bodyPr>
            <a:lstStyle/>
            <a:p>
              <a:pPr algn="ctr"/>
              <a:r>
                <a:rPr lang="zh-CN" sz="2250" b="1" dirty="0">
                  <a:solidFill>
                    <a:srgbClr val="071A33"/>
                  </a:solidFill>
                  <a:latin typeface="Microsoft YaHei"/>
                  <a:ea typeface="Microsoft YaHei"/>
                  <a:cs typeface="Microsoft YaHei"/>
                </a:rPr>
                <a:t>仅当前版本有效审批可导出。</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52" name="Group 52"/>
          <p:cNvGrpSpPr/>
          <p:nvPr/>
        </p:nvGrpSpPr>
        <p:grpSpPr>
          <a:xfrm>
            <a:off x="11227664" y="6398895"/>
            <a:ext cx="435698" cy="176212"/>
            <a:chOff x="11227664" y="6398895"/>
            <a:chExt cx="435698" cy="176212"/>
          </a:xfrm>
        </p:grpSpPr>
        <p:sp>
          <p:nvSpPr>
            <p:cNvPr id="51" name="TextBox 51"/>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07 / 10</a:t>
              </a:r>
            </a:p>
          </p:txBody>
        </p:sp>
      </p:grpSp>
      <p:grpSp>
        <p:nvGrpSpPr>
          <p:cNvPr id="4" name="Group 4"/>
          <p:cNvGrpSpPr/>
          <p:nvPr/>
        </p:nvGrpSpPr>
        <p:grpSpPr>
          <a:xfrm>
            <a:off x="518541" y="751046"/>
            <a:ext cx="5139893" cy="572072"/>
            <a:chOff x="518541" y="751046"/>
            <a:chExt cx="5139893" cy="572072"/>
          </a:xfrm>
        </p:grpSpPr>
        <p:sp>
          <p:nvSpPr>
            <p:cNvPr id="3" name="TextBox 3"/>
            <p:cNvSpPr txBox="1"/>
            <p:nvPr/>
          </p:nvSpPr>
          <p:spPr>
            <a:xfrm>
              <a:off x="518541" y="751046"/>
              <a:ext cx="5139893" cy="572072"/>
            </a:xfrm>
            <a:prstGeom prst="rect">
              <a:avLst/>
            </a:prstGeom>
            <a:noFill/>
            <a:ln>
              <a:noFill/>
            </a:ln>
          </p:spPr>
          <p:txBody>
            <a:bodyPr wrap="none" lIns="0" tIns="0" rIns="0" bIns="0" anchor="t" anchorCtr="0">
              <a:spAutoFit/>
            </a:bodyPr>
            <a:lstStyle/>
            <a:p>
              <a:pPr algn="l"/>
              <a:r>
                <a:rPr lang="zh-CN" sz="2920" b="1" dirty="0">
                  <a:solidFill>
                    <a:srgbClr val="071A33"/>
                  </a:solidFill>
                  <a:latin typeface="Microsoft YaHei"/>
                  <a:ea typeface="Microsoft YaHei"/>
                  <a:cs typeface="Microsoft YaHei"/>
                </a:rPr>
                <a:t>只让需要判断的疑点打断医生</a:t>
              </a:r>
            </a:p>
          </p:txBody>
        </p:sp>
      </p:grpSp>
      <p:grpSp>
        <p:nvGrpSpPr>
          <p:cNvPr id="32" name="Group 32"/>
          <p:cNvGrpSpPr/>
          <p:nvPr/>
        </p:nvGrpSpPr>
        <p:grpSpPr>
          <a:xfrm>
            <a:off x="1250366" y="1933194"/>
            <a:ext cx="9634626" cy="3448431"/>
            <a:chOff x="1250366" y="1933194"/>
            <a:chExt cx="9634626" cy="3448431"/>
          </a:xfrm>
        </p:grpSpPr>
        <p:sp>
          <p:nvSpPr>
            <p:cNvPr id="5" name="Line 5"/>
            <p:cNvSpPr/>
            <p:nvPr/>
          </p:nvSpPr>
          <p:spPr>
            <a:xfrm>
              <a:off x="3629025" y="2009775"/>
              <a:ext cx="9525" cy="3371850"/>
            </a:xfrm>
            <a:custGeom>
              <a:avLst/>
              <a:gdLst/>
              <a:ahLst/>
              <a:cxnLst/>
              <a:rect l="l" t="t" r="r" b="b"/>
              <a:pathLst>
                <a:path w="9525" h="3371850">
                  <a:moveTo>
                    <a:pt x="0" y="0"/>
                  </a:moveTo>
                  <a:lnTo>
                    <a:pt x="0" y="3371850"/>
                  </a:lnTo>
                </a:path>
              </a:pathLst>
            </a:custGeom>
            <a:noFill/>
            <a:ln w="9525">
              <a:solidFill>
                <a:srgbClr val="D9E8F5"/>
              </a:solidFill>
            </a:ln>
          </p:spPr>
        </p:sp>
        <p:sp>
          <p:nvSpPr>
            <p:cNvPr id="6" name="TextBox 6"/>
            <p:cNvSpPr txBox="1"/>
            <p:nvPr/>
          </p:nvSpPr>
          <p:spPr>
            <a:xfrm>
              <a:off x="1495806" y="1933194"/>
              <a:ext cx="1161288" cy="672084"/>
            </a:xfrm>
            <a:prstGeom prst="rect">
              <a:avLst/>
            </a:prstGeom>
            <a:noFill/>
            <a:ln>
              <a:noFill/>
            </a:ln>
          </p:spPr>
          <p:txBody>
            <a:bodyPr wrap="none" lIns="0" tIns="0" rIns="0" bIns="0" anchor="t" anchorCtr="0">
              <a:spAutoFit/>
            </a:bodyPr>
            <a:lstStyle/>
            <a:p>
              <a:pPr algn="ctr">
                <a:lnSpc>
                  <a:spcPts val="2520"/>
                </a:lnSpc>
              </a:pPr>
              <a:r>
                <a:rPr lang="zh-CN" sz="1800" b="1" dirty="0">
                  <a:solidFill>
                    <a:srgbClr val="5B718A"/>
                  </a:solidFill>
                  <a:latin typeface="Microsoft YaHei"/>
                  <a:ea typeface="Microsoft YaHei"/>
                  <a:cs typeface="Microsoft YaHei"/>
                </a:rPr>
                <a:t>全量确认的</a:t>
              </a:r>
              <a:br/>
              <a:r>
                <a:rPr lang="zh-CN" sz="1800" b="1" dirty="0">
                  <a:solidFill>
                    <a:srgbClr val="5B718A"/>
                  </a:solidFill>
                  <a:latin typeface="Microsoft YaHei"/>
                  <a:ea typeface="Microsoft YaHei"/>
                  <a:cs typeface="Microsoft YaHei"/>
                </a:rPr>
                <a:t>设计代价</a:t>
              </a:r>
            </a:p>
          </p:txBody>
        </p:sp>
        <p:sp>
          <p:nvSpPr>
            <p:cNvPr id="7" name="Line 7"/>
            <p:cNvSpPr/>
            <p:nvPr/>
          </p:nvSpPr>
          <p:spPr>
            <a:xfrm>
              <a:off x="2076450" y="3314700"/>
              <a:ext cx="1" cy="390525"/>
            </a:xfrm>
            <a:prstGeom prst="line">
              <a:avLst/>
            </a:prstGeom>
            <a:noFill/>
            <a:ln w="19050">
              <a:solidFill>
                <a:srgbClr val="5B718A"/>
              </a:solidFill>
              <a:tailEnd type="arrow" w="med" len="med"/>
            </a:ln>
          </p:spPr>
        </p:sp>
        <p:sp>
          <p:nvSpPr>
            <p:cNvPr id="8" name="Line 8"/>
            <p:cNvSpPr/>
            <p:nvPr/>
          </p:nvSpPr>
          <p:spPr>
            <a:xfrm>
              <a:off x="2076450" y="4171950"/>
              <a:ext cx="1" cy="390525"/>
            </a:xfrm>
            <a:prstGeom prst="line">
              <a:avLst/>
            </a:prstGeom>
            <a:noFill/>
            <a:ln w="19050">
              <a:solidFill>
                <a:srgbClr val="5B718A"/>
              </a:solidFill>
              <a:tailEnd type="arrow" w="med" len="med"/>
            </a:ln>
          </p:spPr>
        </p:sp>
        <p:sp>
          <p:nvSpPr>
            <p:cNvPr id="9" name="TextBox 9"/>
            <p:cNvSpPr txBox="1"/>
            <p:nvPr/>
          </p:nvSpPr>
          <p:spPr>
            <a:xfrm>
              <a:off x="1522298" y="2964466"/>
              <a:ext cx="1108304"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每次录音</a:t>
              </a:r>
            </a:p>
          </p:txBody>
        </p:sp>
        <p:sp>
          <p:nvSpPr>
            <p:cNvPr id="10" name="TextBox 10"/>
            <p:cNvSpPr txBox="1"/>
            <p:nvPr/>
          </p:nvSpPr>
          <p:spPr>
            <a:xfrm>
              <a:off x="1250366" y="3821716"/>
              <a:ext cx="1652168" cy="396050"/>
            </a:xfrm>
            <a:prstGeom prst="rect">
              <a:avLst/>
            </a:prstGeom>
            <a:noFill/>
            <a:ln>
              <a:noFill/>
            </a:ln>
          </p:spPr>
          <p:txBody>
            <a:bodyPr wrap="none" lIns="0" tIns="0" rIns="0" bIns="0" anchor="t" anchorCtr="0">
              <a:spAutoFit/>
            </a:bodyPr>
            <a:lstStyle/>
            <a:p>
              <a:pPr algn="ctr"/>
              <a:r>
                <a:rPr lang="zh-CN" sz="2020" b="1" dirty="0">
                  <a:solidFill>
                    <a:srgbClr val="5B718A"/>
                  </a:solidFill>
                  <a:latin typeface="Microsoft YaHei"/>
                  <a:ea typeface="Microsoft YaHei"/>
                  <a:cs typeface="Microsoft YaHei"/>
                </a:rPr>
                <a:t>确认全部角色</a:t>
              </a:r>
            </a:p>
          </p:txBody>
        </p:sp>
        <p:sp>
          <p:nvSpPr>
            <p:cNvPr id="11" name="TextBox 11"/>
            <p:cNvSpPr txBox="1"/>
            <p:nvPr/>
          </p:nvSpPr>
          <p:spPr>
            <a:xfrm>
              <a:off x="1386332" y="4678966"/>
              <a:ext cx="1380236" cy="396050"/>
            </a:xfrm>
            <a:prstGeom prst="rect">
              <a:avLst/>
            </a:prstGeom>
            <a:noFill/>
            <a:ln>
              <a:noFill/>
            </a:ln>
          </p:spPr>
          <p:txBody>
            <a:bodyPr wrap="none" lIns="0" tIns="0" rIns="0" bIns="0" anchor="t" anchorCtr="0">
              <a:spAutoFit/>
            </a:bodyPr>
            <a:lstStyle/>
            <a:p>
              <a:pPr algn="ctr"/>
              <a:r>
                <a:rPr lang="zh-CN" sz="2020" b="1" dirty="0">
                  <a:solidFill>
                    <a:srgbClr val="FF6381"/>
                  </a:solidFill>
                  <a:latin typeface="Microsoft YaHei"/>
                  <a:ea typeface="Microsoft YaHei"/>
                  <a:cs typeface="Microsoft YaHei"/>
                </a:rPr>
                <a:t>打断工作流</a:t>
              </a:r>
            </a:p>
          </p:txBody>
        </p:sp>
        <p:sp>
          <p:nvSpPr>
            <p:cNvPr id="12" name="TextBox 12"/>
            <p:cNvSpPr txBox="1"/>
            <p:nvPr/>
          </p:nvSpPr>
          <p:spPr>
            <a:xfrm>
              <a:off x="6758711" y="1974056"/>
              <a:ext cx="3056077" cy="366712"/>
            </a:xfrm>
            <a:prstGeom prst="rect">
              <a:avLst/>
            </a:prstGeom>
            <a:noFill/>
            <a:ln>
              <a:noFill/>
            </a:ln>
          </p:spPr>
          <p:txBody>
            <a:bodyPr wrap="none" lIns="0" tIns="0" rIns="0" bIns="0" anchor="t" anchorCtr="0">
              <a:spAutoFit/>
            </a:bodyPr>
            <a:lstStyle/>
            <a:p>
              <a:pPr algn="ctr"/>
              <a:r>
                <a:rPr lang="zh-CN" sz="1880" b="1" dirty="0">
                  <a:solidFill>
                    <a:srgbClr val="2F7CF4"/>
                  </a:solidFill>
                  <a:latin typeface="Microsoft YaHei"/>
                  <a:ea typeface="Microsoft YaHei"/>
                  <a:cs typeface="Microsoft YaHei"/>
                </a:rPr>
                <a:t>按风险分流，仍须最终审核</a:t>
              </a:r>
            </a:p>
          </p:txBody>
        </p:sp>
        <p:sp>
          <p:nvSpPr>
            <p:cNvPr id="13" name="Ellipse 13"/>
            <p:cNvSpPr/>
            <p:nvPr/>
          </p:nvSpPr>
          <p:spPr>
            <a:xfrm>
              <a:off x="4362450" y="3209925"/>
              <a:ext cx="1028700" cy="1028700"/>
            </a:xfrm>
            <a:prstGeom prst="ellipse">
              <a:avLst/>
            </a:prstGeom>
            <a:solidFill>
              <a:srgbClr val="071A33"/>
            </a:solidFill>
            <a:ln w="19050">
              <a:solidFill>
                <a:srgbClr val="20D9E8"/>
              </a:solidFill>
            </a:ln>
          </p:spPr>
        </p:sp>
        <p:sp>
          <p:nvSpPr>
            <p:cNvPr id="14" name="TextBox 14"/>
            <p:cNvSpPr txBox="1"/>
            <p:nvPr/>
          </p:nvSpPr>
          <p:spPr>
            <a:xfrm>
              <a:off x="4619244" y="3424618"/>
              <a:ext cx="515112" cy="728091"/>
            </a:xfrm>
            <a:prstGeom prst="rect">
              <a:avLst/>
            </a:prstGeom>
            <a:noFill/>
            <a:ln>
              <a:noFill/>
            </a:ln>
          </p:spPr>
          <p:txBody>
            <a:bodyPr wrap="none" lIns="0" tIns="0" rIns="0" bIns="0" anchor="t" anchorCtr="0">
              <a:spAutoFit/>
            </a:bodyPr>
            <a:lstStyle/>
            <a:p>
              <a:pPr algn="ctr">
                <a:lnSpc>
                  <a:spcPts val="2730"/>
                </a:lnSpc>
              </a:pPr>
              <a:r>
                <a:rPr lang="zh-CN" sz="1950" b="1" dirty="0">
                  <a:solidFill>
                    <a:srgbClr val="F7FBFF"/>
                  </a:solidFill>
                  <a:latin typeface="Microsoft YaHei"/>
                  <a:ea typeface="Microsoft YaHei"/>
                  <a:cs typeface="Microsoft YaHei"/>
                </a:rPr>
                <a:t>角色</a:t>
              </a:r>
              <a:br/>
              <a:r>
                <a:rPr lang="zh-CN" sz="1950" b="1" dirty="0">
                  <a:solidFill>
                    <a:srgbClr val="F7FBFF"/>
                  </a:solidFill>
                  <a:latin typeface="Microsoft YaHei"/>
                  <a:ea typeface="Microsoft YaHei"/>
                  <a:cs typeface="Microsoft YaHei"/>
                </a:rPr>
                <a:t>质量</a:t>
              </a:r>
            </a:p>
          </p:txBody>
        </p:sp>
        <p:sp>
          <p:nvSpPr>
            <p:cNvPr id="15" name="Line 15"/>
            <p:cNvSpPr/>
            <p:nvPr/>
          </p:nvSpPr>
          <p:spPr>
            <a:xfrm>
              <a:off x="5391150" y="3724275"/>
              <a:ext cx="447675" cy="9525"/>
            </a:xfrm>
            <a:custGeom>
              <a:avLst/>
              <a:gdLst/>
              <a:ahLst/>
              <a:cxnLst/>
              <a:rect l="l" t="t" r="r" b="b"/>
              <a:pathLst>
                <a:path w="447675" h="9525">
                  <a:moveTo>
                    <a:pt x="0" y="0"/>
                  </a:moveTo>
                  <a:lnTo>
                    <a:pt x="447675" y="0"/>
                  </a:lnTo>
                </a:path>
              </a:pathLst>
            </a:custGeom>
            <a:noFill/>
            <a:ln w="23812">
              <a:solidFill>
                <a:srgbClr val="087E6C"/>
              </a:solidFill>
            </a:ln>
          </p:spPr>
        </p:sp>
        <p:sp>
          <p:nvSpPr>
            <p:cNvPr id="16" name="Line 16"/>
            <p:cNvSpPr/>
            <p:nvPr/>
          </p:nvSpPr>
          <p:spPr>
            <a:xfrm>
              <a:off x="5838825" y="2895600"/>
              <a:ext cx="9525" cy="828675"/>
            </a:xfrm>
            <a:custGeom>
              <a:avLst/>
              <a:gdLst/>
              <a:ahLst/>
              <a:cxnLst/>
              <a:rect l="l" t="t" r="r" b="b"/>
              <a:pathLst>
                <a:path w="9525" h="828675">
                  <a:moveTo>
                    <a:pt x="0" y="828675"/>
                  </a:moveTo>
                  <a:lnTo>
                    <a:pt x="0" y="0"/>
                  </a:lnTo>
                </a:path>
              </a:pathLst>
            </a:custGeom>
            <a:noFill/>
            <a:ln w="23812">
              <a:solidFill>
                <a:srgbClr val="087E6C"/>
              </a:solidFill>
            </a:ln>
          </p:spPr>
        </p:sp>
        <p:sp>
          <p:nvSpPr>
            <p:cNvPr id="17" name="Line 17"/>
            <p:cNvSpPr/>
            <p:nvPr/>
          </p:nvSpPr>
          <p:spPr>
            <a:xfrm>
              <a:off x="5838825" y="2895600"/>
              <a:ext cx="361950" cy="1"/>
            </a:xfrm>
            <a:prstGeom prst="line">
              <a:avLst/>
            </a:prstGeom>
            <a:noFill/>
            <a:ln w="23812">
              <a:solidFill>
                <a:srgbClr val="087E6C"/>
              </a:solidFill>
              <a:tailEnd type="arrow" w="med" len="med"/>
            </a:ln>
          </p:spPr>
        </p:sp>
        <p:sp>
          <p:nvSpPr>
            <p:cNvPr id="18" name="Line 18"/>
            <p:cNvSpPr/>
            <p:nvPr/>
          </p:nvSpPr>
          <p:spPr>
            <a:xfrm>
              <a:off x="5838825" y="3724275"/>
              <a:ext cx="9525" cy="685800"/>
            </a:xfrm>
            <a:custGeom>
              <a:avLst/>
              <a:gdLst/>
              <a:ahLst/>
              <a:cxnLst/>
              <a:rect l="l" t="t" r="r" b="b"/>
              <a:pathLst>
                <a:path w="9525" h="685800">
                  <a:moveTo>
                    <a:pt x="0" y="0"/>
                  </a:moveTo>
                  <a:lnTo>
                    <a:pt x="0" y="685800"/>
                  </a:lnTo>
                </a:path>
              </a:pathLst>
            </a:custGeom>
            <a:noFill/>
            <a:ln w="23812">
              <a:solidFill>
                <a:srgbClr val="2F7CF4"/>
              </a:solidFill>
            </a:ln>
          </p:spPr>
        </p:sp>
        <p:sp>
          <p:nvSpPr>
            <p:cNvPr id="19" name="Line 19"/>
            <p:cNvSpPr/>
            <p:nvPr/>
          </p:nvSpPr>
          <p:spPr>
            <a:xfrm>
              <a:off x="5838825" y="4410075"/>
              <a:ext cx="361950" cy="1"/>
            </a:xfrm>
            <a:prstGeom prst="line">
              <a:avLst/>
            </a:prstGeom>
            <a:noFill/>
            <a:ln w="23812">
              <a:solidFill>
                <a:srgbClr val="2F7CF4"/>
              </a:solidFill>
              <a:tailEnd type="arrow" w="med" len="med"/>
            </a:ln>
          </p:spPr>
        </p:sp>
        <p:sp>
          <p:nvSpPr>
            <p:cNvPr id="20" name="TextBox 20"/>
            <p:cNvSpPr txBox="1"/>
            <p:nvPr/>
          </p:nvSpPr>
          <p:spPr>
            <a:xfrm>
              <a:off x="6275070" y="2484120"/>
              <a:ext cx="1832610" cy="293370"/>
            </a:xfrm>
            <a:prstGeom prst="rect">
              <a:avLst/>
            </a:prstGeom>
            <a:noFill/>
            <a:ln>
              <a:noFill/>
            </a:ln>
          </p:spPr>
          <p:txBody>
            <a:bodyPr wrap="none" lIns="0" tIns="0" rIns="0" bIns="0" anchor="t" anchorCtr="0">
              <a:spAutoFit/>
            </a:bodyPr>
            <a:lstStyle/>
            <a:p>
              <a:pPr algn="ctr"/>
              <a:r>
                <a:rPr lang="zh-CN" sz="1500" dirty="0">
                  <a:solidFill>
                    <a:srgbClr val="087E6C"/>
                  </a:solidFill>
                  <a:latin typeface="Microsoft YaHei"/>
                  <a:ea typeface="Microsoft YaHei"/>
                  <a:cs typeface="Microsoft YaHei"/>
                </a:rPr>
                <a:t>质量达标且角色完整</a:t>
              </a:r>
            </a:p>
          </p:txBody>
        </p:sp>
        <p:sp>
          <p:nvSpPr>
            <p:cNvPr id="21" name="TextBox 21"/>
            <p:cNvSpPr txBox="1"/>
            <p:nvPr/>
          </p:nvSpPr>
          <p:spPr>
            <a:xfrm>
              <a:off x="6593383" y="2840450"/>
              <a:ext cx="1195984"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自动继续</a:t>
              </a:r>
            </a:p>
          </p:txBody>
        </p:sp>
        <p:sp>
          <p:nvSpPr>
            <p:cNvPr id="22" name="TextBox 22"/>
            <p:cNvSpPr txBox="1"/>
            <p:nvPr/>
          </p:nvSpPr>
          <p:spPr>
            <a:xfrm>
              <a:off x="6738747" y="3998405"/>
              <a:ext cx="905256" cy="322707"/>
            </a:xfrm>
            <a:prstGeom prst="rect">
              <a:avLst/>
            </a:prstGeom>
            <a:noFill/>
            <a:ln>
              <a:noFill/>
            </a:ln>
          </p:spPr>
          <p:txBody>
            <a:bodyPr wrap="none" lIns="0" tIns="0" rIns="0" bIns="0" anchor="t" anchorCtr="0">
              <a:spAutoFit/>
            </a:bodyPr>
            <a:lstStyle/>
            <a:p>
              <a:pPr algn="ctr"/>
              <a:r>
                <a:rPr lang="zh-CN" sz="1650" dirty="0">
                  <a:solidFill>
                    <a:srgbClr val="5B718A"/>
                  </a:solidFill>
                  <a:latin typeface="Microsoft YaHei"/>
                  <a:ea typeface="Microsoft YaHei"/>
                  <a:cs typeface="Microsoft YaHei"/>
                </a:rPr>
                <a:t>存在疑点</a:t>
              </a:r>
            </a:p>
          </p:txBody>
        </p:sp>
        <p:sp>
          <p:nvSpPr>
            <p:cNvPr id="23" name="TextBox 23"/>
            <p:cNvSpPr txBox="1"/>
            <p:nvPr/>
          </p:nvSpPr>
          <p:spPr>
            <a:xfrm>
              <a:off x="6593383" y="4383500"/>
              <a:ext cx="1195984"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集中确认</a:t>
              </a:r>
            </a:p>
          </p:txBody>
        </p:sp>
        <p:sp>
          <p:nvSpPr>
            <p:cNvPr id="24" name="Line 24"/>
            <p:cNvSpPr/>
            <p:nvPr/>
          </p:nvSpPr>
          <p:spPr>
            <a:xfrm>
              <a:off x="8029575" y="2981325"/>
              <a:ext cx="657225" cy="9525"/>
            </a:xfrm>
            <a:custGeom>
              <a:avLst/>
              <a:gdLst/>
              <a:ahLst/>
              <a:cxnLst/>
              <a:rect l="l" t="t" r="r" b="b"/>
              <a:pathLst>
                <a:path w="657225" h="9525">
                  <a:moveTo>
                    <a:pt x="0" y="0"/>
                  </a:moveTo>
                  <a:lnTo>
                    <a:pt x="657225" y="0"/>
                  </a:lnTo>
                </a:path>
              </a:pathLst>
            </a:custGeom>
            <a:noFill/>
            <a:ln w="23812">
              <a:solidFill>
                <a:srgbClr val="087E6C"/>
              </a:solidFill>
            </a:ln>
          </p:spPr>
        </p:sp>
        <p:sp>
          <p:nvSpPr>
            <p:cNvPr id="25" name="Line 25"/>
            <p:cNvSpPr/>
            <p:nvPr/>
          </p:nvSpPr>
          <p:spPr>
            <a:xfrm>
              <a:off x="8686800" y="2981325"/>
              <a:ext cx="9525" cy="742950"/>
            </a:xfrm>
            <a:custGeom>
              <a:avLst/>
              <a:gdLst/>
              <a:ahLst/>
              <a:cxnLst/>
              <a:rect l="l" t="t" r="r" b="b"/>
              <a:pathLst>
                <a:path w="9525" h="742950">
                  <a:moveTo>
                    <a:pt x="0" y="0"/>
                  </a:moveTo>
                  <a:lnTo>
                    <a:pt x="0" y="742950"/>
                  </a:lnTo>
                </a:path>
              </a:pathLst>
            </a:custGeom>
            <a:noFill/>
            <a:ln w="23812">
              <a:solidFill>
                <a:srgbClr val="087E6C"/>
              </a:solidFill>
            </a:ln>
          </p:spPr>
        </p:sp>
        <p:sp>
          <p:nvSpPr>
            <p:cNvPr id="26" name="Line 26"/>
            <p:cNvSpPr/>
            <p:nvPr/>
          </p:nvSpPr>
          <p:spPr>
            <a:xfrm>
              <a:off x="8686800" y="3724275"/>
              <a:ext cx="561975" cy="1"/>
            </a:xfrm>
            <a:prstGeom prst="line">
              <a:avLst/>
            </a:prstGeom>
            <a:noFill/>
            <a:ln w="23812">
              <a:solidFill>
                <a:srgbClr val="087E6C"/>
              </a:solidFill>
              <a:tailEnd type="arrow" w="med" len="med"/>
            </a:ln>
          </p:spPr>
        </p:sp>
        <p:sp>
          <p:nvSpPr>
            <p:cNvPr id="27" name="Line 27"/>
            <p:cNvSpPr/>
            <p:nvPr/>
          </p:nvSpPr>
          <p:spPr>
            <a:xfrm>
              <a:off x="8029575" y="4524375"/>
              <a:ext cx="657225" cy="9525"/>
            </a:xfrm>
            <a:custGeom>
              <a:avLst/>
              <a:gdLst/>
              <a:ahLst/>
              <a:cxnLst/>
              <a:rect l="l" t="t" r="r" b="b"/>
              <a:pathLst>
                <a:path w="657225" h="9525">
                  <a:moveTo>
                    <a:pt x="0" y="0"/>
                  </a:moveTo>
                  <a:lnTo>
                    <a:pt x="657225" y="0"/>
                  </a:lnTo>
                </a:path>
              </a:pathLst>
            </a:custGeom>
            <a:noFill/>
            <a:ln w="23812">
              <a:solidFill>
                <a:srgbClr val="2F7CF4"/>
              </a:solidFill>
            </a:ln>
          </p:spPr>
        </p:sp>
        <p:sp>
          <p:nvSpPr>
            <p:cNvPr id="28" name="Line 28"/>
            <p:cNvSpPr/>
            <p:nvPr/>
          </p:nvSpPr>
          <p:spPr>
            <a:xfrm>
              <a:off x="8686800" y="3724275"/>
              <a:ext cx="9525" cy="800100"/>
            </a:xfrm>
            <a:custGeom>
              <a:avLst/>
              <a:gdLst/>
              <a:ahLst/>
              <a:cxnLst/>
              <a:rect l="l" t="t" r="r" b="b"/>
              <a:pathLst>
                <a:path w="9525" h="800100">
                  <a:moveTo>
                    <a:pt x="0" y="800100"/>
                  </a:moveTo>
                  <a:lnTo>
                    <a:pt x="0" y="0"/>
                  </a:lnTo>
                </a:path>
              </a:pathLst>
            </a:custGeom>
            <a:noFill/>
            <a:ln w="23812">
              <a:solidFill>
                <a:srgbClr val="2F7CF4"/>
              </a:solidFill>
            </a:ln>
          </p:spPr>
        </p:sp>
        <p:sp>
          <p:nvSpPr>
            <p:cNvPr id="29" name="TextBox 29"/>
            <p:cNvSpPr txBox="1"/>
            <p:nvPr/>
          </p:nvSpPr>
          <p:spPr>
            <a:xfrm>
              <a:off x="9827493" y="3583400"/>
              <a:ext cx="919014" cy="425386"/>
            </a:xfrm>
            <a:prstGeom prst="rect">
              <a:avLst/>
            </a:prstGeom>
            <a:noFill/>
            <a:ln>
              <a:noFill/>
            </a:ln>
          </p:spPr>
          <p:txBody>
            <a:bodyPr wrap="none" lIns="0" tIns="0" rIns="0" bIns="0" anchor="t" anchorCtr="0">
              <a:spAutoFit/>
            </a:bodyPr>
            <a:lstStyle/>
            <a:p>
              <a:pPr algn="ctr"/>
              <a:r>
                <a:rPr lang="zh-CN" sz="2180" b="1" dirty="0">
                  <a:solidFill>
                    <a:srgbClr val="2F7CF4"/>
                  </a:solidFill>
                  <a:latin typeface="Microsoft YaHei"/>
                  <a:ea typeface="Microsoft YaHei"/>
                  <a:cs typeface="Microsoft YaHei"/>
                </a:rPr>
                <a:t>AI整理</a:t>
              </a:r>
            </a:p>
          </p:txBody>
        </p:sp>
        <p:sp>
          <p:nvSpPr>
            <p:cNvPr id="30" name="Line 30"/>
            <p:cNvSpPr/>
            <p:nvPr/>
          </p:nvSpPr>
          <p:spPr>
            <a:xfrm>
              <a:off x="10287000" y="3990975"/>
              <a:ext cx="1" cy="657225"/>
            </a:xfrm>
            <a:prstGeom prst="line">
              <a:avLst/>
            </a:prstGeom>
            <a:noFill/>
            <a:ln w="23812">
              <a:solidFill>
                <a:srgbClr val="2F7CF4"/>
              </a:solidFill>
              <a:tailEnd type="arrow" w="med" len="med"/>
            </a:ln>
          </p:spPr>
        </p:sp>
        <p:sp>
          <p:nvSpPr>
            <p:cNvPr id="31" name="TextBox 31"/>
            <p:cNvSpPr txBox="1"/>
            <p:nvPr/>
          </p:nvSpPr>
          <p:spPr>
            <a:xfrm>
              <a:off x="9689008" y="4897850"/>
              <a:ext cx="1195984" cy="425386"/>
            </a:xfrm>
            <a:prstGeom prst="rect">
              <a:avLst/>
            </a:prstGeom>
            <a:noFill/>
            <a:ln>
              <a:noFill/>
            </a:ln>
          </p:spPr>
          <p:txBody>
            <a:bodyPr wrap="none" lIns="0" tIns="0" rIns="0" bIns="0" anchor="t" anchorCtr="0">
              <a:spAutoFit/>
            </a:bodyPr>
            <a:lstStyle/>
            <a:p>
              <a:pPr algn="ctr"/>
              <a:r>
                <a:rPr lang="zh-CN" sz="2180" b="1" dirty="0">
                  <a:solidFill>
                    <a:srgbClr val="087E6C"/>
                  </a:solidFill>
                  <a:latin typeface="Microsoft YaHei"/>
                  <a:ea typeface="Microsoft YaHei"/>
                  <a:cs typeface="Microsoft YaHei"/>
                </a:rPr>
                <a:t>医生审核</a:t>
              </a:r>
            </a:p>
          </p:txBody>
        </p:sp>
      </p:grpSp>
      <p:grpSp>
        <p:nvGrpSpPr>
          <p:cNvPr id="35" name="Group 35"/>
          <p:cNvGrpSpPr/>
          <p:nvPr/>
        </p:nvGrpSpPr>
        <p:grpSpPr>
          <a:xfrm>
            <a:off x="533400" y="5743575"/>
            <a:ext cx="11125200" cy="589311"/>
            <a:chOff x="533400" y="5743575"/>
            <a:chExt cx="11125200" cy="589311"/>
          </a:xfrm>
        </p:grpSpPr>
        <p:sp>
          <p:nvSpPr>
            <p:cNvPr id="33" name="Line 33"/>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34" name="TextBox 34"/>
            <p:cNvSpPr txBox="1"/>
            <p:nvPr/>
          </p:nvSpPr>
          <p:spPr>
            <a:xfrm>
              <a:off x="3883914" y="5907500"/>
              <a:ext cx="4424172" cy="425386"/>
            </a:xfrm>
            <a:prstGeom prst="rect">
              <a:avLst/>
            </a:prstGeom>
            <a:noFill/>
            <a:ln>
              <a:noFill/>
            </a:ln>
          </p:spPr>
          <p:txBody>
            <a:bodyPr wrap="none" lIns="0" tIns="0" rIns="0" bIns="0" anchor="t" anchorCtr="0">
              <a:spAutoFit/>
            </a:bodyPr>
            <a:lstStyle/>
            <a:p>
              <a:pPr algn="ctr"/>
              <a:r>
                <a:rPr lang="zh-CN" sz="2180" b="1" dirty="0">
                  <a:solidFill>
                    <a:srgbClr val="071A33"/>
                  </a:solidFill>
                  <a:latin typeface="Microsoft YaHei"/>
                  <a:ea typeface="Microsoft YaHei"/>
                  <a:cs typeface="Microsoft YaHei"/>
                </a:rPr>
                <a:t>减少无效确认，不取消必要审核。</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071A33"/>
        </a:solidFill>
        <a:effectLst/>
      </p:bgPr>
    </p:bg>
    <p:spTree>
      <p:nvGrpSpPr>
        <p:cNvPr id="1" name=""/>
        <p:cNvGrpSpPr/>
        <p:nvPr/>
      </p:nvGrpSpPr>
      <p:grpSpPr>
        <a:xfrm>
          <a:off x="0" y="0"/>
          <a:ext cx="0" cy="0"/>
          <a:chOff x="0" y="0"/>
          <a:chExt cx="0" cy="0"/>
        </a:xfrm>
      </p:grpSpPr>
      <p:grpSp>
        <p:nvGrpSpPr>
          <p:cNvPr id="83" name="Group 83"/>
          <p:cNvGrpSpPr/>
          <p:nvPr/>
        </p:nvGrpSpPr>
        <p:grpSpPr>
          <a:xfrm>
            <a:off x="11227664" y="6398895"/>
            <a:ext cx="435698" cy="176212"/>
            <a:chOff x="11227664" y="6398895"/>
            <a:chExt cx="435698" cy="176212"/>
          </a:xfrm>
        </p:grpSpPr>
        <p:sp>
          <p:nvSpPr>
            <p:cNvPr id="82" name="TextBox 82"/>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0D9E8"/>
                  </a:solidFill>
                  <a:latin typeface="Microsoft YaHei"/>
                  <a:ea typeface="Microsoft YaHei"/>
                  <a:cs typeface="Microsoft YaHei"/>
                </a:rPr>
                <a:t>08 / 10</a:t>
              </a:r>
            </a:p>
          </p:txBody>
        </p:sp>
      </p:grpSp>
      <p:grpSp>
        <p:nvGrpSpPr>
          <p:cNvPr id="4" name="Group 4"/>
          <p:cNvGrpSpPr/>
          <p:nvPr/>
        </p:nvGrpSpPr>
        <p:grpSpPr>
          <a:xfrm>
            <a:off x="519303" y="767239"/>
            <a:ext cx="7138822" cy="542734"/>
            <a:chOff x="519303" y="767239"/>
            <a:chExt cx="7138822" cy="542734"/>
          </a:xfrm>
        </p:grpSpPr>
        <p:sp>
          <p:nvSpPr>
            <p:cNvPr id="3" name="TextBox 3"/>
            <p:cNvSpPr txBox="1"/>
            <p:nvPr/>
          </p:nvSpPr>
          <p:spPr>
            <a:xfrm>
              <a:off x="519303" y="767239"/>
              <a:ext cx="7138822" cy="542734"/>
            </a:xfrm>
            <a:prstGeom prst="rect">
              <a:avLst/>
            </a:prstGeom>
            <a:noFill/>
            <a:ln>
              <a:noFill/>
            </a:ln>
          </p:spPr>
          <p:txBody>
            <a:bodyPr wrap="none" lIns="0" tIns="0" rIns="0" bIns="0" anchor="t" anchorCtr="0">
              <a:spAutoFit/>
            </a:bodyPr>
            <a:lstStyle/>
            <a:p>
              <a:pPr algn="l"/>
              <a:r>
                <a:rPr lang="zh-CN" sz="2780" b="1" dirty="0">
                  <a:solidFill>
                    <a:srgbClr val="F7FBFF"/>
                  </a:solidFill>
                  <a:latin typeface="Microsoft YaHei"/>
                  <a:ea typeface="Microsoft YaHei"/>
                  <a:cs typeface="Microsoft YaHei"/>
                </a:rPr>
                <a:t>价值假设：让医生从重新整理转为核对确认</a:t>
              </a:r>
            </a:p>
          </p:txBody>
        </p:sp>
      </p:grpSp>
      <p:grpSp>
        <p:nvGrpSpPr>
          <p:cNvPr id="20" name="Group 20"/>
          <p:cNvGrpSpPr/>
          <p:nvPr/>
        </p:nvGrpSpPr>
        <p:grpSpPr>
          <a:xfrm>
            <a:off x="1043178" y="1855470"/>
            <a:ext cx="10615422" cy="3840480"/>
            <a:chOff x="1043178" y="1855470"/>
            <a:chExt cx="10615422" cy="3840480"/>
          </a:xfrm>
        </p:grpSpPr>
        <p:sp>
          <p:nvSpPr>
            <p:cNvPr id="5" name="TextBox 5"/>
            <p:cNvSpPr txBox="1"/>
            <p:nvPr/>
          </p:nvSpPr>
          <p:spPr>
            <a:xfrm>
              <a:off x="1103554" y="1993106"/>
              <a:ext cx="1031392" cy="366712"/>
            </a:xfrm>
            <a:prstGeom prst="rect">
              <a:avLst/>
            </a:prstGeom>
            <a:noFill/>
            <a:ln>
              <a:noFill/>
            </a:ln>
          </p:spPr>
          <p:txBody>
            <a:bodyPr wrap="none" lIns="0" tIns="0" rIns="0" bIns="0" anchor="t" anchorCtr="0">
              <a:spAutoFit/>
            </a:bodyPr>
            <a:lstStyle/>
            <a:p>
              <a:pPr algn="ctr"/>
              <a:r>
                <a:rPr lang="zh-CN" sz="1880" b="1" dirty="0">
                  <a:solidFill>
                    <a:srgbClr val="B8C6D9"/>
                  </a:solidFill>
                  <a:latin typeface="Microsoft YaHei"/>
                  <a:ea typeface="Microsoft YaHei"/>
                  <a:cs typeface="Microsoft YaHei"/>
                </a:rPr>
                <a:t>原有方式</a:t>
              </a:r>
            </a:p>
          </p:txBody>
        </p:sp>
        <p:sp>
          <p:nvSpPr>
            <p:cNvPr id="6" name="TextBox 6"/>
            <p:cNvSpPr txBox="1"/>
            <p:nvPr/>
          </p:nvSpPr>
          <p:spPr>
            <a:xfrm>
              <a:off x="3189529" y="1993106"/>
              <a:ext cx="1031392" cy="366712"/>
            </a:xfrm>
            <a:prstGeom prst="rect">
              <a:avLst/>
            </a:prstGeom>
            <a:noFill/>
            <a:ln>
              <a:noFill/>
            </a:ln>
          </p:spPr>
          <p:txBody>
            <a:bodyPr wrap="none" lIns="0" tIns="0" rIns="0" bIns="0" anchor="t" anchorCtr="0">
              <a:spAutoFit/>
            </a:bodyPr>
            <a:lstStyle/>
            <a:p>
              <a:pPr algn="ctr"/>
              <a:r>
                <a:rPr lang="zh-CN" sz="1880" b="1" dirty="0">
                  <a:solidFill>
                    <a:srgbClr val="20D9E8"/>
                  </a:solidFill>
                  <a:latin typeface="Microsoft YaHei"/>
                  <a:ea typeface="Microsoft YaHei"/>
                  <a:cs typeface="Microsoft YaHei"/>
                </a:rPr>
                <a:t>价值假设</a:t>
              </a:r>
            </a:p>
          </p:txBody>
        </p:sp>
        <p:sp>
          <p:nvSpPr>
            <p:cNvPr id="7" name="Line 7"/>
            <p:cNvSpPr/>
            <p:nvPr/>
          </p:nvSpPr>
          <p:spPr>
            <a:xfrm>
              <a:off x="1619250" y="3171825"/>
              <a:ext cx="1" cy="552450"/>
            </a:xfrm>
            <a:prstGeom prst="line">
              <a:avLst/>
            </a:prstGeom>
            <a:noFill/>
            <a:ln w="19050">
              <a:solidFill>
                <a:srgbClr val="B8C6D9"/>
              </a:solidFill>
              <a:tailEnd type="arrow" w="med" len="med"/>
            </a:ln>
          </p:spPr>
        </p:sp>
        <p:sp>
          <p:nvSpPr>
            <p:cNvPr id="8" name="Line 8"/>
            <p:cNvSpPr/>
            <p:nvPr/>
          </p:nvSpPr>
          <p:spPr>
            <a:xfrm>
              <a:off x="1619250" y="4191000"/>
              <a:ext cx="1" cy="552450"/>
            </a:xfrm>
            <a:prstGeom prst="line">
              <a:avLst/>
            </a:prstGeom>
            <a:noFill/>
            <a:ln w="19050">
              <a:solidFill>
                <a:srgbClr val="B8C6D9"/>
              </a:solidFill>
              <a:tailEnd type="arrow" w="med" len="med"/>
            </a:ln>
          </p:spPr>
        </p:sp>
        <p:sp>
          <p:nvSpPr>
            <p:cNvPr id="9" name="TextBox 9"/>
            <p:cNvSpPr txBox="1"/>
            <p:nvPr/>
          </p:nvSpPr>
          <p:spPr>
            <a:xfrm>
              <a:off x="1325880" y="2816733"/>
              <a:ext cx="586740"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问诊</a:t>
              </a:r>
            </a:p>
          </p:txBody>
        </p:sp>
        <p:sp>
          <p:nvSpPr>
            <p:cNvPr id="10" name="TextBox 10"/>
            <p:cNvSpPr txBox="1"/>
            <p:nvPr/>
          </p:nvSpPr>
          <p:spPr>
            <a:xfrm>
              <a:off x="1043178" y="3835908"/>
              <a:ext cx="1152144"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重新整理</a:t>
              </a:r>
            </a:p>
          </p:txBody>
        </p:sp>
        <p:sp>
          <p:nvSpPr>
            <p:cNvPr id="11" name="TextBox 11"/>
            <p:cNvSpPr txBox="1"/>
            <p:nvPr/>
          </p:nvSpPr>
          <p:spPr>
            <a:xfrm>
              <a:off x="1325880" y="4855083"/>
              <a:ext cx="586740" cy="410718"/>
            </a:xfrm>
            <a:prstGeom prst="rect">
              <a:avLst/>
            </a:prstGeom>
            <a:noFill/>
            <a:ln>
              <a:noFill/>
            </a:ln>
          </p:spPr>
          <p:txBody>
            <a:bodyPr wrap="none" lIns="0" tIns="0" rIns="0" bIns="0" anchor="t" anchorCtr="0">
              <a:spAutoFit/>
            </a:bodyPr>
            <a:lstStyle/>
            <a:p>
              <a:pPr algn="ctr"/>
              <a:r>
                <a:rPr lang="zh-CN" sz="2100" b="1" dirty="0">
                  <a:solidFill>
                    <a:srgbClr val="B8C6D9"/>
                  </a:solidFill>
                  <a:latin typeface="Microsoft YaHei"/>
                  <a:ea typeface="Microsoft YaHei"/>
                  <a:cs typeface="Microsoft YaHei"/>
                </a:rPr>
                <a:t>录入</a:t>
              </a:r>
            </a:p>
          </p:txBody>
        </p:sp>
        <p:sp>
          <p:nvSpPr>
            <p:cNvPr id="12" name="Line 12"/>
            <p:cNvSpPr/>
            <p:nvPr/>
          </p:nvSpPr>
          <p:spPr>
            <a:xfrm>
              <a:off x="3705225" y="3171825"/>
              <a:ext cx="1" cy="552450"/>
            </a:xfrm>
            <a:prstGeom prst="line">
              <a:avLst/>
            </a:prstGeom>
            <a:noFill/>
            <a:ln w="19050">
              <a:solidFill>
                <a:srgbClr val="20D9E8"/>
              </a:solidFill>
              <a:tailEnd type="arrow" w="med" len="med"/>
            </a:ln>
          </p:spPr>
        </p:sp>
        <p:sp>
          <p:nvSpPr>
            <p:cNvPr id="13" name="Line 13"/>
            <p:cNvSpPr/>
            <p:nvPr/>
          </p:nvSpPr>
          <p:spPr>
            <a:xfrm>
              <a:off x="3705225" y="4191000"/>
              <a:ext cx="1" cy="552450"/>
            </a:xfrm>
            <a:prstGeom prst="line">
              <a:avLst/>
            </a:prstGeom>
            <a:noFill/>
            <a:ln w="19050">
              <a:solidFill>
                <a:srgbClr val="20D9E8"/>
              </a:solidFill>
              <a:tailEnd type="arrow" w="med" len="med"/>
            </a:ln>
          </p:spPr>
        </p:sp>
        <p:sp>
          <p:nvSpPr>
            <p:cNvPr id="14" name="TextBox 14"/>
            <p:cNvSpPr txBox="1"/>
            <p:nvPr/>
          </p:nvSpPr>
          <p:spPr>
            <a:xfrm>
              <a:off x="3411855" y="2816733"/>
              <a:ext cx="586740"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问诊</a:t>
              </a:r>
            </a:p>
          </p:txBody>
        </p:sp>
        <p:sp>
          <p:nvSpPr>
            <p:cNvPr id="15" name="TextBox 15"/>
            <p:cNvSpPr txBox="1"/>
            <p:nvPr/>
          </p:nvSpPr>
          <p:spPr>
            <a:xfrm>
              <a:off x="3262556" y="3835908"/>
              <a:ext cx="885337" cy="410718"/>
            </a:xfrm>
            <a:prstGeom prst="rect">
              <a:avLst/>
            </a:prstGeom>
            <a:noFill/>
            <a:ln>
              <a:noFill/>
            </a:ln>
          </p:spPr>
          <p:txBody>
            <a:bodyPr wrap="none" lIns="0" tIns="0" rIns="0" bIns="0" anchor="t" anchorCtr="0">
              <a:spAutoFit/>
            </a:bodyPr>
            <a:lstStyle/>
            <a:p>
              <a:pPr algn="ctr"/>
              <a:r>
                <a:rPr lang="zh-CN" sz="2100" b="1" dirty="0">
                  <a:solidFill>
                    <a:srgbClr val="20D9E8"/>
                  </a:solidFill>
                  <a:latin typeface="Microsoft YaHei"/>
                  <a:ea typeface="Microsoft YaHei"/>
                  <a:cs typeface="Microsoft YaHei"/>
                </a:rPr>
                <a:t>AI整理</a:t>
              </a:r>
            </a:p>
          </p:txBody>
        </p:sp>
        <p:sp>
          <p:nvSpPr>
            <p:cNvPr id="16" name="TextBox 16"/>
            <p:cNvSpPr txBox="1"/>
            <p:nvPr/>
          </p:nvSpPr>
          <p:spPr>
            <a:xfrm>
              <a:off x="3129153" y="4855083"/>
              <a:ext cx="1152144" cy="410718"/>
            </a:xfrm>
            <a:prstGeom prst="rect">
              <a:avLst/>
            </a:prstGeom>
            <a:noFill/>
            <a:ln>
              <a:noFill/>
            </a:ln>
          </p:spPr>
          <p:txBody>
            <a:bodyPr wrap="none" lIns="0" tIns="0" rIns="0" bIns="0" anchor="t" anchorCtr="0">
              <a:spAutoFit/>
            </a:bodyPr>
            <a:lstStyle/>
            <a:p>
              <a:pPr algn="ctr"/>
              <a:r>
                <a:rPr lang="zh-CN" sz="2100" b="1" dirty="0">
                  <a:solidFill>
                    <a:srgbClr val="23D7B0"/>
                  </a:solidFill>
                  <a:latin typeface="Microsoft YaHei"/>
                  <a:ea typeface="Microsoft YaHei"/>
                  <a:cs typeface="Microsoft YaHei"/>
                </a:rPr>
                <a:t>医生核对</a:t>
              </a:r>
            </a:p>
          </p:txBody>
        </p:sp>
        <p:sp>
          <p:nvSpPr>
            <p:cNvPr id="17" name="Line 17"/>
            <p:cNvSpPr/>
            <p:nvPr/>
          </p:nvSpPr>
          <p:spPr>
            <a:xfrm>
              <a:off x="4857750" y="2276475"/>
              <a:ext cx="9525" cy="3105150"/>
            </a:xfrm>
            <a:custGeom>
              <a:avLst/>
              <a:gdLst/>
              <a:ahLst/>
              <a:cxnLst/>
              <a:rect l="l" t="t" r="r" b="b"/>
              <a:pathLst>
                <a:path w="9525" h="3105150">
                  <a:moveTo>
                    <a:pt x="0" y="0"/>
                  </a:moveTo>
                  <a:lnTo>
                    <a:pt x="0" y="3105150"/>
                  </a:lnTo>
                </a:path>
              </a:pathLst>
            </a:custGeom>
            <a:noFill/>
            <a:ln w="9525">
              <a:solidFill>
                <a:srgbClr val="244663"/>
              </a:solidFill>
            </a:ln>
          </p:spPr>
        </p:sp>
        <p:sp>
          <p:nvSpPr>
            <p:cNvPr id="18" name="TextBox 18"/>
            <p:cNvSpPr txBox="1"/>
            <p:nvPr/>
          </p:nvSpPr>
          <p:spPr>
            <a:xfrm>
              <a:off x="7473315" y="1855470"/>
              <a:ext cx="2236470" cy="293370"/>
            </a:xfrm>
            <a:prstGeom prst="rect">
              <a:avLst/>
            </a:prstGeom>
            <a:noFill/>
            <a:ln>
              <a:noFill/>
            </a:ln>
          </p:spPr>
          <p:txBody>
            <a:bodyPr wrap="none" lIns="0" tIns="0" rIns="0" bIns="0" anchor="t" anchorCtr="0">
              <a:spAutoFit/>
            </a:bodyPr>
            <a:lstStyle/>
            <a:p>
              <a:pPr algn="ctr"/>
              <a:r>
                <a:rPr lang="zh-CN" sz="1500" dirty="0">
                  <a:solidFill>
                    <a:srgbClr val="B8C6D9"/>
                  </a:solidFill>
                  <a:latin typeface="Microsoft YaHei"/>
                  <a:ea typeface="Microsoft YaHei"/>
                  <a:cs typeface="Microsoft YaHei"/>
                </a:rPr>
                <a:t>医生工作台（演示数据）</a:t>
              </a:r>
            </a:p>
          </p:txBody>
        </p:sp>
        <p:pic>
          <p:nvPicPr>
            <p:cNvPr id="19" name="Image 19"/>
            <p:cNvPicPr>
              <a:picLocks noChangeAspect="1"/>
            </p:cNvPicPr>
            <p:nvPr/>
          </p:nvPicPr>
          <p:blipFill>
            <a:blip r:embed="rId3"/>
            <a:srcRect l="14000" t="27000" r="27000" b="15000"/>
            <a:stretch>
              <a:fillRect/>
            </a:stretch>
          </p:blipFill>
          <p:spPr>
            <a:xfrm>
              <a:off x="5524500" y="2266950"/>
              <a:ext cx="6134100" cy="3429000"/>
            </a:xfrm>
            <a:prstGeom prst="rect">
              <a:avLst/>
            </a:prstGeom>
          </p:spPr>
        </p:pic>
      </p:grpSp>
      <p:grpSp>
        <p:nvGrpSpPr>
          <p:cNvPr id="24" name="Group 24"/>
          <p:cNvGrpSpPr/>
          <p:nvPr/>
        </p:nvGrpSpPr>
        <p:grpSpPr>
          <a:xfrm>
            <a:off x="533400" y="5743575"/>
            <a:ext cx="11125200" cy="599122"/>
            <a:chOff x="533400" y="5743575"/>
            <a:chExt cx="11125200" cy="599122"/>
          </a:xfrm>
        </p:grpSpPr>
        <p:sp>
          <p:nvSpPr>
            <p:cNvPr id="21" name="Line 21"/>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244663"/>
              </a:solidFill>
            </a:ln>
          </p:spPr>
        </p:sp>
        <p:sp>
          <p:nvSpPr>
            <p:cNvPr id="23" name="TextBox 23"/>
            <p:cNvSpPr txBox="1"/>
            <p:nvPr/>
          </p:nvSpPr>
          <p:spPr>
            <a:xfrm>
              <a:off x="4267200" y="5902642"/>
              <a:ext cx="3657600" cy="440055"/>
            </a:xfrm>
            <a:prstGeom prst="rect">
              <a:avLst/>
            </a:prstGeom>
            <a:noFill/>
            <a:ln>
              <a:noFill/>
            </a:ln>
          </p:spPr>
          <p:txBody>
            <a:bodyPr wrap="none" lIns="0" tIns="0" rIns="0" bIns="0" anchor="t" anchorCtr="0">
              <a:spAutoFit/>
            </a:bodyPr>
            <a:lstStyle/>
            <a:p>
              <a:pPr algn="ctr"/>
              <a:r>
                <a:rPr lang="zh-CN" sz="2250" b="1" dirty="0">
                  <a:solidFill>
                    <a:srgbClr val="20D9E8"/>
                  </a:solidFill>
                  <a:latin typeface="Microsoft YaHei"/>
                  <a:ea typeface="Microsoft YaHei"/>
                  <a:cs typeface="Microsoft YaHei"/>
                </a:rPr>
                <a:t>流程已贯通，效率待实测。</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p="http://schemas.openxmlformats.org/presentationml/2006/main" xmlns:p14="http://schemas.microsoft.com/office/powerpoint/2010/main">
  <p:cSld>
    <p:bg>
      <p:bgPr>
        <a:solidFill>
          <a:srgbClr val="F7FBFF"/>
        </a:solidFill>
        <a:effectLst/>
      </p:bgPr>
    </p:bg>
    <p:spTree>
      <p:nvGrpSpPr>
        <p:cNvPr id="1" name=""/>
        <p:cNvGrpSpPr/>
        <p:nvPr/>
      </p:nvGrpSpPr>
      <p:grpSpPr>
        <a:xfrm>
          <a:off x="0" y="0"/>
          <a:ext cx="0" cy="0"/>
          <a:chOff x="0" y="0"/>
          <a:chExt cx="0" cy="0"/>
        </a:xfrm>
      </p:grpSpPr>
      <p:grpSp>
        <p:nvGrpSpPr>
          <p:cNvPr id="65" name="Group 65"/>
          <p:cNvGrpSpPr/>
          <p:nvPr/>
        </p:nvGrpSpPr>
        <p:grpSpPr>
          <a:xfrm>
            <a:off x="11227664" y="6398895"/>
            <a:ext cx="435698" cy="176212"/>
            <a:chOff x="11227664" y="6398895"/>
            <a:chExt cx="435698" cy="176212"/>
          </a:xfrm>
        </p:grpSpPr>
        <p:sp>
          <p:nvSpPr>
            <p:cNvPr id="64" name="TextBox 64"/>
            <p:cNvSpPr txBox="1"/>
            <p:nvPr/>
          </p:nvSpPr>
          <p:spPr>
            <a:xfrm>
              <a:off x="11227664" y="6398895"/>
              <a:ext cx="435698" cy="176212"/>
            </a:xfrm>
            <a:prstGeom prst="rect">
              <a:avLst/>
            </a:prstGeom>
            <a:noFill/>
            <a:ln>
              <a:noFill/>
            </a:ln>
          </p:spPr>
          <p:txBody>
            <a:bodyPr wrap="none" lIns="0" tIns="0" rIns="0" bIns="0" anchor="t" anchorCtr="0">
              <a:spAutoFit/>
            </a:bodyPr>
            <a:lstStyle/>
            <a:p>
              <a:pPr algn="r"/>
              <a:r>
                <a:rPr lang="en-US" sz="900" b="1" dirty="0">
                  <a:solidFill>
                    <a:srgbClr val="2F7CF4"/>
                  </a:solidFill>
                  <a:latin typeface="Microsoft YaHei"/>
                  <a:ea typeface="Microsoft YaHei"/>
                  <a:cs typeface="Microsoft YaHei"/>
                </a:rPr>
                <a:t>09 / 10</a:t>
              </a:r>
            </a:p>
          </p:txBody>
        </p:sp>
      </p:grpSp>
      <p:grpSp>
        <p:nvGrpSpPr>
          <p:cNvPr id="4" name="Group 4"/>
          <p:cNvGrpSpPr/>
          <p:nvPr/>
        </p:nvGrpSpPr>
        <p:grpSpPr>
          <a:xfrm>
            <a:off x="518541" y="751046"/>
            <a:ext cx="5820607" cy="572072"/>
            <a:chOff x="518541" y="751046"/>
            <a:chExt cx="5820607" cy="572072"/>
          </a:xfrm>
        </p:grpSpPr>
        <p:sp>
          <p:nvSpPr>
            <p:cNvPr id="3" name="TextBox 3"/>
            <p:cNvSpPr txBox="1"/>
            <p:nvPr/>
          </p:nvSpPr>
          <p:spPr>
            <a:xfrm>
              <a:off x="518541" y="751046"/>
              <a:ext cx="5820607" cy="572072"/>
            </a:xfrm>
            <a:prstGeom prst="rect">
              <a:avLst/>
            </a:prstGeom>
            <a:noFill/>
            <a:ln>
              <a:noFill/>
            </a:ln>
          </p:spPr>
          <p:txBody>
            <a:bodyPr wrap="none" lIns="0" tIns="0" rIns="0" bIns="0" anchor="t" anchorCtr="0">
              <a:spAutoFit/>
            </a:bodyPr>
            <a:lstStyle/>
            <a:p>
              <a:pPr algn="l"/>
              <a:r>
                <a:rPr lang="zh-CN" sz="2920" b="1" dirty="0">
                  <a:solidFill>
                    <a:srgbClr val="071A33"/>
                  </a:solidFill>
                  <a:latin typeface="Microsoft YaHei"/>
                  <a:ea typeface="Microsoft YaHei"/>
                  <a:cs typeface="Microsoft YaHei"/>
                </a:rPr>
                <a:t>POC之后，最大的未知是什么？</a:t>
              </a:r>
            </a:p>
          </p:txBody>
        </p:sp>
      </p:grpSp>
      <p:grpSp>
        <p:nvGrpSpPr>
          <p:cNvPr id="21" name="Group 21"/>
          <p:cNvGrpSpPr/>
          <p:nvPr/>
        </p:nvGrpSpPr>
        <p:grpSpPr>
          <a:xfrm>
            <a:off x="533400" y="1883664"/>
            <a:ext cx="11125200" cy="3685698"/>
            <a:chOff x="533400" y="1883664"/>
            <a:chExt cx="11125200" cy="3685698"/>
          </a:xfrm>
        </p:grpSpPr>
        <p:sp>
          <p:nvSpPr>
            <p:cNvPr id="5" name="TextBox 5"/>
            <p:cNvSpPr txBox="1"/>
            <p:nvPr/>
          </p:nvSpPr>
          <p:spPr>
            <a:xfrm>
              <a:off x="2154174" y="1883664"/>
              <a:ext cx="987552" cy="352044"/>
            </a:xfrm>
            <a:prstGeom prst="rect">
              <a:avLst/>
            </a:prstGeom>
            <a:noFill/>
            <a:ln>
              <a:noFill/>
            </a:ln>
          </p:spPr>
          <p:txBody>
            <a:bodyPr wrap="none" lIns="0" tIns="0" rIns="0" bIns="0" anchor="t" anchorCtr="0">
              <a:spAutoFit/>
            </a:bodyPr>
            <a:lstStyle/>
            <a:p>
              <a:pPr algn="ctr"/>
              <a:r>
                <a:rPr lang="zh-CN" sz="1800" b="1" dirty="0">
                  <a:solidFill>
                    <a:srgbClr val="5B718A"/>
                  </a:solidFill>
                  <a:latin typeface="Microsoft YaHei"/>
                  <a:ea typeface="Microsoft YaHei"/>
                  <a:cs typeface="Microsoft YaHei"/>
                </a:rPr>
                <a:t>关键未知</a:t>
              </a:r>
            </a:p>
          </p:txBody>
        </p:sp>
        <p:sp>
          <p:nvSpPr>
            <p:cNvPr id="6" name="TextBox 6"/>
            <p:cNvSpPr txBox="1"/>
            <p:nvPr/>
          </p:nvSpPr>
          <p:spPr>
            <a:xfrm>
              <a:off x="7840599" y="1883664"/>
              <a:ext cx="987552" cy="352044"/>
            </a:xfrm>
            <a:prstGeom prst="rect">
              <a:avLst/>
            </a:prstGeom>
            <a:noFill/>
            <a:ln>
              <a:noFill/>
            </a:ln>
          </p:spPr>
          <p:txBody>
            <a:bodyPr wrap="none" lIns="0" tIns="0" rIns="0" bIns="0" anchor="t" anchorCtr="0">
              <a:spAutoFit/>
            </a:bodyPr>
            <a:lstStyle/>
            <a:p>
              <a:pPr algn="ctr"/>
              <a:r>
                <a:rPr lang="zh-CN" sz="1800" b="1" dirty="0">
                  <a:solidFill>
                    <a:srgbClr val="5B718A"/>
                  </a:solidFill>
                  <a:latin typeface="Microsoft YaHei"/>
                  <a:ea typeface="Microsoft YaHei"/>
                  <a:cs typeface="Microsoft YaHei"/>
                </a:rPr>
                <a:t>验证方法</a:t>
              </a:r>
            </a:p>
          </p:txBody>
        </p:sp>
        <p:sp>
          <p:nvSpPr>
            <p:cNvPr id="7" name="Ellipse 7"/>
            <p:cNvSpPr/>
            <p:nvPr/>
          </p:nvSpPr>
          <p:spPr>
            <a:xfrm>
              <a:off x="809625" y="2781300"/>
              <a:ext cx="114300" cy="114300"/>
            </a:xfrm>
            <a:prstGeom prst="ellipse">
              <a:avLst/>
            </a:prstGeom>
            <a:solidFill>
              <a:srgbClr val="2F7CF4"/>
            </a:solidFill>
            <a:ln>
              <a:noFill/>
            </a:ln>
          </p:spPr>
        </p:sp>
        <p:sp>
          <p:nvSpPr>
            <p:cNvPr id="8" name="TextBox 8"/>
            <p:cNvSpPr txBox="1"/>
            <p:nvPr/>
          </p:nvSpPr>
          <p:spPr>
            <a:xfrm>
              <a:off x="2011502" y="2687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真实环境</a:t>
              </a:r>
            </a:p>
          </p:txBody>
        </p:sp>
        <p:sp>
          <p:nvSpPr>
            <p:cNvPr id="9" name="Line 9"/>
            <p:cNvSpPr/>
            <p:nvPr/>
          </p:nvSpPr>
          <p:spPr>
            <a:xfrm>
              <a:off x="4286250" y="2838450"/>
              <a:ext cx="1114425" cy="1"/>
            </a:xfrm>
            <a:prstGeom prst="line">
              <a:avLst/>
            </a:prstGeom>
            <a:noFill/>
            <a:ln w="23812">
              <a:solidFill>
                <a:srgbClr val="2F7CF4"/>
              </a:solidFill>
              <a:tailEnd type="arrow" w="med" len="med"/>
            </a:ln>
          </p:spPr>
        </p:sp>
        <p:sp>
          <p:nvSpPr>
            <p:cNvPr id="10" name="TextBox 10"/>
            <p:cNvSpPr txBox="1"/>
            <p:nvPr/>
          </p:nvSpPr>
          <p:spPr>
            <a:xfrm>
              <a:off x="7297928" y="2527268"/>
              <a:ext cx="207289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噪声与长录音回放</a:t>
              </a:r>
              <a:br/>
              <a:r>
                <a:rPr lang="zh-CN" sz="2020" b="1" dirty="0">
                  <a:solidFill>
                    <a:srgbClr val="2F7CF4"/>
                  </a:solidFill>
                  <a:latin typeface="Microsoft YaHei"/>
                  <a:ea typeface="Microsoft YaHei"/>
                  <a:cs typeface="Microsoft YaHei"/>
                </a:rPr>
                <a:t>注入断连</a:t>
              </a:r>
            </a:p>
          </p:txBody>
        </p:sp>
        <p:sp>
          <p:nvSpPr>
            <p:cNvPr id="11" name="Ellipse 11"/>
            <p:cNvSpPr/>
            <p:nvPr/>
          </p:nvSpPr>
          <p:spPr>
            <a:xfrm>
              <a:off x="809625" y="3924300"/>
              <a:ext cx="114300" cy="114300"/>
            </a:xfrm>
            <a:prstGeom prst="ellipse">
              <a:avLst/>
            </a:prstGeom>
            <a:solidFill>
              <a:srgbClr val="2F7CF4"/>
            </a:solidFill>
            <a:ln>
              <a:noFill/>
            </a:ln>
          </p:spPr>
        </p:sp>
        <p:sp>
          <p:nvSpPr>
            <p:cNvPr id="12" name="TextBox 12"/>
            <p:cNvSpPr txBox="1"/>
            <p:nvPr/>
          </p:nvSpPr>
          <p:spPr>
            <a:xfrm>
              <a:off x="2011502" y="3830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医学泛化</a:t>
              </a:r>
            </a:p>
          </p:txBody>
        </p:sp>
        <p:sp>
          <p:nvSpPr>
            <p:cNvPr id="13" name="Line 13"/>
            <p:cNvSpPr/>
            <p:nvPr/>
          </p:nvSpPr>
          <p:spPr>
            <a:xfrm>
              <a:off x="4286250" y="3981450"/>
              <a:ext cx="1114425" cy="1"/>
            </a:xfrm>
            <a:prstGeom prst="line">
              <a:avLst/>
            </a:prstGeom>
            <a:noFill/>
            <a:ln w="23812">
              <a:solidFill>
                <a:srgbClr val="2F7CF4"/>
              </a:solidFill>
              <a:tailEnd type="arrow" w="med" len="med"/>
            </a:ln>
          </p:spPr>
        </p:sp>
        <p:sp>
          <p:nvSpPr>
            <p:cNvPr id="14" name="TextBox 14"/>
            <p:cNvSpPr txBox="1"/>
            <p:nvPr/>
          </p:nvSpPr>
          <p:spPr>
            <a:xfrm>
              <a:off x="7554468" y="3670268"/>
              <a:ext cx="155981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字段级盲测</a:t>
              </a:r>
              <a:br/>
              <a:r>
                <a:rPr lang="zh-CN" sz="2020" b="1" dirty="0">
                  <a:solidFill>
                    <a:srgbClr val="2F7CF4"/>
                  </a:solidFill>
                  <a:latin typeface="Microsoft YaHei"/>
                  <a:ea typeface="Microsoft YaHei"/>
                  <a:cs typeface="Microsoft YaHei"/>
                </a:rPr>
                <a:t>对照原始证据</a:t>
              </a:r>
            </a:p>
          </p:txBody>
        </p:sp>
        <p:sp>
          <p:nvSpPr>
            <p:cNvPr id="15" name="Ellipse 15"/>
            <p:cNvSpPr/>
            <p:nvPr/>
          </p:nvSpPr>
          <p:spPr>
            <a:xfrm>
              <a:off x="809625" y="5067300"/>
              <a:ext cx="114300" cy="114300"/>
            </a:xfrm>
            <a:prstGeom prst="ellipse">
              <a:avLst/>
            </a:prstGeom>
            <a:solidFill>
              <a:srgbClr val="2F7CF4"/>
            </a:solidFill>
            <a:ln>
              <a:noFill/>
            </a:ln>
          </p:spPr>
        </p:sp>
        <p:sp>
          <p:nvSpPr>
            <p:cNvPr id="16" name="TextBox 16"/>
            <p:cNvSpPr txBox="1"/>
            <p:nvPr/>
          </p:nvSpPr>
          <p:spPr>
            <a:xfrm>
              <a:off x="2011502" y="4973860"/>
              <a:ext cx="1272896" cy="454724"/>
            </a:xfrm>
            <a:prstGeom prst="rect">
              <a:avLst/>
            </a:prstGeom>
            <a:noFill/>
            <a:ln>
              <a:noFill/>
            </a:ln>
          </p:spPr>
          <p:txBody>
            <a:bodyPr wrap="none" lIns="0" tIns="0" rIns="0" bIns="0" anchor="t" anchorCtr="0">
              <a:spAutoFit/>
            </a:bodyPr>
            <a:lstStyle/>
            <a:p>
              <a:pPr algn="ctr"/>
              <a:r>
                <a:rPr lang="zh-CN" sz="2320" b="1" dirty="0">
                  <a:solidFill>
                    <a:srgbClr val="071A33"/>
                  </a:solidFill>
                  <a:latin typeface="Microsoft YaHei"/>
                  <a:ea typeface="Microsoft YaHei"/>
                  <a:cs typeface="Microsoft YaHei"/>
                </a:rPr>
                <a:t>医院集成</a:t>
              </a:r>
            </a:p>
          </p:txBody>
        </p:sp>
        <p:sp>
          <p:nvSpPr>
            <p:cNvPr id="17" name="Line 17"/>
            <p:cNvSpPr/>
            <p:nvPr/>
          </p:nvSpPr>
          <p:spPr>
            <a:xfrm>
              <a:off x="4286250" y="5124450"/>
              <a:ext cx="1114425" cy="1"/>
            </a:xfrm>
            <a:prstGeom prst="line">
              <a:avLst/>
            </a:prstGeom>
            <a:noFill/>
            <a:ln w="23812">
              <a:solidFill>
                <a:srgbClr val="2F7CF4"/>
              </a:solidFill>
              <a:tailEnd type="arrow" w="med" len="med"/>
            </a:ln>
          </p:spPr>
        </p:sp>
        <p:sp>
          <p:nvSpPr>
            <p:cNvPr id="18" name="TextBox 18"/>
            <p:cNvSpPr txBox="1"/>
            <p:nvPr/>
          </p:nvSpPr>
          <p:spPr>
            <a:xfrm>
              <a:off x="7041388" y="4813268"/>
              <a:ext cx="2585974" cy="756094"/>
            </a:xfrm>
            <a:prstGeom prst="rect">
              <a:avLst/>
            </a:prstGeom>
            <a:noFill/>
            <a:ln>
              <a:noFill/>
            </a:ln>
          </p:spPr>
          <p:txBody>
            <a:bodyPr wrap="none" lIns="0" tIns="0" rIns="0" bIns="0" anchor="t" anchorCtr="0">
              <a:spAutoFit/>
            </a:bodyPr>
            <a:lstStyle/>
            <a:p>
              <a:pPr algn="ctr">
                <a:lnSpc>
                  <a:spcPts val="2835"/>
                </a:lnSpc>
              </a:pPr>
              <a:r>
                <a:rPr lang="zh-CN" sz="2020" b="1" dirty="0">
                  <a:solidFill>
                    <a:srgbClr val="2F7CF4"/>
                  </a:solidFill>
                  <a:latin typeface="Microsoft YaHei"/>
                  <a:ea typeface="Microsoft YaHei"/>
                  <a:cs typeface="Microsoft YaHei"/>
                </a:rPr>
                <a:t>HIS/EMR接口沙箱联调</a:t>
              </a:r>
              <a:br/>
              <a:r>
                <a:rPr lang="zh-CN" sz="2020" b="1" dirty="0">
                  <a:solidFill>
                    <a:srgbClr val="2F7CF4"/>
                  </a:solidFill>
                  <a:latin typeface="Microsoft YaHei"/>
                  <a:ea typeface="Microsoft YaHei"/>
                  <a:cs typeface="Microsoft YaHei"/>
                </a:rPr>
                <a:t>权限、审计与回滚测试</a:t>
              </a:r>
            </a:p>
          </p:txBody>
        </p:sp>
        <p:sp>
          <p:nvSpPr>
            <p:cNvPr id="19" name="Line 19"/>
            <p:cNvSpPr/>
            <p:nvPr/>
          </p:nvSpPr>
          <p:spPr>
            <a:xfrm>
              <a:off x="533400" y="3409950"/>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0" name="Line 20"/>
            <p:cNvSpPr/>
            <p:nvPr/>
          </p:nvSpPr>
          <p:spPr>
            <a:xfrm>
              <a:off x="533400" y="4552950"/>
              <a:ext cx="11125200" cy="9525"/>
            </a:xfrm>
            <a:custGeom>
              <a:avLst/>
              <a:gdLst/>
              <a:ahLst/>
              <a:cxnLst/>
              <a:rect l="l" t="t" r="r" b="b"/>
              <a:pathLst>
                <a:path w="11125200" h="9525">
                  <a:moveTo>
                    <a:pt x="0" y="0"/>
                  </a:moveTo>
                  <a:lnTo>
                    <a:pt x="11125200" y="0"/>
                  </a:lnTo>
                </a:path>
              </a:pathLst>
            </a:custGeom>
            <a:noFill/>
            <a:ln w="9525">
              <a:solidFill>
                <a:srgbClr val="D9E8F5"/>
              </a:solidFill>
            </a:ln>
          </p:spPr>
        </p:sp>
      </p:grpSp>
      <p:grpSp>
        <p:nvGrpSpPr>
          <p:cNvPr id="24" name="Group 24"/>
          <p:cNvGrpSpPr/>
          <p:nvPr/>
        </p:nvGrpSpPr>
        <p:grpSpPr>
          <a:xfrm>
            <a:off x="533400" y="5743575"/>
            <a:ext cx="11125200" cy="599122"/>
            <a:chOff x="533400" y="5743575"/>
            <a:chExt cx="11125200" cy="599122"/>
          </a:xfrm>
        </p:grpSpPr>
        <p:sp>
          <p:nvSpPr>
            <p:cNvPr id="22" name="Line 22"/>
            <p:cNvSpPr/>
            <p:nvPr/>
          </p:nvSpPr>
          <p:spPr>
            <a:xfrm>
              <a:off x="533400" y="5743575"/>
              <a:ext cx="11125200" cy="9525"/>
            </a:xfrm>
            <a:custGeom>
              <a:avLst/>
              <a:gdLst/>
              <a:ahLst/>
              <a:cxnLst/>
              <a:rect l="l" t="t" r="r" b="b"/>
              <a:pathLst>
                <a:path w="11125200" h="9525">
                  <a:moveTo>
                    <a:pt x="0" y="0"/>
                  </a:moveTo>
                  <a:lnTo>
                    <a:pt x="11125200" y="0"/>
                  </a:lnTo>
                </a:path>
              </a:pathLst>
            </a:custGeom>
            <a:noFill/>
            <a:ln w="9525">
              <a:solidFill>
                <a:srgbClr val="D9E8F5"/>
              </a:solidFill>
            </a:ln>
          </p:spPr>
        </p:sp>
        <p:sp>
          <p:nvSpPr>
            <p:cNvPr id="23" name="TextBox 23"/>
            <p:cNvSpPr txBox="1"/>
            <p:nvPr/>
          </p:nvSpPr>
          <p:spPr>
            <a:xfrm>
              <a:off x="3964305" y="5902642"/>
              <a:ext cx="4263390" cy="440055"/>
            </a:xfrm>
            <a:prstGeom prst="rect">
              <a:avLst/>
            </a:prstGeom>
            <a:noFill/>
            <a:ln>
              <a:noFill/>
            </a:ln>
          </p:spPr>
          <p:txBody>
            <a:bodyPr wrap="none" lIns="0" tIns="0" rIns="0" bIns="0" anchor="t" anchorCtr="0">
              <a:spAutoFit/>
            </a:bodyPr>
            <a:lstStyle/>
            <a:p>
              <a:pPr algn="ctr"/>
              <a:r>
                <a:rPr lang="zh-CN" sz="2250" b="1" dirty="0">
                  <a:solidFill>
                    <a:srgbClr val="071A33"/>
                  </a:solidFill>
                  <a:latin typeface="Microsoft YaHei"/>
                  <a:ea typeface="Microsoft YaHei"/>
                  <a:cs typeface="Microsoft YaHei"/>
                </a:rPr>
                <a:t>验证未通过，不扩大使用边界。</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676" r="0" b="677"/>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71A33">
                  <a:alpha val="97000"/>
                </a:srgbClr>
              </a:gs>
              <a:gs pos="54000">
                <a:srgbClr val="071A33">
                  <a:alpha val="84000"/>
                </a:srgbClr>
              </a:gs>
              <a:gs pos="100000">
                <a:srgbClr val="071A33">
                  <a:alpha val="32000"/>
                </a:srgbClr>
              </a:gs>
            </a:gsLst>
            <a:lin ang="0" scaled="1"/>
          </a:gradFill>
          <a:ln>
            <a:noFill/>
          </a:ln>
        </p:spPr>
      </p:sp>
      <p:grpSp>
        <p:nvGrpSpPr>
          <p:cNvPr id="6" name="Group 6"/>
          <p:cNvGrpSpPr/>
          <p:nvPr/>
        </p:nvGrpSpPr>
        <p:grpSpPr>
          <a:xfrm>
            <a:off x="590550" y="519321"/>
            <a:ext cx="1975817" cy="486138"/>
            <a:chOff x="590550" y="519321"/>
            <a:chExt cx="1975817" cy="486138"/>
          </a:xfrm>
        </p:grpSpPr>
        <p:pic>
          <p:nvPicPr>
            <p:cNvPr id="4" name="Image 4"/>
            <p:cNvPicPr>
              <a:picLocks noChangeAspect="1"/>
            </p:cNvPicPr>
            <p:nvPr/>
          </p:nvPicPr>
          <p:blipFill>
            <a:blip r:embed="rId3"/>
            <a:stretch>
              <a:fillRect/>
            </a:stretch>
          </p:blipFill>
          <p:spPr>
            <a:xfrm>
              <a:off x="590550" y="519321"/>
              <a:ext cx="476250" cy="466308"/>
            </a:xfrm>
            <a:prstGeom prst="rect">
              <a:avLst/>
            </a:prstGeom>
          </p:spPr>
        </p:pic>
        <p:sp>
          <p:nvSpPr>
            <p:cNvPr id="5" name="TextBox 5"/>
            <p:cNvSpPr txBox="1"/>
            <p:nvPr/>
          </p:nvSpPr>
          <p:spPr>
            <a:xfrm>
              <a:off x="1210056" y="653415"/>
              <a:ext cx="135631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icrosoft YaHei"/>
                  <a:ea typeface="Microsoft YaHei"/>
                  <a:cs typeface="Microsoft YaHei"/>
                </a:rPr>
                <a:t>MediListen</a:t>
              </a:r>
            </a:p>
          </p:txBody>
        </p:sp>
      </p:grpSp>
      <p:grpSp>
        <p:nvGrpSpPr>
          <p:cNvPr id="15" name="Group 15"/>
          <p:cNvGrpSpPr/>
          <p:nvPr/>
        </p:nvGrpSpPr>
        <p:grpSpPr>
          <a:xfrm>
            <a:off x="523875" y="5486400"/>
            <a:ext cx="5381625" cy="152400"/>
            <a:chOff x="523875" y="5486400"/>
            <a:chExt cx="5381625" cy="152400"/>
          </a:xfrm>
        </p:grpSpPr>
        <p:sp>
          <p:nvSpPr>
            <p:cNvPr id="12" name="Line 12"/>
            <p:cNvSpPr/>
            <p:nvPr/>
          </p:nvSpPr>
          <p:spPr>
            <a:xfrm>
              <a:off x="590550" y="5562600"/>
              <a:ext cx="5238750" cy="9525"/>
            </a:xfrm>
            <a:custGeom>
              <a:avLst/>
              <a:gdLst/>
              <a:ahLst/>
              <a:cxnLst/>
              <a:rect l="l" t="t" r="r" b="b"/>
              <a:pathLst>
                <a:path w="5238750" h="9525">
                  <a:moveTo>
                    <a:pt x="0" y="0"/>
                  </a:moveTo>
                  <a:lnTo>
                    <a:pt x="5238750" y="0"/>
                  </a:lnTo>
                </a:path>
              </a:pathLst>
            </a:custGeom>
            <a:noFill/>
            <a:ln w="19050">
              <a:solidFill>
                <a:srgbClr val="20D9E8"/>
              </a:solidFill>
            </a:ln>
          </p:spPr>
        </p:sp>
        <p:sp>
          <p:nvSpPr>
            <p:cNvPr id="13" name="Ellipse 13"/>
            <p:cNvSpPr/>
            <p:nvPr/>
          </p:nvSpPr>
          <p:spPr>
            <a:xfrm>
              <a:off x="523875" y="5495925"/>
              <a:ext cx="133350" cy="133350"/>
            </a:xfrm>
            <a:prstGeom prst="ellipse">
              <a:avLst/>
            </a:prstGeom>
            <a:solidFill>
              <a:srgbClr val="2F7CF4"/>
            </a:solidFill>
            <a:ln>
              <a:noFill/>
            </a:ln>
          </p:spPr>
        </p:sp>
        <p:sp>
          <p:nvSpPr>
            <p:cNvPr id="14" name="Ellipse 14"/>
            <p:cNvSpPr/>
            <p:nvPr/>
          </p:nvSpPr>
          <p:spPr>
            <a:xfrm>
              <a:off x="5753100" y="5486400"/>
              <a:ext cx="152400" cy="152400"/>
            </a:xfrm>
            <a:prstGeom prst="ellipse">
              <a:avLst/>
            </a:prstGeom>
            <a:solidFill>
              <a:srgbClr val="23D7B0"/>
            </a:solidFill>
            <a:ln>
              <a:noFill/>
            </a:ln>
          </p:spPr>
        </p:sp>
      </p:grpSp>
      <p:grpSp>
        <p:nvGrpSpPr>
          <p:cNvPr id="11" name="Group 11"/>
          <p:cNvGrpSpPr/>
          <p:nvPr/>
        </p:nvGrpSpPr>
        <p:grpSpPr>
          <a:xfrm>
            <a:off x="573786" y="2400300"/>
            <a:ext cx="4031742" cy="1794129"/>
            <a:chOff x="573786" y="2400300"/>
            <a:chExt cx="4031742" cy="1794129"/>
          </a:xfrm>
        </p:grpSpPr>
        <p:sp>
          <p:nvSpPr>
            <p:cNvPr id="8" name="Rectangle 8"/>
            <p:cNvSpPr/>
            <p:nvPr/>
          </p:nvSpPr>
          <p:spPr>
            <a:xfrm>
              <a:off x="590550" y="2400300"/>
              <a:ext cx="819150" cy="47625"/>
            </a:xfrm>
            <a:prstGeom prst="roundRect">
              <a:avLst>
                <a:gd name="adj" fmla="val 40000"/>
              </a:avLst>
            </a:prstGeom>
            <a:gradFill>
              <a:gsLst>
                <a:gs pos="0">
                  <a:srgbClr val="20D9E8"/>
                </a:gs>
                <a:gs pos="100000">
                  <a:srgbClr val="2F7CF4"/>
                </a:gs>
              </a:gsLst>
              <a:lin ang="0" scaled="1"/>
            </a:gradFill>
            <a:ln>
              <a:noFill/>
            </a:ln>
          </p:spPr>
        </p:sp>
        <p:sp>
          <p:nvSpPr>
            <p:cNvPr id="9" name="TextBox 9"/>
            <p:cNvSpPr txBox="1"/>
            <p:nvPr/>
          </p:nvSpPr>
          <p:spPr>
            <a:xfrm>
              <a:off x="573786" y="2882265"/>
              <a:ext cx="3738204" cy="645414"/>
            </a:xfrm>
            <a:prstGeom prst="rect">
              <a:avLst/>
            </a:prstGeom>
            <a:noFill/>
            <a:ln>
              <a:noFill/>
            </a:ln>
          </p:spPr>
          <p:txBody>
            <a:bodyPr wrap="none" lIns="0" tIns="0" rIns="0" bIns="0" anchor="t" anchorCtr="0">
              <a:spAutoFit/>
            </a:bodyPr>
            <a:lstStyle/>
            <a:p>
              <a:pPr algn="l"/>
              <a:r>
                <a:rPr lang="zh-CN" sz="3300" b="1" dirty="0">
                  <a:solidFill>
                    <a:srgbClr val="F7FBFF"/>
                  </a:solidFill>
                  <a:latin typeface="Microsoft YaHei"/>
                  <a:ea typeface="Microsoft YaHei"/>
                  <a:cs typeface="Microsoft YaHei"/>
                </a:rPr>
                <a:t>AI负责整理信息，</a:t>
              </a:r>
            </a:p>
          </p:txBody>
        </p:sp>
        <p:sp>
          <p:nvSpPr>
            <p:cNvPr id="10" name="TextBox 10"/>
            <p:cNvSpPr txBox="1"/>
            <p:nvPr/>
          </p:nvSpPr>
          <p:spPr>
            <a:xfrm>
              <a:off x="573786" y="3549015"/>
              <a:ext cx="4031742" cy="645414"/>
            </a:xfrm>
            <a:prstGeom prst="rect">
              <a:avLst/>
            </a:prstGeom>
            <a:noFill/>
            <a:ln>
              <a:noFill/>
            </a:ln>
          </p:spPr>
          <p:txBody>
            <a:bodyPr wrap="none" lIns="0" tIns="0" rIns="0" bIns="0" anchor="t" anchorCtr="0">
              <a:spAutoFit/>
            </a:bodyPr>
            <a:lstStyle/>
            <a:p>
              <a:pPr algn="l"/>
              <a:r>
                <a:rPr lang="zh-CN" sz="3300" b="1" dirty="0">
                  <a:solidFill>
                    <a:srgbClr val="20D9E8"/>
                  </a:solidFill>
                  <a:latin typeface="Microsoft YaHei"/>
                  <a:ea typeface="Microsoft YaHei"/>
                  <a:cs typeface="Microsoft YaHei"/>
                </a:rPr>
                <a:t>医生负责判断责任。</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edilisten_poc_review">
  <a:themeElements>
    <a:clrScheme name="medilisten_poc_review">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listen_poc_review">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listen_poc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edilisten_poc_review">
  <a:themeElements>
    <a:clrScheme name="medilisten_poc_review">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listen_poc_review">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listen_poc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2026-09-06T14:14:23Z</dcterms:created>
  <dcterms:modified xsi:type="dcterms:W3CDTF">2026-09-06T14:14:23Z</dcterms:modified>
  <cp:category/>
  <cp:contentStatus/>
</cp:coreProperties>
</file>