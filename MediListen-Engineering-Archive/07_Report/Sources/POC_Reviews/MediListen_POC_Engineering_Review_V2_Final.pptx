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次复盘聚焦MediListen在POC阶段的工程取舍：从能生成病历的演示链路，走到有质量门禁、版本审核与导出约束的交付闭环。核心问题是错误能否在进入责任链之前被拦截，以及故障发生后能否恢复。评审基线为主干提交690b72cef39a038bbd9edd561dbe72dc4c92a24d，开放草案另作候选证据。项目来源：https://github.com/awa606/medical_record_agent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直接从音频转写、理解、生成走到导出，会把上游错误带进已经交付的病历；这里“不可撤回”指文件离开系统后无法自动收回，并不是说医院病历永远不能依法更正。冻结方案在生成前加入角色质量门禁，交付前由医生审核，AI只能提供建议。v1.4.0与PR #47构成角色门禁基线，PR #51与PR #53为其后增量，分别报告183、201、204项阶段回归。对应来源：https://github.com/awa606/medical_record_agent/pull/47 、https://github.com/awa606/medical_record_agent/pull/51 、https://github.com/awa606/medical_record_agent/pull/53 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初的ASR到模型再到病历链路，隐含假设是每句话的说话人角色都正确；患者的主诉一旦被当成医生判断，错误就可能落入具有不同临床含义的字段。最终把SpeakerRoleQualityPolicy放到服务端，针对低置信、角色未映射与混合角色等条件阻断正式生成，并要求人工确认。工程取舍是允许低质量输入停下来，以换取错误归属不会静默进入后续责任链。PR #47已经合并，PR #52为已关闭且未合并的校准候选，不能列为已交付能力。来源：https://github.com/awa606/medical_record_agent/pull/47 、https://github.com/awa606/medical_record_agent/pull/52 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emo关注一次成功运行，断网、进程重启或者服务失败时，页面状态与后台任务可能分离，单看输出无法复现问题。重构将任务状态、任务记录、日志与版本作为系统能力，图中的待处理、处理中、失败留痕、待审核是面向评审的简化状态示意，并非源码枚举逐字映射。前端、API、编排器、领域服务与持久化分层，让失败可以定位、重试并留下证据；收益是把失败路径也纳入可验证范围。架构与工程证据：https://github.com/awa606/medical_record_agent/tree/690b72cef39a038bbd9edd561dbe72dc4c92a24d 、https://github.com/awa606/medical_record_agent/pull/66 、https://github.com/awa606/medical_record_agent/pull/67 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断网时前端可能立即判定失败，而后台处理仍在继续，重连时如果恢复边界不清晰，就会产生重复事件风险；原始日志还记录了逐事件220毫秒人工延迟，不能把历史根因简化为完全没有事件ID。修复采用追加式事件日志、单调event_id、Last-Event-ID续传、自动重连与重复边界保护，录音分片的幂等则是另一层机制。页面501、50、0来自脚本复验：500条模拟进度事件加1条完成事件，从ID 451恢复后续50条，重复边界为0，它不代表所有真实网络环境均已验证。数据来源：https://github.com/awa606/medical_record_agent/blob/690b72cef39a038bbd9edd561dbe72dc4c92a24d/data/asr_eval/reports/v0_8_11_sse_reconnect/sse_reconnect_report.json ，根因来源：https://github.com/awa606/medical_record_agent/blob/690b72cef39a038bbd9edd561dbe72dc4c92a24d/logs/debug/2026-07-11_speaker_role_sse_stability.md ，复验范围：https://github.com/awa606/medical_record_agent/blob/690b72cef39a038bbd9edd561dbe72dc4c92a24d/logs/debug/2026-07-13_v0_9_4_sse_pc_retest.md 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普通CRUD如果只保存一个已审核布尔状态，内容修改后仍可能沿用旧批准，因此批准对象与实际导出的内容发生偏离。真实实现把审批绑定到revision_id，内容变更创建新修订并使旧活动审批失效，只有当前修订对应的有效审批才能导出。我们选择版本绑定，因为医生承担的是特定内容版本的审核责任，不能把一次点击解释成对未来所有修改的授权。PR #64已合并，PR #94是重启持久化证明的开放草案；本页没有使用CAS Gate或Version Hash作为实现描述。来源：https://github.com/awa606/medical_record_agent/pull/64 、https://github.com/awa606/medical_record_agent/pull/94 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头看，最早应该明确的是领域模型中的状态、版本与审批边界，这会减少后期围绕页面状态补丁式修复。第二个教训是证据链要与生成能力同时设计，每条AI输出都应该能回到输入、依据与确认动作。第三个教训是演示路径与产品路径需要独立验收，一次稳定的演示不能证明真实环境中的恢复、审核与集成可靠。这三项教训对应前面角色门禁、故障恢复和版本审批的复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这条轴表达能力演进层级，不按PR合并日期排列：生成基线由PR #53补齐录音入口，随后展示阻断、评测、恢复与试点准备的能力证据。PR #47、#51、#53、#66均已合并，PR #51的评测数据是23条合成样本，不能解释为临床准确率。PR #96仍为开放草案，330项通过是本地测试报告，真实麦克风、浏览器和容器黑盒验收仍待完成。重点追溯的PR #82、#83、#92、#93、#94、#95、#98也均是开放草案，不能写成已发布能力。证据：https://github.com/awa606/medical_record_agent/pull/47 、https://github.com/awa606/medical_record_agent/pull/51 、https://github.com/awa606/medical_record_agent/pull/53 、https://github.com/awa606/medical_record_agent/pull/66 、https://github.com/awa606/medical_record_agent/pull/82 、https://github.com/awa606/medical_record_agent/pull/83 、https://github.com/awa606/medical_record_agent/pull/92 、https://github.com/awa606/medical_record_agent/pull/93 、https://github.com/awa606/medical_record_agent/pull/94 、https://github.com/awa606/medical_record_agent/pull/95 、https://github.com/awa606/medical_record_agent/pull/96 、https://github.com/awa606/medical_record_agent/pull/98 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C之后应先减少未知，再决定产品范围：真实问诊环境用长录音、噪声、断网和重启验证恢复，医疗泛化用分字段盲测发现严重错误和无依据内容，医院集成用接口契约与审计回滚验证失败不会误写。页面的验收门槛全部是下一阶段提议，并非现有成绩或临床有效性结论。Issue #89提出字段准确率不低于80%、结构完整性不低于90%等目标，当前仍未完成，因此这里不把它们作为已实现指标。来源：https://github.com/awa606/medical_record_agent/issues/89 、https://github.com/awa606/medical_record_agent/pull/96 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MediListen希望减少医生的重复录入，把更多注意力留给患者。AI负责整理信息，医生负责判断责任；产品化的下一步，是继续验证真实环境中的可靠性与责任边界。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edilisten_poc_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edilisten_poc_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<Relationship Id="rId2" Type="http://schemas.openxmlformats.org/officeDocument/2006/relationships/image" Target="../media/image_7b871dd8aaf945b5.png" />
  <Relationship Id="rId3" Type="http://schemas.openxmlformats.org/officeDocument/2006/relationships/image" Target="../media/image_2cbe01264aa76b50.png" />
    <Relationship Id="rId4" Type="http://schemas.openxmlformats.org/officeDocument/2006/relationships/notesSlide" Target="../notesSlides/notesSlide1.xml"/>
</Relationships>
</file>

<file path=ppt/slides/_rels/slide2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<Relationship Id="rId2" Type="http://schemas.openxmlformats.org/officeDocument/2006/relationships/notesSlide" Target="../notesSlides/notesSlide2.xml"/>
</Relationships>
</file>

<file path=ppt/slides/_rels/slide3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<Relationship Id="rId2" Type="http://schemas.openxmlformats.org/officeDocument/2006/relationships/notesSlide" Target="../notesSlides/notesSlide3.xml"/>
</Relationships>
</file>

<file path=ppt/slides/_rels/slide4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<Relationship Id="rId2" Type="http://schemas.openxmlformats.org/officeDocument/2006/relationships/notesSlide" Target="../notesSlides/notesSlide4.xml"/>
</Relationships>
</file>

<file path=ppt/slides/_rels/slide5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<Relationship Id="rId2" Type="http://schemas.openxmlformats.org/officeDocument/2006/relationships/notesSlide" Target="../notesSlides/notesSlide5.xml"/>
</Relationships>
</file>

<file path=ppt/slides/_rels/slide6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<Relationship Id="rId2" Type="http://schemas.openxmlformats.org/officeDocument/2006/relationships/notesSlide" Target="../notesSlides/notesSlide6.xml"/>
</Relationships>
</file>

<file path=ppt/slides/_rels/slide7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<Relationship Id="rId2" Type="http://schemas.openxmlformats.org/officeDocument/2006/relationships/notesSlide" Target="../notesSlides/notesSlide7.xml"/>
</Relationships>
</file>

<file path=ppt/slides/_rels/slide8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<Relationship Id="rId2" Type="http://schemas.openxmlformats.org/officeDocument/2006/relationships/notesSlide" Target="../notesSlides/notesSlide8.xml"/>
</Relationships>
</file>

<file path=ppt/slides/_rels/slide9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  <Relationship Id="rId2" Type="http://schemas.openxmlformats.org/officeDocument/2006/relationships/notesSlide" Target="../notesSlides/notesSlide9.xml"/>
</Relationships>
</file>

<file path=ppt/slides/_rels/slide10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7.xml" />
  <Relationship Id="rId2" Type="http://schemas.openxmlformats.org/officeDocument/2006/relationships/image" Target="../media/image_18d4961b916f0d1f.png" />
  <Relationship Id="rId3" Type="http://schemas.openxmlformats.org/officeDocument/2006/relationships/image" Target="../media/image_2cbe01264aa76b50.png" />
    <Relationship Id="rId4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5280" r="0" b="2528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071A3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A33">
                  <a:alpha val="98000"/>
                </a:srgbClr>
              </a:gs>
              <a:gs pos="48000">
                <a:srgbClr val="071A33">
                  <a:alpha val="94000"/>
                </a:srgbClr>
              </a:gs>
              <a:gs pos="78000">
                <a:srgbClr val="071A33">
                  <a:alpha val="42000"/>
                </a:srgbClr>
              </a:gs>
              <a:gs pos="100000">
                <a:srgbClr val="071A33">
                  <a:alpha val="1000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90550" y="462568"/>
            <a:ext cx="2165663" cy="520888"/>
            <a:chOff x="590550" y="462568"/>
            <a:chExt cx="2165663" cy="520888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" y="462568"/>
              <a:ext cx="514350" cy="503613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247775" y="616744"/>
              <a:ext cx="150843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spc="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MediListen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68833" y="1684020"/>
            <a:ext cx="4093723" cy="2483739"/>
            <a:chOff x="568833" y="1684020"/>
            <a:chExt cx="4093723" cy="2483739"/>
          </a:xfrm>
        </p:grpSpPr>
        <p:sp>
          <p:nvSpPr>
            <p:cNvPr id="8" name="TextBox 8"/>
            <p:cNvSpPr txBox="1"/>
            <p:nvPr/>
          </p:nvSpPr>
          <p:spPr>
            <a:xfrm>
              <a:off x="571500" y="1684020"/>
              <a:ext cx="293715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MediListen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90550" y="2343150"/>
              <a:ext cx="78105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0D9E8"/>
                </a:gs>
                <a:gs pos="100000">
                  <a:srgbClr val="2F7CF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78358" y="2636520"/>
              <a:ext cx="40841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AI生成式电子病历辅助系统</a:t>
              </a:r>
            </a:p>
          </p:txBody>
        </p:sp>
        <p:sp>
          <p:nvSpPr>
            <p:cNvPr id="28" name="TextBox 17"/>
            <p:cNvSpPr txBox="1"/>
            <p:nvPr/>
          </p:nvSpPr>
          <p:spPr>
            <a:xfrm>
              <a:off x="568833" y="3255645"/>
              <a:ext cx="39206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从AI Demo到可信病历闭环</a:t>
              </a:r>
            </a:p>
          </p:txBody>
        </p:sp>
        <p:sp>
          <p:nvSpPr>
            <p:cNvPr id="29" name="TextBox 18"/>
            <p:cNvSpPr txBox="1"/>
            <p:nvPr/>
          </p:nvSpPr>
          <p:spPr>
            <a:xfrm>
              <a:off x="571881" y="3815715"/>
              <a:ext cx="20281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POC阶段工程复盘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4454" y="5476875"/>
            <a:ext cx="4105656" cy="543306"/>
            <a:chOff x="584454" y="5476875"/>
            <a:chExt cx="4105656" cy="543306"/>
          </a:xfrm>
        </p:grpSpPr>
        <p:sp>
          <p:nvSpPr>
            <p:cNvPr id="14" name="Ellipse 14"/>
            <p:cNvSpPr/>
            <p:nvPr/>
          </p:nvSpPr>
          <p:spPr>
            <a:xfrm>
              <a:off x="647700" y="5486400"/>
              <a:ext cx="152400" cy="1524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876300" y="55626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19050">
              <a:solidFill>
                <a:srgbClr val="20D9E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781425" y="5476875"/>
              <a:ext cx="171450" cy="171450"/>
            </a:xfrm>
            <a:prstGeom prst="ellipse">
              <a:avLst/>
            </a:prstGeom>
            <a:solidFill>
              <a:srgbClr val="23D7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4454" y="5785485"/>
              <a:ext cx="631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AI Demo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654" y="57854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可信病历闭环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91600" y="5848350"/>
            <a:ext cx="1200150" cy="447675"/>
            <a:chOff x="8991600" y="5848350"/>
            <a:chExt cx="1200150" cy="447675"/>
          </a:xfrm>
        </p:grpSpPr>
        <p:sp>
          <p:nvSpPr>
            <p:cNvPr id="20" name="Rectangle 20"/>
            <p:cNvSpPr/>
            <p:nvPr/>
          </p:nvSpPr>
          <p:spPr>
            <a:xfrm>
              <a:off x="8991600" y="6029325"/>
              <a:ext cx="114300" cy="85725"/>
            </a:xfrm>
            <a:prstGeom prst="roundRect">
              <a:avLst>
                <a:gd name="adj" fmla="val 44444"/>
              </a:avLst>
            </a:prstGeom>
            <a:solidFill>
              <a:srgbClr val="20D9E8">
                <a:alpha val="55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72575" y="5943600"/>
              <a:ext cx="114300" cy="257175"/>
            </a:xfrm>
            <a:prstGeom prst="roundRect">
              <a:avLst>
                <a:gd name="adj" fmla="val 33333"/>
              </a:avLst>
            </a:prstGeom>
            <a:solidFill>
              <a:srgbClr val="20D9E8">
                <a:alpha val="70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353550" y="5848350"/>
              <a:ext cx="114300" cy="447675"/>
            </a:xfrm>
            <a:prstGeom prst="roundRect">
              <a:avLst>
                <a:gd name="adj" fmla="val 33333"/>
              </a:avLst>
            </a:prstGeom>
            <a:solidFill>
              <a:srgbClr val="20D9E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9534525" y="5991225"/>
              <a:ext cx="114300" cy="161925"/>
            </a:xfrm>
            <a:prstGeom prst="roundRect">
              <a:avLst>
                <a:gd name="adj" fmla="val 33333"/>
              </a:avLst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715500" y="5895975"/>
              <a:ext cx="114300" cy="352425"/>
            </a:xfrm>
            <a:prstGeom prst="roundRect">
              <a:avLst>
                <a:gd name="adj" fmla="val 33333"/>
              </a:avLst>
            </a:prstGeom>
            <a:solidFill>
              <a:srgbClr val="20D9E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896475" y="5962650"/>
              <a:ext cx="114300" cy="219075"/>
            </a:xfrm>
            <a:prstGeom prst="roundRect">
              <a:avLst>
                <a:gd name="adj" fmla="val 33333"/>
              </a:avLst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0077450" y="6019800"/>
              <a:ext cx="114300" cy="104775"/>
            </a:xfrm>
            <a:prstGeom prst="roundRect">
              <a:avLst>
                <a:gd name="adj" fmla="val 36364"/>
              </a:avLst>
            </a:prstGeom>
            <a:solidFill>
              <a:srgbClr val="20D9E8">
                <a:alpha val="65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7"/>
          <p:cNvGrpSpPr/>
          <p:nvPr/>
        </p:nvGrpSpPr>
        <p:grpSpPr>
          <a:xfrm>
            <a:off x="11227664" y="6398895"/>
            <a:ext cx="435698" cy="176212"/>
            <a:chOff x="11227664" y="6398895"/>
            <a:chExt cx="435698" cy="176212"/>
          </a:xfrm>
        </p:grpSpPr>
        <p:sp>
          <p:nvSpPr>
            <p:cNvPr id="76" name="TextBox 76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02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20065" y="489585"/>
            <a:ext cx="5996857" cy="1254918"/>
            <a:chOff x="520065" y="489585"/>
            <a:chExt cx="5996857" cy="1254918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89585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02 冻结判断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065" y="764381"/>
              <a:ext cx="5996857" cy="9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75"/>
                </a:lnSpc>
              </a:pPr>
              <a:r>
                <a:rPr lang="zh-CN" sz="26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POC冻结时，我们真正解决的不是生成，</a:t>
              </a:r>
              <a:br/>
              <a:r>
                <a:rPr lang="zh-CN" sz="26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而是可信交付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4637" y="2118836"/>
            <a:ext cx="10945368" cy="3139536"/>
            <a:chOff x="524637" y="2118836"/>
            <a:chExt cx="10945368" cy="3139536"/>
          </a:xfrm>
        </p:grpSpPr>
        <p:sp>
          <p:nvSpPr>
            <p:cNvPr id="6" name="TextBox 6"/>
            <p:cNvSpPr txBox="1"/>
            <p:nvPr/>
          </p:nvSpPr>
          <p:spPr>
            <a:xfrm>
              <a:off x="524637" y="2118836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直接导出风险链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705225" y="2667000"/>
              <a:ext cx="685800" cy="1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8" name="Line 8"/>
            <p:cNvSpPr/>
            <p:nvPr/>
          </p:nvSpPr>
          <p:spPr>
            <a:xfrm>
              <a:off x="5133975" y="2667000"/>
              <a:ext cx="685800" cy="1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9" name="Line 9"/>
            <p:cNvSpPr/>
            <p:nvPr/>
          </p:nvSpPr>
          <p:spPr>
            <a:xfrm>
              <a:off x="6562725" y="2667000"/>
              <a:ext cx="685800" cy="1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10" name="Line 10"/>
            <p:cNvSpPr/>
            <p:nvPr/>
          </p:nvSpPr>
          <p:spPr>
            <a:xfrm>
              <a:off x="7991475" y="2667000"/>
              <a:ext cx="685800" cy="1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11" name="Ellipse 11"/>
            <p:cNvSpPr/>
            <p:nvPr/>
          </p:nvSpPr>
          <p:spPr>
            <a:xfrm>
              <a:off x="3257550" y="2590800"/>
              <a:ext cx="152400" cy="15240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82290" y="2988564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音频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4686300" y="2590800"/>
              <a:ext cx="152400" cy="15240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11040" y="2988564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转写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115050" y="2590800"/>
              <a:ext cx="152400" cy="15240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39790" y="2988564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理解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43800" y="2590800"/>
              <a:ext cx="152400" cy="15240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68540" y="2988564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生成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972550" y="2590800"/>
              <a:ext cx="152400" cy="15240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97290" y="2988564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导出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13901" y="3364897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错误病历不可撤回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4637" y="3842861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可信交付闭环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667125" y="4276725"/>
              <a:ext cx="76200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4" name="Line 24"/>
            <p:cNvSpPr/>
            <p:nvPr/>
          </p:nvSpPr>
          <p:spPr>
            <a:xfrm>
              <a:off x="5095875" y="4276725"/>
              <a:ext cx="87630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5" name="Line 25"/>
            <p:cNvSpPr/>
            <p:nvPr/>
          </p:nvSpPr>
          <p:spPr>
            <a:xfrm>
              <a:off x="6638925" y="4276725"/>
              <a:ext cx="106680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6" name="Line 26"/>
            <p:cNvSpPr/>
            <p:nvPr/>
          </p:nvSpPr>
          <p:spPr>
            <a:xfrm>
              <a:off x="8372475" y="4276725"/>
              <a:ext cx="91440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7" name="Line 27"/>
            <p:cNvSpPr/>
            <p:nvPr/>
          </p:nvSpPr>
          <p:spPr>
            <a:xfrm>
              <a:off x="9953625" y="4276725"/>
              <a:ext cx="95250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8" name="Ellipse 28"/>
            <p:cNvSpPr/>
            <p:nvPr/>
          </p:nvSpPr>
          <p:spPr>
            <a:xfrm>
              <a:off x="3257550" y="4200525"/>
              <a:ext cx="152400" cy="1524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103245" y="478898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输入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4686300" y="4200525"/>
              <a:ext cx="152400" cy="1524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50813" y="4788980"/>
              <a:ext cx="4233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ASR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010275" y="3981450"/>
              <a:ext cx="590550" cy="590550"/>
            </a:xfrm>
            <a:prstGeom prst="ellipse">
              <a:avLst/>
            </a:prstGeom>
            <a:solidFill>
              <a:srgbClr val="071A33"/>
            </a:solidFill>
            <a:ln w="19050">
              <a:solidFill>
                <a:srgbClr val="20D9E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96000" y="41795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拦截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78068" y="4642295"/>
              <a:ext cx="8549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zh-CN" sz="165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角色质量</a:t>
              </a:r>
              <a:br/>
              <a:r>
                <a:rPr lang="zh-CN" sz="165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门禁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962900" y="4200525"/>
              <a:ext cx="152400" cy="1524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75411" y="478898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医疗智能体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9324975" y="3981450"/>
              <a:ext cx="590550" cy="590550"/>
            </a:xfrm>
            <a:prstGeom prst="ellipse">
              <a:avLst/>
            </a:prstGeom>
            <a:solidFill>
              <a:srgbClr val="DFF7F1"/>
            </a:solidFill>
            <a:ln w="19050">
              <a:solidFill>
                <a:srgbClr val="23D7B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10700" y="41795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87B69"/>
                  </a:solidFill>
                  <a:latin typeface="Microsoft YaHei"/>
                  <a:ea typeface="Microsoft YaHei"/>
                  <a:cs typeface="Microsoft YaHei"/>
                </a:rPr>
                <a:t>确认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67622" y="478898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医生审核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11163300" y="4200525"/>
              <a:ext cx="152400" cy="1524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008995" y="478898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导出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2351" y="5543550"/>
            <a:ext cx="11136249" cy="571595"/>
            <a:chOff x="522351" y="5543550"/>
            <a:chExt cx="11136249" cy="571595"/>
          </a:xfrm>
        </p:grpSpPr>
        <p:sp>
          <p:nvSpPr>
            <p:cNvPr id="43" name="Line 43"/>
            <p:cNvSpPr/>
            <p:nvPr/>
          </p:nvSpPr>
          <p:spPr>
            <a:xfrm>
              <a:off x="533400" y="55435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2351" y="5689759"/>
              <a:ext cx="526017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AI只能生成建议，不能替代医生责任。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6923" y="6377464"/>
            <a:ext cx="8214340" cy="249364"/>
            <a:chOff x="526923" y="6377464"/>
            <a:chExt cx="8214340" cy="249364"/>
          </a:xfrm>
        </p:grpSpPr>
        <p:sp>
          <p:nvSpPr>
            <p:cNvPr id="46" name="TextBox 46"/>
            <p:cNvSpPr txBox="1"/>
            <p:nvPr/>
          </p:nvSpPr>
          <p:spPr>
            <a:xfrm>
              <a:off x="526923" y="6377464"/>
              <a:ext cx="16671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v1.4.0 角色门禁基线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232023" y="6377464"/>
              <a:ext cx="15878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PR #47 / #51 / #53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65773" y="6377464"/>
              <a:ext cx="2175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183 / 201 / 204 项阶段回归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90"/>
          <p:cNvGrpSpPr/>
          <p:nvPr/>
        </p:nvGrpSpPr>
        <p:grpSpPr>
          <a:xfrm>
            <a:off x="11227664" y="6379845"/>
            <a:ext cx="435698" cy="176212"/>
            <a:chOff x="11227664" y="6379845"/>
            <a:chExt cx="435698" cy="176212"/>
          </a:xfrm>
        </p:grpSpPr>
        <p:sp>
          <p:nvSpPr>
            <p:cNvPr id="89" name="TextBox 89"/>
            <p:cNvSpPr txBox="1"/>
            <p:nvPr/>
          </p:nvSpPr>
          <p:spPr>
            <a:xfrm>
              <a:off x="11227664" y="637984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03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20065" y="489585"/>
            <a:ext cx="7786167" cy="788194"/>
            <a:chOff x="520065" y="489585"/>
            <a:chExt cx="7786167" cy="788194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89585"/>
              <a:ext cx="1057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03 责任链风险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065" y="764381"/>
              <a:ext cx="7786167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第一个关键决策：为什么必须增加角色质量门禁？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14425" y="1905000"/>
            <a:ext cx="10100078" cy="3465099"/>
            <a:chOff x="1114425" y="1905000"/>
            <a:chExt cx="10100078" cy="3465099"/>
          </a:xfrm>
        </p:grpSpPr>
        <p:sp>
          <p:nvSpPr>
            <p:cNvPr id="6" name="Line 6"/>
            <p:cNvSpPr/>
            <p:nvPr/>
          </p:nvSpPr>
          <p:spPr>
            <a:xfrm>
              <a:off x="3867150" y="1905000"/>
              <a:ext cx="9525" cy="3381375"/>
            </a:xfrm>
            <a:custGeom>
              <a:avLst/>
              <a:gdLst/>
              <a:ahLst/>
              <a:cxnLst/>
              <a:rect l="l" t="t" r="r" b="b"/>
              <a:pathLst>
                <a:path w="9525" h="3381375">
                  <a:moveTo>
                    <a:pt x="0" y="0"/>
                  </a:moveTo>
                  <a:lnTo>
                    <a:pt x="0" y="3381375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943850" y="1905000"/>
              <a:ext cx="9525" cy="3381375"/>
            </a:xfrm>
            <a:custGeom>
              <a:avLst/>
              <a:gdLst/>
              <a:ahLst/>
              <a:cxnLst/>
              <a:rect l="l" t="t" r="r" b="b"/>
              <a:pathLst>
                <a:path w="9525" h="3381375">
                  <a:moveTo>
                    <a:pt x="0" y="0"/>
                  </a:moveTo>
                  <a:lnTo>
                    <a:pt x="0" y="3381375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84554" y="1964531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最初方案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36718" y="1964531"/>
              <a:ext cx="153756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风险如何放大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95054" y="1964531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最终决策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000250" y="2705100"/>
              <a:ext cx="1" cy="419100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12" name="Line 12"/>
            <p:cNvSpPr/>
            <p:nvPr/>
          </p:nvSpPr>
          <p:spPr>
            <a:xfrm>
              <a:off x="2000250" y="3581400"/>
              <a:ext cx="1" cy="419100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114425" y="2247900"/>
              <a:ext cx="1771650" cy="464058"/>
              <a:chOff x="1114425" y="2247900"/>
              <a:chExt cx="1771650" cy="464058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114425" y="2247900"/>
                <a:ext cx="177165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102C48"/>
              </a:solidFill>
              <a:ln w="16192">
                <a:solidFill>
                  <a:srgbClr val="244663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769318" y="2359914"/>
                <a:ext cx="4618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7FBFF"/>
                    </a:solidFill>
                    <a:latin typeface="Microsoft YaHei"/>
                    <a:ea typeface="Microsoft YaHei"/>
                    <a:cs typeface="Microsoft YaHei"/>
                  </a:rPr>
                  <a:t>ASR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114425" y="3124200"/>
              <a:ext cx="1771650" cy="464058"/>
              <a:chOff x="1114425" y="3124200"/>
              <a:chExt cx="1771650" cy="464058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114425" y="3124200"/>
                <a:ext cx="177165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102C48"/>
              </a:solidFill>
              <a:ln w="16192">
                <a:solidFill>
                  <a:srgbClr val="244663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620820" y="3236214"/>
                <a:ext cx="75886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7FBFF"/>
                    </a:solidFill>
                    <a:latin typeface="Microsoft YaHei"/>
                    <a:ea typeface="Microsoft YaHei"/>
                    <a:cs typeface="Microsoft YaHei"/>
                  </a:rPr>
                  <a:t>AI理解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114425" y="4000500"/>
              <a:ext cx="1771650" cy="464058"/>
              <a:chOff x="1114425" y="4000500"/>
              <a:chExt cx="1771650" cy="464058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114425" y="4000500"/>
                <a:ext cx="1771650" cy="457200"/>
              </a:xfrm>
              <a:prstGeom prst="roundRect">
                <a:avLst>
                  <a:gd name="adj" fmla="val 16667"/>
                </a:avLst>
              </a:prstGeom>
              <a:solidFill>
                <a:srgbClr val="102C48"/>
              </a:solidFill>
              <a:ln w="16192">
                <a:solidFill>
                  <a:srgbClr val="244663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748790" y="4112514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7FBFF"/>
                    </a:solidFill>
                    <a:latin typeface="Microsoft YaHei"/>
                    <a:ea typeface="Microsoft YaHei"/>
                    <a:cs typeface="Microsoft YaHei"/>
                  </a:rPr>
                  <a:t>病历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117727" y="4726019"/>
              <a:ext cx="1765046" cy="644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zh-CN" sz="172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患者的话</a:t>
              </a:r>
              <a:br/>
              <a:r>
                <a:rPr lang="zh-CN" sz="172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可能归为医生判断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89804" y="2469356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患者症状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905500" y="2819400"/>
              <a:ext cx="1" cy="304800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389804" y="3259931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错误归属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5905500" y="3609975"/>
              <a:ext cx="1" cy="304800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136718" y="4050506"/>
              <a:ext cx="153756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错误病历字段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905500" y="4400550"/>
              <a:ext cx="1" cy="304800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36718" y="4841081"/>
              <a:ext cx="153756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错误临床信息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06997" y="2457783"/>
              <a:ext cx="2807506" cy="3153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1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SpeakerRoleQualityPolicy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8596312" y="2976562"/>
              <a:ext cx="2428875" cy="561975"/>
              <a:chOff x="8596312" y="2976562"/>
              <a:chExt cx="2428875" cy="56197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596312" y="2976562"/>
                <a:ext cx="2428875" cy="561975"/>
              </a:xfrm>
              <a:prstGeom prst="roundRect">
                <a:avLst>
                  <a:gd name="adj" fmla="val 13559"/>
                </a:avLst>
              </a:prstGeom>
              <a:solidFill>
                <a:srgbClr val="102C48"/>
              </a:solidFill>
              <a:ln w="16192">
                <a:solidFill>
                  <a:srgbClr val="20D9E8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168511" y="3136106"/>
                <a:ext cx="1284478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rgbClr val="F7FBFF"/>
                    </a:solidFill>
                    <a:latin typeface="Microsoft YaHei"/>
                    <a:ea typeface="Microsoft YaHei"/>
                    <a:cs typeface="Microsoft YaHei"/>
                  </a:rPr>
                  <a:t>低质量输入</a:t>
                </a:r>
              </a:p>
            </p:txBody>
          </p:sp>
        </p:grpSp>
        <p:sp>
          <p:nvSpPr>
            <p:cNvPr id="34" name="Line 34"/>
            <p:cNvSpPr/>
            <p:nvPr/>
          </p:nvSpPr>
          <p:spPr>
            <a:xfrm>
              <a:off x="9810750" y="3543300"/>
              <a:ext cx="1" cy="371475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12758" y="4012025"/>
              <a:ext cx="1195984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阻断生成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9810750" y="4371975"/>
              <a:ext cx="1" cy="266700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tailEnd type="arrow" w="med" len="med"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915425" y="4850606"/>
              <a:ext cx="17906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人工确认后放行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2351" y="5562600"/>
            <a:ext cx="11136249" cy="571595"/>
            <a:chOff x="522351" y="5562600"/>
            <a:chExt cx="11136249" cy="571595"/>
          </a:xfrm>
        </p:grpSpPr>
        <p:sp>
          <p:nvSpPr>
            <p:cNvPr id="39" name="Line 39"/>
            <p:cNvSpPr/>
            <p:nvPr/>
          </p:nvSpPr>
          <p:spPr>
            <a:xfrm>
              <a:off x="533400" y="55626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2351" y="5708809"/>
              <a:ext cx="589153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高风险错误必须前置拦截，而不是事后修正。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4"/>
          <p:cNvGrpSpPr/>
          <p:nvPr/>
        </p:nvGrpSpPr>
        <p:grpSpPr>
          <a:xfrm>
            <a:off x="11227664" y="6379845"/>
            <a:ext cx="435698" cy="176212"/>
            <a:chOff x="11227664" y="6379845"/>
            <a:chExt cx="435698" cy="176212"/>
          </a:xfrm>
        </p:grpSpPr>
        <p:sp>
          <p:nvSpPr>
            <p:cNvPr id="63" name="TextBox 63"/>
            <p:cNvSpPr txBox="1"/>
            <p:nvPr/>
          </p:nvSpPr>
          <p:spPr>
            <a:xfrm>
              <a:off x="11227664" y="637984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04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20065" y="489585"/>
            <a:ext cx="7234234" cy="788194"/>
            <a:chOff x="520065" y="489585"/>
            <a:chExt cx="7234234" cy="788194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89585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04 工程重构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065" y="764381"/>
              <a:ext cx="7234234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第二个关键决策：从 Demo 链路到可恢复系统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1838325"/>
            <a:ext cx="11125200" cy="3626358"/>
            <a:chOff x="533400" y="1838325"/>
            <a:chExt cx="11125200" cy="3626358"/>
          </a:xfrm>
        </p:grpSpPr>
        <p:sp>
          <p:nvSpPr>
            <p:cNvPr id="6" name="Rectangle 6"/>
            <p:cNvSpPr/>
            <p:nvPr/>
          </p:nvSpPr>
          <p:spPr>
            <a:xfrm>
              <a:off x="533400" y="1838325"/>
              <a:ext cx="3705225" cy="3533775"/>
            </a:xfrm>
            <a:prstGeom prst="roundRect">
              <a:avLst>
                <a:gd name="adj" fmla="val 3774"/>
              </a:avLst>
            </a:prstGeom>
            <a:solidFill>
              <a:srgbClr val="071A3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0763" y="2000726"/>
              <a:ext cx="126710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Demo黑盒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781050" y="2733675"/>
              <a:ext cx="1143000" cy="533400"/>
              <a:chOff x="781050" y="2733675"/>
              <a:chExt cx="1143000" cy="5334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81050" y="2733675"/>
                <a:ext cx="11430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102C48"/>
              </a:solidFill>
              <a:ln w="16192">
                <a:solidFill>
                  <a:srgbClr val="244663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01090" y="2883789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7FBFF"/>
                    </a:solidFill>
                    <a:latin typeface="Microsoft YaHei"/>
                    <a:ea typeface="Microsoft YaHei"/>
                    <a:cs typeface="Microsoft YaHei"/>
                  </a:rPr>
                  <a:t>输入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857500" y="2733675"/>
              <a:ext cx="1143000" cy="533400"/>
              <a:chOff x="2857500" y="2733675"/>
              <a:chExt cx="1143000" cy="5334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2857500" y="2733675"/>
                <a:ext cx="11430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102C48"/>
              </a:solidFill>
              <a:ln w="16192">
                <a:solidFill>
                  <a:srgbClr val="244663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177540" y="2883789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7FBFF"/>
                    </a:solidFill>
                    <a:latin typeface="Microsoft YaHei"/>
                    <a:ea typeface="Microsoft YaHei"/>
                    <a:cs typeface="Microsoft YaHei"/>
                  </a:rPr>
                  <a:t>输出</a:t>
                </a:r>
              </a:p>
            </p:txBody>
          </p:sp>
        </p:grpSp>
        <p:sp>
          <p:nvSpPr>
            <p:cNvPr id="14" name="Line 14"/>
            <p:cNvSpPr/>
            <p:nvPr/>
          </p:nvSpPr>
          <p:spPr>
            <a:xfrm>
              <a:off x="1924050" y="3000375"/>
              <a:ext cx="923925" cy="1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12468" y="3698081"/>
              <a:ext cx="153756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失败怎么办？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2468" y="4221956"/>
              <a:ext cx="153756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状态在哪里？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39011" y="4745831"/>
              <a:ext cx="12844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如何复现？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90313" y="1962626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任务状态机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876925" y="2952750"/>
              <a:ext cx="116205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0" name="Line 20"/>
            <p:cNvSpPr/>
            <p:nvPr/>
          </p:nvSpPr>
          <p:spPr>
            <a:xfrm>
              <a:off x="8467725" y="2952750"/>
              <a:ext cx="173355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714875" y="2686050"/>
              <a:ext cx="1162050" cy="533400"/>
              <a:chOff x="4714875" y="2686050"/>
              <a:chExt cx="1162050" cy="5334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714875" y="2686050"/>
                <a:ext cx="116205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F7FBFF"/>
              </a:solidFill>
              <a:ln w="16192">
                <a:solidFill>
                  <a:srgbClr val="D9E8F5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923282" y="2836164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102943"/>
                    </a:solidFill>
                    <a:latin typeface="Microsoft YaHei"/>
                    <a:ea typeface="Microsoft YaHei"/>
                    <a:cs typeface="Microsoft YaHei"/>
                  </a:rPr>
                  <a:t>待处理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038975" y="2638425"/>
              <a:ext cx="1428750" cy="628650"/>
              <a:chOff x="7038975" y="2638425"/>
              <a:chExt cx="1428750" cy="6286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038975" y="2638425"/>
                <a:ext cx="1428750" cy="628650"/>
              </a:xfrm>
              <a:prstGeom prst="roundRect">
                <a:avLst>
                  <a:gd name="adj" fmla="val 12121"/>
                </a:avLst>
              </a:prstGeom>
              <a:solidFill>
                <a:srgbClr val="071A33"/>
              </a:solidFill>
              <a:ln w="16192">
                <a:solidFill>
                  <a:srgbClr val="20D9E8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349680" y="2826448"/>
                <a:ext cx="8073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F7FBFF"/>
                    </a:solidFill>
                    <a:latin typeface="Microsoft YaHei"/>
                    <a:ea typeface="Microsoft YaHei"/>
                    <a:cs typeface="Microsoft YaHei"/>
                  </a:rPr>
                  <a:t>处理中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0201275" y="2686050"/>
              <a:ext cx="1314450" cy="533400"/>
              <a:chOff x="10201275" y="2686050"/>
              <a:chExt cx="1314450" cy="5334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10201275" y="2686050"/>
                <a:ext cx="131445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F7FBFF"/>
              </a:solidFill>
              <a:ln w="16192">
                <a:solidFill>
                  <a:srgbClr val="23D7B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485882" y="2836164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102943"/>
                    </a:solidFill>
                    <a:latin typeface="Microsoft YaHei"/>
                    <a:ea typeface="Microsoft YaHei"/>
                    <a:cs typeface="Microsoft YaHei"/>
                  </a:rPr>
                  <a:t>待审核</a:t>
                </a: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7753350" y="3267075"/>
              <a:ext cx="1" cy="590550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038975" y="3895725"/>
              <a:ext cx="1428750" cy="552450"/>
              <a:chOff x="7038975" y="3895725"/>
              <a:chExt cx="1428750" cy="5524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7038975" y="3895725"/>
                <a:ext cx="1428750" cy="552450"/>
              </a:xfrm>
              <a:prstGeom prst="roundRect">
                <a:avLst>
                  <a:gd name="adj" fmla="val 13793"/>
                </a:avLst>
              </a:prstGeom>
              <a:solidFill>
                <a:srgbClr val="FFF1F4"/>
              </a:solidFill>
              <a:ln w="16192">
                <a:solidFill>
                  <a:srgbClr val="FF638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59574" y="4055364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6381"/>
                    </a:solidFill>
                    <a:latin typeface="Microsoft YaHei"/>
                    <a:ea typeface="Microsoft YaHei"/>
                    <a:cs typeface="Microsoft YaHei"/>
                  </a:rPr>
                  <a:t>失败留痕</a:t>
                </a:r>
              </a:p>
            </p:txBody>
          </p:sp>
        </p:grpSp>
        <p:sp>
          <p:nvSpPr>
            <p:cNvPr id="34" name="Line 34"/>
            <p:cNvSpPr/>
            <p:nvPr/>
          </p:nvSpPr>
          <p:spPr>
            <a:xfrm>
              <a:off x="8467725" y="41719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9420225" y="36004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571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162925" y="3600450"/>
              <a:ext cx="1257300" cy="9525"/>
            </a:xfrm>
            <a:custGeom>
              <a:avLst/>
              <a:gdLst/>
              <a:ahLst/>
              <a:cxnLst/>
              <a:rect l="l" t="t" r="r" b="b"/>
              <a:pathLst>
                <a:path w="1257300" h="9525">
                  <a:moveTo>
                    <a:pt x="1257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</p:sp>
        <p:sp>
          <p:nvSpPr>
            <p:cNvPr id="37" name="Line 37"/>
            <p:cNvSpPr/>
            <p:nvPr/>
          </p:nvSpPr>
          <p:spPr>
            <a:xfrm flipV="1">
              <a:off x="8162925" y="3267075"/>
              <a:ext cx="1" cy="333375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922866" y="3745897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重试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4762500" y="4848225"/>
              <a:ext cx="6896100" cy="9525"/>
            </a:xfrm>
            <a:custGeom>
              <a:avLst/>
              <a:gdLst/>
              <a:ahLst/>
              <a:cxnLst/>
              <a:rect l="l" t="t" r="r" b="b"/>
              <a:pathLst>
                <a:path w="6896100" h="9525">
                  <a:moveTo>
                    <a:pt x="0" y="0"/>
                  </a:moveTo>
                  <a:lnTo>
                    <a:pt x="68961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5000625" y="5181600"/>
              <a:ext cx="95250" cy="952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40274" y="5112639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任务记录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496175" y="5181600"/>
              <a:ext cx="95250" cy="952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978140" y="5112639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日志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10029825" y="5181600"/>
              <a:ext cx="95250" cy="952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11790" y="5112639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版本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2351" y="5619750"/>
            <a:ext cx="11136249" cy="571595"/>
            <a:chOff x="522351" y="5619750"/>
            <a:chExt cx="11136249" cy="571595"/>
          </a:xfrm>
        </p:grpSpPr>
        <p:sp>
          <p:nvSpPr>
            <p:cNvPr id="47" name="Line 47"/>
            <p:cNvSpPr/>
            <p:nvPr/>
          </p:nvSpPr>
          <p:spPr>
            <a:xfrm>
              <a:off x="533400" y="5619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2351" y="5765959"/>
              <a:ext cx="530458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失败可恢复，过程可复现，责任可审计。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9"/>
          <p:cNvGrpSpPr/>
          <p:nvPr/>
        </p:nvGrpSpPr>
        <p:grpSpPr>
          <a:xfrm>
            <a:off x="11227664" y="6379845"/>
            <a:ext cx="435698" cy="176212"/>
            <a:chOff x="11227664" y="6379845"/>
            <a:chExt cx="435698" cy="176212"/>
          </a:xfrm>
        </p:grpSpPr>
        <p:sp>
          <p:nvSpPr>
            <p:cNvPr id="68" name="TextBox 68"/>
            <p:cNvSpPr txBox="1"/>
            <p:nvPr/>
          </p:nvSpPr>
          <p:spPr>
            <a:xfrm>
              <a:off x="11227664" y="637984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05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20065" y="489585"/>
            <a:ext cx="7632441" cy="788194"/>
            <a:chOff x="520065" y="489585"/>
            <a:chExt cx="7632441" cy="788194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89585"/>
              <a:ext cx="1133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05 故障复盘 01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0065" y="764381"/>
              <a:ext cx="7632441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SSE Bug复盘：实时系统真正难的是恢复一致性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25018" y="1790700"/>
            <a:ext cx="10557510" cy="3559111"/>
            <a:chOff x="525018" y="1790700"/>
            <a:chExt cx="10557510" cy="3559111"/>
          </a:xfrm>
        </p:grpSpPr>
        <p:sp>
          <p:nvSpPr>
            <p:cNvPr id="6" name="Line 6"/>
            <p:cNvSpPr/>
            <p:nvPr/>
          </p:nvSpPr>
          <p:spPr>
            <a:xfrm>
              <a:off x="1038225" y="2600325"/>
              <a:ext cx="1495425" cy="1"/>
            </a:xfrm>
            <a:prstGeom prst="line">
              <a:avLst/>
            </a:prstGeom>
            <a:noFill/>
            <a:ln w="28575">
              <a:solidFill>
                <a:srgbClr val="244663"/>
              </a:solidFill>
              <a:tailEnd type="arrow" w="med" len="med"/>
            </a:ln>
          </p:spPr>
        </p:sp>
        <p:sp>
          <p:nvSpPr>
            <p:cNvPr id="7" name="Line 7"/>
            <p:cNvSpPr/>
            <p:nvPr/>
          </p:nvSpPr>
          <p:spPr>
            <a:xfrm>
              <a:off x="2895600" y="2600325"/>
              <a:ext cx="1495425" cy="1"/>
            </a:xfrm>
            <a:prstGeom prst="line">
              <a:avLst/>
            </a:prstGeom>
            <a:noFill/>
            <a:ln w="28575">
              <a:solidFill>
                <a:srgbClr val="FF6381"/>
              </a:solidFill>
              <a:tailEnd type="arrow" w="med" len="med"/>
            </a:ln>
          </p:spPr>
        </p:sp>
        <p:sp>
          <p:nvSpPr>
            <p:cNvPr id="8" name="Line 8"/>
            <p:cNvSpPr/>
            <p:nvPr/>
          </p:nvSpPr>
          <p:spPr>
            <a:xfrm>
              <a:off x="4752975" y="2600325"/>
              <a:ext cx="1495425" cy="1"/>
            </a:xfrm>
            <a:prstGeom prst="line">
              <a:avLst/>
            </a:prstGeom>
            <a:noFill/>
            <a:ln w="28575">
              <a:solidFill>
                <a:srgbClr val="FF6381"/>
              </a:solidFill>
              <a:tailEnd type="arrow" w="med" len="med"/>
            </a:ln>
          </p:spPr>
        </p:sp>
        <p:sp>
          <p:nvSpPr>
            <p:cNvPr id="9" name="Line 9"/>
            <p:cNvSpPr/>
            <p:nvPr/>
          </p:nvSpPr>
          <p:spPr>
            <a:xfrm>
              <a:off x="6610350" y="2600325"/>
              <a:ext cx="1495425" cy="1"/>
            </a:xfrm>
            <a:prstGeom prst="line">
              <a:avLst/>
            </a:prstGeom>
            <a:noFill/>
            <a:ln w="28575">
              <a:solidFill>
                <a:srgbClr val="FF6381"/>
              </a:solidFill>
              <a:tailEnd type="arrow" w="med" len="med"/>
            </a:ln>
          </p:spPr>
        </p:sp>
        <p:sp>
          <p:nvSpPr>
            <p:cNvPr id="10" name="Ellipse 10"/>
            <p:cNvSpPr/>
            <p:nvPr/>
          </p:nvSpPr>
          <p:spPr>
            <a:xfrm>
              <a:off x="752475" y="2495550"/>
              <a:ext cx="209550" cy="209550"/>
            </a:xfrm>
            <a:prstGeom prst="ellipse">
              <a:avLst/>
            </a:prstGeom>
            <a:solidFill>
              <a:srgbClr val="20D9E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1262" y="2079593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8DA8C0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4639" y="3012281"/>
              <a:ext cx="52522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录音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2609850" y="2495550"/>
              <a:ext cx="209550" cy="209550"/>
            </a:xfrm>
            <a:prstGeom prst="ellipse">
              <a:avLst/>
            </a:prstGeom>
            <a:solidFill>
              <a:srgbClr val="20D9E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08637" y="2079593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8DA8C0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25472" y="3012281"/>
              <a:ext cx="77830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生成中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467225" y="2495550"/>
              <a:ext cx="209550" cy="20955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66012" y="2079593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8DA8C0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09389" y="3012281"/>
              <a:ext cx="52522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断网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324600" y="2495550"/>
              <a:ext cx="209550" cy="209550"/>
            </a:xfrm>
            <a:prstGeom prst="ellipse">
              <a:avLst/>
            </a:prstGeom>
            <a:solidFill>
              <a:srgbClr val="20D9E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23387" y="2079593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8DA8C0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66764" y="3012281"/>
              <a:ext cx="52522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恢复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181975" y="2495550"/>
              <a:ext cx="209550" cy="20955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80762" y="2079593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8DA8C0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71054" y="3012281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重复事件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5018" y="37080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根因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66469" y="3675698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断连即失败，恢复缺少可重放边界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5018" y="44700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修复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44135" y="4531614"/>
              <a:ext cx="10741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event_id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66999" y="4531614"/>
              <a:ext cx="18100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Last-Event-ID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1385" y="4531614"/>
              <a:ext cx="1764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追加日志 + 去重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9525000" y="1790700"/>
              <a:ext cx="9525" cy="3524250"/>
            </a:xfrm>
            <a:custGeom>
              <a:avLst/>
              <a:gdLst/>
              <a:ahLst/>
              <a:cxnLst/>
              <a:rect l="l" t="t" r="r" b="b"/>
              <a:pathLst>
                <a:path w="9525" h="3524250">
                  <a:moveTo>
                    <a:pt x="0" y="0"/>
                  </a:moveTo>
                  <a:lnTo>
                    <a:pt x="0" y="3524250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196500" y="1879187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脚本复验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91800" y="2386203"/>
              <a:ext cx="87620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501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88333" y="289350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总事件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31737" y="3453003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50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77272" y="396030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断点续传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71675" y="4519803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23D7B0"/>
                  </a:solidFill>
                  <a:latin typeface="Microsoft YaHei"/>
                  <a:ea typeface="Microsoft YaHei"/>
                  <a:cs typeface="Microsoft YaHei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177272" y="5027104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重复边界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22351" y="5619750"/>
            <a:ext cx="11136249" cy="571595"/>
            <a:chOff x="522351" y="5619750"/>
            <a:chExt cx="11136249" cy="571595"/>
          </a:xfrm>
        </p:grpSpPr>
        <p:sp>
          <p:nvSpPr>
            <p:cNvPr id="40" name="Line 40"/>
            <p:cNvSpPr/>
            <p:nvPr/>
          </p:nvSpPr>
          <p:spPr>
            <a:xfrm>
              <a:off x="533400" y="5619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2351" y="5765959"/>
              <a:ext cx="5011115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实时系统首先保证一致，再追求实时。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4"/>
          <p:cNvGrpSpPr/>
          <p:nvPr/>
        </p:nvGrpSpPr>
        <p:grpSpPr>
          <a:xfrm>
            <a:off x="11227664" y="6398895"/>
            <a:ext cx="435698" cy="176212"/>
            <a:chOff x="11227664" y="6398895"/>
            <a:chExt cx="435698" cy="176212"/>
          </a:xfrm>
        </p:grpSpPr>
        <p:sp>
          <p:nvSpPr>
            <p:cNvPr id="73" name="TextBox 73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06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18922" y="489585"/>
            <a:ext cx="5783961" cy="807910"/>
            <a:chOff x="518922" y="489585"/>
            <a:chExt cx="5783961" cy="807910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89585"/>
              <a:ext cx="11333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06 故障复盘 02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740092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审核不是按钮，而是一种责任状态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4637" y="1880711"/>
            <a:ext cx="11133963" cy="3202687"/>
            <a:chOff x="524637" y="1880711"/>
            <a:chExt cx="11133963" cy="3202687"/>
          </a:xfrm>
        </p:grpSpPr>
        <p:sp>
          <p:nvSpPr>
            <p:cNvPr id="6" name="TextBox 6"/>
            <p:cNvSpPr txBox="1"/>
            <p:nvPr/>
          </p:nvSpPr>
          <p:spPr>
            <a:xfrm>
              <a:off x="524637" y="1880711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普通审核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467100" y="2590800"/>
              <a:ext cx="1333500" cy="1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8" name="Line 8"/>
            <p:cNvSpPr/>
            <p:nvPr/>
          </p:nvSpPr>
          <p:spPr>
            <a:xfrm>
              <a:off x="5981700" y="2590800"/>
              <a:ext cx="1400175" cy="1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9" name="Line 9"/>
            <p:cNvSpPr/>
            <p:nvPr/>
          </p:nvSpPr>
          <p:spPr>
            <a:xfrm>
              <a:off x="8562975" y="2590800"/>
              <a:ext cx="1609725" cy="1"/>
            </a:xfrm>
            <a:prstGeom prst="line">
              <a:avLst/>
            </a:prstGeom>
            <a:noFill/>
            <a:ln w="19050">
              <a:solidFill>
                <a:srgbClr val="FF6381"/>
              </a:solidFill>
              <a:tailEnd type="arrow" w="med" len="med"/>
            </a:ln>
          </p:spPr>
        </p:sp>
        <p:sp>
          <p:nvSpPr>
            <p:cNvPr id="10" name="Ellipse 10"/>
            <p:cNvSpPr/>
            <p:nvPr/>
          </p:nvSpPr>
          <p:spPr>
            <a:xfrm>
              <a:off x="2809875" y="2524125"/>
              <a:ext cx="133350" cy="13335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237194" y="2917222"/>
              <a:ext cx="127871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V1审核通过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24475" y="2524125"/>
              <a:ext cx="133350" cy="13335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874121" y="2917222"/>
              <a:ext cx="10340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修改为V2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905750" y="2524125"/>
              <a:ext cx="133350" cy="13335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69023" y="2917222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旧批准仍有效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10696575" y="2524125"/>
              <a:ext cx="133350" cy="13335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91394" y="2917222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仍可导出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33400" y="34671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4637" y="371903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版本绑定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095625" y="4352925"/>
              <a:ext cx="154305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1" name="Line 21"/>
            <p:cNvSpPr/>
            <p:nvPr/>
          </p:nvSpPr>
          <p:spPr>
            <a:xfrm>
              <a:off x="5114925" y="4352925"/>
              <a:ext cx="158115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2" name="Line 22"/>
            <p:cNvSpPr/>
            <p:nvPr/>
          </p:nvSpPr>
          <p:spPr>
            <a:xfrm>
              <a:off x="7172325" y="4352925"/>
              <a:ext cx="158115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3" name="Line 23"/>
            <p:cNvSpPr/>
            <p:nvPr/>
          </p:nvSpPr>
          <p:spPr>
            <a:xfrm>
              <a:off x="9229725" y="4352925"/>
              <a:ext cx="158115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</p:sp>
        <p:sp>
          <p:nvSpPr>
            <p:cNvPr id="24" name="Ellipse 24"/>
            <p:cNvSpPr/>
            <p:nvPr/>
          </p:nvSpPr>
          <p:spPr>
            <a:xfrm>
              <a:off x="2743200" y="4238625"/>
              <a:ext cx="228600" cy="2286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340471" y="4746022"/>
              <a:ext cx="10340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V1已批准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762500" y="4238625"/>
              <a:ext cx="228600" cy="2286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59771" y="4746022"/>
              <a:ext cx="10340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新修订V2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819900" y="4238625"/>
              <a:ext cx="228600" cy="228600"/>
            </a:xfrm>
            <a:prstGeom prst="ellipse">
              <a:avLst/>
            </a:prstGeom>
            <a:solidFill>
              <a:srgbClr val="FF638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6571" y="4746022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旧审核失效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8877300" y="4238625"/>
              <a:ext cx="228600" cy="2286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19744" y="4746022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重新审核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10934700" y="4238625"/>
              <a:ext cx="228600" cy="228600"/>
            </a:xfrm>
            <a:prstGeom prst="ellipse">
              <a:avLst/>
            </a:prstGeom>
            <a:solidFill>
              <a:srgbClr val="23D7B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77144" y="4746022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允许导出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886325" y="386715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371475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2F7CF4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886325" y="3867150"/>
              <a:ext cx="4105275" cy="9525"/>
            </a:xfrm>
            <a:custGeom>
              <a:avLst/>
              <a:gdLst/>
              <a:ahLst/>
              <a:cxnLst/>
              <a:rect l="l" t="t" r="r" b="b"/>
              <a:pathLst>
                <a:path w="4105275" h="9525">
                  <a:moveTo>
                    <a:pt x="0" y="0"/>
                  </a:moveTo>
                  <a:lnTo>
                    <a:pt x="4105275" y="0"/>
                  </a:lnTo>
                </a:path>
              </a:pathLst>
            </a:custGeom>
            <a:noFill/>
            <a:ln w="14288">
              <a:solidFill>
                <a:srgbClr val="2F7CF4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991600" y="3867150"/>
              <a:ext cx="1" cy="276225"/>
            </a:xfrm>
            <a:prstGeom prst="line">
              <a:avLst/>
            </a:prstGeom>
            <a:noFill/>
            <a:ln w="14288">
              <a:solidFill>
                <a:srgbClr val="2F7CF4"/>
              </a:solidFill>
              <a:tailEnd type="arrow" w="med" len="med"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64847" y="3619833"/>
              <a:ext cx="2157756" cy="3153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1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审批绑定 revision_id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2732" y="5619750"/>
            <a:ext cx="11135868" cy="565023"/>
            <a:chOff x="522732" y="5619750"/>
            <a:chExt cx="11135868" cy="565023"/>
          </a:xfrm>
        </p:grpSpPr>
        <p:sp>
          <p:nvSpPr>
            <p:cNvPr id="39" name="Line 39"/>
            <p:cNvSpPr/>
            <p:nvPr/>
          </p:nvSpPr>
          <p:spPr>
            <a:xfrm>
              <a:off x="533400" y="5619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2732" y="577405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审批必须绑定具体版本，修改后重新承担审核责任。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2"/>
          <p:cNvGrpSpPr/>
          <p:nvPr/>
        </p:nvGrpSpPr>
        <p:grpSpPr>
          <a:xfrm>
            <a:off x="11227664" y="6398895"/>
            <a:ext cx="435698" cy="176212"/>
            <a:chOff x="11227664" y="6398895"/>
            <a:chExt cx="435698" cy="176212"/>
          </a:xfrm>
        </p:grpSpPr>
        <p:sp>
          <p:nvSpPr>
            <p:cNvPr id="51" name="TextBox 51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07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19684" y="489585"/>
            <a:ext cx="6933438" cy="794766"/>
            <a:chOff x="519684" y="489585"/>
            <a:chExt cx="6933438" cy="794766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89585"/>
              <a:ext cx="1057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07 重构与遗憾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9684" y="756285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三个工程教训：先定责任边界，再扩展能力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3950" y="2362200"/>
            <a:ext cx="10210749" cy="2478882"/>
            <a:chOff x="923950" y="2362200"/>
            <a:chExt cx="10210749" cy="2478882"/>
          </a:xfrm>
        </p:grpSpPr>
        <p:sp>
          <p:nvSpPr>
            <p:cNvPr id="6" name="Line 6"/>
            <p:cNvSpPr/>
            <p:nvPr/>
          </p:nvSpPr>
          <p:spPr>
            <a:xfrm>
              <a:off x="2286000" y="2676525"/>
              <a:ext cx="3438525" cy="1"/>
            </a:xfrm>
            <a:prstGeom prst="line">
              <a:avLst/>
            </a:prstGeom>
            <a:noFill/>
            <a:ln w="28575">
              <a:solidFill>
                <a:srgbClr val="2F7CF4"/>
              </a:solidFill>
              <a:tailEnd type="arrow" w="med" len="med"/>
            </a:ln>
          </p:spPr>
        </p:sp>
        <p:sp>
          <p:nvSpPr>
            <p:cNvPr id="7" name="Line 7"/>
            <p:cNvSpPr/>
            <p:nvPr/>
          </p:nvSpPr>
          <p:spPr>
            <a:xfrm>
              <a:off x="6381750" y="2676525"/>
              <a:ext cx="3381375" cy="1"/>
            </a:xfrm>
            <a:prstGeom prst="line">
              <a:avLst/>
            </a:prstGeom>
            <a:noFill/>
            <a:ln w="28575">
              <a:solidFill>
                <a:srgbClr val="2F7CF4"/>
              </a:solidFill>
              <a:tailEnd type="arrow" w="med" len="med"/>
            </a:ln>
          </p:spPr>
        </p:sp>
        <p:sp>
          <p:nvSpPr>
            <p:cNvPr id="8" name="Ellipse 8"/>
            <p:cNvSpPr/>
            <p:nvPr/>
          </p:nvSpPr>
          <p:spPr>
            <a:xfrm>
              <a:off x="1647825" y="2362200"/>
              <a:ext cx="628650" cy="628650"/>
            </a:xfrm>
            <a:prstGeom prst="ellipse">
              <a:avLst/>
            </a:prstGeom>
            <a:solidFill>
              <a:srgbClr val="F7FBFF"/>
            </a:solidFill>
            <a:ln w="19050">
              <a:solidFill>
                <a:srgbClr val="2F7CF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94822" y="25453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2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743575" y="2362200"/>
              <a:ext cx="628650" cy="628650"/>
            </a:xfrm>
            <a:prstGeom prst="ellipse">
              <a:avLst/>
            </a:prstGeom>
            <a:solidFill>
              <a:srgbClr val="F7FBFF"/>
            </a:solidFill>
            <a:ln w="19050">
              <a:solidFill>
                <a:srgbClr val="0DAFC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572" y="25453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20" b="1" dirty="0">
                  <a:solidFill>
                    <a:srgbClr val="0DAFC0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782175" y="2362200"/>
              <a:ext cx="628650" cy="628650"/>
            </a:xfrm>
            <a:prstGeom prst="ellipse">
              <a:avLst/>
            </a:prstGeom>
            <a:solidFill>
              <a:srgbClr val="F7FBFF"/>
            </a:solidFill>
            <a:ln w="19050">
              <a:solidFill>
                <a:srgbClr val="159F8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929172" y="25453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20" b="1" dirty="0">
                  <a:solidFill>
                    <a:srgbClr val="159F88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23950" y="3497675"/>
              <a:ext cx="207639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先设计领域模型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7585" y="4140994"/>
              <a:ext cx="1929130" cy="700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zh-CN" sz="188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状态、版本、审批</a:t>
              </a:r>
              <a:br/>
              <a:r>
                <a:rPr lang="zh-CN" sz="188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先确定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13172" y="3497675"/>
              <a:ext cx="1489456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建立证据链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73955" y="4140994"/>
              <a:ext cx="2167890" cy="700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zh-CN" sz="188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AI输出必须回答</a:t>
              </a:r>
              <a:br/>
              <a:r>
                <a:rPr lang="zh-CN" sz="188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为什么，依据是什么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58300" y="3497675"/>
              <a:ext cx="207639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分离演示与产品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51315" y="4140994"/>
              <a:ext cx="1690370" cy="700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zh-CN" sz="188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演示稳定</a:t>
              </a:r>
              <a:br/>
              <a:r>
                <a:rPr lang="zh-CN" sz="188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不等于产品可靠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2351" y="5591175"/>
            <a:ext cx="11136249" cy="571595"/>
            <a:chOff x="522351" y="5591175"/>
            <a:chExt cx="11136249" cy="571595"/>
          </a:xfrm>
        </p:grpSpPr>
        <p:sp>
          <p:nvSpPr>
            <p:cNvPr id="21" name="Line 21"/>
            <p:cNvSpPr/>
            <p:nvPr/>
          </p:nvSpPr>
          <p:spPr>
            <a:xfrm>
              <a:off x="533400" y="559117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2351" y="5737384"/>
              <a:ext cx="589153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把责任边界写进模型，把失败路径纳入验收。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3"/>
          <p:cNvGrpSpPr/>
          <p:nvPr/>
        </p:nvGrpSpPr>
        <p:grpSpPr>
          <a:xfrm>
            <a:off x="11227664" y="6398895"/>
            <a:ext cx="435698" cy="176212"/>
            <a:chOff x="11227664" y="6398895"/>
            <a:chExt cx="435698" cy="176212"/>
          </a:xfrm>
        </p:grpSpPr>
        <p:sp>
          <p:nvSpPr>
            <p:cNvPr id="82" name="TextBox 82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08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19684" y="489585"/>
            <a:ext cx="6933438" cy="794766"/>
            <a:chOff x="519684" y="489585"/>
            <a:chExt cx="6933438" cy="794766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89585"/>
              <a:ext cx="1380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08 能力演进与证据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9684" y="756285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工程能力不是一次完成，而是逐步收紧风险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3400" y="2345150"/>
            <a:ext cx="11125200" cy="3075956"/>
            <a:chOff x="533400" y="2345150"/>
            <a:chExt cx="11125200" cy="3075956"/>
          </a:xfrm>
        </p:grpSpPr>
        <p:sp>
          <p:nvSpPr>
            <p:cNvPr id="6" name="Line 6"/>
            <p:cNvSpPr/>
            <p:nvPr/>
          </p:nvSpPr>
          <p:spPr>
            <a:xfrm>
              <a:off x="1638300" y="3105150"/>
              <a:ext cx="1885950" cy="1"/>
            </a:xfrm>
            <a:prstGeom prst="line">
              <a:avLst/>
            </a:prstGeom>
            <a:noFill/>
            <a:ln w="28575">
              <a:solidFill>
                <a:srgbClr val="2F7CF4"/>
              </a:solidFill>
              <a:tailEnd type="arrow" w="med" len="med"/>
            </a:ln>
          </p:spPr>
        </p:sp>
        <p:sp>
          <p:nvSpPr>
            <p:cNvPr id="7" name="Line 7"/>
            <p:cNvSpPr/>
            <p:nvPr/>
          </p:nvSpPr>
          <p:spPr>
            <a:xfrm>
              <a:off x="3848100" y="3105150"/>
              <a:ext cx="2009775" cy="1"/>
            </a:xfrm>
            <a:prstGeom prst="line">
              <a:avLst/>
            </a:prstGeom>
            <a:noFill/>
            <a:ln w="28575">
              <a:solidFill>
                <a:srgbClr val="2F7CF4"/>
              </a:solidFill>
              <a:tailEnd type="arrow" w="med" len="med"/>
            </a:ln>
          </p:spPr>
        </p:sp>
        <p:sp>
          <p:nvSpPr>
            <p:cNvPr id="8" name="Line 8"/>
            <p:cNvSpPr/>
            <p:nvPr/>
          </p:nvSpPr>
          <p:spPr>
            <a:xfrm>
              <a:off x="6181725" y="3105150"/>
              <a:ext cx="2009775" cy="1"/>
            </a:xfrm>
            <a:prstGeom prst="line">
              <a:avLst/>
            </a:prstGeom>
            <a:noFill/>
            <a:ln w="28575">
              <a:solidFill>
                <a:srgbClr val="2F7CF4"/>
              </a:solidFill>
              <a:tailEnd type="arrow" w="med" len="med"/>
            </a:ln>
          </p:spPr>
        </p:sp>
        <p:sp>
          <p:nvSpPr>
            <p:cNvPr id="9" name="Line 9"/>
            <p:cNvSpPr/>
            <p:nvPr/>
          </p:nvSpPr>
          <p:spPr>
            <a:xfrm>
              <a:off x="8515350" y="3105150"/>
              <a:ext cx="2152650" cy="1"/>
            </a:xfrm>
            <a:prstGeom prst="line">
              <a:avLst/>
            </a:prstGeom>
            <a:noFill/>
            <a:ln w="28575">
              <a:solidFill>
                <a:srgbClr val="23D7B0"/>
              </a:solidFill>
              <a:prstDash val="lgDash"/>
              <a:tailEnd type="arrow" w="med" len="med"/>
            </a:ln>
          </p:spPr>
        </p:sp>
        <p:sp>
          <p:nvSpPr>
            <p:cNvPr id="10" name="Ellipse 10"/>
            <p:cNvSpPr/>
            <p:nvPr/>
          </p:nvSpPr>
          <p:spPr>
            <a:xfrm>
              <a:off x="1362075" y="2990850"/>
              <a:ext cx="228600" cy="228600"/>
            </a:xfrm>
            <a:prstGeom prst="ellipse">
              <a:avLst/>
            </a:prstGeom>
            <a:solidFill>
              <a:srgbClr val="20D9E8"/>
            </a:solidFill>
            <a:ln w="23812">
              <a:solidFill>
                <a:srgbClr val="20D9E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5119" y="2345150"/>
              <a:ext cx="902513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能生成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4519" y="3460147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生成基线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6585" y="3867483"/>
              <a:ext cx="1699580" cy="3153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1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PR #53 补齐录音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571875" y="2990850"/>
              <a:ext cx="228600" cy="228600"/>
            </a:xfrm>
            <a:prstGeom prst="ellipse">
              <a:avLst/>
            </a:prstGeom>
            <a:solidFill>
              <a:srgbClr val="20D9E8"/>
            </a:solidFill>
            <a:ln w="23812">
              <a:solidFill>
                <a:srgbClr val="20D9E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34919" y="2345150"/>
              <a:ext cx="902513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能阻断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85662" y="3460147"/>
              <a:ext cx="80102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PR #47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27769" y="3867483"/>
              <a:ext cx="1316812" cy="3153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1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角色质量门禁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75660" y="42652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DA8C0"/>
                  </a:solidFill>
                  <a:latin typeface="Microsoft YaHei"/>
                  <a:ea typeface="Microsoft YaHei"/>
                  <a:cs typeface="Microsoft YaHei"/>
                </a:rPr>
                <a:t>已合并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905500" y="2990850"/>
              <a:ext cx="228600" cy="228600"/>
            </a:xfrm>
            <a:prstGeom prst="ellipse">
              <a:avLst/>
            </a:prstGeom>
            <a:solidFill>
              <a:srgbClr val="20D9E8"/>
            </a:solidFill>
            <a:ln w="23812">
              <a:solidFill>
                <a:srgbClr val="20D9E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68544" y="2345150"/>
              <a:ext cx="902513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能评测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19287" y="3460147"/>
              <a:ext cx="80102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PR #51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61394" y="3867483"/>
              <a:ext cx="1316812" cy="3153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1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合成数据评测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09285" y="42652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DA8C0"/>
                  </a:solidFill>
                  <a:latin typeface="Microsoft YaHei"/>
                  <a:ea typeface="Microsoft YaHei"/>
                  <a:cs typeface="Microsoft YaHei"/>
                </a:rPr>
                <a:t>已合并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239125" y="2990850"/>
              <a:ext cx="228600" cy="228600"/>
            </a:xfrm>
            <a:prstGeom prst="ellipse">
              <a:avLst/>
            </a:prstGeom>
            <a:solidFill>
              <a:srgbClr val="20D9E8"/>
            </a:solidFill>
            <a:ln w="23812">
              <a:solidFill>
                <a:srgbClr val="20D9E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02169" y="2345150"/>
              <a:ext cx="902513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能恢复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52912" y="3460147"/>
              <a:ext cx="80102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PR #66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95019" y="3867483"/>
              <a:ext cx="1316812" cy="3153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1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断点分片恢复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42910" y="426529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DA8C0"/>
                  </a:solidFill>
                  <a:latin typeface="Microsoft YaHei"/>
                  <a:ea typeface="Microsoft YaHei"/>
                  <a:cs typeface="Microsoft YaHei"/>
                </a:rPr>
                <a:t>已合并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10715625" y="2990850"/>
              <a:ext cx="228600" cy="228600"/>
            </a:xfrm>
            <a:prstGeom prst="ellipse">
              <a:avLst/>
            </a:prstGeom>
            <a:solidFill>
              <a:srgbClr val="071A33"/>
            </a:solidFill>
            <a:ln w="23812">
              <a:solidFill>
                <a:srgbClr val="23D7B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231933" y="2345150"/>
              <a:ext cx="1195984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23D7B0"/>
                  </a:solidFill>
                  <a:latin typeface="Microsoft YaHei"/>
                  <a:ea typeface="Microsoft YaHei"/>
                  <a:cs typeface="Microsoft YaHei"/>
                </a:rPr>
                <a:t>接近试点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29412" y="3460147"/>
              <a:ext cx="80102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PR #96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79888" y="3867483"/>
              <a:ext cx="1100074" cy="3153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10" dirty="0">
                  <a:solidFill>
                    <a:srgbClr val="23D7B0"/>
                  </a:solidFill>
                  <a:latin typeface="Microsoft YaHei"/>
                  <a:ea typeface="Microsoft YaHei"/>
                  <a:cs typeface="Microsoft YaHei"/>
                </a:rPr>
                <a:t>草案未合并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33400" y="48196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65517" y="5105733"/>
              <a:ext cx="2183765" cy="3153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1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已合并能力有回归依据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76899" y="5105733"/>
              <a:ext cx="2466751" cy="3153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1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PR #96：本地330项通过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85568" y="5105733"/>
              <a:ext cx="2183765" cy="3153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1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真实环境验收仍待完成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2351" y="5619750"/>
            <a:ext cx="11136249" cy="571595"/>
            <a:chOff x="522351" y="5619750"/>
            <a:chExt cx="11136249" cy="571595"/>
          </a:xfrm>
        </p:grpSpPr>
        <p:sp>
          <p:nvSpPr>
            <p:cNvPr id="38" name="Line 38"/>
            <p:cNvSpPr/>
            <p:nvPr/>
          </p:nvSpPr>
          <p:spPr>
            <a:xfrm>
              <a:off x="533400" y="56197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2351" y="5765959"/>
              <a:ext cx="589153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试点资格来自失败验证，不只来自功能完成。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5"/>
          <p:cNvGrpSpPr/>
          <p:nvPr/>
        </p:nvGrpSpPr>
        <p:grpSpPr>
          <a:xfrm>
            <a:off x="11227664" y="6398895"/>
            <a:ext cx="435698" cy="176212"/>
            <a:chOff x="11227664" y="6398895"/>
            <a:chExt cx="435698" cy="176212"/>
          </a:xfrm>
        </p:grpSpPr>
        <p:sp>
          <p:nvSpPr>
            <p:cNvPr id="64" name="TextBox 64"/>
            <p:cNvSpPr txBox="1"/>
            <p:nvPr/>
          </p:nvSpPr>
          <p:spPr>
            <a:xfrm>
              <a:off x="11227664" y="6398895"/>
              <a:ext cx="4356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09 / 10</a:t>
              </a: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18922" y="489585"/>
            <a:ext cx="6491790" cy="807910"/>
            <a:chOff x="518922" y="489585"/>
            <a:chExt cx="6491790" cy="807910"/>
          </a:xfrm>
        </p:grpSpPr>
        <p:sp>
          <p:nvSpPr>
            <p:cNvPr id="2" name="TextBox 2"/>
            <p:cNvSpPr txBox="1"/>
            <p:nvPr/>
          </p:nvSpPr>
          <p:spPr>
            <a:xfrm>
              <a:off x="527304" y="489585"/>
              <a:ext cx="1218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09 下一阶段验证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8922" y="740092"/>
              <a:ext cx="649179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POC之后，最大的未知问题是什么？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1945672"/>
            <a:ext cx="11125200" cy="3531203"/>
            <a:chOff x="533400" y="1945672"/>
            <a:chExt cx="11125200" cy="3531203"/>
          </a:xfrm>
        </p:grpSpPr>
        <p:sp>
          <p:nvSpPr>
            <p:cNvPr id="6" name="TextBox 6"/>
            <p:cNvSpPr txBox="1"/>
            <p:nvPr/>
          </p:nvSpPr>
          <p:spPr>
            <a:xfrm>
              <a:off x="2026641" y="1945672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未知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71769" y="1945672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验证实验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662744" y="1945672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验收门槛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33400" y="33147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33425" y="2762250"/>
              <a:ext cx="95250" cy="952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40866" y="2678716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真实问诊环境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838575" y="2809875"/>
              <a:ext cx="609600" cy="1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004740" y="2688431"/>
              <a:ext cx="22968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长录音、噪声与断网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858125" y="2809875"/>
              <a:ext cx="476250" cy="1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31338" y="2700576"/>
              <a:ext cx="2292223" cy="33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9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内容完整，失败可重试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33400" y="43910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33425" y="3838575"/>
              <a:ext cx="95250" cy="952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40866" y="3755041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医疗知识泛化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838575" y="3886200"/>
              <a:ext cx="609600" cy="1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10911" y="3764756"/>
              <a:ext cx="12844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分字段盲测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858125" y="3886200"/>
              <a:ext cx="476250" cy="1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51892" y="3776901"/>
              <a:ext cx="2651117" cy="33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9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严重错误与无依据内容为0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33400" y="54673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33425" y="4914900"/>
              <a:ext cx="95250" cy="952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96125" y="4831366"/>
              <a:ext cx="174165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HIS/EMR集成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838575" y="4962525"/>
              <a:ext cx="609600" cy="1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04740" y="4841081"/>
              <a:ext cx="22968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接口契约与审计回滚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858125" y="4962525"/>
              <a:ext cx="476250" cy="1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17585" y="4853226"/>
              <a:ext cx="2519731" cy="33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90" b="1" dirty="0">
                  <a:solidFill>
                    <a:srgbClr val="102943"/>
                  </a:solidFill>
                  <a:latin typeface="Microsoft YaHei"/>
                  <a:ea typeface="Microsoft YaHei"/>
                  <a:cs typeface="Microsoft YaHei"/>
                </a:rPr>
                <a:t>失败不误写，责任可追踪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2732" y="5686425"/>
            <a:ext cx="11135868" cy="565023"/>
            <a:chOff x="522732" y="5686425"/>
            <a:chExt cx="11135868" cy="565023"/>
          </a:xfrm>
        </p:grpSpPr>
        <p:sp>
          <p:nvSpPr>
            <p:cNvPr id="31" name="Line 31"/>
            <p:cNvSpPr/>
            <p:nvPr/>
          </p:nvSpPr>
          <p:spPr>
            <a:xfrm>
              <a:off x="533400" y="56864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2732" y="5840730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待验证：用真实失败场景，决定下一步产品边界。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676" r="0" b="67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A33">
                  <a:alpha val="97000"/>
                </a:srgbClr>
              </a:gs>
              <a:gs pos="54000">
                <a:srgbClr val="071A33">
                  <a:alpha val="84000"/>
                </a:srgbClr>
              </a:gs>
              <a:gs pos="100000">
                <a:srgbClr val="071A33">
                  <a:alpha val="3200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90550" y="519321"/>
            <a:ext cx="1975817" cy="486138"/>
            <a:chOff x="590550" y="519321"/>
            <a:chExt cx="1975817" cy="486138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550" y="519321"/>
              <a:ext cx="476250" cy="466308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1210056" y="653415"/>
              <a:ext cx="1356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MediListen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3786" y="2400300"/>
            <a:ext cx="3143250" cy="1717929"/>
            <a:chOff x="573786" y="2400300"/>
            <a:chExt cx="3143250" cy="1717929"/>
          </a:xfrm>
        </p:grpSpPr>
        <p:sp>
          <p:nvSpPr>
            <p:cNvPr id="7" name="Rectangle 7"/>
            <p:cNvSpPr/>
            <p:nvPr/>
          </p:nvSpPr>
          <p:spPr>
            <a:xfrm>
              <a:off x="590550" y="2400300"/>
              <a:ext cx="819150" cy="47625"/>
            </a:xfrm>
            <a:prstGeom prst="roundRect">
              <a:avLst>
                <a:gd name="adj" fmla="val 40000"/>
              </a:avLst>
            </a:prstGeom>
            <a:gradFill>
              <a:gsLst>
                <a:gs pos="0">
                  <a:srgbClr val="20D9E8"/>
                </a:gs>
                <a:gs pos="100000">
                  <a:srgbClr val="2F7CF4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3786" y="286321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让医生把注意力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3786" y="34728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还给</a:t>
              </a:r>
              <a:r>
                <a:rPr lang="zh-CN" sz="33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患者</a:t>
              </a:r>
              <a:r>
                <a:rPr lang="zh-CN" sz="33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23875" y="4743926"/>
            <a:ext cx="5381625" cy="894874"/>
            <a:chOff x="523875" y="4743926"/>
            <a:chExt cx="5381625" cy="894874"/>
          </a:xfrm>
        </p:grpSpPr>
        <p:sp>
          <p:nvSpPr>
            <p:cNvPr id="16" name="TextBox 9"/>
            <p:cNvSpPr txBox="1"/>
            <p:nvPr/>
          </p:nvSpPr>
          <p:spPr>
            <a:xfrm>
              <a:off x="570738" y="4743926"/>
              <a:ext cx="2329434" cy="756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zh-CN" sz="2020" b="1" dirty="0">
                  <a:solidFill>
                    <a:srgbClr val="B8D7F5"/>
                  </a:solidFill>
                  <a:latin typeface="Microsoft YaHei"/>
                  <a:ea typeface="Microsoft YaHei"/>
                  <a:cs typeface="Microsoft YaHei"/>
                </a:rPr>
                <a:t>AI负责整理信息，</a:t>
              </a:r>
              <a:br/>
              <a:r>
                <a:rPr lang="zh-CN" sz="2020" b="1" dirty="0">
                  <a:solidFill>
                    <a:srgbClr val="B8D7F5"/>
                  </a:solidFill>
                  <a:latin typeface="Microsoft YaHei"/>
                  <a:ea typeface="Microsoft YaHei"/>
                  <a:cs typeface="Microsoft YaHei"/>
                </a:rPr>
                <a:t>医生负责判断责任。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90550" y="556260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19050">
              <a:solidFill>
                <a:srgbClr val="20D9E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23875" y="5495925"/>
              <a:ext cx="133350" cy="1333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753100" y="5486400"/>
              <a:ext cx="152400" cy="152400"/>
            </a:xfrm>
            <a:prstGeom prst="ellipse">
              <a:avLst/>
            </a:prstGeom>
            <a:solidFill>
              <a:srgbClr val="23D7B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edilisten_poc_review">
  <a:themeElements>
    <a:clrScheme name="medilisten_poc_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listen_poc_re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listen_poc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edilisten_poc_review">
  <a:themeElements>
    <a:clrScheme name="medilisten_poc_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listen_poc_re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listen_poc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2026-09-06T14:14:23Z</dcterms:created>
  <dcterms:modified xsi:type="dcterms:W3CDTF">2026-09-06T14:14:23Z</dcterms:modified>
  <cp:category/>
  <cp:contentStatus/>
</cp:coreProperties>
</file>