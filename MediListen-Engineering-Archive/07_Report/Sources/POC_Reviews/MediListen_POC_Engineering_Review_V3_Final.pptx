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复盘只回答一个问题：一个AI医疗系统，如何从能生成病历走向可信交付？我们会沿着责任归属、故障恢复、版本审核，再到医生工作流，解释POC阶段改变了哪些设计假设。项目资料来源：https://github.com/awa606/medical_record_agent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初的直接生成链路默认上游信息正确、输出可以直接使用，但病历交付还涉及说话人归属和医生责任，模型生成得流畅不能代替这两个条件。MediListen因此在整理前判断角色质量，在导出前要求医生确认，把生成建议和承担责任分开。这里的收益是错误有机会在进入交付链之前被发现和阻断，并不表示系统已达到临床使用标准。实现证据：https://github.com/awa606/medical_record_agent/pull/47 、https://github.com/awa606/medical_record_agent/pull/64 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“只要文本正确，病历就可靠”是我们用来复盘早期链路的隐含假设，而不是一次已测量的临床结论；患者说出的症状如果被归为医生判断，文字本身正确也会落入错误字段。设计因此从提高生成能力转向明确责任归属，SpeakerRoleQualityPolicy把低置信度、角色未映射与混合角色等风险提前拦截。代价是部分输入需要停下来人工确认，选择这一代价，是因为错误归属一旦进入生成链，后续润色并不能补回正确依据。来源：https://github.com/awa606/medical_record_agent/blob/690b72cef39a038bbd9edd561dbe72dc4c92a24d/app/services/asr/role_quality.py 、https://github.com/awa606/medical_record_agent/pull/47 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emo只证明输入到结果能跑通，一旦断网、重启或服务失败，页面状态和后台任务就可能分离，团队无法只靠最终输出判断失败位置。重构把任务状态和日志变成可保留的过程，把版本和审核作为恢复后的约束，图中的路径是评审层面的简化说明，不是源码状态枚举。我们接受持久化和状态管理带来的实现成本，换取失败能定位、任务可恢复、恢复后的内容仍需审核。来源：https://github.com/awa606/medical_record_agent/pull/66 、https://github.com/awa606/medical_record_agent/pull/67 、https://github.com/awa606/medical_record_agent/pull/64 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时链路最影响医生信任的场景，是页面显示失败，而后台仍在处理，恢复后事件重放与界面状态如果不同步，就会出现重复或状态异常的风险。原始日志还记录了逐事件人工延迟，因此根因不能简单说成没有事件ID，真正需要解决的是可靠的恢复边界。修复用稳定事件编号、追加日志、断点恢复与去重，让恢复先满足一致性，再优化实时反馈；脚本复验的501条总事件、50条恢复尾部事件和0个重复边界仅说明该脚本通过，不代表所有真实网络条件都已验证。根因来源：https://github.com/awa606/medical_record_agent/blob/690b72cef39a038bbd9edd561dbe72dc4c92a24d/logs/debug/2026-07-11_speaker_role_sse_stability.md ，复验来源：https://github.com/awa606/medical_record_agent/blob/690b72cef39a038bbd9edd561dbe72dc4c92a24d/data/asr_eval/reports/v0_8_11_sse_reconnect/sse_reconnect_report.json 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普通审核只保存一个已通过状态，内容修改后还沿用旧批准，就会出现医生确认的内容和导出的内容不是同一份的问题。真实实现把审批绑定到revision_id，修改生成新修订并使旧活动审批失效，导出只接受当前版本的有效审批。这里主动增加一次必要复核，因为医生承担的是某个具体内容版本的责任，而不是对未来所有改动的无限授权。实现证据：https://github.com/awa606/medical_record_agent/pull/64 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每次录音的所有角色都交给医生逐一确认，是一种直觉上的安全方案，但它把确认成本平均加在每次问诊上，页面左侧表达的是这一方案的设计代价，并非声称曾做过全量确认的真实耗时实验。现有主线已经按风险分流，质量通过且角色完整时可以继续，待确认、低置信度和未映射角色按说话人汇总处理。设计取舍是不降低门禁要求，只让需要医生判断的疑点打断流程，自动通过覆盖率和负担改善仍需真实场景验证。代码证据：https://github.com/awa606/medical_record_agent/blob/690b72cef39a038bbd9edd561dbe72dc4c92a24d/static/doctor.js#L3974 、https://github.com/awa606/medical_record_agent/blob/690b72cef39a038bbd9edd561dbe72dc4c92a24d/static/doctor.js#L1736 ，产品方向：https://github.com/awa606/medical_record_agent/blob/690b72cef39a038bbd9edd561dbe72dc4c92a24d/docs/doctor_workbench_recording_entry_v1_3_6.md 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作台截图来自原PPT中的演示数据，它把转写证据、结构化病历和医生确认放在同一工作区，展示的是POC已贯通的工作方式。传统路径需要医生在问诊后回忆、整理并录入，目标路径把整理交给AI，把字段确认和专业判断留给医生，让医生更容易核对而不是从空白页面重写。我们把这称为工作流价值假设，而不是已获得的临床效率收益，试点还需要测量审核耗时、修订负担以及医生是否愿意持续使用。来源：https://github.com/awa606/medical_record_agent/blob/690b72cef39a038bbd9edd561dbe72dc4c92a24d/docs/doctor_workbench_acceptance_v1_0.md ，截图复用自MediListen_POC_Engineering_Review_V2_Final.pptx第10页。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C通过不等于产品可以进入医院，最大的未知首先是真实问诊环境中的噪声、长录音和异常恢复，其次是不同场景下字段内容的准确性与证据依据，最后是医院系统的权限和审计边界。下一阶段应分别做真实环境回放、字段级盲测与证据核查、接口契约和审计回滚验证，用明确验收门槛决定能否扩展使用范围。图中的实验全部是待验证方向，不是现有成果，真实医生收益和临床有效性也尚未由这些工程测试证明。路线依据：https://github.com/awa606/medical_record_agent/issues/89 、https://github.com/awa606/medical_record_agent/pull/96 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让医生把注意力还给患者，是MediListen要持续验证的产品方向。AI负责整理信息，医生负责判断责任。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edilisten_poc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edilisten_poc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Relationship Id="rId2" Type="http://schemas.openxmlformats.org/officeDocument/2006/relationships/image" Target="../media/image_7b871dd8aaf945b5.png" />
  <Relationship Id="rId3" Type="http://schemas.openxmlformats.org/officeDocument/2006/relationships/image" Target="../media/image_2cbe01264aa76b50.png" />
      <Relationship Id="rId4" Type="http://schemas.openxmlformats.org/officeDocument/2006/relationships/notesSlide" Target="../notesSlides/notesSlide1.xml"/>
</Relationships>
</file>

<file path=ppt/slides/_rels/slide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  <Relationship Id="rId2" Type="http://schemas.openxmlformats.org/officeDocument/2006/relationships/notesSlide" Target="../notesSlides/notesSlide2.xml"/>
</Relationships>
</file>

<file path=ppt/slides/_rels/slide3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  <Relationship Id="rId2" Type="http://schemas.openxmlformats.org/officeDocument/2006/relationships/notesSlide" Target="../notesSlides/notesSlide3.xml"/>
</Relationships>
</file>

<file path=ppt/slides/_rels/slide4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  <Relationship Id="rId2" Type="http://schemas.openxmlformats.org/officeDocument/2006/relationships/notesSlide" Target="../notesSlides/notesSlide4.xml"/>
</Relationships>
</file>

<file path=ppt/slides/_rels/slide5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  <Relationship Id="rId2" Type="http://schemas.openxmlformats.org/officeDocument/2006/relationships/notesSlide" Target="../notesSlides/notesSlide5.xml"/>
</Relationships>
</file>

<file path=ppt/slides/_rels/slide6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  <Relationship Id="rId2" Type="http://schemas.openxmlformats.org/officeDocument/2006/relationships/notesSlide" Target="../notesSlides/notesSlide6.xml"/>
</Relationships>
</file>

<file path=ppt/slides/_rels/slide7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  <Relationship Id="rId2" Type="http://schemas.openxmlformats.org/officeDocument/2006/relationships/notesSlide" Target="../notesSlides/notesSlide7.xml"/>
</Relationships>
</file>

<file path=ppt/slides/_rels/slide8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3" Type="http://schemas.openxmlformats.org/officeDocument/2006/relationships/image" Target="../media/image_18d4961b916f0d1f.png" />  <Relationship Id="rId4" Type="http://schemas.openxmlformats.org/officeDocument/2006/relationships/notesSlide" Target="../notesSlides/notesSlide8.xml"/>
</Relationships>
</file>

<file path=ppt/slides/_rels/slide9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  <Relationship Id="rId2" Type="http://schemas.openxmlformats.org/officeDocument/2006/relationships/notesSlide" Target="../notesSlides/notesSlide9.xml"/>
</Relationships>
</file>

<file path=ppt/slides/_rels/slide10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Relationship Id="rId2" Type="http://schemas.openxmlformats.org/officeDocument/2006/relationships/image" Target="../media/image_18d4961b916f0d1f.png" />
  <Relationship Id="rId3" Type="http://schemas.openxmlformats.org/officeDocument/2006/relationships/image" Target="../media/image_2cbe01264aa76b50.png" />
      <Relationship Id="rId4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5280" r="0" b="252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071A3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A33">
                  <a:alpha val="98000"/>
                </a:srgbClr>
              </a:gs>
              <a:gs pos="48000">
                <a:srgbClr val="071A33">
                  <a:alpha val="94000"/>
                </a:srgbClr>
              </a:gs>
              <a:gs pos="78000">
                <a:srgbClr val="071A33">
                  <a:alpha val="42000"/>
                </a:srgbClr>
              </a:gs>
              <a:gs pos="100000">
                <a:srgbClr val="071A33">
                  <a:alpha val="10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462568"/>
            <a:ext cx="2165663" cy="520888"/>
            <a:chOff x="590550" y="462568"/>
            <a:chExt cx="2165663" cy="520888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462568"/>
              <a:ext cx="514350" cy="503613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247775" y="616744"/>
              <a:ext cx="150843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spc="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8833" y="1684020"/>
            <a:ext cx="4093723" cy="2483739"/>
            <a:chOff x="568833" y="1684020"/>
            <a:chExt cx="4093723" cy="2483739"/>
          </a:xfrm>
        </p:grpSpPr>
        <p:sp>
          <p:nvSpPr>
            <p:cNvPr id="8" name="TextBox 8"/>
            <p:cNvSpPr txBox="1"/>
            <p:nvPr/>
          </p:nvSpPr>
          <p:spPr>
            <a:xfrm>
              <a:off x="571500" y="1684020"/>
              <a:ext cx="293715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90550" y="2343150"/>
              <a:ext cx="78105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0D9E8"/>
                </a:gs>
                <a:gs pos="100000">
                  <a:srgbClr val="2F7CF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78358" y="2636520"/>
              <a:ext cx="40841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AI生成式电子病历辅助系统</a:t>
              </a:r>
            </a:p>
          </p:txBody>
        </p:sp>
        <p:sp>
          <p:nvSpPr>
            <p:cNvPr id="28" name="TextBox 17"/>
            <p:cNvSpPr txBox="1"/>
            <p:nvPr/>
          </p:nvSpPr>
          <p:spPr>
            <a:xfrm>
              <a:off x="568833" y="3255645"/>
              <a:ext cx="39206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从AI Demo到可信病历闭环</a:t>
              </a:r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571881" y="3815715"/>
              <a:ext cx="20281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POC阶段工程复盘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4454" y="5476875"/>
            <a:ext cx="4105656" cy="543306"/>
            <a:chOff x="584454" y="5476875"/>
            <a:chExt cx="4105656" cy="543306"/>
          </a:xfrm>
        </p:grpSpPr>
        <p:sp>
          <p:nvSpPr>
            <p:cNvPr id="14" name="Ellipse 14"/>
            <p:cNvSpPr/>
            <p:nvPr/>
          </p:nvSpPr>
          <p:spPr>
            <a:xfrm>
              <a:off x="647700" y="5486400"/>
              <a:ext cx="152400" cy="1524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876300" y="55626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781425" y="5476875"/>
              <a:ext cx="171450" cy="17145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4454" y="5785485"/>
              <a:ext cx="631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AI Demo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654" y="57854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可信病历闭环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91600" y="5848350"/>
            <a:ext cx="1200150" cy="447675"/>
            <a:chOff x="8991600" y="5848350"/>
            <a:chExt cx="1200150" cy="447675"/>
          </a:xfrm>
        </p:grpSpPr>
        <p:sp>
          <p:nvSpPr>
            <p:cNvPr id="20" name="Rectangle 20"/>
            <p:cNvSpPr/>
            <p:nvPr/>
          </p:nvSpPr>
          <p:spPr>
            <a:xfrm>
              <a:off x="8991600" y="6029325"/>
              <a:ext cx="114300" cy="85725"/>
            </a:xfrm>
            <a:prstGeom prst="roundRect">
              <a:avLst>
                <a:gd name="adj" fmla="val 44444"/>
              </a:avLst>
            </a:prstGeom>
            <a:solidFill>
              <a:srgbClr val="20D9E8">
                <a:alpha val="55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72575" y="5943600"/>
              <a:ext cx="114300" cy="257175"/>
            </a:xfrm>
            <a:prstGeom prst="roundRect">
              <a:avLst>
                <a:gd name="adj" fmla="val 33333"/>
              </a:avLst>
            </a:prstGeom>
            <a:solidFill>
              <a:srgbClr val="20D9E8">
                <a:alpha val="7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353550" y="5848350"/>
              <a:ext cx="114300" cy="447675"/>
            </a:xfrm>
            <a:prstGeom prst="roundRect">
              <a:avLst>
                <a:gd name="adj" fmla="val 33333"/>
              </a:avLst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34525" y="5991225"/>
              <a:ext cx="114300" cy="161925"/>
            </a:xfrm>
            <a:prstGeom prst="roundRect">
              <a:avLst>
                <a:gd name="adj" fmla="val 33333"/>
              </a:avLst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715500" y="5895975"/>
              <a:ext cx="114300" cy="352425"/>
            </a:xfrm>
            <a:prstGeom prst="roundRect">
              <a:avLst>
                <a:gd name="adj" fmla="val 33333"/>
              </a:avLst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896475" y="5962650"/>
              <a:ext cx="114300" cy="219075"/>
            </a:xfrm>
            <a:prstGeom prst="roundRect">
              <a:avLst>
                <a:gd name="adj" fmla="val 33333"/>
              </a:avLst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077450" y="6019800"/>
              <a:ext cx="114300" cy="104775"/>
            </a:xfrm>
            <a:prstGeom prst="roundRect">
              <a:avLst>
                <a:gd name="adj" fmla="val 36364"/>
              </a:avLst>
            </a:prstGeom>
            <a:solidFill>
              <a:srgbClr val="20D9E8">
                <a:alpha val="6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7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76" name="TextBox 76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02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9684" y="775335"/>
            <a:ext cx="4122515" cy="953262"/>
            <a:chOff x="519684" y="775335"/>
            <a:chExt cx="4122515" cy="953262"/>
          </a:xfrm>
        </p:grpSpPr>
        <p:sp>
          <p:nvSpPr>
            <p:cNvPr id="3" name="TextBox 3"/>
            <p:cNvSpPr txBox="1"/>
            <p:nvPr/>
          </p:nvSpPr>
          <p:spPr>
            <a:xfrm>
              <a:off x="519684" y="775335"/>
              <a:ext cx="4122515" cy="9532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48"/>
                </a:lnSpc>
              </a:pPr>
              <a:r>
                <a:rPr lang="zh-CN" sz="27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POC阶段真正解决的问题：</a:t>
              </a:r>
              <a:br/>
              <a:r>
                <a:rPr lang="zh-CN" sz="27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不是生成，而是可信交付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010995" y="1945291"/>
            <a:ext cx="8533180" cy="3405664"/>
            <a:chOff x="2010995" y="1945291"/>
            <a:chExt cx="8533180" cy="3405664"/>
          </a:xfrm>
        </p:grpSpPr>
        <p:sp>
          <p:nvSpPr>
            <p:cNvPr id="5" name="TextBox 5"/>
            <p:cNvSpPr txBox="1"/>
            <p:nvPr/>
          </p:nvSpPr>
          <p:spPr>
            <a:xfrm>
              <a:off x="2010995" y="1945291"/>
              <a:ext cx="142631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传统AI链路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16308" y="1945291"/>
              <a:ext cx="152213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2724150" y="2867025"/>
              <a:ext cx="1" cy="142875"/>
            </a:xfrm>
            <a:prstGeom prst="line">
              <a:avLst/>
            </a:prstGeom>
            <a:noFill/>
            <a:ln w="19050">
              <a:solidFill>
                <a:srgbClr val="5B718A"/>
              </a:solidFill>
              <a:tailEnd type="arrow" w="med" len="med"/>
            </a:ln>
          </p:spPr>
        </p:sp>
        <p:sp>
          <p:nvSpPr>
            <p:cNvPr id="8" name="Line 8"/>
            <p:cNvSpPr/>
            <p:nvPr/>
          </p:nvSpPr>
          <p:spPr>
            <a:xfrm>
              <a:off x="2724150" y="3448050"/>
              <a:ext cx="1" cy="142875"/>
            </a:xfrm>
            <a:prstGeom prst="line">
              <a:avLst/>
            </a:prstGeom>
            <a:noFill/>
            <a:ln w="19050">
              <a:solidFill>
                <a:srgbClr val="5B718A"/>
              </a:solidFill>
              <a:tailEnd type="arrow" w="med" len="med"/>
            </a:ln>
          </p:spPr>
        </p:sp>
        <p:sp>
          <p:nvSpPr>
            <p:cNvPr id="9" name="Line 9"/>
            <p:cNvSpPr/>
            <p:nvPr/>
          </p:nvSpPr>
          <p:spPr>
            <a:xfrm>
              <a:off x="2724150" y="4029075"/>
              <a:ext cx="1" cy="142875"/>
            </a:xfrm>
            <a:prstGeom prst="line">
              <a:avLst/>
            </a:prstGeom>
            <a:noFill/>
            <a:ln w="19050">
              <a:solidFill>
                <a:srgbClr val="5B718A"/>
              </a:solidFill>
              <a:tailEnd type="arrow" w="med" len="med"/>
            </a:ln>
          </p:spPr>
        </p:sp>
        <p:sp>
          <p:nvSpPr>
            <p:cNvPr id="10" name="Line 10"/>
            <p:cNvSpPr/>
            <p:nvPr/>
          </p:nvSpPr>
          <p:spPr>
            <a:xfrm>
              <a:off x="2724150" y="4610100"/>
              <a:ext cx="1" cy="142875"/>
            </a:xfrm>
            <a:prstGeom prst="line">
              <a:avLst/>
            </a:prstGeom>
            <a:noFill/>
            <a:ln w="19050">
              <a:solidFill>
                <a:srgbClr val="5B718A"/>
              </a:solidFill>
              <a:tailEnd type="arrow" w="med" len="med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51735" y="2531173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声音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51735" y="311219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文字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51735" y="3693223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模型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51735" y="427424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病历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51735" y="4855274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导出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477375" y="2733675"/>
              <a:ext cx="1" cy="76200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17" name="Line 17"/>
            <p:cNvSpPr/>
            <p:nvPr/>
          </p:nvSpPr>
          <p:spPr>
            <a:xfrm>
              <a:off x="9477375" y="3248025"/>
              <a:ext cx="1" cy="76200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18" name="Line 18"/>
            <p:cNvSpPr/>
            <p:nvPr/>
          </p:nvSpPr>
          <p:spPr>
            <a:xfrm>
              <a:off x="9477375" y="3762375"/>
              <a:ext cx="1" cy="76200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19" name="Line 19"/>
            <p:cNvSpPr/>
            <p:nvPr/>
          </p:nvSpPr>
          <p:spPr>
            <a:xfrm>
              <a:off x="9477375" y="4276725"/>
              <a:ext cx="1" cy="76200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20" name="Line 20"/>
            <p:cNvSpPr/>
            <p:nvPr/>
          </p:nvSpPr>
          <p:spPr>
            <a:xfrm>
              <a:off x="9477375" y="4791075"/>
              <a:ext cx="1" cy="76200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04960" y="2397824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声音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27199" y="2912173"/>
              <a:ext cx="5003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ASR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9942" y="3426523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角色质量判断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6326" y="3940873"/>
              <a:ext cx="8220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AI整理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42451" y="4455224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87E6C"/>
                  </a:solidFill>
                  <a:latin typeface="Microsoft YaHei"/>
                  <a:ea typeface="Microsoft YaHei"/>
                  <a:cs typeface="Microsoft YaHei"/>
                </a:rPr>
                <a:t>医生审核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04960" y="4969574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导出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8410575" y="3343275"/>
              <a:ext cx="2133600" cy="1447800"/>
              <a:chOff x="8410575" y="3343275"/>
              <a:chExt cx="2133600" cy="1447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410575" y="3343275"/>
                <a:ext cx="2133600" cy="419100"/>
              </a:xfrm>
              <a:prstGeom prst="roundRect">
                <a:avLst>
                  <a:gd name="adj" fmla="val 18182"/>
                </a:avLst>
              </a:prstGeom>
              <a:noFill/>
              <a:ln w="17145">
                <a:solidFill>
                  <a:srgbClr val="20D9E8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553450" y="4371975"/>
                <a:ext cx="1847850" cy="419100"/>
              </a:xfrm>
              <a:prstGeom prst="roundRect">
                <a:avLst>
                  <a:gd name="adj" fmla="val 18182"/>
                </a:avLst>
              </a:prstGeom>
              <a:noFill/>
              <a:ln w="17145">
                <a:solidFill>
                  <a:srgbClr val="23D7B0"/>
                </a:solidFill>
              </a:ln>
            </p:spPr>
          </p:sp>
        </p:grpSp>
        <p:sp>
          <p:nvSpPr>
            <p:cNvPr id="30" name="Line 30"/>
            <p:cNvSpPr/>
            <p:nvPr/>
          </p:nvSpPr>
          <p:spPr>
            <a:xfrm>
              <a:off x="3667125" y="4114800"/>
              <a:ext cx="1171575" cy="1"/>
            </a:xfrm>
            <a:prstGeom prst="line">
              <a:avLst/>
            </a:prstGeom>
            <a:noFill/>
            <a:ln w="23812">
              <a:solidFill>
                <a:srgbClr val="FF6381"/>
              </a:solidFill>
              <a:tailEnd type="arrow" w="med" len="med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79770" y="356978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风险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09184" y="3833717"/>
              <a:ext cx="1202182" cy="868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255"/>
                </a:lnSpc>
              </a:pPr>
              <a:r>
                <a:rPr lang="zh-CN" sz="23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错误进入</a:t>
              </a:r>
              <a:br/>
              <a:r>
                <a:rPr lang="zh-CN" sz="23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责任链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467600" y="2466975"/>
              <a:ext cx="9525" cy="2790825"/>
            </a:xfrm>
            <a:custGeom>
              <a:avLst/>
              <a:gdLst/>
              <a:ahLst/>
              <a:cxnLst/>
              <a:rect l="l" t="t" r="r" b="b"/>
              <a:pathLst>
                <a:path w="9525" h="2790825">
                  <a:moveTo>
                    <a:pt x="0" y="0"/>
                  </a:moveTo>
                  <a:lnTo>
                    <a:pt x="0" y="2790825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33400" y="5743575"/>
            <a:ext cx="11125200" cy="589311"/>
            <a:chOff x="533400" y="5743575"/>
            <a:chExt cx="11125200" cy="589311"/>
          </a:xfrm>
        </p:grpSpPr>
        <p:sp>
          <p:nvSpPr>
            <p:cNvPr id="35" name="Line 35"/>
            <p:cNvSpPr/>
            <p:nvPr/>
          </p:nvSpPr>
          <p:spPr>
            <a:xfrm>
              <a:off x="533400" y="57435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65911" y="5907500"/>
              <a:ext cx="526017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AI生成内容，必须经过医生责任确认。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90"/>
          <p:cNvGrpSpPr/>
          <p:nvPr/>
        </p:nvGrpSpPr>
        <p:grpSpPr>
          <a:xfrm>
            <a:off x="11227664" y="6379845"/>
            <a:ext cx="435698" cy="176212"/>
            <a:chOff x="11227664" y="6379845"/>
            <a:chExt cx="435698" cy="176212"/>
          </a:xfrm>
        </p:grpSpPr>
        <p:sp>
          <p:nvSpPr>
            <p:cNvPr id="89" name="TextBox 89"/>
            <p:cNvSpPr txBox="1"/>
            <p:nvPr/>
          </p:nvSpPr>
          <p:spPr>
            <a:xfrm>
              <a:off x="11227664" y="637984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03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9684" y="775335"/>
            <a:ext cx="4485132" cy="953262"/>
            <a:chOff x="519684" y="775335"/>
            <a:chExt cx="4485132" cy="953262"/>
          </a:xfrm>
        </p:grpSpPr>
        <p:sp>
          <p:nvSpPr>
            <p:cNvPr id="3" name="TextBox 3"/>
            <p:cNvSpPr txBox="1"/>
            <p:nvPr/>
          </p:nvSpPr>
          <p:spPr>
            <a:xfrm>
              <a:off x="519684" y="775335"/>
              <a:ext cx="4485132" cy="9532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48"/>
                </a:lnSpc>
              </a:pPr>
              <a:r>
                <a:rPr lang="zh-CN" sz="27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我们原以为问题是模型能力，</a:t>
              </a:r>
              <a:br/>
              <a:r>
                <a:rPr lang="zh-CN" sz="27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后来发现问题是责任归属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71575" y="2045589"/>
            <a:ext cx="10176278" cy="3383661"/>
            <a:chOff x="1171575" y="2045589"/>
            <a:chExt cx="10176278" cy="3383661"/>
          </a:xfrm>
        </p:grpSpPr>
        <p:sp>
          <p:nvSpPr>
            <p:cNvPr id="5" name="Line 5"/>
            <p:cNvSpPr/>
            <p:nvPr/>
          </p:nvSpPr>
          <p:spPr>
            <a:xfrm>
              <a:off x="4048125" y="2047875"/>
              <a:ext cx="9525" cy="3381375"/>
            </a:xfrm>
            <a:custGeom>
              <a:avLst/>
              <a:gdLst/>
              <a:ahLst/>
              <a:cxnLst/>
              <a:rect l="l" t="t" r="r" b="b"/>
              <a:pathLst>
                <a:path w="9525" h="3381375">
                  <a:moveTo>
                    <a:pt x="0" y="0"/>
                  </a:moveTo>
                  <a:lnTo>
                    <a:pt x="0" y="3381375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029575" y="2047875"/>
              <a:ext cx="9525" cy="3381375"/>
            </a:xfrm>
            <a:custGeom>
              <a:avLst/>
              <a:gdLst/>
              <a:ahLst/>
              <a:cxnLst/>
              <a:rect l="l" t="t" r="r" b="b"/>
              <a:pathLst>
                <a:path w="9525" h="3381375">
                  <a:moveTo>
                    <a:pt x="0" y="0"/>
                  </a:moveTo>
                  <a:lnTo>
                    <a:pt x="0" y="3381375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73174" y="2045589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最初假设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3899" y="2928842"/>
              <a:ext cx="2086102" cy="868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255"/>
                </a:lnSpc>
              </a:pPr>
              <a:r>
                <a:rPr lang="zh-CN" sz="232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只要文本正确，</a:t>
              </a:r>
              <a:br/>
              <a:r>
                <a:rPr lang="zh-CN" sz="232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病历就可靠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171575" y="3800475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FF638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52011" y="4288631"/>
              <a:ext cx="18298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遗漏了“谁在说”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02758" y="2045589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风险如何暴露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38850" y="3009900"/>
              <a:ext cx="1" cy="314325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13" name="Line 13"/>
            <p:cNvSpPr/>
            <p:nvPr/>
          </p:nvSpPr>
          <p:spPr>
            <a:xfrm>
              <a:off x="6038850" y="3762375"/>
              <a:ext cx="1" cy="314325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14" name="Line 14"/>
            <p:cNvSpPr/>
            <p:nvPr/>
          </p:nvSpPr>
          <p:spPr>
            <a:xfrm>
              <a:off x="6038850" y="4514850"/>
              <a:ext cx="1" cy="314325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62778" y="2664333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患者症状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62778" y="3416808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角色错误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62778" y="4169283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字段错误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80076" y="492175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医疗信息错误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0324" y="2045589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设计改变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40347" y="2753058"/>
              <a:ext cx="2807506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1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SpeakerRoleQualityPolicy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26677" y="3454908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低质量输入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944100" y="3819525"/>
              <a:ext cx="1" cy="438150"/>
            </a:xfrm>
            <a:prstGeom prst="line">
              <a:avLst/>
            </a:prstGeom>
            <a:noFill/>
            <a:ln w="23812">
              <a:solidFill>
                <a:srgbClr val="FF6381"/>
              </a:solidFill>
              <a:tailEnd type="arrow" w="med" len="med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23985" y="440721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提前阻断生成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14042" y="5103304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先确认归属，再整理病历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5743575"/>
            <a:ext cx="11125200" cy="579501"/>
            <a:chOff x="533400" y="5743575"/>
            <a:chExt cx="11125200" cy="579501"/>
          </a:xfrm>
        </p:grpSpPr>
        <p:sp>
          <p:nvSpPr>
            <p:cNvPr id="26" name="Line 26"/>
            <p:cNvSpPr/>
            <p:nvPr/>
          </p:nvSpPr>
          <p:spPr>
            <a:xfrm>
              <a:off x="533400" y="57435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99663" y="5912358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高风险错误应该在进入生成链之前被拦截。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4"/>
          <p:cNvGrpSpPr/>
          <p:nvPr/>
        </p:nvGrpSpPr>
        <p:grpSpPr>
          <a:xfrm>
            <a:off x="11227664" y="6379845"/>
            <a:ext cx="435698" cy="176212"/>
            <a:chOff x="11227664" y="6379845"/>
            <a:chExt cx="435698" cy="176212"/>
          </a:xfrm>
        </p:grpSpPr>
        <p:sp>
          <p:nvSpPr>
            <p:cNvPr id="63" name="TextBox 63"/>
            <p:cNvSpPr txBox="1"/>
            <p:nvPr/>
          </p:nvSpPr>
          <p:spPr>
            <a:xfrm>
              <a:off x="11227664" y="637984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04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9684" y="775335"/>
            <a:ext cx="4320540" cy="953262"/>
            <a:chOff x="519684" y="775335"/>
            <a:chExt cx="4320540" cy="953262"/>
          </a:xfrm>
        </p:grpSpPr>
        <p:sp>
          <p:nvSpPr>
            <p:cNvPr id="3" name="TextBox 3"/>
            <p:cNvSpPr txBox="1"/>
            <p:nvPr/>
          </p:nvSpPr>
          <p:spPr>
            <a:xfrm>
              <a:off x="519684" y="775335"/>
              <a:ext cx="4320540" cy="9532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48"/>
                </a:lnSpc>
              </a:pPr>
              <a:r>
                <a:rPr lang="zh-CN" sz="27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Demo最大的缺陷不是失败，</a:t>
              </a:r>
              <a:br/>
              <a:r>
                <a:rPr lang="zh-CN" sz="27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而是失败后无法解释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2036064"/>
            <a:ext cx="10642473" cy="3478911"/>
            <a:chOff x="533400" y="2036064"/>
            <a:chExt cx="10642473" cy="3478911"/>
          </a:xfrm>
        </p:grpSpPr>
        <p:sp>
          <p:nvSpPr>
            <p:cNvPr id="5" name="Rectangle 5"/>
            <p:cNvSpPr/>
            <p:nvPr/>
          </p:nvSpPr>
          <p:spPr>
            <a:xfrm>
              <a:off x="533400" y="2047875"/>
              <a:ext cx="3914775" cy="3467100"/>
            </a:xfrm>
            <a:prstGeom prst="roundRect">
              <a:avLst>
                <a:gd name="adj" fmla="val 3571"/>
              </a:avLst>
            </a:prstGeom>
            <a:solidFill>
              <a:srgbClr val="071A3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3668" y="2236089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演示系统：只看成功路径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476375" y="2990850"/>
              <a:ext cx="657225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</p:sp>
        <p:sp>
          <p:nvSpPr>
            <p:cNvPr id="8" name="Line 8"/>
            <p:cNvSpPr/>
            <p:nvPr/>
          </p:nvSpPr>
          <p:spPr>
            <a:xfrm>
              <a:off x="2828925" y="2990850"/>
              <a:ext cx="666750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8954" y="2849975"/>
              <a:ext cx="60904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46126" y="2849975"/>
              <a:ext cx="29884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62629" y="2849975"/>
              <a:ext cx="60904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57250" y="3400425"/>
              <a:ext cx="3267075" cy="9525"/>
            </a:xfrm>
            <a:custGeom>
              <a:avLst/>
              <a:gdLst/>
              <a:ahLst/>
              <a:cxnLst/>
              <a:rect l="l" t="t" r="r" b="b"/>
              <a:pathLst>
                <a:path w="3267075" h="9525">
                  <a:moveTo>
                    <a:pt x="0" y="0"/>
                  </a:moveTo>
                  <a:lnTo>
                    <a:pt x="3267075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69466" y="3659791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失败在哪里？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9466" y="4231291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状态在哪里？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5432" y="4802791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如何恢复？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93052" y="2036064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可靠系统：留下可恢复的过程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019925" y="2552700"/>
              <a:ext cx="114300" cy="1143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01003" y="2778633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任务状态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401300" y="2552700"/>
              <a:ext cx="114300" cy="114300"/>
            </a:xfrm>
            <a:prstGeom prst="ellipse">
              <a:avLst/>
            </a:prstGeom>
            <a:solidFill>
              <a:srgbClr val="087E6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1027" y="2778633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87E6C"/>
                  </a:solidFill>
                  <a:latin typeface="Microsoft YaHei"/>
                  <a:ea typeface="Microsoft YaHei"/>
                  <a:cs typeface="Microsoft YaHei"/>
                </a:rPr>
                <a:t>版本与审核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019925" y="3952875"/>
              <a:ext cx="114300" cy="11430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01003" y="4178808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日志留痕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0401300" y="3952875"/>
              <a:ext cx="114300" cy="1143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82378" y="4178808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断点恢复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829550" y="2914650"/>
              <a:ext cx="17526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6" name="Line 26"/>
            <p:cNvSpPr/>
            <p:nvPr/>
          </p:nvSpPr>
          <p:spPr>
            <a:xfrm>
              <a:off x="7077075" y="3133725"/>
              <a:ext cx="1" cy="809625"/>
            </a:xfrm>
            <a:prstGeom prst="line">
              <a:avLst/>
            </a:prstGeom>
            <a:noFill/>
            <a:ln w="23812">
              <a:solidFill>
                <a:srgbClr val="FF6381"/>
              </a:solidFill>
              <a:tailEnd type="arrow" w="med" len="med"/>
            </a:ln>
          </p:spPr>
        </p:sp>
        <p:sp>
          <p:nvSpPr>
            <p:cNvPr id="27" name="Line 27"/>
            <p:cNvSpPr/>
            <p:nvPr/>
          </p:nvSpPr>
          <p:spPr>
            <a:xfrm>
              <a:off x="7877175" y="4314825"/>
              <a:ext cx="1743075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8" name="Line 28"/>
            <p:cNvSpPr/>
            <p:nvPr/>
          </p:nvSpPr>
          <p:spPr>
            <a:xfrm>
              <a:off x="10458450" y="4552950"/>
              <a:ext cx="9525" cy="695325"/>
            </a:xfrm>
            <a:custGeom>
              <a:avLst/>
              <a:gdLst/>
              <a:ahLst/>
              <a:cxnLst/>
              <a:rect l="l" t="t" r="r" b="b"/>
              <a:pathLst>
                <a:path w="9525" h="695325">
                  <a:moveTo>
                    <a:pt x="0" y="0"/>
                  </a:moveTo>
                  <a:lnTo>
                    <a:pt x="0" y="695325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248275" y="5248275"/>
              <a:ext cx="5210175" cy="9525"/>
            </a:xfrm>
            <a:custGeom>
              <a:avLst/>
              <a:gdLst/>
              <a:ahLst/>
              <a:cxnLst/>
              <a:rect l="l" t="t" r="r" b="b"/>
              <a:pathLst>
                <a:path w="5210175" h="9525">
                  <a:moveTo>
                    <a:pt x="521017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248275" y="2914650"/>
              <a:ext cx="9525" cy="2333625"/>
            </a:xfrm>
            <a:custGeom>
              <a:avLst/>
              <a:gdLst/>
              <a:ahLst/>
              <a:cxnLst/>
              <a:rect l="l" t="t" r="r" b="b"/>
              <a:pathLst>
                <a:path w="9525" h="2333625">
                  <a:moveTo>
                    <a:pt x="0" y="23336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5248275" y="2914650"/>
              <a:ext cx="1028700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74114" y="496043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恢复后仍需版本审核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00" y="5743575"/>
            <a:ext cx="11125200" cy="599122"/>
            <a:chOff x="533400" y="5743575"/>
            <a:chExt cx="11125200" cy="599122"/>
          </a:xfrm>
        </p:grpSpPr>
        <p:sp>
          <p:nvSpPr>
            <p:cNvPr id="34" name="Line 34"/>
            <p:cNvSpPr/>
            <p:nvPr/>
          </p:nvSpPr>
          <p:spPr>
            <a:xfrm>
              <a:off x="533400" y="57435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115752" y="5902642"/>
              <a:ext cx="39604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生产系统必须设计失败路径。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9"/>
          <p:cNvGrpSpPr/>
          <p:nvPr/>
        </p:nvGrpSpPr>
        <p:grpSpPr>
          <a:xfrm>
            <a:off x="11227664" y="6379845"/>
            <a:ext cx="435698" cy="176212"/>
            <a:chOff x="11227664" y="6379845"/>
            <a:chExt cx="435698" cy="176212"/>
          </a:xfrm>
        </p:grpSpPr>
        <p:sp>
          <p:nvSpPr>
            <p:cNvPr id="68" name="TextBox 68"/>
            <p:cNvSpPr txBox="1"/>
            <p:nvPr/>
          </p:nvSpPr>
          <p:spPr>
            <a:xfrm>
              <a:off x="11227664" y="637984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05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9303" y="767239"/>
            <a:ext cx="6390335" cy="542734"/>
            <a:chOff x="519303" y="767239"/>
            <a:chExt cx="6390335" cy="542734"/>
          </a:xfrm>
        </p:grpSpPr>
        <p:sp>
          <p:nvSpPr>
            <p:cNvPr id="3" name="TextBox 3"/>
            <p:cNvSpPr txBox="1"/>
            <p:nvPr/>
          </p:nvSpPr>
          <p:spPr>
            <a:xfrm>
              <a:off x="519303" y="767239"/>
              <a:ext cx="6390335" cy="542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实时系统最难的不是实时，而是一致性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38554" y="1959674"/>
            <a:ext cx="9332138" cy="3296887"/>
            <a:chOff x="1438554" y="1959674"/>
            <a:chExt cx="9332138" cy="3296887"/>
          </a:xfrm>
        </p:grpSpPr>
        <p:sp>
          <p:nvSpPr>
            <p:cNvPr id="5" name="TextBox 5"/>
            <p:cNvSpPr txBox="1"/>
            <p:nvPr/>
          </p:nvSpPr>
          <p:spPr>
            <a:xfrm>
              <a:off x="4248531" y="1959674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医生看到失败，任务却还在继续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971675" y="2857500"/>
              <a:ext cx="2324100" cy="1"/>
            </a:xfrm>
            <a:prstGeom prst="line">
              <a:avLst/>
            </a:prstGeom>
            <a:noFill/>
            <a:ln w="28575">
              <a:solidFill>
                <a:srgbClr val="FF6381"/>
              </a:solidFill>
              <a:tailEnd type="arrow" w="med" len="med"/>
            </a:ln>
          </p:spPr>
        </p:sp>
        <p:sp>
          <p:nvSpPr>
            <p:cNvPr id="7" name="Line 7"/>
            <p:cNvSpPr/>
            <p:nvPr/>
          </p:nvSpPr>
          <p:spPr>
            <a:xfrm>
              <a:off x="4752975" y="2857500"/>
              <a:ext cx="2324100" cy="1"/>
            </a:xfrm>
            <a:prstGeom prst="line">
              <a:avLst/>
            </a:prstGeom>
            <a:noFill/>
            <a:ln w="28575">
              <a:solidFill>
                <a:srgbClr val="FF6381"/>
              </a:solidFill>
              <a:tailEnd type="arrow" w="med" len="med"/>
            </a:ln>
          </p:spPr>
        </p:sp>
        <p:sp>
          <p:nvSpPr>
            <p:cNvPr id="8" name="Line 8"/>
            <p:cNvSpPr/>
            <p:nvPr/>
          </p:nvSpPr>
          <p:spPr>
            <a:xfrm>
              <a:off x="7534275" y="2857500"/>
              <a:ext cx="2409825" cy="1"/>
            </a:xfrm>
            <a:prstGeom prst="line">
              <a:avLst/>
            </a:prstGeom>
            <a:noFill/>
            <a:ln w="28575">
              <a:solidFill>
                <a:srgbClr val="FF6381"/>
              </a:solidFill>
              <a:tailEnd type="arrow" w="med" len="med"/>
            </a:ln>
          </p:spPr>
        </p:sp>
        <p:sp>
          <p:nvSpPr>
            <p:cNvPr id="9" name="Ellipse 9"/>
            <p:cNvSpPr/>
            <p:nvPr/>
          </p:nvSpPr>
          <p:spPr>
            <a:xfrm>
              <a:off x="1638300" y="2752725"/>
              <a:ext cx="209550" cy="2095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38554" y="3211925"/>
              <a:ext cx="60904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断网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419600" y="2752725"/>
              <a:ext cx="209550" cy="209550"/>
            </a:xfrm>
            <a:prstGeom prst="ellipse">
              <a:avLst/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19854" y="3211925"/>
              <a:ext cx="60904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恢复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00900" y="2752725"/>
              <a:ext cx="209550" cy="2095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07683" y="3211925"/>
              <a:ext cx="11959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重复事件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067925" y="2752725"/>
              <a:ext cx="209550" cy="2095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74708" y="3211925"/>
              <a:ext cx="11959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状态异常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30471" y="3969258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根因：缺少可靠恢复边界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962275" y="4972050"/>
              <a:ext cx="1704975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</p:sp>
        <p:sp>
          <p:nvSpPr>
            <p:cNvPr id="19" name="Line 19"/>
            <p:cNvSpPr/>
            <p:nvPr/>
          </p:nvSpPr>
          <p:spPr>
            <a:xfrm>
              <a:off x="7058025" y="4972050"/>
              <a:ext cx="1695450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26083" y="4831175"/>
              <a:ext cx="11959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事件编号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36083" y="4831175"/>
              <a:ext cx="11959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断点恢复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8129" y="4831175"/>
              <a:ext cx="60904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去重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5743575"/>
            <a:ext cx="11125200" cy="599122"/>
            <a:chOff x="533400" y="5743575"/>
            <a:chExt cx="11125200" cy="599122"/>
          </a:xfrm>
        </p:grpSpPr>
        <p:sp>
          <p:nvSpPr>
            <p:cNvPr id="24" name="Line 24"/>
            <p:cNvSpPr/>
            <p:nvPr/>
          </p:nvSpPr>
          <p:spPr>
            <a:xfrm>
              <a:off x="533400" y="57435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67200" y="5902642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实时性建立在一致性之上。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4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73" name="TextBox 73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06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9684" y="775335"/>
            <a:ext cx="6933438" cy="528066"/>
            <a:chOff x="519684" y="775335"/>
            <a:chExt cx="6933438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519684" y="77533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医疗审核不是一个按钮，而是一种责任状态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2155031"/>
            <a:ext cx="11125200" cy="3466100"/>
            <a:chOff x="533400" y="2155031"/>
            <a:chExt cx="11125200" cy="3466100"/>
          </a:xfrm>
        </p:grpSpPr>
        <p:sp>
          <p:nvSpPr>
            <p:cNvPr id="5" name="TextBox 5"/>
            <p:cNvSpPr txBox="1"/>
            <p:nvPr/>
          </p:nvSpPr>
          <p:spPr>
            <a:xfrm>
              <a:off x="1046404" y="2155031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普通审核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419600" y="2705100"/>
              <a:ext cx="1685925" cy="1"/>
            </a:xfrm>
            <a:prstGeom prst="line">
              <a:avLst/>
            </a:prstGeom>
            <a:noFill/>
            <a:ln w="23812">
              <a:solidFill>
                <a:srgbClr val="FF6381"/>
              </a:solidFill>
              <a:tailEnd type="arrow" w="med" len="med"/>
            </a:ln>
          </p:spPr>
        </p:sp>
        <p:sp>
          <p:nvSpPr>
            <p:cNvPr id="7" name="Line 7"/>
            <p:cNvSpPr/>
            <p:nvPr/>
          </p:nvSpPr>
          <p:spPr>
            <a:xfrm>
              <a:off x="7743825" y="2705100"/>
              <a:ext cx="1762125" cy="1"/>
            </a:xfrm>
            <a:prstGeom prst="line">
              <a:avLst/>
            </a:prstGeom>
            <a:noFill/>
            <a:ln w="23812">
              <a:solidFill>
                <a:srgbClr val="FF6381"/>
              </a:solidFill>
              <a:tailEnd type="arrow" w="med" len="med"/>
            </a:ln>
          </p:spPr>
        </p:sp>
        <p:sp>
          <p:nvSpPr>
            <p:cNvPr id="8" name="Ellipse 8"/>
            <p:cNvSpPr/>
            <p:nvPr/>
          </p:nvSpPr>
          <p:spPr>
            <a:xfrm>
              <a:off x="3543300" y="2638425"/>
              <a:ext cx="133350" cy="1333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055823" y="3050191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审核通过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867525" y="2638425"/>
              <a:ext cx="133350" cy="1333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80048" y="3050191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修改内容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0267950" y="2638425"/>
              <a:ext cx="133350" cy="1333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72575" y="3050191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旧审核继续有效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9481" y="3534108"/>
              <a:ext cx="1750289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变更未被医生确认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" y="3905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6404" y="4145756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责任绑定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438650" y="4600575"/>
              <a:ext cx="16383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18" name="Line 18"/>
            <p:cNvSpPr/>
            <p:nvPr/>
          </p:nvSpPr>
          <p:spPr>
            <a:xfrm>
              <a:off x="7762875" y="4600575"/>
              <a:ext cx="17145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19" name="Ellipse 19"/>
            <p:cNvSpPr/>
            <p:nvPr/>
          </p:nvSpPr>
          <p:spPr>
            <a:xfrm>
              <a:off x="3514725" y="4505325"/>
              <a:ext cx="190500" cy="1905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50033" y="49409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审核绑定具体版本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38950" y="4505325"/>
              <a:ext cx="190500" cy="1905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99276" y="49409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修改内容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0239375" y="4505325"/>
              <a:ext cx="190500" cy="190500"/>
            </a:xfrm>
            <a:prstGeom prst="ellipse">
              <a:avLst/>
            </a:prstGeom>
            <a:solidFill>
              <a:srgbClr val="087E6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799701" y="49409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87E6C"/>
                  </a:solidFill>
                  <a:latin typeface="Microsoft YaHei"/>
                  <a:ea typeface="Microsoft YaHei"/>
                  <a:cs typeface="Microsoft YaHei"/>
                </a:rPr>
                <a:t>重新审核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84163" y="5305758"/>
              <a:ext cx="1100074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旧审核失效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5743575"/>
            <a:ext cx="11125200" cy="569691"/>
            <a:chOff x="533400" y="5743575"/>
            <a:chExt cx="11125200" cy="569691"/>
          </a:xfrm>
        </p:grpSpPr>
        <p:sp>
          <p:nvSpPr>
            <p:cNvPr id="27" name="Line 27"/>
            <p:cNvSpPr/>
            <p:nvPr/>
          </p:nvSpPr>
          <p:spPr>
            <a:xfrm>
              <a:off x="533400" y="57435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94457" y="5917216"/>
              <a:ext cx="600308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医生审核的是某一个版本，而不是未来所有版本。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2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51" name="TextBox 51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07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8922" y="759142"/>
            <a:ext cx="4632960" cy="557403"/>
            <a:chOff x="518922" y="759142"/>
            <a:chExt cx="4632960" cy="557403"/>
          </a:xfrm>
        </p:grpSpPr>
        <p:sp>
          <p:nvSpPr>
            <p:cNvPr id="3" name="TextBox 3"/>
            <p:cNvSpPr txBox="1"/>
            <p:nvPr/>
          </p:nvSpPr>
          <p:spPr>
            <a:xfrm>
              <a:off x="518922" y="7591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安全设计不能牺牲医生效率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59180" y="1926241"/>
            <a:ext cx="9959518" cy="3604832"/>
            <a:chOff x="1059180" y="1926241"/>
            <a:chExt cx="9959518" cy="3604832"/>
          </a:xfrm>
        </p:grpSpPr>
        <p:sp>
          <p:nvSpPr>
            <p:cNvPr id="5" name="Line 5"/>
            <p:cNvSpPr/>
            <p:nvPr/>
          </p:nvSpPr>
          <p:spPr>
            <a:xfrm>
              <a:off x="4581525" y="1971675"/>
              <a:ext cx="9525" cy="3457575"/>
            </a:xfrm>
            <a:custGeom>
              <a:avLst/>
              <a:gdLst/>
              <a:ahLst/>
              <a:cxnLst/>
              <a:rect l="l" t="t" r="r" b="b"/>
              <a:pathLst>
                <a:path w="9525" h="3457575">
                  <a:moveTo>
                    <a:pt x="0" y="0"/>
                  </a:moveTo>
                  <a:lnTo>
                    <a:pt x="0" y="3457575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602867" y="193109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全量确认方案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2400300" y="3009900"/>
              <a:ext cx="1" cy="428625"/>
            </a:xfrm>
            <a:prstGeom prst="line">
              <a:avLst/>
            </a:prstGeom>
            <a:noFill/>
            <a:ln w="19050">
              <a:solidFill>
                <a:srgbClr val="5B718A"/>
              </a:solidFill>
              <a:tailEnd type="arrow" w="med" len="med"/>
            </a:ln>
          </p:spPr>
        </p:sp>
        <p:sp>
          <p:nvSpPr>
            <p:cNvPr id="8" name="Line 8"/>
            <p:cNvSpPr/>
            <p:nvPr/>
          </p:nvSpPr>
          <p:spPr>
            <a:xfrm>
              <a:off x="2400300" y="3876675"/>
              <a:ext cx="1" cy="428625"/>
            </a:xfrm>
            <a:prstGeom prst="line">
              <a:avLst/>
            </a:prstGeom>
            <a:noFill/>
            <a:ln w="19050">
              <a:solidFill>
                <a:srgbClr val="5B718A"/>
              </a:solidFill>
              <a:tailEnd type="arrow" w="med" len="med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24228" y="2664333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每次录音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41526" y="353110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确认全部角色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82877" y="4397883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打断工作流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180" y="516998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减少遗漏，却增加确认操作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91907" y="1926241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按风险分流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867400" y="3048000"/>
              <a:ext cx="1219200" cy="1219200"/>
            </a:xfrm>
            <a:prstGeom prst="ellipse">
              <a:avLst/>
            </a:prstGeom>
            <a:solidFill>
              <a:srgbClr val="071A33"/>
            </a:solidFill>
            <a:ln w="19050">
              <a:solidFill>
                <a:srgbClr val="20D9E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53633" y="3346418"/>
              <a:ext cx="1046734" cy="756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zh-CN" sz="202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角色质量</a:t>
              </a:r>
              <a:br/>
              <a:r>
                <a:rPr lang="zh-CN" sz="202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判断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086600" y="3657600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23812">
              <a:solidFill>
                <a:srgbClr val="23D7B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791450" y="283845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81915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23D7B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791450" y="2838450"/>
              <a:ext cx="1304925" cy="1"/>
            </a:xfrm>
            <a:prstGeom prst="line">
              <a:avLst/>
            </a:prstGeom>
            <a:noFill/>
            <a:ln w="23812">
              <a:solidFill>
                <a:srgbClr val="23D7B0"/>
              </a:solidFill>
              <a:tailEnd type="arrow" w="med" len="med"/>
            </a:ln>
          </p:spPr>
        </p:sp>
        <p:sp>
          <p:nvSpPr>
            <p:cNvPr id="19" name="Line 19"/>
            <p:cNvSpPr/>
            <p:nvPr/>
          </p:nvSpPr>
          <p:spPr>
            <a:xfrm>
              <a:off x="7086600" y="3657600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23812">
              <a:solidFill>
                <a:srgbClr val="2F7CF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791450" y="3657600"/>
              <a:ext cx="9525" cy="847725"/>
            </a:xfrm>
            <a:custGeom>
              <a:avLst/>
              <a:gdLst/>
              <a:ahLst/>
              <a:cxnLst/>
              <a:rect l="l" t="t" r="r" b="b"/>
              <a:pathLst>
                <a:path w="9525" h="847725">
                  <a:moveTo>
                    <a:pt x="0" y="0"/>
                  </a:moveTo>
                  <a:lnTo>
                    <a:pt x="0" y="847725"/>
                  </a:lnTo>
                </a:path>
              </a:pathLst>
            </a:custGeom>
            <a:noFill/>
            <a:ln w="23812">
              <a:solidFill>
                <a:srgbClr val="2F7CF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791450" y="4505325"/>
              <a:ext cx="1304925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10394" y="2469547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dirty="0">
                  <a:solidFill>
                    <a:srgbClr val="087E6C"/>
                  </a:solidFill>
                  <a:latin typeface="Microsoft YaHei"/>
                  <a:ea typeface="Microsoft YaHei"/>
                  <a:cs typeface="Microsoft YaHei"/>
                </a:rPr>
                <a:t>质量达标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45802" y="286883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087E6C"/>
                  </a:solidFill>
                  <a:latin typeface="Microsoft YaHei"/>
                  <a:ea typeface="Microsoft YaHei"/>
                  <a:cs typeface="Microsoft YaHei"/>
                </a:rPr>
                <a:t>自动继续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10394" y="4145947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存在疑点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45802" y="454523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集中确认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98334" y="5193697"/>
              <a:ext cx="2796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按说话人聚合，不逐句打断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5743575"/>
            <a:ext cx="11125200" cy="564785"/>
            <a:chOff x="533400" y="5743575"/>
            <a:chExt cx="11125200" cy="564785"/>
          </a:xfrm>
        </p:grpSpPr>
        <p:sp>
          <p:nvSpPr>
            <p:cNvPr id="28" name="Line 28"/>
            <p:cNvSpPr/>
            <p:nvPr/>
          </p:nvSpPr>
          <p:spPr>
            <a:xfrm>
              <a:off x="533400" y="57435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05125" y="5919645"/>
              <a:ext cx="6181750" cy="388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9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优秀安全机制应该减少医生负担，而不是增加操作。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3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82" name="TextBox 82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08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20065" y="783431"/>
            <a:ext cx="7080758" cy="513398"/>
            <a:chOff x="520065" y="783431"/>
            <a:chExt cx="7080758" cy="5133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783431"/>
              <a:ext cx="7080758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最终价值不是生成病历，而是改变医生工作流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13079" y="1731645"/>
            <a:ext cx="10545521" cy="3973830"/>
            <a:chOff x="1113079" y="1731645"/>
            <a:chExt cx="10545521" cy="3973830"/>
          </a:xfrm>
        </p:grpSpPr>
        <p:sp>
          <p:nvSpPr>
            <p:cNvPr id="5" name="TextBox 5"/>
            <p:cNvSpPr txBox="1"/>
            <p:nvPr/>
          </p:nvSpPr>
          <p:spPr>
            <a:xfrm>
              <a:off x="1113079" y="1888331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原有方式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82485" y="1888331"/>
              <a:ext cx="134073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POC工作流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628775" y="2895600"/>
              <a:ext cx="1" cy="352425"/>
            </a:xfrm>
            <a:prstGeom prst="line">
              <a:avLst/>
            </a:prstGeom>
            <a:noFill/>
            <a:ln w="19050">
              <a:solidFill>
                <a:srgbClr val="B8C6D9"/>
              </a:solidFill>
              <a:tailEnd type="arrow" w="med" len="med"/>
            </a:ln>
          </p:spPr>
        </p:sp>
        <p:sp>
          <p:nvSpPr>
            <p:cNvPr id="8" name="Line 8"/>
            <p:cNvSpPr/>
            <p:nvPr/>
          </p:nvSpPr>
          <p:spPr>
            <a:xfrm>
              <a:off x="1628775" y="3686175"/>
              <a:ext cx="1" cy="352425"/>
            </a:xfrm>
            <a:prstGeom prst="line">
              <a:avLst/>
            </a:prstGeom>
            <a:noFill/>
            <a:ln w="19050">
              <a:solidFill>
                <a:srgbClr val="B8C6D9"/>
              </a:solidFill>
              <a:tailEnd type="arrow" w="med" len="med"/>
            </a:ln>
          </p:spPr>
        </p:sp>
        <p:sp>
          <p:nvSpPr>
            <p:cNvPr id="9" name="Line 9"/>
            <p:cNvSpPr/>
            <p:nvPr/>
          </p:nvSpPr>
          <p:spPr>
            <a:xfrm>
              <a:off x="1628775" y="4476750"/>
              <a:ext cx="1" cy="352425"/>
            </a:xfrm>
            <a:prstGeom prst="line">
              <a:avLst/>
            </a:prstGeom>
            <a:noFill/>
            <a:ln w="19050">
              <a:solidFill>
                <a:srgbClr val="B8C6D9"/>
              </a:solidFill>
              <a:tailEnd type="arrow" w="med" len="med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6556" y="2554891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问诊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6556" y="3345466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记忆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46556" y="4136041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整理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6556" y="4926616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录入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752850" y="2895600"/>
              <a:ext cx="1" cy="352425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</p:sp>
        <p:sp>
          <p:nvSpPr>
            <p:cNvPr id="15" name="Line 15"/>
            <p:cNvSpPr/>
            <p:nvPr/>
          </p:nvSpPr>
          <p:spPr>
            <a:xfrm>
              <a:off x="3752850" y="3686175"/>
              <a:ext cx="1" cy="352425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</p:sp>
        <p:sp>
          <p:nvSpPr>
            <p:cNvPr id="16" name="Line 16"/>
            <p:cNvSpPr/>
            <p:nvPr/>
          </p:nvSpPr>
          <p:spPr>
            <a:xfrm>
              <a:off x="3752850" y="4476750"/>
              <a:ext cx="1" cy="352425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70631" y="2554891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问诊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27020" y="3345466"/>
              <a:ext cx="85166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AI整理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98698" y="4136041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23D7B0"/>
                  </a:solidFill>
                  <a:latin typeface="Microsoft YaHei"/>
                  <a:ea typeface="Microsoft YaHei"/>
                  <a:cs typeface="Microsoft YaHei"/>
                </a:rPr>
                <a:t>医生审核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98698" y="4926616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完成病历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791075" y="1971675"/>
              <a:ext cx="9525" cy="3457575"/>
            </a:xfrm>
            <a:custGeom>
              <a:avLst/>
              <a:gdLst/>
              <a:ahLst/>
              <a:cxnLst/>
              <a:rect l="l" t="t" r="r" b="b"/>
              <a:pathLst>
                <a:path w="9525" h="3457575">
                  <a:moveTo>
                    <a:pt x="0" y="0"/>
                  </a:moveTo>
                  <a:lnTo>
                    <a:pt x="0" y="3457575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7325" y="2057400"/>
              <a:ext cx="6391275" cy="3648075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7339965" y="17316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医生工作台（演示数据）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5743575"/>
            <a:ext cx="11125200" cy="599122"/>
            <a:chOff x="533400" y="5743575"/>
            <a:chExt cx="11125200" cy="599122"/>
          </a:xfrm>
        </p:grpSpPr>
        <p:sp>
          <p:nvSpPr>
            <p:cNvPr id="25" name="Line 25"/>
            <p:cNvSpPr/>
            <p:nvPr/>
          </p:nvSpPr>
          <p:spPr>
            <a:xfrm>
              <a:off x="533400" y="57435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021512" y="5902642"/>
              <a:ext cx="41489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AI负责整理，医生负责判断。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25162" y="6418326"/>
            <a:ext cx="1789176" cy="234696"/>
            <a:chOff x="4725162" y="6418326"/>
            <a:chExt cx="1789176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725162" y="6418326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流程已贯通，效率待实测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5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64" name="TextBox 64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09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8922" y="759142"/>
            <a:ext cx="5681022" cy="557403"/>
            <a:chOff x="518922" y="759142"/>
            <a:chExt cx="5681022" cy="557403"/>
          </a:xfrm>
        </p:grpSpPr>
        <p:sp>
          <p:nvSpPr>
            <p:cNvPr id="3" name="TextBox 3"/>
            <p:cNvSpPr txBox="1"/>
            <p:nvPr/>
          </p:nvSpPr>
          <p:spPr>
            <a:xfrm>
              <a:off x="518922" y="759142"/>
              <a:ext cx="568102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POC之后，最大的未知是什么？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1878997"/>
            <a:ext cx="11125200" cy="3664362"/>
            <a:chOff x="533400" y="1878997"/>
            <a:chExt cx="11125200" cy="3664362"/>
          </a:xfrm>
        </p:grpSpPr>
        <p:sp>
          <p:nvSpPr>
            <p:cNvPr id="5" name="TextBox 5"/>
            <p:cNvSpPr txBox="1"/>
            <p:nvPr/>
          </p:nvSpPr>
          <p:spPr>
            <a:xfrm>
              <a:off x="2064741" y="1878997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未知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55716" y="1878997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验证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526448" y="1878997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要回答的问题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714375" y="2724150"/>
              <a:ext cx="95250" cy="952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46276" y="263575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真实问诊环境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981450" y="2771775"/>
              <a:ext cx="66675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543169" y="2472118"/>
              <a:ext cx="1505712" cy="728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zh-CN" sz="1950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噪声、长录音</a:t>
              </a:r>
              <a:br/>
              <a:r>
                <a:rPr lang="zh-CN" sz="1950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异常恢复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934325" y="2771775"/>
              <a:ext cx="6477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01162" y="2645473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能否完整恢复？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4375" y="3895725"/>
              <a:ext cx="95250" cy="952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46276" y="3807333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医疗知识泛化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981450" y="3943350"/>
              <a:ext cx="66675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66994" y="3643693"/>
              <a:ext cx="1258062" cy="728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zh-CN" sz="1950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字段准确性</a:t>
              </a:r>
              <a:br/>
              <a:r>
                <a:rPr lang="zh-CN" sz="1950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证据追溯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934325" y="3943350"/>
              <a:ext cx="6477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38654" y="3817048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能否解释每个字段？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4375" y="5067300"/>
              <a:ext cx="95250" cy="952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46276" y="497890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医院系统集成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981450" y="5114925"/>
              <a:ext cx="66675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66994" y="4815268"/>
              <a:ext cx="1258062" cy="728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1950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HIS/EMR</a:t>
              </a:r>
              <a:br/>
              <a:r>
                <a:rPr lang="zh-CN" sz="1950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权限、审计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934325" y="5114925"/>
              <a:ext cx="6477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01162" y="4988624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能否安全写回？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33400" y="33623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33400" y="4533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33400" y="5743575"/>
            <a:ext cx="11125200" cy="579501"/>
            <a:chOff x="533400" y="5743575"/>
            <a:chExt cx="11125200" cy="579501"/>
          </a:xfrm>
        </p:grpSpPr>
        <p:sp>
          <p:nvSpPr>
            <p:cNvPr id="29" name="Line 29"/>
            <p:cNvSpPr/>
            <p:nvPr/>
          </p:nvSpPr>
          <p:spPr>
            <a:xfrm>
              <a:off x="533400" y="57435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399663" y="5912358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下一步先验证真实场景，再扩大产品边界。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676" r="0" b="67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A33">
                  <a:alpha val="97000"/>
                </a:srgbClr>
              </a:gs>
              <a:gs pos="54000">
                <a:srgbClr val="071A33">
                  <a:alpha val="84000"/>
                </a:srgbClr>
              </a:gs>
              <a:gs pos="100000">
                <a:srgbClr val="071A33">
                  <a:alpha val="32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519321"/>
            <a:ext cx="1975817" cy="486138"/>
            <a:chOff x="590550" y="519321"/>
            <a:chExt cx="1975817" cy="486138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519321"/>
              <a:ext cx="476250" cy="466308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1210056" y="653415"/>
              <a:ext cx="1356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3786" y="2400300"/>
            <a:ext cx="3143250" cy="1717929"/>
            <a:chOff x="573786" y="2400300"/>
            <a:chExt cx="3143250" cy="1717929"/>
          </a:xfrm>
        </p:grpSpPr>
        <p:sp>
          <p:nvSpPr>
            <p:cNvPr id="7" name="Rectangle 7"/>
            <p:cNvSpPr/>
            <p:nvPr/>
          </p:nvSpPr>
          <p:spPr>
            <a:xfrm>
              <a:off x="590550" y="2400300"/>
              <a:ext cx="819150" cy="47625"/>
            </a:xfrm>
            <a:prstGeom prst="roundRect">
              <a:avLst>
                <a:gd name="adj" fmla="val 40000"/>
              </a:avLst>
            </a:prstGeom>
            <a:gradFill>
              <a:gsLst>
                <a:gs pos="0">
                  <a:srgbClr val="20D9E8"/>
                </a:gs>
                <a:gs pos="100000">
                  <a:srgbClr val="2F7CF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3786" y="28632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让医生把注意力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3786" y="3472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还给</a:t>
              </a:r>
              <a:r>
                <a:rPr lang="zh-CN" sz="33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患者</a:t>
              </a:r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3875" y="4743926"/>
            <a:ext cx="5381625" cy="894874"/>
            <a:chOff x="523875" y="4743926"/>
            <a:chExt cx="5381625" cy="894874"/>
          </a:xfrm>
        </p:grpSpPr>
        <p:sp>
          <p:nvSpPr>
            <p:cNvPr id="16" name="TextBox 9"/>
            <p:cNvSpPr txBox="1"/>
            <p:nvPr/>
          </p:nvSpPr>
          <p:spPr>
            <a:xfrm>
              <a:off x="570738" y="4743926"/>
              <a:ext cx="2329434" cy="756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zh-CN" sz="2020" b="1" dirty="0">
                  <a:solidFill>
                    <a:srgbClr val="B8D7F5"/>
                  </a:solidFill>
                  <a:latin typeface="Microsoft YaHei"/>
                  <a:ea typeface="Microsoft YaHei"/>
                  <a:cs typeface="Microsoft YaHei"/>
                </a:rPr>
                <a:t>AI负责整理信息，</a:t>
              </a:r>
              <a:br/>
              <a:r>
                <a:rPr lang="zh-CN" sz="2020" b="1" dirty="0">
                  <a:solidFill>
                    <a:srgbClr val="B8D7F5"/>
                  </a:solidFill>
                  <a:latin typeface="Microsoft YaHei"/>
                  <a:ea typeface="Microsoft YaHei"/>
                  <a:cs typeface="Microsoft YaHei"/>
                </a:rPr>
                <a:t>医生负责判断责任。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90550" y="5562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23875" y="5495925"/>
              <a:ext cx="133350" cy="1333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53100" y="5486400"/>
              <a:ext cx="152400" cy="15240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edilisten_poc_review">
  <a:themeElements>
    <a:clrScheme name="medilisten_poc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listen_poc_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listen_poc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edilisten_poc_review">
  <a:themeElements>
    <a:clrScheme name="medilisten_poc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listen_poc_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listen_poc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2026-09-06T14:14:23Z</dcterms:created>
  <dcterms:modified xsi:type="dcterms:W3CDTF">2026-09-06T14:14:23Z</dcterms:modified>
  <cp:category/>
  <cp:contentStatus/>
</cp:coreProperties>
</file>