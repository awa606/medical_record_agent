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60" r:id="rId5"/>
    <p:sldId id="262" r:id="rId6"/>
    <p:sldId id="263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96" y="3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lang="en-US" sz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POC已经让我们看到病历草稿、风险控制与医生确认如何组成一条工程链路，下一步要判断的是这条链路在更接近使用现场时是否仍然可靠。这次沿着核心技术瓶颈、产品可信度待验证问题、重构与遗憾展开，把已有基础和进入EVT工程验证前仍需回答的问题分开。这里的工程验证不等于临床准入，也不意味着医生收益已经得到证明。</a:t>
            </a:r>
          </a:p>
          <a:p>
            <a:endParaRPr lang="en-US" dirty="0"/>
          </a:p>
          <a:p>
            <a:r>
              <a:rPr lang="zh-CN" dirty="0"/>
              <a:t>来源：https://github.com/awa606/medical_record_agent/tree/690b72cef39a038bbd9edd561dbe72dc4c92a24d ，https://github.com/awa606/medical_record_agent/blob/690b72cef39a038bbd9edd561dbe72dc4c92a24d/docs/doctor_workbench_acceptance_v1_0.md#L7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转写文字正确，只解决了说了什么，还没有保证系统正确理解否定、时间、实体与上下文，例如否认发热和曾经发热但已经缓解，不能被整理为同一种当前状态。冻结版本已经有临床事实提取、字段状态和否定语义的回归用例，不能把这一基础说成完全缺失。尚需验证的是这些处理在不同问诊表达、真实模型和未知样本上能否保持一致，而不是只看句子是否通顺。后续应开展字段级盲测，对照原始表达核查状态、内容与证据关系，并单独记录高风险错误。</a:t>
            </a:r>
          </a:p>
          <a:p>
            <a:endParaRPr lang="en-US" dirty="0"/>
          </a:p>
          <a:p>
            <a:r>
              <a:rPr lang="zh-CN" dirty="0"/>
              <a:t>来源：https://github.com/awa606/medical_record_agent/blob/690b72cef39a038bbd9edd561dbe72dc4c92a24d/tests/test_clinical_fact_extraction.py#L46 ，https://github.com/awa606/medical_record_agent/blob/690b72cef39a038bbd9edd561dbe72dc4c92a24d/data/clinical_e2e/field_disease_pack_v1/README.md#L3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有合成样本和说话人评测基线覆盖双人、家属参与、单人朗读以及部分噪声和重叠场景，这为复现问题提供了基础。但当前基线依赖合成转写和预测产物，不能代替真实问诊音频全链路验证，更不能据此宣称方言、多人插话和长录音都已可靠。进入工程验证后，需要按场景回放真实环境特征，在长录音中注入断连等异常，分别检查角色、内容与恢复结果。验收结论只能覆盖实际执行的场景，不把一次样本通过扩展成所有环境可用。</a:t>
            </a:r>
          </a:p>
          <a:p>
            <a:endParaRPr lang="en-US" dirty="0"/>
          </a:p>
          <a:p>
            <a:r>
              <a:rPr lang="zh-CN" dirty="0"/>
              <a:t>来源：https://github.com/awa606/medical_record_agent/blob/690b72cef39a038bbd9edd561dbe72dc4c92a24d/data/asr_eval/executable_clinical_v1/README.md#L7 ，https://github.com/awa606/medical_record_agent/blob/690b72cef39a038bbd9edd561dbe72dc4c92a24d/data/asr_eval/executable_clinical_v1/README.md#L77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这一项是产品可信度待验证问题，不是对已经发生临床事故的复述。系统已有字段来源、片段定位、事实关联和缺证据检查，但存在证据链接，不等于链接中的内容充分支持病历字段。现有证据覆盖指标主要统计引用是否存在，真实模型路径也没有启用严格原文匹配，因此不能把有引用当作语义正确性的证明。后续需要逐字段检查证据支持关系，并测量医生定位原文、核对依据所需的时间，验证证据层是否真正帮助判断。</a:t>
            </a:r>
          </a:p>
          <a:p>
            <a:endParaRPr lang="en-US" dirty="0"/>
          </a:p>
          <a:p>
            <a:r>
              <a:rPr lang="zh-CN" dirty="0"/>
              <a:t>来源：https://github.com/awa606/medical_record_agent/blob/690b72cef39a038bbd9edd561dbe72dc4c92a24d/app/schemas/medical_record.py#L8 ，https://github.com/awa606/medical_record_agent/blob/690b72cef39a038bbd9edd561dbe72dc4c92a24d/app/services/clinical_facts.py#L180 ，https://github.com/awa606/medical_record_agent/blob/690b72cef39a038bbd9edd561dbe72dc4c92a24d/app/services/llm/llm_record_generator.py#L101 ，https://github.com/awa606/medical_record_agent/blob/690b72cef39a038bbd9edd561dbe72dc4c92a24d/scripts/evaluate_clinical_e2e_dataset.py#L277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技术选型上的反思，是在接入一个模型时就考虑它可能被替换，而不是等质量、成本或部署条件改变后再临时适配。冻结版本已经有统一模型接口、多个适配实现和实际调用来源记录，严格模式也限制了字段提取失败后的演示降级，所以这里不是承诺从零补建接口。真正需要补强的是替换模型之后的独立质量验收，因为接口兼容只说明能够调用，不说明病历内容质量相同。我们应把稳定演示、真实模型评测和部署约束分别看待，再用同一套冻结任务比较候选模型的输出质量、延迟和失败行为。</a:t>
            </a:r>
          </a:p>
          <a:p>
            <a:endParaRPr lang="en-US" dirty="0"/>
          </a:p>
          <a:p>
            <a:r>
              <a:rPr lang="zh-CN" dirty="0"/>
              <a:t>来源：https://github.com/awa606/medical_record_agent/blob/690b72cef39a038bbd9edd561dbe72dc4c92a24d/app/services/llm/base.py#L15 ，https://github.com/awa606/medical_record_agent/blob/690b72cef39a038bbd9edd561dbe72dc4c92a24d/app/services/llm/factory.py#L14 ，https://github.com/awa606/medical_record_agent/blob/690b72cef39a038bbd9edd561dbe72dc4c92a24d/app/services/llm/llm_record_generator.py#L125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架构上的教训，是应该在扩展页面和功能前先明确患者、问诊、病历修订与审批的关系，否则容易把内容变化误当成一次普通保存。冻结版本已经建立这些领域对象，并把审批关联到具体修订，修改后旧审批失效，导出要求当前版本有效审批。反思不是系统现在没有领域模型，而是如果更早围绕责任边界设计对象关系，就能更早发现状态和内容不一致的问题。后续用修改、重新审核、异常恢复和导出场景开展走查与状态约束测试，检验复杂状态组合是否仍遵守这些关系，避免在新增页面中再建立一套独立状态。</a:t>
            </a:r>
          </a:p>
          <a:p>
            <a:endParaRPr lang="en-US" dirty="0"/>
          </a:p>
          <a:p>
            <a:r>
              <a:rPr lang="zh-CN" dirty="0"/>
              <a:t>来源：https://github.com/awa606/medical_record_agent/blob/690b72cef39a038bbd9edd561dbe72dc4c92a24d/app/db/sqlite.py#L100 ，https://github.com/awa606/medical_record_agent/blob/690b72cef39a038bbd9edd561dbe72dc4c92a24d/app/db/sqlite.py#L622 ，https://github.com/awa606/medical_record_agent/blob/690b72cef39a038bbd9edd561dbe72dc4c92a24d/tests/test_encounter_workflow.py#L77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AI负责整理信息，医生保留医疗内容的判断与确认，是我们持续验证的产品分工。团队仍然承担系统可靠性、证据可追溯和风险阻断的工程责任，医生审核并不替代这些责任。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edilisten_poc_review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edilisten_poc_review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25280" b="2528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781050"/>
          </a:xfrm>
          <a:prstGeom prst="rect">
            <a:avLst/>
          </a:prstGeom>
          <a:solidFill>
            <a:srgbClr val="071A33"/>
          </a:soli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Rectangle 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8000"/>
                </a:srgbClr>
              </a:gs>
              <a:gs pos="48000">
                <a:srgbClr val="071A33">
                  <a:alpha val="94000"/>
                </a:srgbClr>
              </a:gs>
              <a:gs pos="78000">
                <a:srgbClr val="071A33">
                  <a:alpha val="42000"/>
                </a:srgbClr>
              </a:gs>
              <a:gs pos="100000">
                <a:srgbClr val="071A33">
                  <a:alpha val="10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7" name="Group 7"/>
          <p:cNvGrpSpPr/>
          <p:nvPr/>
        </p:nvGrpSpPr>
        <p:grpSpPr>
          <a:xfrm>
            <a:off x="590550" y="462568"/>
            <a:ext cx="2165663" cy="520888"/>
            <a:chOff x="590550" y="462568"/>
            <a:chExt cx="2165663" cy="520888"/>
          </a:xfrm>
        </p:grpSpPr>
        <p:pic>
          <p:nvPicPr>
            <p:cNvPr id="5" name="Image 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50" y="462568"/>
              <a:ext cx="514350" cy="503613"/>
            </a:xfrm>
            <a:prstGeom prst="rect">
              <a:avLst/>
            </a:prstGeom>
          </p:spPr>
        </p:pic>
        <p:sp>
          <p:nvSpPr>
            <p:cNvPr id="6" name="TextBox 6"/>
            <p:cNvSpPr txBox="1"/>
            <p:nvPr/>
          </p:nvSpPr>
          <p:spPr>
            <a:xfrm>
              <a:off x="1247775" y="616744"/>
              <a:ext cx="150843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80" b="1" spc="75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8991600" y="5848350"/>
            <a:ext cx="1200150" cy="447675"/>
            <a:chOff x="8991600" y="5848350"/>
            <a:chExt cx="1200150" cy="447675"/>
          </a:xfrm>
        </p:grpSpPr>
        <p:sp>
          <p:nvSpPr>
            <p:cNvPr id="20" name="Rectangle 20"/>
            <p:cNvSpPr/>
            <p:nvPr/>
          </p:nvSpPr>
          <p:spPr>
            <a:xfrm>
              <a:off x="8991600" y="6029325"/>
              <a:ext cx="114300" cy="85725"/>
            </a:xfrm>
            <a:prstGeom prst="roundRect">
              <a:avLst>
                <a:gd name="adj" fmla="val 44444"/>
              </a:avLst>
            </a:prstGeom>
            <a:solidFill>
              <a:srgbClr val="20D9E8">
                <a:alpha val="5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72575" y="5943600"/>
              <a:ext cx="114300" cy="257175"/>
            </a:xfrm>
            <a:prstGeom prst="roundRect">
              <a:avLst>
                <a:gd name="adj" fmla="val 33333"/>
              </a:avLst>
            </a:prstGeom>
            <a:solidFill>
              <a:srgbClr val="20D9E8">
                <a:alpha val="70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Rectangle 22"/>
            <p:cNvSpPr/>
            <p:nvPr/>
          </p:nvSpPr>
          <p:spPr>
            <a:xfrm>
              <a:off x="9353550" y="5848350"/>
              <a:ext cx="114300" cy="44767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3"/>
            <p:cNvSpPr/>
            <p:nvPr/>
          </p:nvSpPr>
          <p:spPr>
            <a:xfrm>
              <a:off x="9534525" y="5991225"/>
              <a:ext cx="114300" cy="16192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Rectangle 24"/>
            <p:cNvSpPr/>
            <p:nvPr/>
          </p:nvSpPr>
          <p:spPr>
            <a:xfrm>
              <a:off x="9715500" y="5895975"/>
              <a:ext cx="114300" cy="352425"/>
            </a:xfrm>
            <a:prstGeom prst="roundRect">
              <a:avLst>
                <a:gd name="adj" fmla="val 33333"/>
              </a:avLst>
            </a:prstGeom>
            <a:solidFill>
              <a:srgbClr val="20D9E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Rectangle 25"/>
            <p:cNvSpPr/>
            <p:nvPr/>
          </p:nvSpPr>
          <p:spPr>
            <a:xfrm>
              <a:off x="9896475" y="5962650"/>
              <a:ext cx="114300" cy="219075"/>
            </a:xfrm>
            <a:prstGeom prst="roundRect">
              <a:avLst>
                <a:gd name="adj" fmla="val 33333"/>
              </a:avLst>
            </a:prstGeom>
            <a:solidFill>
              <a:srgbClr val="2F7C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0077450" y="6019800"/>
              <a:ext cx="114300" cy="104775"/>
            </a:xfrm>
            <a:prstGeom prst="roundRect">
              <a:avLst>
                <a:gd name="adj" fmla="val 36364"/>
              </a:avLst>
            </a:prstGeom>
            <a:solidFill>
              <a:srgbClr val="20D9E8">
                <a:alpha val="65000"/>
              </a:srgbClr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33400" y="5486400"/>
            <a:ext cx="4600600" cy="653701"/>
            <a:chOff x="633400" y="5486400"/>
            <a:chExt cx="4600600" cy="653701"/>
          </a:xfrm>
        </p:grpSpPr>
        <p:sp>
          <p:nvSpPr>
            <p:cNvPr id="19" name="Line 19"/>
            <p:cNvSpPr/>
            <p:nvPr/>
          </p:nvSpPr>
          <p:spPr>
            <a:xfrm>
              <a:off x="1219200" y="5562600"/>
              <a:ext cx="156210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0" name="Line 20"/>
            <p:cNvSpPr/>
            <p:nvPr/>
          </p:nvSpPr>
          <p:spPr>
            <a:xfrm>
              <a:off x="3086100" y="5562600"/>
              <a:ext cx="156210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" name="Ellipse 21"/>
            <p:cNvSpPr/>
            <p:nvPr/>
          </p:nvSpPr>
          <p:spPr>
            <a:xfrm>
              <a:off x="990600" y="5486400"/>
              <a:ext cx="152400" cy="15240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2" name="TextBox 22"/>
            <p:cNvSpPr txBox="1"/>
            <p:nvPr/>
          </p:nvSpPr>
          <p:spPr>
            <a:xfrm>
              <a:off x="633400" y="5832062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生成能力</a:t>
              </a:r>
            </a:p>
          </p:txBody>
        </p:sp>
        <p:sp>
          <p:nvSpPr>
            <p:cNvPr id="33" name="Ellipse 23"/>
            <p:cNvSpPr/>
            <p:nvPr/>
          </p:nvSpPr>
          <p:spPr>
            <a:xfrm>
              <a:off x="2857500" y="5486400"/>
              <a:ext cx="152400" cy="152400"/>
            </a:xfrm>
            <a:prstGeom prst="ellipse">
              <a:avLst/>
            </a:prstGeom>
            <a:solidFill>
              <a:srgbClr val="20D9E8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TextBox 24"/>
            <p:cNvSpPr txBox="1"/>
            <p:nvPr/>
          </p:nvSpPr>
          <p:spPr>
            <a:xfrm>
              <a:off x="2500300" y="5832062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风险控制</a:t>
              </a:r>
            </a:p>
          </p:txBody>
        </p:sp>
        <p:sp>
          <p:nvSpPr>
            <p:cNvPr id="35" name="Ellipse 25"/>
            <p:cNvSpPr/>
            <p:nvPr/>
          </p:nvSpPr>
          <p:spPr>
            <a:xfrm>
              <a:off x="4724400" y="5486400"/>
              <a:ext cx="152400" cy="1524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6" name="TextBox 26"/>
            <p:cNvSpPr txBox="1"/>
            <p:nvPr/>
          </p:nvSpPr>
          <p:spPr>
            <a:xfrm>
              <a:off x="4367200" y="5832062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可信交付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63118" y="4251008"/>
            <a:ext cx="1567434" cy="888492"/>
            <a:chOff x="563118" y="4251008"/>
            <a:chExt cx="1567434" cy="888492"/>
          </a:xfrm>
        </p:grpSpPr>
        <p:sp>
          <p:nvSpPr>
            <p:cNvPr id="14" name="TextBox 14"/>
            <p:cNvSpPr txBox="1"/>
            <p:nvPr/>
          </p:nvSpPr>
          <p:spPr>
            <a:xfrm>
              <a:off x="563118" y="4251008"/>
              <a:ext cx="1567434" cy="8884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28"/>
                </a:lnSpc>
              </a:pPr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01 核心技术瓶颈</a:t>
              </a:r>
              <a:br/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02 最棘手Bug</a:t>
              </a:r>
              <a:br/>
              <a:r>
                <a:rPr lang="zh-CN" sz="165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03 重构与遗憾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552450" y="1684020"/>
            <a:ext cx="4091056" cy="2483739"/>
            <a:chOff x="552450" y="1684020"/>
            <a:chExt cx="4091056" cy="2483739"/>
          </a:xfrm>
        </p:grpSpPr>
        <p:sp>
          <p:nvSpPr>
            <p:cNvPr id="10" name="TextBox 10"/>
            <p:cNvSpPr txBox="1"/>
            <p:nvPr/>
          </p:nvSpPr>
          <p:spPr>
            <a:xfrm>
              <a:off x="552450" y="1684020"/>
              <a:ext cx="293715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9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90550" y="2343150"/>
              <a:ext cx="781050" cy="381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9308" y="2636520"/>
              <a:ext cx="408419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AI生成式电子病历辅助系统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59308" y="3255645"/>
              <a:ext cx="375989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从POC验证走向真实应用</a:t>
              </a:r>
            </a:p>
          </p:txBody>
        </p:sp>
        <p:sp>
          <p:nvSpPr>
            <p:cNvPr id="37" name="TextBox 14"/>
            <p:cNvSpPr txBox="1"/>
            <p:nvPr/>
          </p:nvSpPr>
          <p:spPr>
            <a:xfrm>
              <a:off x="562356" y="3815715"/>
              <a:ext cx="321868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POC复盘与EVT工程验证准备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roup 77"/>
          <p:cNvGrpSpPr/>
          <p:nvPr/>
        </p:nvGrpSpPr>
        <p:grpSpPr>
          <a:xfrm>
            <a:off x="11293069" y="6398895"/>
            <a:ext cx="370293" cy="138499"/>
            <a:chOff x="11293069" y="6398895"/>
            <a:chExt cx="370293" cy="138499"/>
          </a:xfrm>
        </p:grpSpPr>
        <p:sp>
          <p:nvSpPr>
            <p:cNvPr id="76" name="TextBox 76"/>
            <p:cNvSpPr txBox="1"/>
            <p:nvPr/>
          </p:nvSpPr>
          <p:spPr>
            <a:xfrm>
              <a:off x="11293069" y="6398895"/>
              <a:ext cx="370293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02 /07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8922" y="329565"/>
            <a:ext cx="6406660" cy="1120330"/>
            <a:chOff x="518922" y="329565"/>
            <a:chExt cx="6406660" cy="1120330"/>
          </a:xfrm>
        </p:grpSpPr>
        <p:sp>
          <p:nvSpPr>
            <p:cNvPr id="3" name="TextBox 3"/>
            <p:cNvSpPr txBox="1"/>
            <p:nvPr/>
          </p:nvSpPr>
          <p:spPr>
            <a:xfrm>
              <a:off x="524256" y="329565"/>
              <a:ext cx="19683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01 核心技术瓶颈①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922" y="892492"/>
              <a:ext cx="6406660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ASR正确，为什么病历仍可能错误？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1157859" y="2696528"/>
            <a:ext cx="9876282" cy="2684525"/>
            <a:chOff x="1157859" y="2696528"/>
            <a:chExt cx="9876282" cy="2684525"/>
          </a:xfrm>
        </p:grpSpPr>
        <p:sp>
          <p:nvSpPr>
            <p:cNvPr id="6" name="TextBox 6"/>
            <p:cNvSpPr txBox="1"/>
            <p:nvPr/>
          </p:nvSpPr>
          <p:spPr>
            <a:xfrm>
              <a:off x="1157859" y="26965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准确转写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396484" y="26965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语义理解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635109" y="269652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病历字段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886075" y="2857500"/>
              <a:ext cx="1762125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7543800" y="2857500"/>
              <a:ext cx="1752600" cy="1"/>
            </a:xfrm>
            <a:prstGeom prst="line">
              <a:avLst/>
            </a:prstGeom>
            <a:noFill/>
            <a:ln w="23812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6096000" y="3257550"/>
              <a:ext cx="9525" cy="323850"/>
            </a:xfrm>
            <a:custGeom>
              <a:avLst/>
              <a:gdLst/>
              <a:ahLst/>
              <a:cxnLst/>
              <a:rect l="l" t="t" r="r" b="b"/>
              <a:pathLst>
                <a:path w="9525" h="323850">
                  <a:moveTo>
                    <a:pt x="0" y="0"/>
                  </a:moveTo>
                  <a:lnTo>
                    <a:pt x="0" y="3238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3829050" y="3581400"/>
              <a:ext cx="4533900" cy="9525"/>
            </a:xfrm>
            <a:custGeom>
              <a:avLst/>
              <a:gdLst/>
              <a:ahLst/>
              <a:cxnLst/>
              <a:rect l="l" t="t" r="r" b="b"/>
              <a:pathLst>
                <a:path w="4533900" h="9525">
                  <a:moveTo>
                    <a:pt x="0" y="0"/>
                  </a:moveTo>
                  <a:lnTo>
                    <a:pt x="4533900" y="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4095750" y="3581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Line 14"/>
            <p:cNvSpPr/>
            <p:nvPr/>
          </p:nvSpPr>
          <p:spPr>
            <a:xfrm>
              <a:off x="5429250" y="3581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6762750" y="3581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8096250" y="3581400"/>
              <a:ext cx="9525" cy="171450"/>
            </a:xfrm>
            <a:custGeom>
              <a:avLst/>
              <a:gdLst/>
              <a:ahLst/>
              <a:cxnLst/>
              <a:rect l="l" t="t" r="r" b="b"/>
              <a:pathLst>
                <a:path w="9525" h="171450">
                  <a:moveTo>
                    <a:pt x="0" y="0"/>
                  </a:moveTo>
                  <a:lnTo>
                    <a:pt x="0" y="1714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692080" y="39614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否定词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894326" y="39614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时间关系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227826" y="3961448"/>
              <a:ext cx="106984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医学实体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92580" y="3961448"/>
              <a:ext cx="80733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上下文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248531" y="4999672"/>
              <a:ext cx="369493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未知病例的语义可靠性仍待验证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533400" y="5753100"/>
            <a:ext cx="11125200" cy="693420"/>
            <a:chOff x="533400" y="5753100"/>
            <a:chExt cx="11125200" cy="693420"/>
          </a:xfrm>
        </p:grpSpPr>
        <p:sp>
          <p:nvSpPr>
            <p:cNvPr id="23" name="Line 23"/>
            <p:cNvSpPr/>
            <p:nvPr/>
          </p:nvSpPr>
          <p:spPr>
            <a:xfrm>
              <a:off x="533400" y="5753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188333" y="5874544"/>
              <a:ext cx="3815334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验证：字段级盲测，对照原始证据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5179695" y="6153150"/>
              <a:ext cx="18326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高风险错误单独记录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0" name="Group 90"/>
          <p:cNvGrpSpPr/>
          <p:nvPr/>
        </p:nvGrpSpPr>
        <p:grpSpPr>
          <a:xfrm>
            <a:off x="11259405" y="6379845"/>
            <a:ext cx="403957" cy="138499"/>
            <a:chOff x="11259405" y="6379845"/>
            <a:chExt cx="403957" cy="138499"/>
          </a:xfrm>
        </p:grpSpPr>
        <p:sp>
          <p:nvSpPr>
            <p:cNvPr id="89" name="TextBox 89"/>
            <p:cNvSpPr txBox="1"/>
            <p:nvPr/>
          </p:nvSpPr>
          <p:spPr>
            <a:xfrm>
              <a:off x="11259405" y="6379845"/>
              <a:ext cx="4039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/ 07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8922" y="329565"/>
            <a:ext cx="6551295" cy="1120330"/>
            <a:chOff x="518922" y="329565"/>
            <a:chExt cx="6551295" cy="1120330"/>
          </a:xfrm>
        </p:grpSpPr>
        <p:sp>
          <p:nvSpPr>
            <p:cNvPr id="3" name="TextBox 3"/>
            <p:cNvSpPr txBox="1"/>
            <p:nvPr/>
          </p:nvSpPr>
          <p:spPr>
            <a:xfrm>
              <a:off x="524256" y="329565"/>
              <a:ext cx="196832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01 核心技术瓶颈②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922" y="892492"/>
              <a:ext cx="6551295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样本通过，为什么真实问诊仍不确定？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062609" y="2249805"/>
            <a:ext cx="10190798" cy="3131248"/>
            <a:chOff x="1062609" y="2249805"/>
            <a:chExt cx="10190798" cy="3131248"/>
          </a:xfrm>
        </p:grpSpPr>
        <p:sp>
          <p:nvSpPr>
            <p:cNvPr id="6" name="TextBox 6"/>
            <p:cNvSpPr txBox="1"/>
            <p:nvPr/>
          </p:nvSpPr>
          <p:spPr>
            <a:xfrm>
              <a:off x="1062609" y="3125152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受控样本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511094" y="3125152"/>
              <a:ext cx="174231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真实问诊？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2743200" y="3286125"/>
              <a:ext cx="876300" cy="9525"/>
            </a:xfrm>
            <a:custGeom>
              <a:avLst/>
              <a:gdLst/>
              <a:ahLst/>
              <a:cxnLst/>
              <a:rect l="l" t="t" r="r" b="b"/>
              <a:pathLst>
                <a:path w="876300" h="9525">
                  <a:moveTo>
                    <a:pt x="0" y="0"/>
                  </a:moveTo>
                  <a:lnTo>
                    <a:pt x="876300" y="0"/>
                  </a:lnTo>
                </a:path>
              </a:pathLst>
            </a:custGeom>
            <a:noFill/>
            <a:ln w="23812">
              <a:solidFill>
                <a:srgbClr val="20D9E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Line 9"/>
            <p:cNvSpPr/>
            <p:nvPr/>
          </p:nvSpPr>
          <p:spPr>
            <a:xfrm>
              <a:off x="3619500" y="2381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8572500" y="2381250"/>
              <a:ext cx="9525" cy="2000250"/>
            </a:xfrm>
            <a:custGeom>
              <a:avLst/>
              <a:gdLst/>
              <a:ahLst/>
              <a:cxnLst/>
              <a:rect l="l" t="t" r="r" b="b"/>
              <a:pathLst>
                <a:path w="9525" h="2000250">
                  <a:moveTo>
                    <a:pt x="0" y="0"/>
                  </a:moveTo>
                  <a:lnTo>
                    <a:pt x="0" y="200025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8572500" y="3286125"/>
              <a:ext cx="819150" cy="1"/>
            </a:xfrm>
            <a:prstGeom prst="line">
              <a:avLst/>
            </a:prstGeom>
            <a:noFill/>
            <a:ln w="23812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3619500" y="2381250"/>
              <a:ext cx="129540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prstDash val="lgDash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802630" y="224980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噪声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7258050" y="23812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" name="Line 15"/>
            <p:cNvSpPr/>
            <p:nvPr/>
          </p:nvSpPr>
          <p:spPr>
            <a:xfrm>
              <a:off x="3619500" y="3048000"/>
              <a:ext cx="129540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prstDash val="lgDash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802630" y="2916555"/>
              <a:ext cx="58674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方言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7258050" y="304800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Line 18"/>
            <p:cNvSpPr/>
            <p:nvPr/>
          </p:nvSpPr>
          <p:spPr>
            <a:xfrm>
              <a:off x="3619500" y="3714750"/>
              <a:ext cx="129540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prstDash val="lgDash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519928" y="35833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多人讲话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7258050" y="371475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Line 21"/>
            <p:cNvSpPr/>
            <p:nvPr/>
          </p:nvSpPr>
          <p:spPr>
            <a:xfrm>
              <a:off x="3619500" y="4381500"/>
              <a:ext cx="1295400" cy="1"/>
            </a:xfrm>
            <a:prstGeom prst="line">
              <a:avLst/>
            </a:prstGeom>
            <a:noFill/>
            <a:ln w="19050">
              <a:solidFill>
                <a:srgbClr val="20D9E8"/>
              </a:solidFill>
              <a:prstDash val="lgDash"/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519928" y="42500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异常问诊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7258050" y="4381500"/>
              <a:ext cx="1314450" cy="9525"/>
            </a:xfrm>
            <a:custGeom>
              <a:avLst/>
              <a:gdLst/>
              <a:ahLst/>
              <a:cxnLst/>
              <a:rect l="l" t="t" r="r" b="b"/>
              <a:pathLst>
                <a:path w="1314450" h="9525">
                  <a:moveTo>
                    <a:pt x="0" y="0"/>
                  </a:moveTo>
                  <a:lnTo>
                    <a:pt x="13144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  <a:prstDash val="lgDash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379786" y="4999672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样本代表性与端到端覆盖不足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533400" y="5753100"/>
            <a:ext cx="11125200" cy="693420"/>
            <a:chOff x="533400" y="5753100"/>
            <a:chExt cx="11125200" cy="693420"/>
          </a:xfrm>
        </p:grpSpPr>
        <p:sp>
          <p:nvSpPr>
            <p:cNvPr id="26" name="Line 26"/>
            <p:cNvSpPr/>
            <p:nvPr/>
          </p:nvSpPr>
          <p:spPr>
            <a:xfrm>
              <a:off x="533400" y="5753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935247" y="5874544"/>
              <a:ext cx="432150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验证：分场景回放、长录音与异常注入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271010" y="615315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分别报告结果，不用总体通过率掩盖差异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" name="Group 69"/>
          <p:cNvGrpSpPr/>
          <p:nvPr/>
        </p:nvGrpSpPr>
        <p:grpSpPr>
          <a:xfrm>
            <a:off x="11259405" y="6379845"/>
            <a:ext cx="403957" cy="138499"/>
            <a:chOff x="11259405" y="6379845"/>
            <a:chExt cx="403957" cy="138499"/>
          </a:xfrm>
        </p:grpSpPr>
        <p:sp>
          <p:nvSpPr>
            <p:cNvPr id="68" name="TextBox 68"/>
            <p:cNvSpPr txBox="1"/>
            <p:nvPr/>
          </p:nvSpPr>
          <p:spPr>
            <a:xfrm>
              <a:off x="11259405" y="6379845"/>
              <a:ext cx="4039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04 / 07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8922" y="329565"/>
            <a:ext cx="6167628" cy="1120330"/>
            <a:chOff x="518922" y="329565"/>
            <a:chExt cx="6167628" cy="1120330"/>
          </a:xfrm>
        </p:grpSpPr>
        <p:sp>
          <p:nvSpPr>
            <p:cNvPr id="3" name="TextBox 3"/>
            <p:cNvSpPr txBox="1"/>
            <p:nvPr/>
          </p:nvSpPr>
          <p:spPr>
            <a:xfrm>
              <a:off x="524256" y="329565"/>
              <a:ext cx="1506823" cy="2769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02 最棘手Bug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922" y="892492"/>
              <a:ext cx="6167628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有证据链接，医生就能确认结果吗？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525780" y="1685925"/>
            <a:ext cx="10789920" cy="3698081"/>
            <a:chOff x="525780" y="1685925"/>
            <a:chExt cx="10789920" cy="3698081"/>
          </a:xfrm>
        </p:grpSpPr>
        <p:sp>
          <p:nvSpPr>
            <p:cNvPr id="6" name="TextBox 6"/>
            <p:cNvSpPr txBox="1"/>
            <p:nvPr/>
          </p:nvSpPr>
          <p:spPr>
            <a:xfrm>
              <a:off x="525780" y="16859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产品可信度待验证问题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35405" y="2652712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生成字段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551932" y="2478405"/>
              <a:ext cx="1088136" cy="7707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证据不足</a:t>
              </a:r>
              <a:br/>
              <a:r>
                <a:rPr lang="zh-CN" sz="210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或不匹配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404985" y="2652712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F6381"/>
                  </a:solidFill>
                  <a:latin typeface="Microsoft YaHei"/>
                  <a:ea typeface="Microsoft YaHei"/>
                  <a:cs typeface="Microsoft YaHei"/>
                </a:rPr>
                <a:t>无法快速确认</a:t>
              </a:r>
            </a:p>
          </p:txBody>
        </p:sp>
        <p:sp>
          <p:nvSpPr>
            <p:cNvPr id="10" name="Line 10"/>
            <p:cNvSpPr/>
            <p:nvPr/>
          </p:nvSpPr>
          <p:spPr>
            <a:xfrm>
              <a:off x="2933700" y="2790825"/>
              <a:ext cx="1695450" cy="1"/>
            </a:xfrm>
            <a:prstGeom prst="line">
              <a:avLst/>
            </a:prstGeom>
            <a:noFill/>
            <a:ln w="22860">
              <a:solidFill>
                <a:srgbClr val="FF6381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7524750" y="2790825"/>
              <a:ext cx="1609725" cy="1"/>
            </a:xfrm>
            <a:prstGeom prst="line">
              <a:avLst/>
            </a:prstGeom>
            <a:noFill/>
            <a:ln w="22860">
              <a:solidFill>
                <a:srgbClr val="FF6381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876300" y="3486150"/>
              <a:ext cx="10439400" cy="9525"/>
            </a:xfrm>
            <a:custGeom>
              <a:avLst/>
              <a:gdLst/>
              <a:ahLst/>
              <a:cxnLst/>
              <a:rect l="l" t="t" r="r" b="b"/>
              <a:pathLst>
                <a:path w="10439400" h="9525">
                  <a:moveTo>
                    <a:pt x="0" y="0"/>
                  </a:moveTo>
                  <a:lnTo>
                    <a:pt x="104394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638300" y="4129088"/>
              <a:ext cx="62865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字段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478780" y="4129088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原文片段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07880" y="4129088"/>
              <a:ext cx="12344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时间定位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2943225" y="4267200"/>
              <a:ext cx="2095500" cy="1"/>
            </a:xfrm>
            <a:prstGeom prst="line">
              <a:avLst/>
            </a:prstGeom>
            <a:noFill/>
            <a:ln w="22860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Line 17"/>
            <p:cNvSpPr/>
            <p:nvPr/>
          </p:nvSpPr>
          <p:spPr>
            <a:xfrm>
              <a:off x="7219950" y="4267200"/>
              <a:ext cx="2076450" cy="1"/>
            </a:xfrm>
            <a:prstGeom prst="line">
              <a:avLst/>
            </a:prstGeom>
            <a:noFill/>
            <a:ln w="22860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061790" y="5017294"/>
              <a:ext cx="40684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已有证据层，支撑是否充分仍待验证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33400" y="5753100"/>
            <a:ext cx="11125200" cy="693420"/>
            <a:chOff x="533400" y="5753100"/>
            <a:chExt cx="11125200" cy="693420"/>
          </a:xfrm>
        </p:grpSpPr>
        <p:sp>
          <p:nvSpPr>
            <p:cNvPr id="20" name="Line 20"/>
            <p:cNvSpPr/>
            <p:nvPr/>
          </p:nvSpPr>
          <p:spPr>
            <a:xfrm>
              <a:off x="533400" y="5753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061790" y="5874544"/>
              <a:ext cx="40684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验证：核对证据支持程度与定位耗时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654677" y="6153150"/>
              <a:ext cx="288264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证据“存在”，不等于证据“充分”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" name="Group 52"/>
          <p:cNvGrpSpPr/>
          <p:nvPr/>
        </p:nvGrpSpPr>
        <p:grpSpPr>
          <a:xfrm>
            <a:off x="11259405" y="6398895"/>
            <a:ext cx="403957" cy="138499"/>
            <a:chOff x="11259405" y="6398895"/>
            <a:chExt cx="403957" cy="138499"/>
          </a:xfrm>
        </p:grpSpPr>
        <p:sp>
          <p:nvSpPr>
            <p:cNvPr id="51" name="TextBox 51"/>
            <p:cNvSpPr txBox="1"/>
            <p:nvPr/>
          </p:nvSpPr>
          <p:spPr>
            <a:xfrm>
              <a:off x="11259405" y="6398895"/>
              <a:ext cx="4039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06 / 07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8922" y="329565"/>
            <a:ext cx="5016627" cy="1120330"/>
            <a:chOff x="518922" y="329565"/>
            <a:chExt cx="5016627" cy="1120330"/>
          </a:xfrm>
        </p:grpSpPr>
        <p:sp>
          <p:nvSpPr>
            <p:cNvPr id="3" name="TextBox 3"/>
            <p:cNvSpPr txBox="1"/>
            <p:nvPr/>
          </p:nvSpPr>
          <p:spPr>
            <a:xfrm>
              <a:off x="524256" y="329565"/>
              <a:ext cx="1726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03 重构与遗憾①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922" y="892492"/>
              <a:ext cx="5016627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技术选型应提前考虑模型替换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525780" y="1685925"/>
            <a:ext cx="10529887" cy="3704654"/>
            <a:chOff x="525780" y="1685925"/>
            <a:chExt cx="10529887" cy="3704654"/>
          </a:xfrm>
        </p:grpSpPr>
        <p:sp>
          <p:nvSpPr>
            <p:cNvPr id="6" name="TextBox 6"/>
            <p:cNvSpPr txBox="1"/>
            <p:nvPr/>
          </p:nvSpPr>
          <p:spPr>
            <a:xfrm>
              <a:off x="525780" y="1685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如果重来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099185" y="3157538"/>
              <a:ext cx="184023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统一模型接口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518332" y="3157538"/>
              <a:ext cx="1537335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250" b="1" dirty="0">
                  <a:solidFill>
                    <a:srgbClr val="087E6C"/>
                  </a:solidFill>
                  <a:latin typeface="Microsoft YaHei"/>
                  <a:ea typeface="Microsoft YaHei"/>
                  <a:cs typeface="Microsoft YaHei"/>
                </a:rPr>
                <a:t>同一评测集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3257550" y="3286125"/>
              <a:ext cx="647700" cy="9525"/>
            </a:xfrm>
            <a:custGeom>
              <a:avLst/>
              <a:gdLst/>
              <a:ahLst/>
              <a:cxnLst/>
              <a:rect l="l" t="t" r="r" b="b"/>
              <a:pathLst>
                <a:path w="647700" h="9525">
                  <a:moveTo>
                    <a:pt x="0" y="0"/>
                  </a:moveTo>
                  <a:lnTo>
                    <a:pt x="647700" y="0"/>
                  </a:lnTo>
                </a:path>
              </a:pathLst>
            </a:custGeom>
            <a:noFill/>
            <a:ln w="2286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0" name="Line 10"/>
            <p:cNvSpPr/>
            <p:nvPr/>
          </p:nvSpPr>
          <p:spPr>
            <a:xfrm>
              <a:off x="3905250" y="238125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1" name="Line 11"/>
            <p:cNvSpPr/>
            <p:nvPr/>
          </p:nvSpPr>
          <p:spPr>
            <a:xfrm>
              <a:off x="8543925" y="2381250"/>
              <a:ext cx="9525" cy="1809750"/>
            </a:xfrm>
            <a:custGeom>
              <a:avLst/>
              <a:gdLst/>
              <a:ahLst/>
              <a:cxnLst/>
              <a:rect l="l" t="t" r="r" b="b"/>
              <a:pathLst>
                <a:path w="9525" h="1809750">
                  <a:moveTo>
                    <a:pt x="0" y="0"/>
                  </a:moveTo>
                  <a:lnTo>
                    <a:pt x="0" y="1809750"/>
                  </a:lnTo>
                </a:path>
              </a:pathLst>
            </a:custGeom>
            <a:noFill/>
            <a:ln w="19050">
              <a:solidFill>
                <a:srgbClr val="2F7CF4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8543925" y="3286125"/>
              <a:ext cx="695325" cy="1"/>
            </a:xfrm>
            <a:prstGeom prst="line">
              <a:avLst/>
            </a:prstGeom>
            <a:noFill/>
            <a:ln w="22860">
              <a:solidFill>
                <a:srgbClr val="087E6C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>
              <a:off x="3905250" y="2381250"/>
              <a:ext cx="1133475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758053" y="224980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本地模型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7581900" y="2381250"/>
              <a:ext cx="962025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" name="Line 16"/>
            <p:cNvSpPr/>
            <p:nvPr/>
          </p:nvSpPr>
          <p:spPr>
            <a:xfrm>
              <a:off x="3905250" y="3286125"/>
              <a:ext cx="1133475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58053" y="3154680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云端模型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581900" y="3286125"/>
              <a:ext cx="962025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" name="Line 19"/>
            <p:cNvSpPr/>
            <p:nvPr/>
          </p:nvSpPr>
          <p:spPr>
            <a:xfrm>
              <a:off x="3905250" y="4191000"/>
              <a:ext cx="1133475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758053" y="4059555"/>
              <a:ext cx="115214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演示模型</a:t>
              </a:r>
            </a:p>
          </p:txBody>
        </p:sp>
        <p:sp>
          <p:nvSpPr>
            <p:cNvPr id="21" name="Line 21"/>
            <p:cNvSpPr/>
            <p:nvPr/>
          </p:nvSpPr>
          <p:spPr>
            <a:xfrm>
              <a:off x="7581900" y="4191000"/>
              <a:ext cx="962025" cy="1"/>
            </a:xfrm>
            <a:prstGeom prst="line">
              <a:avLst/>
            </a:prstGeom>
            <a:noFill/>
            <a:ln w="19050">
              <a:solidFill>
                <a:srgbClr val="2F7CF4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79786" y="5009198"/>
              <a:ext cx="3432429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071A33"/>
                  </a:solidFill>
                  <a:latin typeface="Microsoft YaHei"/>
                  <a:ea typeface="Microsoft YaHei"/>
                  <a:cs typeface="Microsoft YaHei"/>
                </a:rPr>
                <a:t>接口契约与替换验收同时前置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5753100"/>
            <a:ext cx="11125200" cy="693420"/>
            <a:chOff x="533400" y="5753100"/>
            <a:chExt cx="11125200" cy="693420"/>
          </a:xfrm>
        </p:grpSpPr>
        <p:sp>
          <p:nvSpPr>
            <p:cNvPr id="24" name="Line 24"/>
            <p:cNvSpPr/>
            <p:nvPr/>
          </p:nvSpPr>
          <p:spPr>
            <a:xfrm>
              <a:off x="533400" y="5753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D9E8F5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935247" y="5874544"/>
              <a:ext cx="432150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F7CF4"/>
                  </a:solidFill>
                  <a:latin typeface="Microsoft YaHei"/>
                  <a:ea typeface="Microsoft YaHei"/>
                  <a:cs typeface="Microsoft YaHei"/>
                </a:rPr>
                <a:t>验证：比较输出质量、延迟与失败行为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71010" y="6153150"/>
              <a:ext cx="36499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5B718A"/>
                  </a:solidFill>
                  <a:latin typeface="Microsoft YaHei"/>
                  <a:ea typeface="Microsoft YaHei"/>
                  <a:cs typeface="Microsoft YaHei"/>
                </a:rPr>
                <a:t>已有适配层，真实模型质量仍需分别验收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A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3" name="Group 83"/>
          <p:cNvGrpSpPr/>
          <p:nvPr/>
        </p:nvGrpSpPr>
        <p:grpSpPr>
          <a:xfrm>
            <a:off x="11259405" y="6398895"/>
            <a:ext cx="403957" cy="138499"/>
            <a:chOff x="11259405" y="6398895"/>
            <a:chExt cx="403957" cy="138499"/>
          </a:xfrm>
        </p:grpSpPr>
        <p:sp>
          <p:nvSpPr>
            <p:cNvPr id="82" name="TextBox 82"/>
            <p:cNvSpPr txBox="1"/>
            <p:nvPr/>
          </p:nvSpPr>
          <p:spPr>
            <a:xfrm>
              <a:off x="11259405" y="6398895"/>
              <a:ext cx="403957" cy="13849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9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07 / 07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519276" y="329565"/>
            <a:ext cx="4519171" cy="1114218"/>
            <a:chOff x="519276" y="329565"/>
            <a:chExt cx="4519171" cy="1114218"/>
          </a:xfrm>
        </p:grpSpPr>
        <p:sp>
          <p:nvSpPr>
            <p:cNvPr id="3" name="TextBox 3"/>
            <p:cNvSpPr txBox="1"/>
            <p:nvPr/>
          </p:nvSpPr>
          <p:spPr>
            <a:xfrm>
              <a:off x="524256" y="329565"/>
              <a:ext cx="172601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03 重构与遗憾②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9276" y="900022"/>
              <a:ext cx="4519171" cy="54376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8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领域模型应该早于功能开发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25780" y="1685925"/>
            <a:ext cx="10307955" cy="3679031"/>
            <a:chOff x="525780" y="1685925"/>
            <a:chExt cx="10307955" cy="3679031"/>
          </a:xfrm>
        </p:grpSpPr>
        <p:sp>
          <p:nvSpPr>
            <p:cNvPr id="6" name="TextBox 6"/>
            <p:cNvSpPr txBox="1"/>
            <p:nvPr/>
          </p:nvSpPr>
          <p:spPr>
            <a:xfrm>
              <a:off x="525780" y="16859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如果重来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310640" y="305847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患者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4120515" y="305847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问诊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729984" y="3058478"/>
              <a:ext cx="139903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病历修订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121265" y="3058478"/>
              <a:ext cx="712470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55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审批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2266950" y="3209925"/>
              <a:ext cx="1495425" cy="1"/>
            </a:xfrm>
            <a:prstGeom prst="line">
              <a:avLst/>
            </a:prstGeom>
            <a:noFill/>
            <a:ln w="21908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" name="Line 12"/>
            <p:cNvSpPr/>
            <p:nvPr/>
          </p:nvSpPr>
          <p:spPr>
            <a:xfrm>
              <a:off x="5191125" y="3209925"/>
              <a:ext cx="1133475" cy="1"/>
            </a:xfrm>
            <a:prstGeom prst="line">
              <a:avLst/>
            </a:prstGeom>
            <a:noFill/>
            <a:ln w="21908">
              <a:solidFill>
                <a:srgbClr val="20D9E8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Line 13"/>
            <p:cNvSpPr/>
            <p:nvPr/>
          </p:nvSpPr>
          <p:spPr>
            <a:xfrm flipH="1">
              <a:off x="8572500" y="3209925"/>
              <a:ext cx="1238250" cy="1"/>
            </a:xfrm>
            <a:prstGeom prst="line">
              <a:avLst/>
            </a:prstGeom>
            <a:noFill/>
            <a:ln w="21908">
              <a:solidFill>
                <a:srgbClr val="23D7B0"/>
              </a:solidFill>
              <a:tailEnd type="arrow" w="med" len="me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808249" y="2801779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关联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532399" y="2801779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形成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970924" y="2801779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绑定</a:t>
              </a:r>
            </a:p>
          </p:txBody>
        </p:sp>
        <p:sp>
          <p:nvSpPr>
            <p:cNvPr id="17" name="Line 17"/>
            <p:cNvSpPr/>
            <p:nvPr/>
          </p:nvSpPr>
          <p:spPr>
            <a:xfrm>
              <a:off x="6438900" y="3590925"/>
              <a:ext cx="1990725" cy="9525"/>
            </a:xfrm>
            <a:custGeom>
              <a:avLst/>
              <a:gdLst/>
              <a:ahLst/>
              <a:cxnLst/>
              <a:rect l="l" t="t" r="r" b="b"/>
              <a:pathLst>
                <a:path w="1990725" h="9525">
                  <a:moveTo>
                    <a:pt x="0" y="0"/>
                  </a:moveTo>
                  <a:lnTo>
                    <a:pt x="1990725" y="0"/>
                  </a:lnTo>
                </a:path>
              </a:pathLst>
            </a:custGeom>
            <a:noFill/>
            <a:ln w="28575">
              <a:solidFill>
                <a:srgbClr val="20D9E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682365" y="4202430"/>
              <a:ext cx="482727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先确定关系与状态，再开发页面和接口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694504" y="4998244"/>
              <a:ext cx="2802992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修改、重审、恢复、导出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533400" y="5753100"/>
            <a:ext cx="11125200" cy="693420"/>
            <a:chOff x="533400" y="5753100"/>
            <a:chExt cx="11125200" cy="693420"/>
          </a:xfrm>
        </p:grpSpPr>
        <p:sp>
          <p:nvSpPr>
            <p:cNvPr id="21" name="Line 21"/>
            <p:cNvSpPr/>
            <p:nvPr/>
          </p:nvSpPr>
          <p:spPr>
            <a:xfrm>
              <a:off x="533400" y="57531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244663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14876" y="5874544"/>
              <a:ext cx="3562248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8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验证：场景走查与状态约束测试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371975" y="6153150"/>
              <a:ext cx="344805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B8C6D9"/>
                  </a:solidFill>
                  <a:latin typeface="Microsoft YaHei"/>
                  <a:ea typeface="Microsoft YaHei"/>
                  <a:cs typeface="Microsoft YaHei"/>
                </a:rPr>
                <a:t>已有领域模型，复杂状态组合仍需检验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3"/>
          <a:srcRect t="676" b="67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71A33">
                  <a:alpha val="97000"/>
                </a:srgbClr>
              </a:gs>
              <a:gs pos="54000">
                <a:srgbClr val="071A33">
                  <a:alpha val="84000"/>
                </a:srgbClr>
              </a:gs>
              <a:gs pos="100000">
                <a:srgbClr val="071A33">
                  <a:alpha val="32000"/>
                </a:srgbClr>
              </a:gs>
            </a:gsLst>
            <a:lin ang="0" scaled="1"/>
          </a:gradFill>
          <a:ln>
            <a:noFill/>
          </a:ln>
        </p:spPr>
        <p:txBody>
          <a:bodyPr/>
          <a:lstStyle/>
          <a:p>
            <a:endParaRPr lang="zh-CN" altLang="en-US"/>
          </a:p>
        </p:txBody>
      </p:sp>
      <p:grpSp>
        <p:nvGrpSpPr>
          <p:cNvPr id="6" name="Group 6"/>
          <p:cNvGrpSpPr/>
          <p:nvPr/>
        </p:nvGrpSpPr>
        <p:grpSpPr>
          <a:xfrm>
            <a:off x="590550" y="519321"/>
            <a:ext cx="1975817" cy="486138"/>
            <a:chOff x="590550" y="519321"/>
            <a:chExt cx="1975817" cy="486138"/>
          </a:xfrm>
        </p:grpSpPr>
        <p:pic>
          <p:nvPicPr>
            <p:cNvPr id="4" name="Image 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0550" y="519321"/>
              <a:ext cx="476250" cy="466308"/>
            </a:xfrm>
            <a:prstGeom prst="rect">
              <a:avLst/>
            </a:prstGeom>
          </p:spPr>
        </p:pic>
        <p:sp>
          <p:nvSpPr>
            <p:cNvPr id="5" name="TextBox 5"/>
            <p:cNvSpPr txBox="1"/>
            <p:nvPr/>
          </p:nvSpPr>
          <p:spPr>
            <a:xfrm>
              <a:off x="1210056" y="653415"/>
              <a:ext cx="135631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rgbClr val="FFFFFF"/>
                  </a:solidFill>
                  <a:latin typeface="Microsoft YaHei"/>
                  <a:ea typeface="Microsoft YaHei"/>
                  <a:cs typeface="Microsoft YaHei"/>
                </a:rPr>
                <a:t>MediListen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523875" y="5486400"/>
            <a:ext cx="5381625" cy="152400"/>
            <a:chOff x="523875" y="5486400"/>
            <a:chExt cx="5381625" cy="152400"/>
          </a:xfrm>
        </p:grpSpPr>
        <p:sp>
          <p:nvSpPr>
            <p:cNvPr id="12" name="Line 12"/>
            <p:cNvSpPr/>
            <p:nvPr/>
          </p:nvSpPr>
          <p:spPr>
            <a:xfrm>
              <a:off x="590550" y="5562600"/>
              <a:ext cx="5238750" cy="9525"/>
            </a:xfrm>
            <a:custGeom>
              <a:avLst/>
              <a:gdLst/>
              <a:ahLst/>
              <a:cxnLst/>
              <a:rect l="l" t="t" r="r" b="b"/>
              <a:pathLst>
                <a:path w="5238750" h="9525">
                  <a:moveTo>
                    <a:pt x="0" y="0"/>
                  </a:moveTo>
                  <a:lnTo>
                    <a:pt x="5238750" y="0"/>
                  </a:lnTo>
                </a:path>
              </a:pathLst>
            </a:custGeom>
            <a:noFill/>
            <a:ln w="19050">
              <a:solidFill>
                <a:srgbClr val="20D9E8"/>
              </a:solidFill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" name="Ellipse 13"/>
            <p:cNvSpPr/>
            <p:nvPr/>
          </p:nvSpPr>
          <p:spPr>
            <a:xfrm>
              <a:off x="523875" y="5495925"/>
              <a:ext cx="133350" cy="133350"/>
            </a:xfrm>
            <a:prstGeom prst="ellipse">
              <a:avLst/>
            </a:prstGeom>
            <a:solidFill>
              <a:srgbClr val="2F7CF4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" name="Ellipse 14"/>
            <p:cNvSpPr/>
            <p:nvPr/>
          </p:nvSpPr>
          <p:spPr>
            <a:xfrm>
              <a:off x="5753100" y="5486400"/>
              <a:ext cx="152400" cy="152400"/>
            </a:xfrm>
            <a:prstGeom prst="ellipse">
              <a:avLst/>
            </a:prstGeom>
            <a:solidFill>
              <a:srgbClr val="23D7B0"/>
            </a:soli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573786" y="2400300"/>
            <a:ext cx="4031742" cy="1794129"/>
            <a:chOff x="573786" y="2400300"/>
            <a:chExt cx="4031742" cy="1794129"/>
          </a:xfrm>
        </p:grpSpPr>
        <p:sp>
          <p:nvSpPr>
            <p:cNvPr id="8" name="Rectangle 8"/>
            <p:cNvSpPr/>
            <p:nvPr/>
          </p:nvSpPr>
          <p:spPr>
            <a:xfrm>
              <a:off x="590550" y="2400300"/>
              <a:ext cx="819150" cy="47625"/>
            </a:xfrm>
            <a:prstGeom prst="roundRect">
              <a:avLst>
                <a:gd name="adj" fmla="val 40000"/>
              </a:avLst>
            </a:prstGeom>
            <a:gradFill>
              <a:gsLst>
                <a:gs pos="0">
                  <a:srgbClr val="20D9E8"/>
                </a:gs>
                <a:gs pos="100000">
                  <a:srgbClr val="2F7CF4"/>
                </a:gs>
              </a:gsLst>
              <a:lin ang="0" scaled="1"/>
            </a:gradFill>
            <a:ln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573786" y="2882265"/>
              <a:ext cx="373820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7FBFF"/>
                  </a:solidFill>
                  <a:latin typeface="Microsoft YaHei"/>
                  <a:ea typeface="Microsoft YaHei"/>
                  <a:cs typeface="Microsoft YaHei"/>
                </a:rPr>
                <a:t>AI负责整理信息，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73786" y="3549015"/>
              <a:ext cx="4031742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20D9E8"/>
                  </a:solidFill>
                  <a:latin typeface="Microsoft YaHei"/>
                  <a:ea typeface="Microsoft YaHei"/>
                  <a:cs typeface="Microsoft YaHei"/>
                </a:rPr>
                <a:t>医生负责判断责任。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medilisten_poc_review">
  <a:themeElements>
    <a:clrScheme name="medilisten_poc_review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medilisten_poc_review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medilisten_poc_review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1995</Words>
  <Application>Microsoft Office PowerPoint</Application>
  <PresentationFormat>宽屏</PresentationFormat>
  <Paragraphs>96</Paragraphs>
  <Slides>7</Slides>
  <Notes>7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1" baseType="lpstr">
      <vt:lpstr>Microsoft YaHei</vt:lpstr>
      <vt:lpstr>Arial</vt:lpstr>
      <vt:lpstr>Calibri</vt:lpstr>
      <vt:lpstr>medilisten_poc_review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cp:lastModifiedBy>Nicole Young</cp:lastModifiedBy>
  <cp:revision>2</cp:revision>
  <dcterms:created xsi:type="dcterms:W3CDTF">2026-09-06T14:14:23Z</dcterms:created>
  <dcterms:modified xsi:type="dcterms:W3CDTF">2026-09-07T05:00:37Z</dcterms:modified>
  <cp:category/>
  <cp:contentStatus/>
  <dc:language/>
</cp:coreProperties>
</file>