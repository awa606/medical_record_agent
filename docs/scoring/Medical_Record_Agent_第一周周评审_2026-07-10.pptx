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开场先说明：本项目不是自动诊断系统，而是把中文问诊文本或音频转成可审核病历草稿的医生辅助系统。第一周重点是从汇报版推进到可运行、可评测、可部署、可追踪的工程原型。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这一页先把边界讲清楚：系统只辅助医生处理问诊材料，不替代医生下结论。强调没有真实患者数据，AI 输出必须进入医生审核。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把课程评分项拆成技术、架构、接口、过程记录四类证据。说明老师看到的是工程闭环，不只是界面。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按日期快速讲：7 月 6 日治理和基础链路，7 月 7 日表单和知识库，7 月 8 日评测和长音频，7 月 9 日 Docker、医生端和实时预览。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这里强调架构拆层：输入、ASR、Orchestrator、安全校验、医生审核导出。每层可测试、可替换，不把模型和业务逻辑耦合。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明天现场先走文本生成路线。它最稳定，能完整展示病历草稿、AI 辅助、安全校验和医生审核导出。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说明角色自动区分不能当作最终结论，所以放在抽屉里由医生确认。保存后会用于后续病历生成。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这里讲模型选择不是凭感觉。SenseVoice 和 FunASR 是主线，Qwen3 已跑通但资源占用高，Mock 用于稳定录屏展示工程闭环。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展示前先确认 Docker 2601。讲清楚前端打包在镜像内，所以前端改动需要 docker compose up -d --build 才会生效。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ver-title">
            <a:extLst>
              <a:ext uri="{FF2B5EF4-FFF2-40B4-BE49-F238E27FC236}">
                <a16:creationId xmlns:a16="http://schemas.microsoft.com/office/drawing/2014/main" id="{43BFA51C-2F4A-435B-8F1D-E2ADF4602549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876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Medical Record Agent</a:t>
            </a:r>
          </a:p>
        </p:txBody>
      </p:sp>
      <p:sp>
        <p:nvSpPr>
          <p:cNvPr id="2" name="cover-subtitle">
            <a:extLst>
              <a:ext uri="{FF2B5EF4-FFF2-40B4-BE49-F238E27FC236}">
                <a16:creationId xmlns:a16="http://schemas.microsoft.com/office/drawing/2014/main" id="{1E6F408D-956F-4E26-9529-A4A9BB9679B1}"/>
              </a:ext>
            </a:extLst>
          </p:cNvPr>
          <p:cNvSpPr>
            <a:spLocks noGrp="1"/>
          </p:cNvSpPr>
          <p:nvPr/>
        </p:nvSpPr>
        <p:spPr>
          <a:xfrm>
            <a:off x="400050" y="15049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2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中文医患问诊电子病历辅助系统</a:t>
            </a:r>
          </a:p>
        </p:txBody>
      </p:sp>
      <p:sp>
        <p:nvSpPr>
          <p:cNvPr id="3" name="cover-meta">
            <a:extLst>
              <a:ext uri="{FF2B5EF4-FFF2-40B4-BE49-F238E27FC236}">
                <a16:creationId xmlns:a16="http://schemas.microsoft.com/office/drawing/2014/main" id="{DF631F34-F90E-4D8C-8A62-384C1DDAFFE1}"/>
              </a:ext>
            </a:extLst>
          </p:cNvPr>
          <p:cNvSpPr>
            <a:spLocks noGrp="1"/>
          </p:cNvSpPr>
          <p:nvPr/>
        </p:nvSpPr>
        <p:spPr>
          <a:xfrm>
            <a:off x="400050" y="213360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6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第一周工程进展与周评审 · 2026-07-10</a:t>
            </a:r>
          </a:p>
        </p:txBody>
      </p:sp>
      <p:sp>
        <p:nvSpPr>
          <p:cNvPr id="4" name="cover-card-1">
            <a:extLst>
              <a:ext uri="{FF2B5EF4-FFF2-40B4-BE49-F238E27FC236}">
                <a16:creationId xmlns:a16="http://schemas.microsoft.com/office/drawing/2014/main" id="{79C1B793-3B95-4EC8-B0C0-7BBD989482C9}"/>
              </a:ext>
            </a:extLst>
          </p:cNvPr>
          <p:cNvSpPr>
            <a:spLocks noGrp="1"/>
          </p:cNvSpPr>
          <p:nvPr/>
        </p:nvSpPr>
        <p:spPr>
          <a:xfrm>
            <a:off x="400050" y="3143250"/>
            <a:ext cx="3486150" cy="21907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cover-card-2">
            <a:extLst>
              <a:ext uri="{FF2B5EF4-FFF2-40B4-BE49-F238E27FC236}">
                <a16:creationId xmlns:a16="http://schemas.microsoft.com/office/drawing/2014/main" id="{35C16542-742E-4631-B5EE-295E2C2F338B}"/>
              </a:ext>
            </a:extLst>
          </p:cNvPr>
          <p:cNvSpPr>
            <a:spLocks noGrp="1"/>
          </p:cNvSpPr>
          <p:nvPr/>
        </p:nvSpPr>
        <p:spPr>
          <a:xfrm>
            <a:off x="4352925" y="3143250"/>
            <a:ext cx="3486150" cy="21907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cover-card-3">
            <a:extLst>
              <a:ext uri="{FF2B5EF4-FFF2-40B4-BE49-F238E27FC236}">
                <a16:creationId xmlns:a16="http://schemas.microsoft.com/office/drawing/2014/main" id="{E7F1D669-A4AB-402E-A006-0902C31920B6}"/>
              </a:ext>
            </a:extLst>
          </p:cNvPr>
          <p:cNvSpPr>
            <a:spLocks noGrp="1"/>
          </p:cNvSpPr>
          <p:nvPr/>
        </p:nvSpPr>
        <p:spPr>
          <a:xfrm>
            <a:off x="8305800" y="3143250"/>
            <a:ext cx="3486150" cy="21907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cover-kpi-1">
            <a:extLst>
              <a:ext uri="{FF2B5EF4-FFF2-40B4-BE49-F238E27FC236}">
                <a16:creationId xmlns:a16="http://schemas.microsoft.com/office/drawing/2014/main" id="{EC9785C8-0104-4005-B4B5-1108C74AA18F}"/>
              </a:ext>
            </a:extLst>
          </p:cNvPr>
          <p:cNvSpPr>
            <a:spLocks noGrp="1"/>
          </p:cNvSpPr>
          <p:nvPr/>
        </p:nvSpPr>
        <p:spPr>
          <a:xfrm>
            <a:off x="666750" y="34671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289"/>
          </a:bodyPr>
          <a:lstStyle/>
          <a:p>
            <a:pPr algn="l">
              <a:lnSpc>
                <a:spcPct val="116000"/>
              </a:lnSpc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可运行</a:t>
            </a:r>
          </a:p>
        </p:txBody>
      </p:sp>
      <p:sp>
        <p:nvSpPr>
          <p:cNvPr id="8" name="cover-copy-1">
            <a:extLst>
              <a:ext uri="{FF2B5EF4-FFF2-40B4-BE49-F238E27FC236}">
                <a16:creationId xmlns:a16="http://schemas.microsoft.com/office/drawing/2014/main" id="{501E3FF1-4CAF-476E-9471-3C770699851D}"/>
              </a:ext>
            </a:extLst>
          </p:cNvPr>
          <p:cNvSpPr>
            <a:spLocks noGrp="1"/>
          </p:cNvSpPr>
          <p:nvPr/>
        </p:nvSpPr>
        <p:spPr>
          <a:xfrm>
            <a:off x="666750" y="4076700"/>
            <a:ext cx="2857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Docker 2601 医生端可访问，文本与音频链路进入同一病历 Agent。</a:t>
            </a:r>
          </a:p>
        </p:txBody>
      </p:sp>
      <p:sp>
        <p:nvSpPr>
          <p:cNvPr id="9" name="cover-kpi-2">
            <a:extLst>
              <a:ext uri="{FF2B5EF4-FFF2-40B4-BE49-F238E27FC236}">
                <a16:creationId xmlns:a16="http://schemas.microsoft.com/office/drawing/2014/main" id="{948AE841-FBBC-4686-8E37-41976F7A96C6}"/>
              </a:ext>
            </a:extLst>
          </p:cNvPr>
          <p:cNvSpPr>
            <a:spLocks noGrp="1"/>
          </p:cNvSpPr>
          <p:nvPr/>
        </p:nvSpPr>
        <p:spPr>
          <a:xfrm>
            <a:off x="4619625" y="34671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289"/>
          </a:bodyPr>
          <a:lstStyle/>
          <a:p>
            <a:pPr algn="l">
              <a:lnSpc>
                <a:spcPct val="116000"/>
              </a:lnSpc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可评测</a:t>
            </a:r>
          </a:p>
        </p:txBody>
      </p:sp>
      <p:sp>
        <p:nvSpPr>
          <p:cNvPr id="10" name="cover-copy-2">
            <a:extLst>
              <a:ext uri="{FF2B5EF4-FFF2-40B4-BE49-F238E27FC236}">
                <a16:creationId xmlns:a16="http://schemas.microsoft.com/office/drawing/2014/main" id="{8079632C-39DE-4F96-9129-3B634303BCEA}"/>
              </a:ext>
            </a:extLst>
          </p:cNvPr>
          <p:cNvSpPr>
            <a:spLocks noGrp="1"/>
          </p:cNvSpPr>
          <p:nvPr/>
        </p:nvSpPr>
        <p:spPr>
          <a:xfrm>
            <a:off x="4619625" y="4076700"/>
            <a:ext cx="285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FunASR、SenseVoice、Qwen3-ASR 按 CER、RTF、RSS 和关键词召回评估。</a:t>
            </a:r>
          </a:p>
        </p:txBody>
      </p:sp>
      <p:sp>
        <p:nvSpPr>
          <p:cNvPr id="11" name="cover-kpi-3">
            <a:extLst>
              <a:ext uri="{FF2B5EF4-FFF2-40B4-BE49-F238E27FC236}">
                <a16:creationId xmlns:a16="http://schemas.microsoft.com/office/drawing/2014/main" id="{69E92AE6-C0D7-4B15-B0FF-548A2310FFB8}"/>
              </a:ext>
            </a:extLst>
          </p:cNvPr>
          <p:cNvSpPr>
            <a:spLocks noGrp="1"/>
          </p:cNvSpPr>
          <p:nvPr/>
        </p:nvSpPr>
        <p:spPr>
          <a:xfrm>
            <a:off x="8572500" y="34671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289"/>
          </a:bodyPr>
          <a:lstStyle/>
          <a:p>
            <a:pPr algn="l">
              <a:lnSpc>
                <a:spcPct val="116000"/>
              </a:lnSpc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可追踪</a:t>
            </a:r>
          </a:p>
        </p:txBody>
      </p:sp>
      <p:sp>
        <p:nvSpPr>
          <p:cNvPr id="12" name="cover-copy-3">
            <a:extLst>
              <a:ext uri="{FF2B5EF4-FFF2-40B4-BE49-F238E27FC236}">
                <a16:creationId xmlns:a16="http://schemas.microsoft.com/office/drawing/2014/main" id="{482C1BB8-D4D6-4311-A1B0-F9E5313F193D}"/>
              </a:ext>
            </a:extLst>
          </p:cNvPr>
          <p:cNvSpPr>
            <a:spLocks noGrp="1"/>
          </p:cNvSpPr>
          <p:nvPr/>
        </p:nvSpPr>
        <p:spPr>
          <a:xfrm>
            <a:off x="8572500" y="4076700"/>
            <a:ext cx="2857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版本记录、daily log、debug log 和能力矩阵支撑审核回放。</a:t>
            </a:r>
          </a:p>
        </p:txBody>
      </p:sp>
      <p:sp>
        <p:nvSpPr>
          <p:cNvPr id="13" name="footer-1">
            <a:extLst>
              <a:ext uri="{FF2B5EF4-FFF2-40B4-BE49-F238E27FC236}">
                <a16:creationId xmlns:a16="http://schemas.microsoft.com/office/drawing/2014/main" id="{A5A33DF7-2F7F-4B9D-8FAD-B6A49316CA62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Medical Record Agent · 第一周周评审</a:t>
            </a:r>
          </a:p>
        </p:txBody>
      </p:sp>
      <p:sp>
        <p:nvSpPr>
          <p:cNvPr id="14" name="page-1">
            <a:extLst>
              <a:ext uri="{FF2B5EF4-FFF2-40B4-BE49-F238E27FC236}">
                <a16:creationId xmlns:a16="http://schemas.microsoft.com/office/drawing/2014/main" id="{8292E8CB-BE15-4C33-8BB8-7E4BC74E873D}"/>
              </a:ext>
            </a:extLst>
          </p:cNvPr>
          <p:cNvSpPr>
            <a:spLocks noGrp="1"/>
          </p:cNvSpPr>
          <p:nvPr/>
        </p:nvSpPr>
        <p:spPr>
          <a:xfrm>
            <a:off x="11287125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6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29823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yebrow-2">
            <a:extLst>
              <a:ext uri="{FF2B5EF4-FFF2-40B4-BE49-F238E27FC236}">
                <a16:creationId xmlns:a16="http://schemas.microsoft.com/office/drawing/2014/main" id="{BDBD4990-D9B4-4DAE-8088-B33BFE6C37EC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97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E4B95DAD-9422-489D-919D-941B3D1EC588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620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系统辅助医生整理问诊，不替代临床判断</a:t>
            </a:r>
          </a:p>
        </p:txBody>
      </p:sp>
      <p:sp>
        <p:nvSpPr>
          <p:cNvPr id="3" name="rule-2">
            <a:extLst>
              <a:ext uri="{FF2B5EF4-FFF2-40B4-BE49-F238E27FC236}">
                <a16:creationId xmlns:a16="http://schemas.microsoft.com/office/drawing/2014/main" id="{27A3806B-A7FF-4E4B-B125-D99B779E289E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footer-2">
            <a:extLst>
              <a:ext uri="{FF2B5EF4-FFF2-40B4-BE49-F238E27FC236}">
                <a16:creationId xmlns:a16="http://schemas.microsoft.com/office/drawing/2014/main" id="{0B7EF6D3-5C1B-4CA9-AFEB-99F460229981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Medical Record Agent · 第一周周评审</a:t>
            </a:r>
          </a:p>
        </p:txBody>
      </p:sp>
      <p:sp>
        <p:nvSpPr>
          <p:cNvPr id="5" name="page-2">
            <a:extLst>
              <a:ext uri="{FF2B5EF4-FFF2-40B4-BE49-F238E27FC236}">
                <a16:creationId xmlns:a16="http://schemas.microsoft.com/office/drawing/2014/main" id="{42530A8D-8F80-4EBE-86E1-592EDF9960E2}"/>
              </a:ext>
            </a:extLst>
          </p:cNvPr>
          <p:cNvSpPr>
            <a:spLocks noGrp="1"/>
          </p:cNvSpPr>
          <p:nvPr/>
        </p:nvSpPr>
        <p:spPr>
          <a:xfrm>
            <a:off x="11287125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6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boundary-label">
            <a:extLst>
              <a:ext uri="{FF2B5EF4-FFF2-40B4-BE49-F238E27FC236}">
                <a16:creationId xmlns:a16="http://schemas.microsoft.com/office/drawing/2014/main" id="{402C22BE-5830-4041-842C-212882A3138C}"/>
              </a:ext>
            </a:extLst>
          </p:cNvPr>
          <p:cNvSpPr>
            <a:spLocks noGrp="1"/>
          </p:cNvSpPr>
          <p:nvPr/>
        </p:nvSpPr>
        <p:spPr>
          <a:xfrm>
            <a:off x="400050" y="194310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核心边界</a:t>
            </a:r>
          </a:p>
        </p:txBody>
      </p:sp>
      <p:sp>
        <p:nvSpPr>
          <p:cNvPr id="7" name="boundary-bullets">
            <a:extLst>
              <a:ext uri="{FF2B5EF4-FFF2-40B4-BE49-F238E27FC236}">
                <a16:creationId xmlns:a16="http://schemas.microsoft.com/office/drawing/2014/main" id="{72A5E4C3-F02D-4D96-94DC-B970B5F77693}"/>
              </a:ext>
            </a:extLst>
          </p:cNvPr>
          <p:cNvSpPr>
            <a:spLocks noGrp="1"/>
          </p:cNvSpPr>
          <p:nvPr/>
        </p:nvSpPr>
        <p:spPr>
          <a:xfrm>
            <a:off x="400050" y="2571750"/>
            <a:ext cx="4953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0" indent="-10" algn="l">
              <a:lnSpc>
                <a:spcPct val="125000"/>
              </a:lnSpc>
              <a:buNone/>
              <a:defRPr sz="17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输入是课程样例文本或音频，不接真实患者数据。</a:t>
            </a:r>
          </a:p>
          <a:p>
            <a:pPr marL="20" indent="-10" algn="l">
              <a:lnSpc>
                <a:spcPct val="125000"/>
              </a:lnSpc>
              <a:buNone/>
              <a:defRPr sz="17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ASR 和 LLM 只生成转写、字段草稿和候选提示。</a:t>
            </a:r>
          </a:p>
          <a:p>
            <a:pPr marL="20" indent="-10" algn="l">
              <a:lnSpc>
                <a:spcPct val="125000"/>
              </a:lnSpc>
              <a:buNone/>
              <a:defRPr sz="17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最终诊断、字段确认和导出必须由医生完成。</a:t>
            </a:r>
          </a:p>
          <a:p>
            <a:pPr marL="20" indent="-10" algn="l">
              <a:lnSpc>
                <a:spcPct val="125000"/>
              </a:lnSpc>
              <a:buNone/>
              <a:defRPr sz="17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缺失项、低置信度角色和安全风险会被显式提醒。</a:t>
            </a:r>
          </a:p>
        </p:txBody>
      </p:sp>
      <p:sp>
        <p:nvSpPr>
          <p:cNvPr id="8" name="does-panel">
            <a:extLst>
              <a:ext uri="{FF2B5EF4-FFF2-40B4-BE49-F238E27FC236}">
                <a16:creationId xmlns:a16="http://schemas.microsoft.com/office/drawing/2014/main" id="{A333B775-A50C-43A6-891E-1B332C676519}"/>
              </a:ext>
            </a:extLst>
          </p:cNvPr>
          <p:cNvSpPr>
            <a:spLocks noGrp="1"/>
          </p:cNvSpPr>
          <p:nvPr/>
        </p:nvSpPr>
        <p:spPr>
          <a:xfrm>
            <a:off x="6191250" y="2038350"/>
            <a:ext cx="2476500" cy="21907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does-accent">
            <a:extLst>
              <a:ext uri="{FF2B5EF4-FFF2-40B4-BE49-F238E27FC236}">
                <a16:creationId xmlns:a16="http://schemas.microsoft.com/office/drawing/2014/main" id="{7A066B47-0FE4-4650-BD4C-94AA7AD2C32A}"/>
              </a:ext>
            </a:extLst>
          </p:cNvPr>
          <p:cNvSpPr>
            <a:spLocks noGrp="1"/>
          </p:cNvSpPr>
          <p:nvPr/>
        </p:nvSpPr>
        <p:spPr>
          <a:xfrm>
            <a:off x="6191250" y="2038350"/>
            <a:ext cx="66675" cy="219075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does-label">
            <a:extLst>
              <a:ext uri="{FF2B5EF4-FFF2-40B4-BE49-F238E27FC236}">
                <a16:creationId xmlns:a16="http://schemas.microsoft.com/office/drawing/2014/main" id="{8CE53E70-87BE-4BD3-8371-47082886126B}"/>
              </a:ext>
            </a:extLst>
          </p:cNvPr>
          <p:cNvSpPr>
            <a:spLocks noGrp="1"/>
          </p:cNvSpPr>
          <p:nvPr/>
        </p:nvSpPr>
        <p:spPr>
          <a:xfrm>
            <a:off x="6400800" y="220980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系统做什么</a:t>
            </a:r>
          </a:p>
        </p:txBody>
      </p:sp>
      <p:sp>
        <p:nvSpPr>
          <p:cNvPr id="11" name="does-body">
            <a:extLst>
              <a:ext uri="{FF2B5EF4-FFF2-40B4-BE49-F238E27FC236}">
                <a16:creationId xmlns:a16="http://schemas.microsoft.com/office/drawing/2014/main" id="{AD26A6FB-57C1-436F-8D7C-EC8D30F32FCD}"/>
              </a:ext>
            </a:extLst>
          </p:cNvPr>
          <p:cNvSpPr>
            <a:spLocks noGrp="1"/>
          </p:cNvSpPr>
          <p:nvPr/>
        </p:nvSpPr>
        <p:spPr>
          <a:xfrm>
            <a:off x="6400800" y="2628900"/>
            <a:ext cx="20574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结构化问诊材料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生成病历草稿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提示候选诊断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关联证据来源</a:t>
            </a:r>
          </a:p>
        </p:txBody>
      </p:sp>
      <p:sp>
        <p:nvSpPr>
          <p:cNvPr id="12" name="does-not-panel">
            <a:extLst>
              <a:ext uri="{FF2B5EF4-FFF2-40B4-BE49-F238E27FC236}">
                <a16:creationId xmlns:a16="http://schemas.microsoft.com/office/drawing/2014/main" id="{10FDC939-C2A4-46CB-B94D-9AD5480DC889}"/>
              </a:ext>
            </a:extLst>
          </p:cNvPr>
          <p:cNvSpPr>
            <a:spLocks noGrp="1"/>
          </p:cNvSpPr>
          <p:nvPr/>
        </p:nvSpPr>
        <p:spPr>
          <a:xfrm>
            <a:off x="9124950" y="2038350"/>
            <a:ext cx="2476500" cy="21907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does-not-accent">
            <a:extLst>
              <a:ext uri="{FF2B5EF4-FFF2-40B4-BE49-F238E27FC236}">
                <a16:creationId xmlns:a16="http://schemas.microsoft.com/office/drawing/2014/main" id="{F6945DC9-0F09-446C-87D9-7FB1B16ABEFF}"/>
              </a:ext>
            </a:extLst>
          </p:cNvPr>
          <p:cNvSpPr>
            <a:spLocks noGrp="1"/>
          </p:cNvSpPr>
          <p:nvPr/>
        </p:nvSpPr>
        <p:spPr>
          <a:xfrm>
            <a:off x="9124950" y="2038350"/>
            <a:ext cx="66675" cy="2190750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does-not-label">
            <a:extLst>
              <a:ext uri="{FF2B5EF4-FFF2-40B4-BE49-F238E27FC236}">
                <a16:creationId xmlns:a16="http://schemas.microsoft.com/office/drawing/2014/main" id="{59A4CD72-5C55-42BF-8CA9-B5680D90A490}"/>
              </a:ext>
            </a:extLst>
          </p:cNvPr>
          <p:cNvSpPr>
            <a:spLocks noGrp="1"/>
          </p:cNvSpPr>
          <p:nvPr/>
        </p:nvSpPr>
        <p:spPr>
          <a:xfrm>
            <a:off x="9334500" y="220980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系统不做什么</a:t>
            </a:r>
          </a:p>
        </p:txBody>
      </p:sp>
      <p:sp>
        <p:nvSpPr>
          <p:cNvPr id="15" name="does-not-body">
            <a:extLst>
              <a:ext uri="{FF2B5EF4-FFF2-40B4-BE49-F238E27FC236}">
                <a16:creationId xmlns:a16="http://schemas.microsoft.com/office/drawing/2014/main" id="{9F8B7C43-D55F-4E50-96FF-09F90559343F}"/>
              </a:ext>
            </a:extLst>
          </p:cNvPr>
          <p:cNvSpPr>
            <a:spLocks noGrp="1"/>
          </p:cNvSpPr>
          <p:nvPr/>
        </p:nvSpPr>
        <p:spPr>
          <a:xfrm>
            <a:off x="9334500" y="2628900"/>
            <a:ext cx="20574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不自动确诊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不自动开处方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不绕过审核导出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不保存真实隐私数据</a:t>
            </a:r>
          </a:p>
        </p:txBody>
      </p:sp>
      <p:sp>
        <p:nvSpPr>
          <p:cNvPr id="16" name="position-conclusion">
            <a:extLst>
              <a:ext uri="{FF2B5EF4-FFF2-40B4-BE49-F238E27FC236}">
                <a16:creationId xmlns:a16="http://schemas.microsoft.com/office/drawing/2014/main" id="{D56661F4-2C58-49C6-96E3-63B26839692F}"/>
              </a:ext>
            </a:extLst>
          </p:cNvPr>
          <p:cNvSpPr>
            <a:spLocks noGrp="1"/>
          </p:cNvSpPr>
          <p:nvPr/>
        </p:nvSpPr>
        <p:spPr>
          <a:xfrm>
            <a:off x="6191250" y="4762500"/>
            <a:ext cx="5410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87"/>
          </a:bodyPr>
          <a:lstStyle/>
          <a:p>
            <a:pPr algn="l">
              <a:lnSpc>
                <a:spcPct val="116000"/>
              </a:lnSpc>
              <a:buNone/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一句话结论：这是医生审核辅助，不是自动诊断。</a:t>
            </a:r>
          </a:p>
        </p:txBody>
      </p:sp>
    </p:spTree>
    <p:extLst>
      <p:ext uri="{BB962C8B-B14F-4D97-AF65-F5344CB8AC3E}">
        <p14:creationId xmlns:p14="http://schemas.microsoft.com/office/powerpoint/2010/main" val="1430343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yebrow-3">
            <a:extLst>
              <a:ext uri="{FF2B5EF4-FFF2-40B4-BE49-F238E27FC236}">
                <a16:creationId xmlns:a16="http://schemas.microsoft.com/office/drawing/2014/main" id="{94E2219E-1F95-42B6-B1F0-E88F90B2EBAF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97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评分闭环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9DE2B479-A154-4AE6-B1FD-F3663FF85842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620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第一周把评分项落到了可验证产物</a:t>
            </a:r>
          </a:p>
        </p:txBody>
      </p:sp>
      <p:sp>
        <p:nvSpPr>
          <p:cNvPr id="3" name="rule-3">
            <a:extLst>
              <a:ext uri="{FF2B5EF4-FFF2-40B4-BE49-F238E27FC236}">
                <a16:creationId xmlns:a16="http://schemas.microsoft.com/office/drawing/2014/main" id="{0C2710B2-5D66-4711-AE73-6D289BE5810A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footer-3">
            <a:extLst>
              <a:ext uri="{FF2B5EF4-FFF2-40B4-BE49-F238E27FC236}">
                <a16:creationId xmlns:a16="http://schemas.microsoft.com/office/drawing/2014/main" id="{D6792AD9-D2B1-4C42-B859-2D408A8457B7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Medical Record Agent · 第一周周评审</a:t>
            </a:r>
          </a:p>
        </p:txBody>
      </p:sp>
      <p:sp>
        <p:nvSpPr>
          <p:cNvPr id="5" name="page-3">
            <a:extLst>
              <a:ext uri="{FF2B5EF4-FFF2-40B4-BE49-F238E27FC236}">
                <a16:creationId xmlns:a16="http://schemas.microsoft.com/office/drawing/2014/main" id="{4A42BD9F-3A28-4B4A-9ACC-890CE5BB23E1}"/>
              </a:ext>
            </a:extLst>
          </p:cNvPr>
          <p:cNvSpPr>
            <a:spLocks noGrp="1"/>
          </p:cNvSpPr>
          <p:nvPr/>
        </p:nvSpPr>
        <p:spPr>
          <a:xfrm>
            <a:off x="11287125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6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score-0-panel">
            <a:extLst>
              <a:ext uri="{FF2B5EF4-FFF2-40B4-BE49-F238E27FC236}">
                <a16:creationId xmlns:a16="http://schemas.microsoft.com/office/drawing/2014/main" id="{9F719D01-5EC9-4EFA-8D23-645336E7B794}"/>
              </a:ext>
            </a:extLst>
          </p:cNvPr>
          <p:cNvSpPr>
            <a:spLocks noGrp="1"/>
          </p:cNvSpPr>
          <p:nvPr/>
        </p:nvSpPr>
        <p:spPr>
          <a:xfrm>
            <a:off x="400050" y="2076450"/>
            <a:ext cx="5143500" cy="12382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core-0-accent">
            <a:extLst>
              <a:ext uri="{FF2B5EF4-FFF2-40B4-BE49-F238E27FC236}">
                <a16:creationId xmlns:a16="http://schemas.microsoft.com/office/drawing/2014/main" id="{03D054F6-4FCA-4CC8-92C0-C38E3EB5D872}"/>
              </a:ext>
            </a:extLst>
          </p:cNvPr>
          <p:cNvSpPr>
            <a:spLocks noGrp="1"/>
          </p:cNvSpPr>
          <p:nvPr/>
        </p:nvSpPr>
        <p:spPr>
          <a:xfrm>
            <a:off x="400050" y="2076450"/>
            <a:ext cx="66675" cy="123825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core-0-label">
            <a:extLst>
              <a:ext uri="{FF2B5EF4-FFF2-40B4-BE49-F238E27FC236}">
                <a16:creationId xmlns:a16="http://schemas.microsoft.com/office/drawing/2014/main" id="{491F1E41-BB2D-4F0B-81A8-B395F644020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72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工程链路</a:t>
            </a:r>
          </a:p>
        </p:txBody>
      </p:sp>
      <p:sp>
        <p:nvSpPr>
          <p:cNvPr id="9" name="score-0-body">
            <a:extLst>
              <a:ext uri="{FF2B5EF4-FFF2-40B4-BE49-F238E27FC236}">
                <a16:creationId xmlns:a16="http://schemas.microsoft.com/office/drawing/2014/main" id="{E99BC35D-3A46-4D3F-9CBE-99CF10DF7295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4724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ASR session、SSE、角色校正、病历生成、审核导出</a:t>
            </a:r>
          </a:p>
        </p:txBody>
      </p:sp>
      <p:sp>
        <p:nvSpPr>
          <p:cNvPr id="10" name="score-1-panel">
            <a:extLst>
              <a:ext uri="{FF2B5EF4-FFF2-40B4-BE49-F238E27FC236}">
                <a16:creationId xmlns:a16="http://schemas.microsoft.com/office/drawing/2014/main" id="{02A8FE8A-6233-45AD-BE6F-D3C030F787AE}"/>
              </a:ext>
            </a:extLst>
          </p:cNvPr>
          <p:cNvSpPr>
            <a:spLocks noGrp="1"/>
          </p:cNvSpPr>
          <p:nvPr/>
        </p:nvSpPr>
        <p:spPr>
          <a:xfrm>
            <a:off x="6096000" y="2076450"/>
            <a:ext cx="5143500" cy="12382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core-1-accent">
            <a:extLst>
              <a:ext uri="{FF2B5EF4-FFF2-40B4-BE49-F238E27FC236}">
                <a16:creationId xmlns:a16="http://schemas.microsoft.com/office/drawing/2014/main" id="{9901A5CF-16F2-4D79-8392-EF895EFCC485}"/>
              </a:ext>
            </a:extLst>
          </p:cNvPr>
          <p:cNvSpPr>
            <a:spLocks noGrp="1"/>
          </p:cNvSpPr>
          <p:nvPr/>
        </p:nvSpPr>
        <p:spPr>
          <a:xfrm>
            <a:off x="6096000" y="2076450"/>
            <a:ext cx="66675" cy="12382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core-1-label">
            <a:extLst>
              <a:ext uri="{FF2B5EF4-FFF2-40B4-BE49-F238E27FC236}">
                <a16:creationId xmlns:a16="http://schemas.microsoft.com/office/drawing/2014/main" id="{3AEC4BC1-72A6-4BF6-92BC-825B19A8C52B}"/>
              </a:ext>
            </a:extLst>
          </p:cNvPr>
          <p:cNvSpPr>
            <a:spLocks noGrp="1"/>
          </p:cNvSpPr>
          <p:nvPr/>
        </p:nvSpPr>
        <p:spPr>
          <a:xfrm>
            <a:off x="6305550" y="2247900"/>
            <a:ext cx="472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系统架构</a:t>
            </a:r>
          </a:p>
        </p:txBody>
      </p:sp>
      <p:sp>
        <p:nvSpPr>
          <p:cNvPr id="13" name="score-1-body">
            <a:extLst>
              <a:ext uri="{FF2B5EF4-FFF2-40B4-BE49-F238E27FC236}">
                <a16:creationId xmlns:a16="http://schemas.microsoft.com/office/drawing/2014/main" id="{AE68F612-D3CE-443D-ABDD-7106BACB029B}"/>
              </a:ext>
            </a:extLst>
          </p:cNvPr>
          <p:cNvSpPr>
            <a:spLocks noGrp="1"/>
          </p:cNvSpPr>
          <p:nvPr/>
        </p:nvSpPr>
        <p:spPr>
          <a:xfrm>
            <a:off x="6305550" y="2667000"/>
            <a:ext cx="4724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FastAPI、Orchestrator、知识库、SQLite、医生工作台</a:t>
            </a:r>
          </a:p>
        </p:txBody>
      </p:sp>
      <p:sp>
        <p:nvSpPr>
          <p:cNvPr id="14" name="score-2-panel">
            <a:extLst>
              <a:ext uri="{FF2B5EF4-FFF2-40B4-BE49-F238E27FC236}">
                <a16:creationId xmlns:a16="http://schemas.microsoft.com/office/drawing/2014/main" id="{B0824821-CC78-431A-B918-7C955CD03838}"/>
              </a:ext>
            </a:extLst>
          </p:cNvPr>
          <p:cNvSpPr>
            <a:spLocks noGrp="1"/>
          </p:cNvSpPr>
          <p:nvPr/>
        </p:nvSpPr>
        <p:spPr>
          <a:xfrm>
            <a:off x="400050" y="3695700"/>
            <a:ext cx="5143500" cy="12382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core-2-accent">
            <a:extLst>
              <a:ext uri="{FF2B5EF4-FFF2-40B4-BE49-F238E27FC236}">
                <a16:creationId xmlns:a16="http://schemas.microsoft.com/office/drawing/2014/main" id="{032A8602-15B9-4176-9A99-E6A8CD245A0E}"/>
              </a:ext>
            </a:extLst>
          </p:cNvPr>
          <p:cNvSpPr>
            <a:spLocks noGrp="1"/>
          </p:cNvSpPr>
          <p:nvPr/>
        </p:nvSpPr>
        <p:spPr>
          <a:xfrm>
            <a:off x="400050" y="3695700"/>
            <a:ext cx="66675" cy="12382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core-2-label">
            <a:extLst>
              <a:ext uri="{FF2B5EF4-FFF2-40B4-BE49-F238E27FC236}">
                <a16:creationId xmlns:a16="http://schemas.microsoft.com/office/drawing/2014/main" id="{51AF2FD5-5471-4051-BC8F-59EEB18CD2E9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472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接口定义</a:t>
            </a:r>
          </a:p>
        </p:txBody>
      </p:sp>
      <p:sp>
        <p:nvSpPr>
          <p:cNvPr id="17" name="score-2-body">
            <a:extLst>
              <a:ext uri="{FF2B5EF4-FFF2-40B4-BE49-F238E27FC236}">
                <a16:creationId xmlns:a16="http://schemas.microsoft.com/office/drawing/2014/main" id="{949BB750-6AC6-4E47-9E39-F75F1EDA29AF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4724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/api/asr/sessions、/api/records/preview、/api/tasks</a:t>
            </a:r>
          </a:p>
        </p:txBody>
      </p:sp>
      <p:sp>
        <p:nvSpPr>
          <p:cNvPr id="18" name="score-3-panel">
            <a:extLst>
              <a:ext uri="{FF2B5EF4-FFF2-40B4-BE49-F238E27FC236}">
                <a16:creationId xmlns:a16="http://schemas.microsoft.com/office/drawing/2014/main" id="{637117A1-9592-4F48-99C9-681AACAD429B}"/>
              </a:ext>
            </a:extLst>
          </p:cNvPr>
          <p:cNvSpPr>
            <a:spLocks noGrp="1"/>
          </p:cNvSpPr>
          <p:nvPr/>
        </p:nvSpPr>
        <p:spPr>
          <a:xfrm>
            <a:off x="6096000" y="3695700"/>
            <a:ext cx="5143500" cy="12382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core-3-accent">
            <a:extLst>
              <a:ext uri="{FF2B5EF4-FFF2-40B4-BE49-F238E27FC236}">
                <a16:creationId xmlns:a16="http://schemas.microsoft.com/office/drawing/2014/main" id="{A2649212-3C76-45C4-A6AF-5BF2A0102C92}"/>
              </a:ext>
            </a:extLst>
          </p:cNvPr>
          <p:cNvSpPr>
            <a:spLocks noGrp="1"/>
          </p:cNvSpPr>
          <p:nvPr/>
        </p:nvSpPr>
        <p:spPr>
          <a:xfrm>
            <a:off x="6096000" y="3695700"/>
            <a:ext cx="66675" cy="12382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core-3-label">
            <a:extLst>
              <a:ext uri="{FF2B5EF4-FFF2-40B4-BE49-F238E27FC236}">
                <a16:creationId xmlns:a16="http://schemas.microsoft.com/office/drawing/2014/main" id="{EEE1DE37-0070-4789-A236-2B596D2E6486}"/>
              </a:ext>
            </a:extLst>
          </p:cNvPr>
          <p:cNvSpPr>
            <a:spLocks noGrp="1"/>
          </p:cNvSpPr>
          <p:nvPr/>
        </p:nvSpPr>
        <p:spPr>
          <a:xfrm>
            <a:off x="6305550" y="3867150"/>
            <a:ext cx="472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过程证据</a:t>
            </a:r>
          </a:p>
        </p:txBody>
      </p:sp>
      <p:sp>
        <p:nvSpPr>
          <p:cNvPr id="21" name="score-3-body">
            <a:extLst>
              <a:ext uri="{FF2B5EF4-FFF2-40B4-BE49-F238E27FC236}">
                <a16:creationId xmlns:a16="http://schemas.microsoft.com/office/drawing/2014/main" id="{08C33115-ECF1-468F-870F-765625F9F796}"/>
              </a:ext>
            </a:extLst>
          </p:cNvPr>
          <p:cNvSpPr>
            <a:spLocks noGrp="1"/>
          </p:cNvSpPr>
          <p:nvPr/>
        </p:nvSpPr>
        <p:spPr>
          <a:xfrm>
            <a:off x="6305550" y="4286250"/>
            <a:ext cx="4724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daily log、debug log、版本演进、能力证据矩阵</a:t>
            </a:r>
          </a:p>
        </p:txBody>
      </p:sp>
    </p:spTree>
    <p:extLst>
      <p:ext uri="{BB962C8B-B14F-4D97-AF65-F5344CB8AC3E}">
        <p14:creationId xmlns:p14="http://schemas.microsoft.com/office/powerpoint/2010/main" val="1499295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yebrow-4">
            <a:extLst>
              <a:ext uri="{FF2B5EF4-FFF2-40B4-BE49-F238E27FC236}">
                <a16:creationId xmlns:a16="http://schemas.microsoft.com/office/drawing/2014/main" id="{ADC74440-DE87-4B54-852B-29C7BA0E439F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97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每日推进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89742A94-7573-4817-96CD-954A2D423479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620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四天迭代把项目从治理推进到可演示</a:t>
            </a:r>
          </a:p>
        </p:txBody>
      </p:sp>
      <p:sp>
        <p:nvSpPr>
          <p:cNvPr id="3" name="rule-4">
            <a:extLst>
              <a:ext uri="{FF2B5EF4-FFF2-40B4-BE49-F238E27FC236}">
                <a16:creationId xmlns:a16="http://schemas.microsoft.com/office/drawing/2014/main" id="{35E30E04-A2C6-447D-B48D-C2B671AC0B66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footer-4">
            <a:extLst>
              <a:ext uri="{FF2B5EF4-FFF2-40B4-BE49-F238E27FC236}">
                <a16:creationId xmlns:a16="http://schemas.microsoft.com/office/drawing/2014/main" id="{79C557E2-9765-404D-82D5-CF6EFE9D5E12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Medical Record Agent · 第一周周评审</a:t>
            </a:r>
          </a:p>
        </p:txBody>
      </p:sp>
      <p:sp>
        <p:nvSpPr>
          <p:cNvPr id="5" name="page-4">
            <a:extLst>
              <a:ext uri="{FF2B5EF4-FFF2-40B4-BE49-F238E27FC236}">
                <a16:creationId xmlns:a16="http://schemas.microsoft.com/office/drawing/2014/main" id="{FB7321B4-9181-421F-A451-7B37F6C3C048}"/>
              </a:ext>
            </a:extLst>
          </p:cNvPr>
          <p:cNvSpPr>
            <a:spLocks noGrp="1"/>
          </p:cNvSpPr>
          <p:nvPr/>
        </p:nvSpPr>
        <p:spPr>
          <a:xfrm>
            <a:off x="11287125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6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day-0">
            <a:extLst>
              <a:ext uri="{FF2B5EF4-FFF2-40B4-BE49-F238E27FC236}">
                <a16:creationId xmlns:a16="http://schemas.microsoft.com/office/drawing/2014/main" id="{2840DB83-5041-4F9E-84CB-576FB1993E1C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2190750" cy="20002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day-date-0">
            <a:extLst>
              <a:ext uri="{FF2B5EF4-FFF2-40B4-BE49-F238E27FC236}">
                <a16:creationId xmlns:a16="http://schemas.microsoft.com/office/drawing/2014/main" id="{36B735AB-D3A4-4180-98B6-2D5E62E9CD44}"/>
              </a:ext>
            </a:extLst>
          </p:cNvPr>
          <p:cNvSpPr>
            <a:spLocks noGrp="1"/>
          </p:cNvSpPr>
          <p:nvPr/>
        </p:nvSpPr>
        <p:spPr>
          <a:xfrm>
            <a:off x="914400" y="2667000"/>
            <a:ext cx="171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365"/>
          </a:bodyPr>
          <a:lstStyle/>
          <a:p>
            <a:pPr algn="l">
              <a:lnSpc>
                <a:spcPct val="116000"/>
              </a:lnSpc>
              <a:buNone/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7/6</a:t>
            </a:r>
          </a:p>
        </p:txBody>
      </p:sp>
      <p:sp>
        <p:nvSpPr>
          <p:cNvPr id="8" name="day-body-0">
            <a:extLst>
              <a:ext uri="{FF2B5EF4-FFF2-40B4-BE49-F238E27FC236}">
                <a16:creationId xmlns:a16="http://schemas.microsoft.com/office/drawing/2014/main" id="{21AE9382-6A19-4C7E-836A-BBC0D32AD3D2}"/>
              </a:ext>
            </a:extLst>
          </p:cNvPr>
          <p:cNvSpPr>
            <a:spLocks noGrp="1"/>
          </p:cNvSpPr>
          <p:nvPr/>
        </p:nvSpPr>
        <p:spPr>
          <a:xfrm>
            <a:off x="914400" y="3409950"/>
            <a:ext cx="17335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0000"/>
              </a:lnSpc>
              <a:buNone/>
              <a:def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工程治理、SSE 文件流、角色校正基础</a:t>
            </a:r>
          </a:p>
        </p:txBody>
      </p:sp>
      <p:sp>
        <p:nvSpPr>
          <p:cNvPr id="9" name="day-1">
            <a:extLst>
              <a:ext uri="{FF2B5EF4-FFF2-40B4-BE49-F238E27FC236}">
                <a16:creationId xmlns:a16="http://schemas.microsoft.com/office/drawing/2014/main" id="{0E998E9F-D19B-41C0-BCE2-FCE2DC824B71}"/>
              </a:ext>
            </a:extLst>
          </p:cNvPr>
          <p:cNvSpPr>
            <a:spLocks noGrp="1"/>
          </p:cNvSpPr>
          <p:nvPr/>
        </p:nvSpPr>
        <p:spPr>
          <a:xfrm>
            <a:off x="3467100" y="2381250"/>
            <a:ext cx="2190750" cy="20002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day-date-1">
            <a:extLst>
              <a:ext uri="{FF2B5EF4-FFF2-40B4-BE49-F238E27FC236}">
                <a16:creationId xmlns:a16="http://schemas.microsoft.com/office/drawing/2014/main" id="{EB113BB6-3C69-455D-A2F3-7330D0BC7D2B}"/>
              </a:ext>
            </a:extLst>
          </p:cNvPr>
          <p:cNvSpPr>
            <a:spLocks noGrp="1"/>
          </p:cNvSpPr>
          <p:nvPr/>
        </p:nvSpPr>
        <p:spPr>
          <a:xfrm>
            <a:off x="3695700" y="2667000"/>
            <a:ext cx="171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365"/>
          </a:bodyPr>
          <a:lstStyle/>
          <a:p>
            <a:pPr algn="l">
              <a:lnSpc>
                <a:spcPct val="116000"/>
              </a:lnSpc>
              <a:buNone/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7/7</a:t>
            </a:r>
          </a:p>
        </p:txBody>
      </p:sp>
      <p:sp>
        <p:nvSpPr>
          <p:cNvPr id="11" name="day-body-1">
            <a:extLst>
              <a:ext uri="{FF2B5EF4-FFF2-40B4-BE49-F238E27FC236}">
                <a16:creationId xmlns:a16="http://schemas.microsoft.com/office/drawing/2014/main" id="{3FC8F1D9-E054-41E8-B291-C2A6E0382368}"/>
              </a:ext>
            </a:extLst>
          </p:cNvPr>
          <p:cNvSpPr>
            <a:spLocks noGrp="1"/>
          </p:cNvSpPr>
          <p:nvPr/>
        </p:nvSpPr>
        <p:spPr>
          <a:xfrm>
            <a:off x="3695700" y="3409950"/>
            <a:ext cx="17335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0000"/>
              </a:lnSpc>
              <a:buNone/>
              <a:def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成果表单、知识库规则、本地 ASR 评测启动</a:t>
            </a:r>
          </a:p>
        </p:txBody>
      </p:sp>
      <p:sp>
        <p:nvSpPr>
          <p:cNvPr id="12" name="day-2">
            <a:extLst>
              <a:ext uri="{FF2B5EF4-FFF2-40B4-BE49-F238E27FC236}">
                <a16:creationId xmlns:a16="http://schemas.microsoft.com/office/drawing/2014/main" id="{509EC739-791A-4106-A3C4-F4C4C0A8B0DD}"/>
              </a:ext>
            </a:extLst>
          </p:cNvPr>
          <p:cNvSpPr>
            <a:spLocks noGrp="1"/>
          </p:cNvSpPr>
          <p:nvPr/>
        </p:nvSpPr>
        <p:spPr>
          <a:xfrm>
            <a:off x="6248400" y="2381250"/>
            <a:ext cx="2190750" cy="20002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day-date-2">
            <a:extLst>
              <a:ext uri="{FF2B5EF4-FFF2-40B4-BE49-F238E27FC236}">
                <a16:creationId xmlns:a16="http://schemas.microsoft.com/office/drawing/2014/main" id="{CB208496-15F0-49D4-95B8-EBA12668BA23}"/>
              </a:ext>
            </a:extLst>
          </p:cNvPr>
          <p:cNvSpPr>
            <a:spLocks noGrp="1"/>
          </p:cNvSpPr>
          <p:nvPr/>
        </p:nvSpPr>
        <p:spPr>
          <a:xfrm>
            <a:off x="6477000" y="2667000"/>
            <a:ext cx="171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365"/>
          </a:bodyPr>
          <a:lstStyle/>
          <a:p>
            <a:pPr algn="l">
              <a:lnSpc>
                <a:spcPct val="116000"/>
              </a:lnSpc>
              <a:buNone/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7/8</a:t>
            </a:r>
          </a:p>
        </p:txBody>
      </p:sp>
      <p:sp>
        <p:nvSpPr>
          <p:cNvPr id="14" name="day-body-2">
            <a:extLst>
              <a:ext uri="{FF2B5EF4-FFF2-40B4-BE49-F238E27FC236}">
                <a16:creationId xmlns:a16="http://schemas.microsoft.com/office/drawing/2014/main" id="{DAED6476-0346-4613-B3A3-0C7595442148}"/>
              </a:ext>
            </a:extLst>
          </p:cNvPr>
          <p:cNvSpPr>
            <a:spLocks noGrp="1"/>
          </p:cNvSpPr>
          <p:nvPr/>
        </p:nvSpPr>
        <p:spPr>
          <a:xfrm>
            <a:off x="6477000" y="3409950"/>
            <a:ext cx="17335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0000"/>
              </a:lnSpc>
              <a:buNone/>
              <a:def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Qwen3 补测、16/30 分钟样本、切片稳定性</a:t>
            </a:r>
          </a:p>
        </p:txBody>
      </p:sp>
      <p:sp>
        <p:nvSpPr>
          <p:cNvPr id="15" name="day-3">
            <a:extLst>
              <a:ext uri="{FF2B5EF4-FFF2-40B4-BE49-F238E27FC236}">
                <a16:creationId xmlns:a16="http://schemas.microsoft.com/office/drawing/2014/main" id="{805FB170-30C1-4EC2-9AC0-6097C3B8BB7A}"/>
              </a:ext>
            </a:extLst>
          </p:cNvPr>
          <p:cNvSpPr>
            <a:spLocks noGrp="1"/>
          </p:cNvSpPr>
          <p:nvPr/>
        </p:nvSpPr>
        <p:spPr>
          <a:xfrm>
            <a:off x="9029700" y="2381250"/>
            <a:ext cx="2190750" cy="2000250"/>
          </a:xfrm>
          <a:prstGeom prst="rect">
            <a:avLst/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day-date-3">
            <a:extLst>
              <a:ext uri="{FF2B5EF4-FFF2-40B4-BE49-F238E27FC236}">
                <a16:creationId xmlns:a16="http://schemas.microsoft.com/office/drawing/2014/main" id="{490EB8CA-ACD4-423A-95D1-A494B8B5F324}"/>
              </a:ext>
            </a:extLst>
          </p:cNvPr>
          <p:cNvSpPr>
            <a:spLocks noGrp="1"/>
          </p:cNvSpPr>
          <p:nvPr/>
        </p:nvSpPr>
        <p:spPr>
          <a:xfrm>
            <a:off x="9258300" y="2667000"/>
            <a:ext cx="171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365"/>
          </a:bodyPr>
          <a:lstStyle/>
          <a:p>
            <a:pPr algn="l">
              <a:lnSpc>
                <a:spcPct val="116000"/>
              </a:lnSpc>
              <a:buNone/>
              <a:defRPr sz="3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7/9</a:t>
            </a:r>
          </a:p>
        </p:txBody>
      </p:sp>
      <p:sp>
        <p:nvSpPr>
          <p:cNvPr id="17" name="day-body-3">
            <a:extLst>
              <a:ext uri="{FF2B5EF4-FFF2-40B4-BE49-F238E27FC236}">
                <a16:creationId xmlns:a16="http://schemas.microsoft.com/office/drawing/2014/main" id="{545E1F96-4607-4FDD-BF5D-38169CC8B78F}"/>
              </a:ext>
            </a:extLst>
          </p:cNvPr>
          <p:cNvSpPr>
            <a:spLocks noGrp="1"/>
          </p:cNvSpPr>
          <p:nvPr/>
        </p:nvSpPr>
        <p:spPr>
          <a:xfrm>
            <a:off x="9258300" y="3409950"/>
            <a:ext cx="17335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092"/>
          </a:bodyPr>
          <a:lstStyle/>
          <a:p>
            <a:pPr algn="l">
              <a:lnSpc>
                <a:spcPct val="120000"/>
              </a:lnSpc>
              <a:buNone/>
              <a:def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Docker 2601、真实前端验收、实时预览、转写 UI 简化</a:t>
            </a:r>
          </a:p>
        </p:txBody>
      </p:sp>
      <p:sp>
        <p:nvSpPr>
          <p:cNvPr id="18" name="daily-takeaway">
            <a:extLst>
              <a:ext uri="{FF2B5EF4-FFF2-40B4-BE49-F238E27FC236}">
                <a16:creationId xmlns:a16="http://schemas.microsoft.com/office/drawing/2014/main" id="{CA9F8667-DF40-42A4-8F65-B5DEE09C8E2C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每天都有目标、问题、解决方案和验证记录。</a:t>
            </a:r>
          </a:p>
        </p:txBody>
      </p:sp>
    </p:spTree>
    <p:extLst>
      <p:ext uri="{BB962C8B-B14F-4D97-AF65-F5344CB8AC3E}">
        <p14:creationId xmlns:p14="http://schemas.microsoft.com/office/powerpoint/2010/main" val="1543310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-5">
            <a:extLst>
              <a:ext uri="{FF2B5EF4-FFF2-40B4-BE49-F238E27FC236}">
                <a16:creationId xmlns:a16="http://schemas.microsoft.com/office/drawing/2014/main" id="{44A65BE5-2EE6-4195-8920-9F5CAA20B9C2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97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8FE759CA-245B-4C8B-A52A-4CF1836540A7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620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音频和文本最终进入同一条病历 Agent 链路</a:t>
            </a:r>
          </a:p>
        </p:txBody>
      </p:sp>
      <p:sp>
        <p:nvSpPr>
          <p:cNvPr id="3" name="rule-5">
            <a:extLst>
              <a:ext uri="{FF2B5EF4-FFF2-40B4-BE49-F238E27FC236}">
                <a16:creationId xmlns:a16="http://schemas.microsoft.com/office/drawing/2014/main" id="{9A44F563-6FE0-448A-B5C5-7FADAE37B6ED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footer-5">
            <a:extLst>
              <a:ext uri="{FF2B5EF4-FFF2-40B4-BE49-F238E27FC236}">
                <a16:creationId xmlns:a16="http://schemas.microsoft.com/office/drawing/2014/main" id="{4D6C12CC-1F3A-417D-9FB2-86E6A23187B2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Medical Record Agent · 第一周周评审</a:t>
            </a:r>
          </a:p>
        </p:txBody>
      </p:sp>
      <p:sp>
        <p:nvSpPr>
          <p:cNvPr id="5" name="page-5">
            <a:extLst>
              <a:ext uri="{FF2B5EF4-FFF2-40B4-BE49-F238E27FC236}">
                <a16:creationId xmlns:a16="http://schemas.microsoft.com/office/drawing/2014/main" id="{0A8DA1D0-F651-4040-8CAB-21E9E27A837E}"/>
              </a:ext>
            </a:extLst>
          </p:cNvPr>
          <p:cNvSpPr>
            <a:spLocks noGrp="1"/>
          </p:cNvSpPr>
          <p:nvPr/>
        </p:nvSpPr>
        <p:spPr>
          <a:xfrm>
            <a:off x="11287125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6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flow-0">
            <a:extLst>
              <a:ext uri="{FF2B5EF4-FFF2-40B4-BE49-F238E27FC236}">
                <a16:creationId xmlns:a16="http://schemas.microsoft.com/office/drawing/2014/main" id="{14720E1A-5E87-45B6-A92B-47423142B325}"/>
              </a:ext>
            </a:extLst>
          </p:cNvPr>
          <p:cNvSpPr>
            <a:spLocks noGrp="1"/>
          </p:cNvSpPr>
          <p:nvPr/>
        </p:nvSpPr>
        <p:spPr>
          <a:xfrm>
            <a:off x="457200" y="2428875"/>
            <a:ext cx="1809750" cy="10477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flow-label-0">
            <a:extLst>
              <a:ext uri="{FF2B5EF4-FFF2-40B4-BE49-F238E27FC236}">
                <a16:creationId xmlns:a16="http://schemas.microsoft.com/office/drawing/2014/main" id="{A47C4136-5C70-487E-9680-FD51FF1D3C52}"/>
              </a:ext>
            </a:extLst>
          </p:cNvPr>
          <p:cNvSpPr>
            <a:spLocks noGrp="1"/>
          </p:cNvSpPr>
          <p:nvPr/>
        </p:nvSpPr>
        <p:spPr>
          <a:xfrm>
            <a:off x="647700" y="27622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6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8" name="flow-arrow-0">
            <a:extLst>
              <a:ext uri="{FF2B5EF4-FFF2-40B4-BE49-F238E27FC236}">
                <a16:creationId xmlns:a16="http://schemas.microsoft.com/office/drawing/2014/main" id="{3EC77B87-8517-436B-A989-49ADE3E1FDE5}"/>
              </a:ext>
            </a:extLst>
          </p:cNvPr>
          <p:cNvSpPr>
            <a:spLocks noGrp="1"/>
          </p:cNvSpPr>
          <p:nvPr/>
        </p:nvSpPr>
        <p:spPr>
          <a:xfrm>
            <a:off x="2343150" y="2781300"/>
            <a:ext cx="304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4516"/>
          </a:bodyPr>
          <a:lstStyle/>
          <a:p>
            <a:pPr algn="l">
              <a:lnSpc>
                <a:spcPct val="116000"/>
              </a:lnSpc>
              <a:buNone/>
              <a:defRPr sz="25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flow-1">
            <a:extLst>
              <a:ext uri="{FF2B5EF4-FFF2-40B4-BE49-F238E27FC236}">
                <a16:creationId xmlns:a16="http://schemas.microsoft.com/office/drawing/2014/main" id="{4734EF9D-4CB7-4260-B471-9F4DEC401D45}"/>
              </a:ext>
            </a:extLst>
          </p:cNvPr>
          <p:cNvSpPr>
            <a:spLocks noGrp="1"/>
          </p:cNvSpPr>
          <p:nvPr/>
        </p:nvSpPr>
        <p:spPr>
          <a:xfrm>
            <a:off x="2724150" y="2428875"/>
            <a:ext cx="1809750" cy="10477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flow-label-1">
            <a:extLst>
              <a:ext uri="{FF2B5EF4-FFF2-40B4-BE49-F238E27FC236}">
                <a16:creationId xmlns:a16="http://schemas.microsoft.com/office/drawing/2014/main" id="{8948BC97-CD06-452B-B2B2-BA12BACF070A}"/>
              </a:ext>
            </a:extLst>
          </p:cNvPr>
          <p:cNvSpPr>
            <a:spLocks noGrp="1"/>
          </p:cNvSpPr>
          <p:nvPr/>
        </p:nvSpPr>
        <p:spPr>
          <a:xfrm>
            <a:off x="2914650" y="27622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6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ASR/文本</a:t>
            </a:r>
          </a:p>
        </p:txBody>
      </p:sp>
      <p:sp>
        <p:nvSpPr>
          <p:cNvPr id="11" name="flow-arrow-1">
            <a:extLst>
              <a:ext uri="{FF2B5EF4-FFF2-40B4-BE49-F238E27FC236}">
                <a16:creationId xmlns:a16="http://schemas.microsoft.com/office/drawing/2014/main" id="{24565AE9-911C-4A21-9D9E-C921ECACA650}"/>
              </a:ext>
            </a:extLst>
          </p:cNvPr>
          <p:cNvSpPr>
            <a:spLocks noGrp="1"/>
          </p:cNvSpPr>
          <p:nvPr/>
        </p:nvSpPr>
        <p:spPr>
          <a:xfrm>
            <a:off x="4610100" y="2781300"/>
            <a:ext cx="304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4516"/>
          </a:bodyPr>
          <a:lstStyle/>
          <a:p>
            <a:pPr algn="l">
              <a:lnSpc>
                <a:spcPct val="116000"/>
              </a:lnSpc>
              <a:buNone/>
              <a:defRPr sz="25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flow-2">
            <a:extLst>
              <a:ext uri="{FF2B5EF4-FFF2-40B4-BE49-F238E27FC236}">
                <a16:creationId xmlns:a16="http://schemas.microsoft.com/office/drawing/2014/main" id="{FEE0BE7D-6D02-4887-8675-29B0F37C0CEA}"/>
              </a:ext>
            </a:extLst>
          </p:cNvPr>
          <p:cNvSpPr>
            <a:spLocks noGrp="1"/>
          </p:cNvSpPr>
          <p:nvPr/>
        </p:nvSpPr>
        <p:spPr>
          <a:xfrm>
            <a:off x="4991100" y="2428875"/>
            <a:ext cx="1809750" cy="1047750"/>
          </a:xfrm>
          <a:prstGeom prst="rect">
            <a:avLst/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flow-label-2">
            <a:extLst>
              <a:ext uri="{FF2B5EF4-FFF2-40B4-BE49-F238E27FC236}">
                <a16:creationId xmlns:a16="http://schemas.microsoft.com/office/drawing/2014/main" id="{15E94E5F-991B-4232-85FF-240E12D1DEFE}"/>
              </a:ext>
            </a:extLst>
          </p:cNvPr>
          <p:cNvSpPr>
            <a:spLocks noGrp="1"/>
          </p:cNvSpPr>
          <p:nvPr/>
        </p:nvSpPr>
        <p:spPr>
          <a:xfrm>
            <a:off x="5169326" y="2762250"/>
            <a:ext cx="1504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940"/>
          </a:bodyPr>
          <a:lstStyle/>
          <a:p>
            <a:pPr algn="ctr">
              <a:lnSpc>
                <a:spcPct val="116000"/>
              </a:lnSpc>
              <a:buNone/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</p:txBody>
      </p:sp>
      <p:sp>
        <p:nvSpPr>
          <p:cNvPr id="14" name="flow-arrow-2">
            <a:extLst>
              <a:ext uri="{FF2B5EF4-FFF2-40B4-BE49-F238E27FC236}">
                <a16:creationId xmlns:a16="http://schemas.microsoft.com/office/drawing/2014/main" id="{75517229-CADB-4C11-ADDA-A2B6CD9656EB}"/>
              </a:ext>
            </a:extLst>
          </p:cNvPr>
          <p:cNvSpPr>
            <a:spLocks noGrp="1"/>
          </p:cNvSpPr>
          <p:nvPr/>
        </p:nvSpPr>
        <p:spPr>
          <a:xfrm>
            <a:off x="6877050" y="2781300"/>
            <a:ext cx="304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4516"/>
          </a:bodyPr>
          <a:lstStyle/>
          <a:p>
            <a:pPr algn="l">
              <a:lnSpc>
                <a:spcPct val="116000"/>
              </a:lnSpc>
              <a:buNone/>
              <a:defRPr sz="25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flow-3">
            <a:extLst>
              <a:ext uri="{FF2B5EF4-FFF2-40B4-BE49-F238E27FC236}">
                <a16:creationId xmlns:a16="http://schemas.microsoft.com/office/drawing/2014/main" id="{C2F4A82E-5167-433E-880C-74559FBBD7A3}"/>
              </a:ext>
            </a:extLst>
          </p:cNvPr>
          <p:cNvSpPr>
            <a:spLocks noGrp="1"/>
          </p:cNvSpPr>
          <p:nvPr/>
        </p:nvSpPr>
        <p:spPr>
          <a:xfrm>
            <a:off x="7258050" y="2428875"/>
            <a:ext cx="1809750" cy="10477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flow-label-3">
            <a:extLst>
              <a:ext uri="{FF2B5EF4-FFF2-40B4-BE49-F238E27FC236}">
                <a16:creationId xmlns:a16="http://schemas.microsoft.com/office/drawing/2014/main" id="{10AE4563-BCDE-4A3D-9AC7-BAC7B431B60A}"/>
              </a:ext>
            </a:extLst>
          </p:cNvPr>
          <p:cNvSpPr>
            <a:spLocks noGrp="1"/>
          </p:cNvSpPr>
          <p:nvPr/>
        </p:nvSpPr>
        <p:spPr>
          <a:xfrm>
            <a:off x="7448550" y="27622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6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安全校验</a:t>
            </a:r>
          </a:p>
        </p:txBody>
      </p:sp>
      <p:sp>
        <p:nvSpPr>
          <p:cNvPr id="17" name="flow-arrow-3">
            <a:extLst>
              <a:ext uri="{FF2B5EF4-FFF2-40B4-BE49-F238E27FC236}">
                <a16:creationId xmlns:a16="http://schemas.microsoft.com/office/drawing/2014/main" id="{02D81A0E-AC41-4AB5-ADC4-BD13B7DEB8FF}"/>
              </a:ext>
            </a:extLst>
          </p:cNvPr>
          <p:cNvSpPr>
            <a:spLocks noGrp="1"/>
          </p:cNvSpPr>
          <p:nvPr/>
        </p:nvSpPr>
        <p:spPr>
          <a:xfrm>
            <a:off x="9144000" y="2781300"/>
            <a:ext cx="304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4516"/>
          </a:bodyPr>
          <a:lstStyle/>
          <a:p>
            <a:pPr algn="l">
              <a:lnSpc>
                <a:spcPct val="116000"/>
              </a:lnSpc>
              <a:buNone/>
              <a:defRPr sz="25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flow-4">
            <a:extLst>
              <a:ext uri="{FF2B5EF4-FFF2-40B4-BE49-F238E27FC236}">
                <a16:creationId xmlns:a16="http://schemas.microsoft.com/office/drawing/2014/main" id="{4115AD16-AEAF-4624-9F4A-779B11A1A3C7}"/>
              </a:ext>
            </a:extLst>
          </p:cNvPr>
          <p:cNvSpPr>
            <a:spLocks noGrp="1"/>
          </p:cNvSpPr>
          <p:nvPr/>
        </p:nvSpPr>
        <p:spPr>
          <a:xfrm>
            <a:off x="9525000" y="2428875"/>
            <a:ext cx="1809750" cy="10477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flow-label-4">
            <a:extLst>
              <a:ext uri="{FF2B5EF4-FFF2-40B4-BE49-F238E27FC236}">
                <a16:creationId xmlns:a16="http://schemas.microsoft.com/office/drawing/2014/main" id="{3FEF40E0-521D-4702-ACA1-A3220F699AB3}"/>
              </a:ext>
            </a:extLst>
          </p:cNvPr>
          <p:cNvSpPr>
            <a:spLocks noGrp="1"/>
          </p:cNvSpPr>
          <p:nvPr/>
        </p:nvSpPr>
        <p:spPr>
          <a:xfrm>
            <a:off x="9715500" y="27622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6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医生审核导出</a:t>
            </a:r>
          </a:p>
        </p:txBody>
      </p:sp>
      <p:sp>
        <p:nvSpPr>
          <p:cNvPr id="20" name="arch-left">
            <a:extLst>
              <a:ext uri="{FF2B5EF4-FFF2-40B4-BE49-F238E27FC236}">
                <a16:creationId xmlns:a16="http://schemas.microsoft.com/office/drawing/2014/main" id="{21557BBF-544E-4955-91AB-36B208030DE1}"/>
              </a:ext>
            </a:extLst>
          </p:cNvPr>
          <p:cNvSpPr>
            <a:spLocks noGrp="1"/>
          </p:cNvSpPr>
          <p:nvPr/>
        </p:nvSpPr>
        <p:spPr>
          <a:xfrm>
            <a:off x="1000125" y="4286250"/>
            <a:ext cx="44767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0" indent="-10" algn="l">
              <a:lnSpc>
                <a:spcPct val="125000"/>
              </a:lnSpc>
              <a:buNone/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ASR 引擎可替换，统一输出 ASRResult。</a:t>
            </a:r>
          </a:p>
          <a:p>
            <a:pPr marL="20" indent="-10" algn="l">
              <a:lnSpc>
                <a:spcPct val="125000"/>
              </a:lnSpc>
              <a:buNone/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病历生成通过任务状态和 task steps 追踪。</a:t>
            </a:r>
          </a:p>
          <a:p>
            <a:pPr marL="20" indent="-10" algn="l">
              <a:lnSpc>
                <a:spcPct val="125000"/>
              </a:lnSpc>
              <a:buNone/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安全校验和医生确认是主流程的一部分。</a:t>
            </a:r>
          </a:p>
        </p:txBody>
      </p:sp>
      <p:sp>
        <p:nvSpPr>
          <p:cNvPr id="21" name="arch-right">
            <a:extLst>
              <a:ext uri="{FF2B5EF4-FFF2-40B4-BE49-F238E27FC236}">
                <a16:creationId xmlns:a16="http://schemas.microsoft.com/office/drawing/2014/main" id="{35FC81F7-65DC-46BC-BA7B-4348617B302C}"/>
              </a:ext>
            </a:extLst>
          </p:cNvPr>
          <p:cNvSpPr>
            <a:spLocks noGrp="1"/>
          </p:cNvSpPr>
          <p:nvPr/>
        </p:nvSpPr>
        <p:spPr>
          <a:xfrm>
            <a:off x="6477000" y="4286250"/>
            <a:ext cx="44767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0" indent="-10" algn="l">
              <a:lnSpc>
                <a:spcPct val="125000"/>
              </a:lnSpc>
              <a:buNone/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SQLite 和 runtime 输出保存运行结果。</a:t>
            </a:r>
          </a:p>
          <a:p>
            <a:pPr marL="20" indent="-10" algn="l">
              <a:lnSpc>
                <a:spcPct val="125000"/>
              </a:lnSpc>
              <a:buNone/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daily/debug log 记录问题和修复。</a:t>
            </a:r>
          </a:p>
          <a:p>
            <a:pPr marL="20" indent="-10" algn="l">
              <a:lnSpc>
                <a:spcPct val="125000"/>
              </a:lnSpc>
              <a:buNone/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Docker 2601 提供固定演示入口。</a:t>
            </a:r>
          </a:p>
        </p:txBody>
      </p:sp>
    </p:spTree>
    <p:extLst>
      <p:ext uri="{BB962C8B-B14F-4D97-AF65-F5344CB8AC3E}">
        <p14:creationId xmlns:p14="http://schemas.microsoft.com/office/powerpoint/2010/main" val="1166989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yebrow-6">
            <a:extLst>
              <a:ext uri="{FF2B5EF4-FFF2-40B4-BE49-F238E27FC236}">
                <a16:creationId xmlns:a16="http://schemas.microsoft.com/office/drawing/2014/main" id="{4204F00B-E1D5-481C-9967-3E97D91826AB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97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医生端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3F3E7427-9810-4741-A924-FC107258C37C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620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走文本</a:t>
            </a:r>
            <a:r>
              <a:rPr lang="zh-CN" altLang="en-US" sz="30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和音频</a:t>
            </a:r>
            <a:r>
              <a:rPr sz="30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闭环，证明业务流程</a:t>
            </a:r>
            <a:endParaRPr sz="30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rule-6">
            <a:extLst>
              <a:ext uri="{FF2B5EF4-FFF2-40B4-BE49-F238E27FC236}">
                <a16:creationId xmlns:a16="http://schemas.microsoft.com/office/drawing/2014/main" id="{8BCD4F0D-5F9E-4828-8FCD-4B46980A2FAC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footer-6">
            <a:extLst>
              <a:ext uri="{FF2B5EF4-FFF2-40B4-BE49-F238E27FC236}">
                <a16:creationId xmlns:a16="http://schemas.microsoft.com/office/drawing/2014/main" id="{CE3D4E1E-DE93-4365-8BE3-B5DA0E939AA0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Medical Record Agent · 第一周周评审</a:t>
            </a:r>
          </a:p>
        </p:txBody>
      </p:sp>
      <p:sp>
        <p:nvSpPr>
          <p:cNvPr id="5" name="page-6">
            <a:extLst>
              <a:ext uri="{FF2B5EF4-FFF2-40B4-BE49-F238E27FC236}">
                <a16:creationId xmlns:a16="http://schemas.microsoft.com/office/drawing/2014/main" id="{DBE8E107-A409-49D2-BE54-42367E7B8E88}"/>
              </a:ext>
            </a:extLst>
          </p:cNvPr>
          <p:cNvSpPr>
            <a:spLocks noGrp="1"/>
          </p:cNvSpPr>
          <p:nvPr/>
        </p:nvSpPr>
        <p:spPr>
          <a:xfrm>
            <a:off x="11287125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6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952625"/>
            <a:ext cx="6858000" cy="3857625"/>
          </a:xfrm>
          <a:prstGeom prst="rect">
            <a:avLst/>
          </a:prstGeom>
        </p:spPr>
      </p:pic>
      <p:sp>
        <p:nvSpPr>
          <p:cNvPr id="7" name="demo-1-panel">
            <a:extLst>
              <a:ext uri="{FF2B5EF4-FFF2-40B4-BE49-F238E27FC236}">
                <a16:creationId xmlns:a16="http://schemas.microsoft.com/office/drawing/2014/main" id="{A03D2515-A573-4A3B-95AE-D6494EDD96E4}"/>
              </a:ext>
            </a:extLst>
          </p:cNvPr>
          <p:cNvSpPr>
            <a:spLocks noGrp="1"/>
          </p:cNvSpPr>
          <p:nvPr/>
        </p:nvSpPr>
        <p:spPr>
          <a:xfrm>
            <a:off x="7715250" y="2095500"/>
            <a:ext cx="3714750" cy="10477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demo-1-accent">
            <a:extLst>
              <a:ext uri="{FF2B5EF4-FFF2-40B4-BE49-F238E27FC236}">
                <a16:creationId xmlns:a16="http://schemas.microsoft.com/office/drawing/2014/main" id="{3734ABEB-9FE7-4FED-A6A1-932FCCD017CD}"/>
              </a:ext>
            </a:extLst>
          </p:cNvPr>
          <p:cNvSpPr>
            <a:spLocks noGrp="1"/>
          </p:cNvSpPr>
          <p:nvPr/>
        </p:nvSpPr>
        <p:spPr>
          <a:xfrm>
            <a:off x="7715250" y="2095500"/>
            <a:ext cx="66675" cy="104775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demo-1-label">
            <a:extLst>
              <a:ext uri="{FF2B5EF4-FFF2-40B4-BE49-F238E27FC236}">
                <a16:creationId xmlns:a16="http://schemas.microsoft.com/office/drawing/2014/main" id="{934E6DCE-4911-45E6-950B-8978EA6E2B8F}"/>
              </a:ext>
            </a:extLst>
          </p:cNvPr>
          <p:cNvSpPr>
            <a:spLocks noGrp="1"/>
          </p:cNvSpPr>
          <p:nvPr/>
        </p:nvSpPr>
        <p:spPr>
          <a:xfrm>
            <a:off x="7924800" y="2266950"/>
            <a:ext cx="3295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先展示</a:t>
            </a:r>
          </a:p>
        </p:txBody>
      </p:sp>
      <p:sp>
        <p:nvSpPr>
          <p:cNvPr id="10" name="demo-1-body">
            <a:extLst>
              <a:ext uri="{FF2B5EF4-FFF2-40B4-BE49-F238E27FC236}">
                <a16:creationId xmlns:a16="http://schemas.microsoft.com/office/drawing/2014/main" id="{C83036FD-B635-4CC8-A780-B5BC10AB19BF}"/>
              </a:ext>
            </a:extLst>
          </p:cNvPr>
          <p:cNvSpPr>
            <a:spLocks noGrp="1"/>
          </p:cNvSpPr>
          <p:nvPr/>
        </p:nvSpPr>
        <p:spPr>
          <a:xfrm>
            <a:off x="7924800" y="2686050"/>
            <a:ext cx="3295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56922"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输入方式 -&gt; 文本生成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病历草稿和 AI 辅助同时出现</a:t>
            </a:r>
          </a:p>
        </p:txBody>
      </p:sp>
      <p:sp>
        <p:nvSpPr>
          <p:cNvPr id="11" name="demo-2-panel">
            <a:extLst>
              <a:ext uri="{FF2B5EF4-FFF2-40B4-BE49-F238E27FC236}">
                <a16:creationId xmlns:a16="http://schemas.microsoft.com/office/drawing/2014/main" id="{BDF99CC3-6CF7-4AF4-B9EF-3F08078D6268}"/>
              </a:ext>
            </a:extLst>
          </p:cNvPr>
          <p:cNvSpPr>
            <a:spLocks noGrp="1"/>
          </p:cNvSpPr>
          <p:nvPr/>
        </p:nvSpPr>
        <p:spPr>
          <a:xfrm>
            <a:off x="7715250" y="3429000"/>
            <a:ext cx="3714750" cy="10477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demo-2-accent">
            <a:extLst>
              <a:ext uri="{FF2B5EF4-FFF2-40B4-BE49-F238E27FC236}">
                <a16:creationId xmlns:a16="http://schemas.microsoft.com/office/drawing/2014/main" id="{7C566FB5-76ED-481E-9F92-7DC2DB67B235}"/>
              </a:ext>
            </a:extLst>
          </p:cNvPr>
          <p:cNvSpPr>
            <a:spLocks noGrp="1"/>
          </p:cNvSpPr>
          <p:nvPr/>
        </p:nvSpPr>
        <p:spPr>
          <a:xfrm>
            <a:off x="7715250" y="3429000"/>
            <a:ext cx="66675" cy="104775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demo-2-label">
            <a:extLst>
              <a:ext uri="{FF2B5EF4-FFF2-40B4-BE49-F238E27FC236}">
                <a16:creationId xmlns:a16="http://schemas.microsoft.com/office/drawing/2014/main" id="{B4E318F3-F165-409D-9105-468A5B511E3A}"/>
              </a:ext>
            </a:extLst>
          </p:cNvPr>
          <p:cNvSpPr>
            <a:spLocks noGrp="1"/>
          </p:cNvSpPr>
          <p:nvPr/>
        </p:nvSpPr>
        <p:spPr>
          <a:xfrm>
            <a:off x="7924800" y="3600450"/>
            <a:ext cx="3295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再强调</a:t>
            </a:r>
          </a:p>
        </p:txBody>
      </p:sp>
      <p:sp>
        <p:nvSpPr>
          <p:cNvPr id="14" name="demo-2-body">
            <a:extLst>
              <a:ext uri="{FF2B5EF4-FFF2-40B4-BE49-F238E27FC236}">
                <a16:creationId xmlns:a16="http://schemas.microsoft.com/office/drawing/2014/main" id="{467100C2-F52C-4F29-9E7C-63D7A2EED1C1}"/>
              </a:ext>
            </a:extLst>
          </p:cNvPr>
          <p:cNvSpPr>
            <a:spLocks noGrp="1"/>
          </p:cNvSpPr>
          <p:nvPr/>
        </p:nvSpPr>
        <p:spPr>
          <a:xfrm>
            <a:off x="7924800" y="4019550"/>
            <a:ext cx="3295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缺失项提醒、候选诊断、证据和安全校验</a:t>
            </a:r>
          </a:p>
        </p:txBody>
      </p:sp>
      <p:sp>
        <p:nvSpPr>
          <p:cNvPr id="15" name="demo-3-panel">
            <a:extLst>
              <a:ext uri="{FF2B5EF4-FFF2-40B4-BE49-F238E27FC236}">
                <a16:creationId xmlns:a16="http://schemas.microsoft.com/office/drawing/2014/main" id="{80FB5B38-70F1-47EA-A675-B3F1FD871150}"/>
              </a:ext>
            </a:extLst>
          </p:cNvPr>
          <p:cNvSpPr>
            <a:spLocks noGrp="1"/>
          </p:cNvSpPr>
          <p:nvPr/>
        </p:nvSpPr>
        <p:spPr>
          <a:xfrm>
            <a:off x="7715250" y="4762500"/>
            <a:ext cx="3714750" cy="10477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demo-3-accent">
            <a:extLst>
              <a:ext uri="{FF2B5EF4-FFF2-40B4-BE49-F238E27FC236}">
                <a16:creationId xmlns:a16="http://schemas.microsoft.com/office/drawing/2014/main" id="{430CEC01-B24A-40A4-A600-EF09E641F2C9}"/>
              </a:ext>
            </a:extLst>
          </p:cNvPr>
          <p:cNvSpPr>
            <a:spLocks noGrp="1"/>
          </p:cNvSpPr>
          <p:nvPr/>
        </p:nvSpPr>
        <p:spPr>
          <a:xfrm>
            <a:off x="7715250" y="4762500"/>
            <a:ext cx="66675" cy="10477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demo-3-label">
            <a:extLst>
              <a:ext uri="{FF2B5EF4-FFF2-40B4-BE49-F238E27FC236}">
                <a16:creationId xmlns:a16="http://schemas.microsoft.com/office/drawing/2014/main" id="{5D76ADBF-2FC7-42B7-8661-1590254C26A9}"/>
              </a:ext>
            </a:extLst>
          </p:cNvPr>
          <p:cNvSpPr>
            <a:spLocks noGrp="1"/>
          </p:cNvSpPr>
          <p:nvPr/>
        </p:nvSpPr>
        <p:spPr>
          <a:xfrm>
            <a:off x="7924800" y="4933950"/>
            <a:ext cx="3295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最后操作</a:t>
            </a:r>
          </a:p>
        </p:txBody>
      </p:sp>
      <p:sp>
        <p:nvSpPr>
          <p:cNvPr id="18" name="demo-3-body">
            <a:extLst>
              <a:ext uri="{FF2B5EF4-FFF2-40B4-BE49-F238E27FC236}">
                <a16:creationId xmlns:a16="http://schemas.microsoft.com/office/drawing/2014/main" id="{042CB61B-BD99-4502-A93A-A8BA42AF798B}"/>
              </a:ext>
            </a:extLst>
          </p:cNvPr>
          <p:cNvSpPr>
            <a:spLocks noGrp="1"/>
          </p:cNvSpPr>
          <p:nvPr/>
        </p:nvSpPr>
        <p:spPr>
          <a:xfrm>
            <a:off x="7924800" y="5353050"/>
            <a:ext cx="3295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确认字段、保存草稿、确认导出</a:t>
            </a:r>
          </a:p>
        </p:txBody>
      </p:sp>
    </p:spTree>
    <p:extLst>
      <p:ext uri="{BB962C8B-B14F-4D97-AF65-F5344CB8AC3E}">
        <p14:creationId xmlns:p14="http://schemas.microsoft.com/office/powerpoint/2010/main" val="1894134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yebrow-8">
            <a:extLst>
              <a:ext uri="{FF2B5EF4-FFF2-40B4-BE49-F238E27FC236}">
                <a16:creationId xmlns:a16="http://schemas.microsoft.com/office/drawing/2014/main" id="{14A3BBF6-E6D1-4D6A-8AB6-004630FD699A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97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角色校正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28BEDBAD-88EB-4D02-ADE1-4CB960A97CD5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620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校正从主界面移到抽屉，主流程仍可继续生成病历</a:t>
            </a:r>
          </a:p>
        </p:txBody>
      </p:sp>
      <p:sp>
        <p:nvSpPr>
          <p:cNvPr id="3" name="rule-8">
            <a:extLst>
              <a:ext uri="{FF2B5EF4-FFF2-40B4-BE49-F238E27FC236}">
                <a16:creationId xmlns:a16="http://schemas.microsoft.com/office/drawing/2014/main" id="{7350EF0C-15C4-484A-9ED9-7AF08D7A2CF7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footer-8">
            <a:extLst>
              <a:ext uri="{FF2B5EF4-FFF2-40B4-BE49-F238E27FC236}">
                <a16:creationId xmlns:a16="http://schemas.microsoft.com/office/drawing/2014/main" id="{52B3082C-822D-4C73-A0F4-846FC8F12DA3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Medical Record Agent · 第一周周评审</a:t>
            </a:r>
          </a:p>
        </p:txBody>
      </p:sp>
      <p:sp>
        <p:nvSpPr>
          <p:cNvPr id="5" name="page-8">
            <a:extLst>
              <a:ext uri="{FF2B5EF4-FFF2-40B4-BE49-F238E27FC236}">
                <a16:creationId xmlns:a16="http://schemas.microsoft.com/office/drawing/2014/main" id="{E9CC390B-7E4B-488A-982F-6AC2CCFEA63E}"/>
              </a:ext>
            </a:extLst>
          </p:cNvPr>
          <p:cNvSpPr>
            <a:spLocks noGrp="1"/>
          </p:cNvSpPr>
          <p:nvPr/>
        </p:nvSpPr>
        <p:spPr>
          <a:xfrm>
            <a:off x="11287125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6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952625"/>
            <a:ext cx="6858000" cy="3857625"/>
          </a:xfrm>
          <a:prstGeom prst="rect">
            <a:avLst/>
          </a:prstGeom>
        </p:spPr>
      </p:pic>
      <p:sp>
        <p:nvSpPr>
          <p:cNvPr id="7" name="drawer-1-panel">
            <a:extLst>
              <a:ext uri="{FF2B5EF4-FFF2-40B4-BE49-F238E27FC236}">
                <a16:creationId xmlns:a16="http://schemas.microsoft.com/office/drawing/2014/main" id="{1C1F6D25-A4BA-4576-867F-9D7381D9AE01}"/>
              </a:ext>
            </a:extLst>
          </p:cNvPr>
          <p:cNvSpPr>
            <a:spLocks noGrp="1"/>
          </p:cNvSpPr>
          <p:nvPr/>
        </p:nvSpPr>
        <p:spPr>
          <a:xfrm>
            <a:off x="7715250" y="2190750"/>
            <a:ext cx="3714750" cy="114300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drawer-1-accent">
            <a:extLst>
              <a:ext uri="{FF2B5EF4-FFF2-40B4-BE49-F238E27FC236}">
                <a16:creationId xmlns:a16="http://schemas.microsoft.com/office/drawing/2014/main" id="{39ACC9A8-B134-499A-865D-CEC13E742504}"/>
              </a:ext>
            </a:extLst>
          </p:cNvPr>
          <p:cNvSpPr>
            <a:spLocks noGrp="1"/>
          </p:cNvSpPr>
          <p:nvPr/>
        </p:nvSpPr>
        <p:spPr>
          <a:xfrm>
            <a:off x="7715250" y="2190750"/>
            <a:ext cx="66675" cy="11430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drawer-1-label">
            <a:extLst>
              <a:ext uri="{FF2B5EF4-FFF2-40B4-BE49-F238E27FC236}">
                <a16:creationId xmlns:a16="http://schemas.microsoft.com/office/drawing/2014/main" id="{1845515D-09B2-4AC9-9C4C-16893DF2398D}"/>
              </a:ext>
            </a:extLst>
          </p:cNvPr>
          <p:cNvSpPr>
            <a:spLocks noGrp="1"/>
          </p:cNvSpPr>
          <p:nvPr/>
        </p:nvSpPr>
        <p:spPr>
          <a:xfrm>
            <a:off x="7924800" y="2362200"/>
            <a:ext cx="3295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默认只读</a:t>
            </a:r>
          </a:p>
        </p:txBody>
      </p:sp>
      <p:sp>
        <p:nvSpPr>
          <p:cNvPr id="10" name="drawer-1-body">
            <a:extLst>
              <a:ext uri="{FF2B5EF4-FFF2-40B4-BE49-F238E27FC236}">
                <a16:creationId xmlns:a16="http://schemas.microsoft.com/office/drawing/2014/main" id="{B14833FA-14DA-4890-A552-86A186F64F59}"/>
              </a:ext>
            </a:extLst>
          </p:cNvPr>
          <p:cNvSpPr>
            <a:spLocks noGrp="1"/>
          </p:cNvSpPr>
          <p:nvPr/>
        </p:nvSpPr>
        <p:spPr>
          <a:xfrm>
            <a:off x="7924800" y="2781300"/>
            <a:ext cx="3295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0097"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医生端主视图先保证阅读效率，不直接暴露工程表单。</a:t>
            </a:r>
          </a:p>
        </p:txBody>
      </p:sp>
      <p:sp>
        <p:nvSpPr>
          <p:cNvPr id="11" name="drawer-2-panel">
            <a:extLst>
              <a:ext uri="{FF2B5EF4-FFF2-40B4-BE49-F238E27FC236}">
                <a16:creationId xmlns:a16="http://schemas.microsoft.com/office/drawing/2014/main" id="{CD6C074D-A67B-494E-9FE7-6E022B3A76E4}"/>
              </a:ext>
            </a:extLst>
          </p:cNvPr>
          <p:cNvSpPr>
            <a:spLocks noGrp="1"/>
          </p:cNvSpPr>
          <p:nvPr/>
        </p:nvSpPr>
        <p:spPr>
          <a:xfrm>
            <a:off x="7715250" y="3619500"/>
            <a:ext cx="3714750" cy="114300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drawer-2-accent">
            <a:extLst>
              <a:ext uri="{FF2B5EF4-FFF2-40B4-BE49-F238E27FC236}">
                <a16:creationId xmlns:a16="http://schemas.microsoft.com/office/drawing/2014/main" id="{07C1B093-FBB8-400B-AA23-E39742C38FF4}"/>
              </a:ext>
            </a:extLst>
          </p:cNvPr>
          <p:cNvSpPr>
            <a:spLocks noGrp="1"/>
          </p:cNvSpPr>
          <p:nvPr/>
        </p:nvSpPr>
        <p:spPr>
          <a:xfrm>
            <a:off x="7715250" y="3619500"/>
            <a:ext cx="66675" cy="1143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drawer-2-label">
            <a:extLst>
              <a:ext uri="{FF2B5EF4-FFF2-40B4-BE49-F238E27FC236}">
                <a16:creationId xmlns:a16="http://schemas.microsoft.com/office/drawing/2014/main" id="{CC639F9C-AA3A-4B4B-A32B-50F384C7931F}"/>
              </a:ext>
            </a:extLst>
          </p:cNvPr>
          <p:cNvSpPr>
            <a:spLocks noGrp="1"/>
          </p:cNvSpPr>
          <p:nvPr/>
        </p:nvSpPr>
        <p:spPr>
          <a:xfrm>
            <a:off x="7924800" y="3790950"/>
            <a:ext cx="3295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二级校正</a:t>
            </a:r>
          </a:p>
        </p:txBody>
      </p:sp>
      <p:sp>
        <p:nvSpPr>
          <p:cNvPr id="14" name="drawer-2-body">
            <a:extLst>
              <a:ext uri="{FF2B5EF4-FFF2-40B4-BE49-F238E27FC236}">
                <a16:creationId xmlns:a16="http://schemas.microsoft.com/office/drawing/2014/main" id="{CB927C9A-EA2D-4F4B-9153-D39A191EAE47}"/>
              </a:ext>
            </a:extLst>
          </p:cNvPr>
          <p:cNvSpPr>
            <a:spLocks noGrp="1"/>
          </p:cNvSpPr>
          <p:nvPr/>
        </p:nvSpPr>
        <p:spPr>
          <a:xfrm>
            <a:off x="7924800" y="4210050"/>
            <a:ext cx="3295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514"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点击行或显示设置后，在抽屉中改角色和文本。</a:t>
            </a:r>
          </a:p>
        </p:txBody>
      </p:sp>
      <p:sp>
        <p:nvSpPr>
          <p:cNvPr id="15" name="drawer-3-panel">
            <a:extLst>
              <a:ext uri="{FF2B5EF4-FFF2-40B4-BE49-F238E27FC236}">
                <a16:creationId xmlns:a16="http://schemas.microsoft.com/office/drawing/2014/main" id="{125F44E9-930F-42C9-BFD6-C10A072C47B0}"/>
              </a:ext>
            </a:extLst>
          </p:cNvPr>
          <p:cNvSpPr>
            <a:spLocks noGrp="1"/>
          </p:cNvSpPr>
          <p:nvPr/>
        </p:nvSpPr>
        <p:spPr>
          <a:xfrm>
            <a:off x="7715250" y="5048250"/>
            <a:ext cx="3714750" cy="76200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drawer-3-accent">
            <a:extLst>
              <a:ext uri="{FF2B5EF4-FFF2-40B4-BE49-F238E27FC236}">
                <a16:creationId xmlns:a16="http://schemas.microsoft.com/office/drawing/2014/main" id="{D3B201D9-C60E-4124-976F-949C5522890C}"/>
              </a:ext>
            </a:extLst>
          </p:cNvPr>
          <p:cNvSpPr>
            <a:spLocks noGrp="1"/>
          </p:cNvSpPr>
          <p:nvPr/>
        </p:nvSpPr>
        <p:spPr>
          <a:xfrm>
            <a:off x="7715250" y="5048250"/>
            <a:ext cx="66675" cy="7620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drawer-3-label">
            <a:extLst>
              <a:ext uri="{FF2B5EF4-FFF2-40B4-BE49-F238E27FC236}">
                <a16:creationId xmlns:a16="http://schemas.microsoft.com/office/drawing/2014/main" id="{F7948060-D14E-4CEE-A043-3E5E0A4920DB}"/>
              </a:ext>
            </a:extLst>
          </p:cNvPr>
          <p:cNvSpPr>
            <a:spLocks noGrp="1"/>
          </p:cNvSpPr>
          <p:nvPr/>
        </p:nvSpPr>
        <p:spPr>
          <a:xfrm>
            <a:off x="7924800" y="5219700"/>
            <a:ext cx="3295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保存后复用</a:t>
            </a:r>
          </a:p>
        </p:txBody>
      </p:sp>
      <p:sp>
        <p:nvSpPr>
          <p:cNvPr id="18" name="drawer-3-body">
            <a:extLst>
              <a:ext uri="{FF2B5EF4-FFF2-40B4-BE49-F238E27FC236}">
                <a16:creationId xmlns:a16="http://schemas.microsoft.com/office/drawing/2014/main" id="{DCA58E1B-54A5-477A-92CD-7D4B9717CA4D}"/>
              </a:ext>
            </a:extLst>
          </p:cNvPr>
          <p:cNvSpPr>
            <a:spLocks noGrp="1"/>
          </p:cNvSpPr>
          <p:nvPr/>
        </p:nvSpPr>
        <p:spPr>
          <a:xfrm>
            <a:off x="7924800" y="5638800"/>
            <a:ext cx="329565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10000"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仍走现有 PATCH 接口。</a:t>
            </a:r>
          </a:p>
        </p:txBody>
      </p:sp>
    </p:spTree>
    <p:extLst>
      <p:ext uri="{BB962C8B-B14F-4D97-AF65-F5344CB8AC3E}">
        <p14:creationId xmlns:p14="http://schemas.microsoft.com/office/powerpoint/2010/main" val="1763290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yebrow-9">
            <a:extLst>
              <a:ext uri="{FF2B5EF4-FFF2-40B4-BE49-F238E27FC236}">
                <a16:creationId xmlns:a16="http://schemas.microsoft.com/office/drawing/2014/main" id="{5C6632DB-1066-4750-B2F8-2CA968DC8375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97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ASR 评测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A2B2FE9E-146E-4AAE-8849-C6D01659FC93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620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模型路线按中文医患样本和资源指标选择</a:t>
            </a:r>
          </a:p>
        </p:txBody>
      </p:sp>
      <p:sp>
        <p:nvSpPr>
          <p:cNvPr id="3" name="rule-9">
            <a:extLst>
              <a:ext uri="{FF2B5EF4-FFF2-40B4-BE49-F238E27FC236}">
                <a16:creationId xmlns:a16="http://schemas.microsoft.com/office/drawing/2014/main" id="{7DF2EDF7-5D88-4423-9FFA-FA220FAF6E13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footer-9">
            <a:extLst>
              <a:ext uri="{FF2B5EF4-FFF2-40B4-BE49-F238E27FC236}">
                <a16:creationId xmlns:a16="http://schemas.microsoft.com/office/drawing/2014/main" id="{D0C2EE5B-20E8-40F4-BBB4-9D71BD222D33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Medical Record Agent · 第一周周评审</a:t>
            </a:r>
          </a:p>
        </p:txBody>
      </p:sp>
      <p:sp>
        <p:nvSpPr>
          <p:cNvPr id="5" name="page-9">
            <a:extLst>
              <a:ext uri="{FF2B5EF4-FFF2-40B4-BE49-F238E27FC236}">
                <a16:creationId xmlns:a16="http://schemas.microsoft.com/office/drawing/2014/main" id="{2195CD07-D680-4AEC-91B4-96755211FE73}"/>
              </a:ext>
            </a:extLst>
          </p:cNvPr>
          <p:cNvSpPr>
            <a:spLocks noGrp="1"/>
          </p:cNvSpPr>
          <p:nvPr/>
        </p:nvSpPr>
        <p:spPr>
          <a:xfrm>
            <a:off x="11287125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6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685800" y="2095500"/>
          <a:ext cx="10572750" cy="2857500"/>
        </p:xfrm>
        <a:graphic>
          <a:graphicData uri="http://schemas.openxmlformats.org/drawingml/2006/table">
            <a:tbl>
              <a:tblPr/>
              <a:tblGrid>
                <a:gridCol w="2458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3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0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当前结论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演示策略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SenseVoice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短中音频效果和资源占用较好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预热后展示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FunASR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长音频稳定，适合作为 fallback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预热后展示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Qwen3-ASR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已跑通但 CPU-only 资源占用高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作为研究路线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Mock ASR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最稳定，能证明 SSE 和闭环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录屏保底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asr-metric-note">
            <a:extLst>
              <a:ext uri="{FF2B5EF4-FFF2-40B4-BE49-F238E27FC236}">
                <a16:creationId xmlns:a16="http://schemas.microsoft.com/office/drawing/2014/main" id="{007CCC1C-61AE-4E54-AF3E-A33FBBEA0C47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评测重点：CER</a:t>
            </a:r>
            <a:r>
              <a:rPr sz="18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看字错误率，关键词召回看医学词保留，RTF</a:t>
            </a:r>
            <a:r>
              <a:rPr sz="18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看速度，RSS</a:t>
            </a:r>
            <a:r>
              <a:rPr sz="18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看内存</a:t>
            </a:r>
            <a:r>
              <a:rPr sz="18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44538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yebrow-11">
            <a:extLst>
              <a:ext uri="{FF2B5EF4-FFF2-40B4-BE49-F238E27FC236}">
                <a16:creationId xmlns:a16="http://schemas.microsoft.com/office/drawing/2014/main" id="{ACFF0C0D-FED1-4E0A-B5E2-4C0DC3C7FA7E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97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部署验证</a:t>
            </a:r>
          </a:p>
        </p:txBody>
      </p:sp>
      <p:sp>
        <p:nvSpPr>
          <p:cNvPr id="2" name="title-11">
            <a:extLst>
              <a:ext uri="{FF2B5EF4-FFF2-40B4-BE49-F238E27FC236}">
                <a16:creationId xmlns:a16="http://schemas.microsoft.com/office/drawing/2014/main" id="{07ECA5E0-C662-4DA4-9673-3C23CCC7A4F3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9620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Docker 2601 </a:t>
            </a:r>
            <a:r>
              <a:rPr sz="30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固定展示入口</a:t>
            </a:r>
            <a:endParaRPr sz="30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rule-11">
            <a:extLst>
              <a:ext uri="{FF2B5EF4-FFF2-40B4-BE49-F238E27FC236}">
                <a16:creationId xmlns:a16="http://schemas.microsoft.com/office/drawing/2014/main" id="{DEF23A30-847C-49CC-BC39-DB3C26B09D91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footer-11">
            <a:extLst>
              <a:ext uri="{FF2B5EF4-FFF2-40B4-BE49-F238E27FC236}">
                <a16:creationId xmlns:a16="http://schemas.microsoft.com/office/drawing/2014/main" id="{415A489A-F654-4721-A08E-D7F4EA99E179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Medical Record Agent · 第一周周评审</a:t>
            </a:r>
          </a:p>
        </p:txBody>
      </p:sp>
      <p:sp>
        <p:nvSpPr>
          <p:cNvPr id="5" name="page-11">
            <a:extLst>
              <a:ext uri="{FF2B5EF4-FFF2-40B4-BE49-F238E27FC236}">
                <a16:creationId xmlns:a16="http://schemas.microsoft.com/office/drawing/2014/main" id="{15246DA8-8B28-43BF-9659-6F635D83027C}"/>
              </a:ext>
            </a:extLst>
          </p:cNvPr>
          <p:cNvSpPr>
            <a:spLocks noGrp="1"/>
          </p:cNvSpPr>
          <p:nvPr/>
        </p:nvSpPr>
        <p:spPr>
          <a:xfrm>
            <a:off x="11287125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16000"/>
              </a:lnSpc>
              <a:buNone/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url">
            <a:extLst>
              <a:ext uri="{FF2B5EF4-FFF2-40B4-BE49-F238E27FC236}">
                <a16:creationId xmlns:a16="http://schemas.microsoft.com/office/drawing/2014/main" id="{4CA1718D-804B-4A65-A9C7-1EABEB1B1B50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http://127.0.0.1:2601/static/doctor.html</a:t>
            </a:r>
          </a:p>
        </p:txBody>
      </p:sp>
      <p:sp>
        <p:nvSpPr>
          <p:cNvPr id="7" name="deploy-0-panel">
            <a:extLst>
              <a:ext uri="{FF2B5EF4-FFF2-40B4-BE49-F238E27FC236}">
                <a16:creationId xmlns:a16="http://schemas.microsoft.com/office/drawing/2014/main" id="{E81C3907-BC5E-494A-BFD6-76E524591A2A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4762500" cy="8191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deploy-0-accent">
            <a:extLst>
              <a:ext uri="{FF2B5EF4-FFF2-40B4-BE49-F238E27FC236}">
                <a16:creationId xmlns:a16="http://schemas.microsoft.com/office/drawing/2014/main" id="{6C2A050A-7021-4B8B-BDBD-4AEDE4952C7D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66675" cy="81915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deploy-0-label">
            <a:extLst>
              <a:ext uri="{FF2B5EF4-FFF2-40B4-BE49-F238E27FC236}">
                <a16:creationId xmlns:a16="http://schemas.microsoft.com/office/drawing/2014/main" id="{382D45D4-0B77-4067-B743-ED745BB6EB2D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服务</a:t>
            </a:r>
          </a:p>
        </p:txBody>
      </p:sp>
      <p:sp>
        <p:nvSpPr>
          <p:cNvPr id="10" name="deploy-0-body">
            <a:extLst>
              <a:ext uri="{FF2B5EF4-FFF2-40B4-BE49-F238E27FC236}">
                <a16:creationId xmlns:a16="http://schemas.microsoft.com/office/drawing/2014/main" id="{3911CD8E-11CA-414F-ACD4-68D285D8E40F}"/>
              </a:ext>
            </a:extLst>
          </p:cNvPr>
          <p:cNvSpPr>
            <a:spLocks noGrp="1"/>
          </p:cNvSpPr>
          <p:nvPr/>
        </p:nvSpPr>
        <p:spPr>
          <a:xfrm>
            <a:off x="895350" y="3733800"/>
            <a:ext cx="434340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22769"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docker compose ps -&gt; running / healthy</a:t>
            </a:r>
          </a:p>
        </p:txBody>
      </p:sp>
      <p:sp>
        <p:nvSpPr>
          <p:cNvPr id="11" name="deploy-1-panel">
            <a:extLst>
              <a:ext uri="{FF2B5EF4-FFF2-40B4-BE49-F238E27FC236}">
                <a16:creationId xmlns:a16="http://schemas.microsoft.com/office/drawing/2014/main" id="{792A0A15-5B36-4379-A4AF-6CA370634774}"/>
              </a:ext>
            </a:extLst>
          </p:cNvPr>
          <p:cNvSpPr>
            <a:spLocks noGrp="1"/>
          </p:cNvSpPr>
          <p:nvPr/>
        </p:nvSpPr>
        <p:spPr>
          <a:xfrm>
            <a:off x="6019800" y="3143250"/>
            <a:ext cx="4762500" cy="8191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deploy-1-accent">
            <a:extLst>
              <a:ext uri="{FF2B5EF4-FFF2-40B4-BE49-F238E27FC236}">
                <a16:creationId xmlns:a16="http://schemas.microsoft.com/office/drawing/2014/main" id="{0B9C7BF9-0B02-48EC-A6C5-31271F0F9341}"/>
              </a:ext>
            </a:extLst>
          </p:cNvPr>
          <p:cNvSpPr>
            <a:spLocks noGrp="1"/>
          </p:cNvSpPr>
          <p:nvPr/>
        </p:nvSpPr>
        <p:spPr>
          <a:xfrm>
            <a:off x="6019800" y="3143250"/>
            <a:ext cx="66675" cy="81915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deploy-1-label">
            <a:extLst>
              <a:ext uri="{FF2B5EF4-FFF2-40B4-BE49-F238E27FC236}">
                <a16:creationId xmlns:a16="http://schemas.microsoft.com/office/drawing/2014/main" id="{DC36CB9D-C710-4D2D-BE89-55299392C593}"/>
              </a:ext>
            </a:extLst>
          </p:cNvPr>
          <p:cNvSpPr>
            <a:spLocks noGrp="1"/>
          </p:cNvSpPr>
          <p:nvPr/>
        </p:nvSpPr>
        <p:spPr>
          <a:xfrm>
            <a:off x="6229350" y="331470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健康</a:t>
            </a:r>
          </a:p>
        </p:txBody>
      </p:sp>
      <p:sp>
        <p:nvSpPr>
          <p:cNvPr id="14" name="deploy-1-body">
            <a:extLst>
              <a:ext uri="{FF2B5EF4-FFF2-40B4-BE49-F238E27FC236}">
                <a16:creationId xmlns:a16="http://schemas.microsoft.com/office/drawing/2014/main" id="{860DE15C-AF2B-4AC3-A400-4CC5123696CA}"/>
              </a:ext>
            </a:extLst>
          </p:cNvPr>
          <p:cNvSpPr>
            <a:spLocks noGrp="1"/>
          </p:cNvSpPr>
          <p:nvPr/>
        </p:nvSpPr>
        <p:spPr>
          <a:xfrm>
            <a:off x="6229350" y="3733800"/>
            <a:ext cx="434340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22769"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/health -&gt; { status: ok }</a:t>
            </a:r>
          </a:p>
        </p:txBody>
      </p:sp>
      <p:sp>
        <p:nvSpPr>
          <p:cNvPr id="15" name="deploy-2-panel">
            <a:extLst>
              <a:ext uri="{FF2B5EF4-FFF2-40B4-BE49-F238E27FC236}">
                <a16:creationId xmlns:a16="http://schemas.microsoft.com/office/drawing/2014/main" id="{F3E24DD9-1F6B-4D23-A872-1E4F1C04C94E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4762500" cy="8191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deploy-2-accent">
            <a:extLst>
              <a:ext uri="{FF2B5EF4-FFF2-40B4-BE49-F238E27FC236}">
                <a16:creationId xmlns:a16="http://schemas.microsoft.com/office/drawing/2014/main" id="{C4AACF46-E475-4AE3-9D8F-52C26EBBECAD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66675" cy="81915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deploy-2-label">
            <a:extLst>
              <a:ext uri="{FF2B5EF4-FFF2-40B4-BE49-F238E27FC236}">
                <a16:creationId xmlns:a16="http://schemas.microsoft.com/office/drawing/2014/main" id="{0BEC266B-E9F9-441D-A7CF-4CC778C427CA}"/>
              </a:ext>
            </a:extLst>
          </p:cNvPr>
          <p:cNvSpPr>
            <a:spLocks noGrp="1"/>
          </p:cNvSpPr>
          <p:nvPr/>
        </p:nvSpPr>
        <p:spPr>
          <a:xfrm>
            <a:off x="895350" y="445770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18" name="deploy-2-body">
            <a:extLst>
              <a:ext uri="{FF2B5EF4-FFF2-40B4-BE49-F238E27FC236}">
                <a16:creationId xmlns:a16="http://schemas.microsoft.com/office/drawing/2014/main" id="{5FE8B39B-9E43-43C3-ABA0-C4AA6768CA6B}"/>
              </a:ext>
            </a:extLst>
          </p:cNvPr>
          <p:cNvSpPr>
            <a:spLocks noGrp="1"/>
          </p:cNvSpPr>
          <p:nvPr/>
        </p:nvSpPr>
        <p:spPr>
          <a:xfrm>
            <a:off x="895350" y="4876800"/>
            <a:ext cx="434340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22769"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中栏显示转写列表和等待首段提示</a:t>
            </a:r>
          </a:p>
        </p:txBody>
      </p:sp>
      <p:sp>
        <p:nvSpPr>
          <p:cNvPr id="19" name="deploy-3-panel">
            <a:extLst>
              <a:ext uri="{FF2B5EF4-FFF2-40B4-BE49-F238E27FC236}">
                <a16:creationId xmlns:a16="http://schemas.microsoft.com/office/drawing/2014/main" id="{E1BB5372-57BD-4BCB-A405-6F49EE386D73}"/>
              </a:ext>
            </a:extLst>
          </p:cNvPr>
          <p:cNvSpPr>
            <a:spLocks noGrp="1"/>
          </p:cNvSpPr>
          <p:nvPr/>
        </p:nvSpPr>
        <p:spPr>
          <a:xfrm>
            <a:off x="6019800" y="4286250"/>
            <a:ext cx="4762500" cy="819150"/>
          </a:xfrm>
          <a:prstGeom prst="rect">
            <a:avLst/>
          </a:prstGeom>
          <a:solidFill>
            <a:srgbClr val="F6F7F9"/>
          </a:solidFill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deploy-3-accent">
            <a:extLst>
              <a:ext uri="{FF2B5EF4-FFF2-40B4-BE49-F238E27FC236}">
                <a16:creationId xmlns:a16="http://schemas.microsoft.com/office/drawing/2014/main" id="{C2F0EF4F-0B04-4702-9117-4890425E324A}"/>
              </a:ext>
            </a:extLst>
          </p:cNvPr>
          <p:cNvSpPr>
            <a:spLocks noGrp="1"/>
          </p:cNvSpPr>
          <p:nvPr/>
        </p:nvSpPr>
        <p:spPr>
          <a:xfrm>
            <a:off x="6019800" y="4286250"/>
            <a:ext cx="66675" cy="81915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deploy-3-label">
            <a:extLst>
              <a:ext uri="{FF2B5EF4-FFF2-40B4-BE49-F238E27FC236}">
                <a16:creationId xmlns:a16="http://schemas.microsoft.com/office/drawing/2014/main" id="{DF4B57AB-EC49-42FC-AEB1-9CAC64C2F12F}"/>
              </a:ext>
            </a:extLst>
          </p:cNvPr>
          <p:cNvSpPr>
            <a:spLocks noGrp="1"/>
          </p:cNvSpPr>
          <p:nvPr/>
        </p:nvSpPr>
        <p:spPr>
          <a:xfrm>
            <a:off x="6229350" y="445770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回归</a:t>
            </a:r>
          </a:p>
        </p:txBody>
      </p:sp>
      <p:sp>
        <p:nvSpPr>
          <p:cNvPr id="22" name="deploy-3-body">
            <a:extLst>
              <a:ext uri="{FF2B5EF4-FFF2-40B4-BE49-F238E27FC236}">
                <a16:creationId xmlns:a16="http://schemas.microsoft.com/office/drawing/2014/main" id="{636B4984-0B9C-4BFD-8FA2-300CEAFE597A}"/>
              </a:ext>
            </a:extLst>
          </p:cNvPr>
          <p:cNvSpPr>
            <a:spLocks noGrp="1"/>
          </p:cNvSpPr>
          <p:nvPr/>
        </p:nvSpPr>
        <p:spPr>
          <a:xfrm>
            <a:off x="6229350" y="4876800"/>
            <a:ext cx="434340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22769"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node --check + pytest 定向测试</a:t>
            </a:r>
          </a:p>
        </p:txBody>
      </p:sp>
    </p:spTree>
    <p:extLst>
      <p:ext uri="{BB962C8B-B14F-4D97-AF65-F5344CB8AC3E}">
        <p14:creationId xmlns:p14="http://schemas.microsoft.com/office/powerpoint/2010/main" val="26387264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519</Words>
  <Application>Microsoft Office PowerPoint</Application>
  <DocSecurity>0</DocSecurity>
  <PresentationFormat>宽屏</PresentationFormat>
  <Paragraphs>138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Nicole Young</cp:lastModifiedBy>
  <cp:revision>1</cp:revision>
  <dcterms:created xsi:type="dcterms:W3CDTF">2026-07-09T14:57:38Z</dcterms:created>
  <dcterms:modified xsi:type="dcterms:W3CDTF">2026-07-09T16:12:04Z</dcterms:modified>
</cp:coreProperties>
</file>